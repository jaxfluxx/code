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0"/>
  </p:notesMasterIdLst>
  <p:sldIdLst>
    <p:sldId id="30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8" r:id="rId23"/>
    <p:sldId id="299" r:id="rId24"/>
    <p:sldId id="277" r:id="rId25"/>
    <p:sldId id="278" r:id="rId26"/>
    <p:sldId id="303" r:id="rId27"/>
    <p:sldId id="294" r:id="rId28"/>
    <p:sldId id="295" r:id="rId29"/>
    <p:sldId id="296" r:id="rId30"/>
    <p:sldId id="297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300" r:id="rId47"/>
    <p:sldId id="301" r:id="rId48"/>
    <p:sldId id="304" r:id="rId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11D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4B2E98-0008-4FFE-AE4E-D2FDD67EDCDC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BDE0592-7A8F-4074-8EAC-69067186369B}">
      <dgm:prSet phldrT="[文本]"/>
      <dgm:spPr/>
      <dgm:t>
        <a:bodyPr/>
        <a:lstStyle/>
        <a:p>
          <a:r>
            <a:rPr lang="zh-CN" altLang="en-US" dirty="0"/>
            <a:t>内部类</a:t>
          </a:r>
        </a:p>
      </dgm:t>
    </dgm:pt>
    <dgm:pt modelId="{E0F8E319-33BC-4D60-B9C6-74814DC5379A}" cxnId="{FD507374-7435-4BD2-97EC-9AC887F3C2F2}" type="parTrans">
      <dgm:prSet/>
      <dgm:spPr/>
      <dgm:t>
        <a:bodyPr/>
        <a:lstStyle/>
        <a:p>
          <a:endParaRPr lang="zh-CN" altLang="en-US"/>
        </a:p>
      </dgm:t>
    </dgm:pt>
    <dgm:pt modelId="{A90C0567-A12B-4EF3-812F-CFCEAD773341}" cxnId="{FD507374-7435-4BD2-97EC-9AC887F3C2F2}" type="sibTrans">
      <dgm:prSet/>
      <dgm:spPr/>
      <dgm:t>
        <a:bodyPr/>
        <a:lstStyle/>
        <a:p>
          <a:endParaRPr lang="zh-CN" altLang="en-US"/>
        </a:p>
      </dgm:t>
    </dgm:pt>
    <dgm:pt modelId="{C139CEDD-CE3C-48A4-B1DA-54DFE80D8F88}">
      <dgm:prSet phldrT="[文本]"/>
      <dgm:spPr/>
      <dgm:t>
        <a:bodyPr/>
        <a:lstStyle/>
        <a:p>
          <a:r>
            <a:rPr lang="zh-CN" altLang="en-US" dirty="0"/>
            <a:t>成员内部类</a:t>
          </a:r>
        </a:p>
      </dgm:t>
    </dgm:pt>
    <dgm:pt modelId="{023FCC7B-07C2-47F3-B201-44D4338028FA}" cxnId="{08019995-87E0-4C09-A263-D20D2A0D2B42}" type="parTrans">
      <dgm:prSet/>
      <dgm:spPr/>
      <dgm:t>
        <a:bodyPr/>
        <a:lstStyle/>
        <a:p>
          <a:endParaRPr lang="zh-CN" altLang="en-US"/>
        </a:p>
      </dgm:t>
    </dgm:pt>
    <dgm:pt modelId="{5F390199-AB55-42BC-B780-A06043FA3525}" cxnId="{08019995-87E0-4C09-A263-D20D2A0D2B42}" type="sibTrans">
      <dgm:prSet/>
      <dgm:spPr/>
      <dgm:t>
        <a:bodyPr/>
        <a:lstStyle/>
        <a:p>
          <a:endParaRPr lang="zh-CN" altLang="en-US"/>
        </a:p>
      </dgm:t>
    </dgm:pt>
    <dgm:pt modelId="{FBCE52EC-1447-4C16-9D7B-1F740D879E38}">
      <dgm:prSet phldrT="[文本]"/>
      <dgm:spPr/>
      <dgm:t>
        <a:bodyPr/>
        <a:lstStyle/>
        <a:p>
          <a:r>
            <a:rPr lang="en-US" altLang="zh-CN" dirty="0"/>
            <a:t>Static</a:t>
          </a:r>
          <a:r>
            <a:rPr lang="zh-CN" altLang="en-US" dirty="0"/>
            <a:t>内部类</a:t>
          </a:r>
        </a:p>
      </dgm:t>
    </dgm:pt>
    <dgm:pt modelId="{56F0392B-5A25-49F5-AD04-EFDCE5E1388F}" cxnId="{7999C59D-0733-45B7-8AC6-ABE6A2D0E436}" type="parTrans">
      <dgm:prSet/>
      <dgm:spPr/>
      <dgm:t>
        <a:bodyPr/>
        <a:lstStyle/>
        <a:p>
          <a:endParaRPr lang="zh-CN" altLang="en-US"/>
        </a:p>
      </dgm:t>
    </dgm:pt>
    <dgm:pt modelId="{40BA6DEB-3D90-4C72-A7DF-6E612AB1D5BB}" cxnId="{7999C59D-0733-45B7-8AC6-ABE6A2D0E436}" type="sibTrans">
      <dgm:prSet/>
      <dgm:spPr/>
      <dgm:t>
        <a:bodyPr/>
        <a:lstStyle/>
        <a:p>
          <a:endParaRPr lang="zh-CN" altLang="en-US"/>
        </a:p>
      </dgm:t>
    </dgm:pt>
    <dgm:pt modelId="{2D68716C-FE60-40A6-8287-B993B38830A5}">
      <dgm:prSet phldrT="[文本]"/>
      <dgm:spPr/>
      <dgm:t>
        <a:bodyPr/>
        <a:lstStyle/>
        <a:p>
          <a:r>
            <a:rPr lang="zh-CN" altLang="en-US" dirty="0"/>
            <a:t>非</a:t>
          </a:r>
          <a:r>
            <a:rPr lang="en-US" altLang="zh-CN" dirty="0"/>
            <a:t>Static</a:t>
          </a:r>
          <a:r>
            <a:rPr lang="zh-CN" altLang="en-US" dirty="0"/>
            <a:t>内部类</a:t>
          </a:r>
        </a:p>
      </dgm:t>
    </dgm:pt>
    <dgm:pt modelId="{D89D68FE-3CF8-43FA-A9C2-6F2152FE6B7F}" cxnId="{4866A742-FAD6-4485-8493-6D13F0B34224}" type="parTrans">
      <dgm:prSet/>
      <dgm:spPr/>
      <dgm:t>
        <a:bodyPr/>
        <a:lstStyle/>
        <a:p>
          <a:endParaRPr lang="zh-CN" altLang="en-US"/>
        </a:p>
      </dgm:t>
    </dgm:pt>
    <dgm:pt modelId="{49837495-C25D-4DE0-8F1D-9CED87BF74EC}" cxnId="{4866A742-FAD6-4485-8493-6D13F0B34224}" type="sibTrans">
      <dgm:prSet/>
      <dgm:spPr/>
      <dgm:t>
        <a:bodyPr/>
        <a:lstStyle/>
        <a:p>
          <a:endParaRPr lang="zh-CN" altLang="en-US"/>
        </a:p>
      </dgm:t>
    </dgm:pt>
    <dgm:pt modelId="{97517D44-3B82-4825-AE1A-C1BD1A0B58B9}">
      <dgm:prSet phldrT="[文本]"/>
      <dgm:spPr/>
      <dgm:t>
        <a:bodyPr/>
        <a:lstStyle/>
        <a:p>
          <a:r>
            <a:rPr lang="zh-CN" altLang="en-US" dirty="0"/>
            <a:t>局部内部类</a:t>
          </a:r>
        </a:p>
      </dgm:t>
    </dgm:pt>
    <dgm:pt modelId="{D4F62522-FD3B-422C-8689-B5663B195585}" cxnId="{1E02A9A8-5624-4222-8462-D6C19F02DFF7}" type="parTrans">
      <dgm:prSet/>
      <dgm:spPr/>
      <dgm:t>
        <a:bodyPr/>
        <a:lstStyle/>
        <a:p>
          <a:endParaRPr lang="zh-CN" altLang="en-US"/>
        </a:p>
      </dgm:t>
    </dgm:pt>
    <dgm:pt modelId="{3B39B1D9-37C4-464A-9C42-15E6606408D9}" cxnId="{1E02A9A8-5624-4222-8462-D6C19F02DFF7}" type="sibTrans">
      <dgm:prSet/>
      <dgm:spPr/>
      <dgm:t>
        <a:bodyPr/>
        <a:lstStyle/>
        <a:p>
          <a:endParaRPr lang="zh-CN" altLang="en-US"/>
        </a:p>
      </dgm:t>
    </dgm:pt>
    <dgm:pt modelId="{88CB1EC6-661D-4FD5-91AA-546BAEC25B9A}">
      <dgm:prSet phldrT="[文本]"/>
      <dgm:spPr/>
      <dgm:t>
        <a:bodyPr/>
        <a:lstStyle/>
        <a:p>
          <a:r>
            <a:rPr lang="zh-CN" altLang="en-US" dirty="0"/>
            <a:t>匿名内部类</a:t>
          </a:r>
        </a:p>
      </dgm:t>
    </dgm:pt>
    <dgm:pt modelId="{E4D77A45-F4CD-44DB-A654-A5064A2DDA84}" cxnId="{D87153EB-F2F8-4BD4-ADA7-725B32A1931B}" type="parTrans">
      <dgm:prSet/>
      <dgm:spPr/>
      <dgm:t>
        <a:bodyPr/>
        <a:lstStyle/>
        <a:p>
          <a:endParaRPr lang="zh-CN" altLang="en-US"/>
        </a:p>
      </dgm:t>
    </dgm:pt>
    <dgm:pt modelId="{599C88FF-48F6-4B3F-81F7-B93F7BA61D69}" cxnId="{D87153EB-F2F8-4BD4-ADA7-725B32A1931B}" type="sibTrans">
      <dgm:prSet/>
      <dgm:spPr/>
      <dgm:t>
        <a:bodyPr/>
        <a:lstStyle/>
        <a:p>
          <a:endParaRPr lang="zh-CN" altLang="en-US"/>
        </a:p>
      </dgm:t>
    </dgm:pt>
    <dgm:pt modelId="{3664CD26-F2AF-4455-9B69-2B459CCF23DB}" type="pres">
      <dgm:prSet presAssocID="{DC4B2E98-0008-4FFE-AE4E-D2FDD67EDCD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680A508-6C9B-4322-BBCF-84C9D6AF76FF}" type="pres">
      <dgm:prSet presAssocID="{DC4B2E98-0008-4FFE-AE4E-D2FDD67EDCDC}" presName="hierFlow" presStyleCnt="0"/>
      <dgm:spPr/>
    </dgm:pt>
    <dgm:pt modelId="{8B8119CD-B130-4E07-9F45-570710D69C7B}" type="pres">
      <dgm:prSet presAssocID="{DC4B2E98-0008-4FFE-AE4E-D2FDD67EDCD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8623B2E-6C74-4310-A83D-DA2C1A542A05}" type="pres">
      <dgm:prSet presAssocID="{8BDE0592-7A8F-4074-8EAC-69067186369B}" presName="Name17" presStyleCnt="0"/>
      <dgm:spPr/>
    </dgm:pt>
    <dgm:pt modelId="{AC025E29-5DFC-45D6-B906-A184EA2A930F}" type="pres">
      <dgm:prSet presAssocID="{8BDE0592-7A8F-4074-8EAC-69067186369B}" presName="level1Shape" presStyleLbl="node0" presStyleIdx="0" presStyleCnt="1" custLinFactNeighborX="1072" custLinFactNeighborY="2351">
        <dgm:presLayoutVars>
          <dgm:chPref val="3"/>
        </dgm:presLayoutVars>
      </dgm:prSet>
      <dgm:spPr/>
    </dgm:pt>
    <dgm:pt modelId="{4C0DC023-5F08-4968-B9E0-525D5BF44FE2}" type="pres">
      <dgm:prSet presAssocID="{8BDE0592-7A8F-4074-8EAC-69067186369B}" presName="hierChild2" presStyleCnt="0"/>
      <dgm:spPr/>
    </dgm:pt>
    <dgm:pt modelId="{76D8A6E1-E740-4AE3-B5D7-804BC2979A6D}" type="pres">
      <dgm:prSet presAssocID="{023FCC7B-07C2-47F3-B201-44D4338028FA}" presName="Name25" presStyleLbl="parChTrans1D2" presStyleIdx="0" presStyleCnt="3"/>
      <dgm:spPr/>
    </dgm:pt>
    <dgm:pt modelId="{D257FC27-59F0-43B5-B8C0-89B9346E0AA7}" type="pres">
      <dgm:prSet presAssocID="{023FCC7B-07C2-47F3-B201-44D4338028FA}" presName="connTx" presStyleLbl="parChTrans1D2" presStyleIdx="0" presStyleCnt="3"/>
      <dgm:spPr/>
    </dgm:pt>
    <dgm:pt modelId="{F7FDF5E6-BF08-45E6-A24B-2171415B6D8E}" type="pres">
      <dgm:prSet presAssocID="{C139CEDD-CE3C-48A4-B1DA-54DFE80D8F88}" presName="Name30" presStyleCnt="0"/>
      <dgm:spPr/>
    </dgm:pt>
    <dgm:pt modelId="{1EA4D5C3-2C71-4D1E-8226-4D348B18A91B}" type="pres">
      <dgm:prSet presAssocID="{C139CEDD-CE3C-48A4-B1DA-54DFE80D8F88}" presName="level2Shape" presStyleLbl="node2" presStyleIdx="0" presStyleCnt="3"/>
      <dgm:spPr/>
    </dgm:pt>
    <dgm:pt modelId="{83698BD6-5B78-477F-BD03-D0332416A0F2}" type="pres">
      <dgm:prSet presAssocID="{C139CEDD-CE3C-48A4-B1DA-54DFE80D8F88}" presName="hierChild3" presStyleCnt="0"/>
      <dgm:spPr/>
    </dgm:pt>
    <dgm:pt modelId="{2D785A3B-D621-46BA-A6B1-B4AA8A90EFAF}" type="pres">
      <dgm:prSet presAssocID="{56F0392B-5A25-49F5-AD04-EFDCE5E1388F}" presName="Name25" presStyleLbl="parChTrans1D3" presStyleIdx="0" presStyleCnt="2"/>
      <dgm:spPr/>
    </dgm:pt>
    <dgm:pt modelId="{2FFC59D4-6AB3-470C-BDFC-D74924A33C36}" type="pres">
      <dgm:prSet presAssocID="{56F0392B-5A25-49F5-AD04-EFDCE5E1388F}" presName="connTx" presStyleLbl="parChTrans1D3" presStyleIdx="0" presStyleCnt="2"/>
      <dgm:spPr/>
    </dgm:pt>
    <dgm:pt modelId="{4D86A239-F65A-4835-898E-13E1DE3D31B3}" type="pres">
      <dgm:prSet presAssocID="{FBCE52EC-1447-4C16-9D7B-1F740D879E38}" presName="Name30" presStyleCnt="0"/>
      <dgm:spPr/>
    </dgm:pt>
    <dgm:pt modelId="{75E08E22-A31D-4A94-9EB0-6ED9E0086DF0}" type="pres">
      <dgm:prSet presAssocID="{FBCE52EC-1447-4C16-9D7B-1F740D879E38}" presName="level2Shape" presStyleLbl="node3" presStyleIdx="0" presStyleCnt="2"/>
      <dgm:spPr/>
    </dgm:pt>
    <dgm:pt modelId="{E7BBF337-C3E2-4689-98D5-C0F758F93D80}" type="pres">
      <dgm:prSet presAssocID="{FBCE52EC-1447-4C16-9D7B-1F740D879E38}" presName="hierChild3" presStyleCnt="0"/>
      <dgm:spPr/>
    </dgm:pt>
    <dgm:pt modelId="{478AA4CD-8263-4434-92B3-DF4526A726BB}" type="pres">
      <dgm:prSet presAssocID="{D89D68FE-3CF8-43FA-A9C2-6F2152FE6B7F}" presName="Name25" presStyleLbl="parChTrans1D3" presStyleIdx="1" presStyleCnt="2"/>
      <dgm:spPr/>
    </dgm:pt>
    <dgm:pt modelId="{DE485FF8-0E10-4135-BA69-2FAE022373DB}" type="pres">
      <dgm:prSet presAssocID="{D89D68FE-3CF8-43FA-A9C2-6F2152FE6B7F}" presName="connTx" presStyleLbl="parChTrans1D3" presStyleIdx="1" presStyleCnt="2"/>
      <dgm:spPr/>
    </dgm:pt>
    <dgm:pt modelId="{B89A243C-0C47-4700-A2A3-85AC988414DA}" type="pres">
      <dgm:prSet presAssocID="{2D68716C-FE60-40A6-8287-B993B38830A5}" presName="Name30" presStyleCnt="0"/>
      <dgm:spPr/>
    </dgm:pt>
    <dgm:pt modelId="{D86FA008-64CC-471F-9864-F5DED06CE984}" type="pres">
      <dgm:prSet presAssocID="{2D68716C-FE60-40A6-8287-B993B38830A5}" presName="level2Shape" presStyleLbl="node3" presStyleIdx="1" presStyleCnt="2"/>
      <dgm:spPr/>
    </dgm:pt>
    <dgm:pt modelId="{36F4A6EE-0666-48EF-B701-E8A3882D3D5C}" type="pres">
      <dgm:prSet presAssocID="{2D68716C-FE60-40A6-8287-B993B38830A5}" presName="hierChild3" presStyleCnt="0"/>
      <dgm:spPr/>
    </dgm:pt>
    <dgm:pt modelId="{6621E2F4-B759-425A-B8C9-040FD48005AB}" type="pres">
      <dgm:prSet presAssocID="{D4F62522-FD3B-422C-8689-B5663B195585}" presName="Name25" presStyleLbl="parChTrans1D2" presStyleIdx="1" presStyleCnt="3"/>
      <dgm:spPr/>
    </dgm:pt>
    <dgm:pt modelId="{16523729-776D-4B86-BEEF-CA15BEB6E399}" type="pres">
      <dgm:prSet presAssocID="{D4F62522-FD3B-422C-8689-B5663B195585}" presName="connTx" presStyleLbl="parChTrans1D2" presStyleIdx="1" presStyleCnt="3"/>
      <dgm:spPr/>
    </dgm:pt>
    <dgm:pt modelId="{4BE282E1-FCFF-4438-97B5-589462D5AA8F}" type="pres">
      <dgm:prSet presAssocID="{97517D44-3B82-4825-AE1A-C1BD1A0B58B9}" presName="Name30" presStyleCnt="0"/>
      <dgm:spPr/>
    </dgm:pt>
    <dgm:pt modelId="{E0F66C68-9D81-4FBA-A485-7128411AFD8A}" type="pres">
      <dgm:prSet presAssocID="{97517D44-3B82-4825-AE1A-C1BD1A0B58B9}" presName="level2Shape" presStyleLbl="node2" presStyleIdx="1" presStyleCnt="3"/>
      <dgm:spPr/>
    </dgm:pt>
    <dgm:pt modelId="{5865A1BA-532E-4EC1-9C3D-5F4657C64B64}" type="pres">
      <dgm:prSet presAssocID="{97517D44-3B82-4825-AE1A-C1BD1A0B58B9}" presName="hierChild3" presStyleCnt="0"/>
      <dgm:spPr/>
    </dgm:pt>
    <dgm:pt modelId="{CDF38CB0-04FD-417F-B6CD-9B64A17D159E}" type="pres">
      <dgm:prSet presAssocID="{E4D77A45-F4CD-44DB-A654-A5064A2DDA84}" presName="Name25" presStyleLbl="parChTrans1D2" presStyleIdx="2" presStyleCnt="3"/>
      <dgm:spPr/>
    </dgm:pt>
    <dgm:pt modelId="{E21CD575-FADF-48B5-8585-EC073321252E}" type="pres">
      <dgm:prSet presAssocID="{E4D77A45-F4CD-44DB-A654-A5064A2DDA84}" presName="connTx" presStyleLbl="parChTrans1D2" presStyleIdx="2" presStyleCnt="3"/>
      <dgm:spPr/>
    </dgm:pt>
    <dgm:pt modelId="{F1DEBB06-D1E9-41AA-AD4D-220B7B5D141D}" type="pres">
      <dgm:prSet presAssocID="{88CB1EC6-661D-4FD5-91AA-546BAEC25B9A}" presName="Name30" presStyleCnt="0"/>
      <dgm:spPr/>
    </dgm:pt>
    <dgm:pt modelId="{EFC18BA4-B043-4511-9C5D-5DD35067AB84}" type="pres">
      <dgm:prSet presAssocID="{88CB1EC6-661D-4FD5-91AA-546BAEC25B9A}" presName="level2Shape" presStyleLbl="node2" presStyleIdx="2" presStyleCnt="3"/>
      <dgm:spPr/>
    </dgm:pt>
    <dgm:pt modelId="{1556DD85-FEB1-4AD7-B560-C972044A4F4C}" type="pres">
      <dgm:prSet presAssocID="{88CB1EC6-661D-4FD5-91AA-546BAEC25B9A}" presName="hierChild3" presStyleCnt="0"/>
      <dgm:spPr/>
    </dgm:pt>
    <dgm:pt modelId="{96024502-E751-4E8E-BB24-95AA3170741F}" type="pres">
      <dgm:prSet presAssocID="{DC4B2E98-0008-4FFE-AE4E-D2FDD67EDCDC}" presName="bgShapesFlow" presStyleCnt="0"/>
      <dgm:spPr/>
    </dgm:pt>
  </dgm:ptLst>
  <dgm:cxnLst>
    <dgm:cxn modelId="{4866A742-FAD6-4485-8493-6D13F0B34224}" srcId="{C139CEDD-CE3C-48A4-B1DA-54DFE80D8F88}" destId="{2D68716C-FE60-40A6-8287-B993B38830A5}" srcOrd="1" destOrd="0" parTransId="{D89D68FE-3CF8-43FA-A9C2-6F2152FE6B7F}" sibTransId="{49837495-C25D-4DE0-8F1D-9CED87BF74EC}"/>
    <dgm:cxn modelId="{8F4ED963-2375-4667-9C31-8D7FBC1D80C7}" type="presOf" srcId="{2D68716C-FE60-40A6-8287-B993B38830A5}" destId="{D86FA008-64CC-471F-9864-F5DED06CE984}" srcOrd="0" destOrd="0" presId="urn:microsoft.com/office/officeart/2005/8/layout/hierarchy5"/>
    <dgm:cxn modelId="{0727E346-96C9-4FD2-A8C6-5F2C96668B20}" type="presOf" srcId="{D89D68FE-3CF8-43FA-A9C2-6F2152FE6B7F}" destId="{DE485FF8-0E10-4135-BA69-2FAE022373DB}" srcOrd="1" destOrd="0" presId="urn:microsoft.com/office/officeart/2005/8/layout/hierarchy5"/>
    <dgm:cxn modelId="{1845B06B-401C-4AFF-BED3-EF8D9814B36E}" type="presOf" srcId="{E4D77A45-F4CD-44DB-A654-A5064A2DDA84}" destId="{E21CD575-FADF-48B5-8585-EC073321252E}" srcOrd="1" destOrd="0" presId="urn:microsoft.com/office/officeart/2005/8/layout/hierarchy5"/>
    <dgm:cxn modelId="{D9CA096D-4974-4CC2-B066-123BD8A070C1}" type="presOf" srcId="{FBCE52EC-1447-4C16-9D7B-1F740D879E38}" destId="{75E08E22-A31D-4A94-9EB0-6ED9E0086DF0}" srcOrd="0" destOrd="0" presId="urn:microsoft.com/office/officeart/2005/8/layout/hierarchy5"/>
    <dgm:cxn modelId="{63902573-ED85-4C5B-9279-842E2450129D}" type="presOf" srcId="{56F0392B-5A25-49F5-AD04-EFDCE5E1388F}" destId="{2D785A3B-D621-46BA-A6B1-B4AA8A90EFAF}" srcOrd="0" destOrd="0" presId="urn:microsoft.com/office/officeart/2005/8/layout/hierarchy5"/>
    <dgm:cxn modelId="{FD507374-7435-4BD2-97EC-9AC887F3C2F2}" srcId="{DC4B2E98-0008-4FFE-AE4E-D2FDD67EDCDC}" destId="{8BDE0592-7A8F-4074-8EAC-69067186369B}" srcOrd="0" destOrd="0" parTransId="{E0F8E319-33BC-4D60-B9C6-74814DC5379A}" sibTransId="{A90C0567-A12B-4EF3-812F-CFCEAD773341}"/>
    <dgm:cxn modelId="{152CAB7C-911F-4227-B194-87B2FADE82E3}" type="presOf" srcId="{C139CEDD-CE3C-48A4-B1DA-54DFE80D8F88}" destId="{1EA4D5C3-2C71-4D1E-8226-4D348B18A91B}" srcOrd="0" destOrd="0" presId="urn:microsoft.com/office/officeart/2005/8/layout/hierarchy5"/>
    <dgm:cxn modelId="{08019995-87E0-4C09-A263-D20D2A0D2B42}" srcId="{8BDE0592-7A8F-4074-8EAC-69067186369B}" destId="{C139CEDD-CE3C-48A4-B1DA-54DFE80D8F88}" srcOrd="0" destOrd="0" parTransId="{023FCC7B-07C2-47F3-B201-44D4338028FA}" sibTransId="{5F390199-AB55-42BC-B780-A06043FA3525}"/>
    <dgm:cxn modelId="{7999C59D-0733-45B7-8AC6-ABE6A2D0E436}" srcId="{C139CEDD-CE3C-48A4-B1DA-54DFE80D8F88}" destId="{FBCE52EC-1447-4C16-9D7B-1F740D879E38}" srcOrd="0" destOrd="0" parTransId="{56F0392B-5A25-49F5-AD04-EFDCE5E1388F}" sibTransId="{40BA6DEB-3D90-4C72-A7DF-6E612AB1D5BB}"/>
    <dgm:cxn modelId="{99C49AA7-5453-4F34-89B6-22556797030D}" type="presOf" srcId="{023FCC7B-07C2-47F3-B201-44D4338028FA}" destId="{76D8A6E1-E740-4AE3-B5D7-804BC2979A6D}" srcOrd="0" destOrd="0" presId="urn:microsoft.com/office/officeart/2005/8/layout/hierarchy5"/>
    <dgm:cxn modelId="{1E02A9A8-5624-4222-8462-D6C19F02DFF7}" srcId="{8BDE0592-7A8F-4074-8EAC-69067186369B}" destId="{97517D44-3B82-4825-AE1A-C1BD1A0B58B9}" srcOrd="1" destOrd="0" parTransId="{D4F62522-FD3B-422C-8689-B5663B195585}" sibTransId="{3B39B1D9-37C4-464A-9C42-15E6606408D9}"/>
    <dgm:cxn modelId="{799D38B2-032F-4747-B228-678DB9FA3504}" type="presOf" srcId="{D89D68FE-3CF8-43FA-A9C2-6F2152FE6B7F}" destId="{478AA4CD-8263-4434-92B3-DF4526A726BB}" srcOrd="0" destOrd="0" presId="urn:microsoft.com/office/officeart/2005/8/layout/hierarchy5"/>
    <dgm:cxn modelId="{805DB2B2-D64A-4AA5-8A7E-B46872677EE8}" type="presOf" srcId="{D4F62522-FD3B-422C-8689-B5663B195585}" destId="{16523729-776D-4B86-BEEF-CA15BEB6E399}" srcOrd="1" destOrd="0" presId="urn:microsoft.com/office/officeart/2005/8/layout/hierarchy5"/>
    <dgm:cxn modelId="{5E3638B9-161D-448F-859B-252DA633D6AD}" type="presOf" srcId="{97517D44-3B82-4825-AE1A-C1BD1A0B58B9}" destId="{E0F66C68-9D81-4FBA-A485-7128411AFD8A}" srcOrd="0" destOrd="0" presId="urn:microsoft.com/office/officeart/2005/8/layout/hierarchy5"/>
    <dgm:cxn modelId="{AFEFEEB9-29B5-4238-91E9-327A960F2204}" type="presOf" srcId="{88CB1EC6-661D-4FD5-91AA-546BAEC25B9A}" destId="{EFC18BA4-B043-4511-9C5D-5DD35067AB84}" srcOrd="0" destOrd="0" presId="urn:microsoft.com/office/officeart/2005/8/layout/hierarchy5"/>
    <dgm:cxn modelId="{AA7A63C6-142F-4557-ABB0-4D16C1741928}" type="presOf" srcId="{D4F62522-FD3B-422C-8689-B5663B195585}" destId="{6621E2F4-B759-425A-B8C9-040FD48005AB}" srcOrd="0" destOrd="0" presId="urn:microsoft.com/office/officeart/2005/8/layout/hierarchy5"/>
    <dgm:cxn modelId="{C8D3BACC-C0D0-4350-BB6D-E966D60F292A}" type="presOf" srcId="{023FCC7B-07C2-47F3-B201-44D4338028FA}" destId="{D257FC27-59F0-43B5-B8C0-89B9346E0AA7}" srcOrd="1" destOrd="0" presId="urn:microsoft.com/office/officeart/2005/8/layout/hierarchy5"/>
    <dgm:cxn modelId="{9D1DC3D7-F5E6-4CA1-8446-04A71D6D2D96}" type="presOf" srcId="{56F0392B-5A25-49F5-AD04-EFDCE5E1388F}" destId="{2FFC59D4-6AB3-470C-BDFC-D74924A33C36}" srcOrd="1" destOrd="0" presId="urn:microsoft.com/office/officeart/2005/8/layout/hierarchy5"/>
    <dgm:cxn modelId="{8040CBE0-7864-4D07-8118-9E2AF578E876}" type="presOf" srcId="{DC4B2E98-0008-4FFE-AE4E-D2FDD67EDCDC}" destId="{3664CD26-F2AF-4455-9B69-2B459CCF23DB}" srcOrd="0" destOrd="0" presId="urn:microsoft.com/office/officeart/2005/8/layout/hierarchy5"/>
    <dgm:cxn modelId="{D87153EB-F2F8-4BD4-ADA7-725B32A1931B}" srcId="{8BDE0592-7A8F-4074-8EAC-69067186369B}" destId="{88CB1EC6-661D-4FD5-91AA-546BAEC25B9A}" srcOrd="2" destOrd="0" parTransId="{E4D77A45-F4CD-44DB-A654-A5064A2DDA84}" sibTransId="{599C88FF-48F6-4B3F-81F7-B93F7BA61D69}"/>
    <dgm:cxn modelId="{2E97A1EB-86E5-4B7B-9352-D68208549CE1}" type="presOf" srcId="{8BDE0592-7A8F-4074-8EAC-69067186369B}" destId="{AC025E29-5DFC-45D6-B906-A184EA2A930F}" srcOrd="0" destOrd="0" presId="urn:microsoft.com/office/officeart/2005/8/layout/hierarchy5"/>
    <dgm:cxn modelId="{6865D8F6-9389-4175-B8D6-651F96DDFD53}" type="presOf" srcId="{E4D77A45-F4CD-44DB-A654-A5064A2DDA84}" destId="{CDF38CB0-04FD-417F-B6CD-9B64A17D159E}" srcOrd="0" destOrd="0" presId="urn:microsoft.com/office/officeart/2005/8/layout/hierarchy5"/>
    <dgm:cxn modelId="{3CC8DEA7-19C0-42A4-8D8D-74730FE7ECCB}" type="presParOf" srcId="{3664CD26-F2AF-4455-9B69-2B459CCF23DB}" destId="{6680A508-6C9B-4322-BBCF-84C9D6AF76FF}" srcOrd="0" destOrd="0" presId="urn:microsoft.com/office/officeart/2005/8/layout/hierarchy5"/>
    <dgm:cxn modelId="{1BB614BC-B303-4AD9-98A0-30928341EB8A}" type="presParOf" srcId="{6680A508-6C9B-4322-BBCF-84C9D6AF76FF}" destId="{8B8119CD-B130-4E07-9F45-570710D69C7B}" srcOrd="0" destOrd="0" presId="urn:microsoft.com/office/officeart/2005/8/layout/hierarchy5"/>
    <dgm:cxn modelId="{EB710DD2-B287-44F2-9D04-F41C7DBAC2DE}" type="presParOf" srcId="{8B8119CD-B130-4E07-9F45-570710D69C7B}" destId="{88623B2E-6C74-4310-A83D-DA2C1A542A05}" srcOrd="0" destOrd="0" presId="urn:microsoft.com/office/officeart/2005/8/layout/hierarchy5"/>
    <dgm:cxn modelId="{5B2022F6-8F05-47B0-9602-C7CE7B5EC33B}" type="presParOf" srcId="{88623B2E-6C74-4310-A83D-DA2C1A542A05}" destId="{AC025E29-5DFC-45D6-B906-A184EA2A930F}" srcOrd="0" destOrd="0" presId="urn:microsoft.com/office/officeart/2005/8/layout/hierarchy5"/>
    <dgm:cxn modelId="{8D7FC588-E368-4E68-9074-21F6ABA412B7}" type="presParOf" srcId="{88623B2E-6C74-4310-A83D-DA2C1A542A05}" destId="{4C0DC023-5F08-4968-B9E0-525D5BF44FE2}" srcOrd="1" destOrd="0" presId="urn:microsoft.com/office/officeart/2005/8/layout/hierarchy5"/>
    <dgm:cxn modelId="{7C19F64A-3A3D-4646-93C4-D8D372E8B679}" type="presParOf" srcId="{4C0DC023-5F08-4968-B9E0-525D5BF44FE2}" destId="{76D8A6E1-E740-4AE3-B5D7-804BC2979A6D}" srcOrd="0" destOrd="0" presId="urn:microsoft.com/office/officeart/2005/8/layout/hierarchy5"/>
    <dgm:cxn modelId="{281AE466-BA19-47FB-AEFD-69BEB83BA6F1}" type="presParOf" srcId="{76D8A6E1-E740-4AE3-B5D7-804BC2979A6D}" destId="{D257FC27-59F0-43B5-B8C0-89B9346E0AA7}" srcOrd="0" destOrd="0" presId="urn:microsoft.com/office/officeart/2005/8/layout/hierarchy5"/>
    <dgm:cxn modelId="{927E91A4-CF75-419E-BE03-A74AF7694CFB}" type="presParOf" srcId="{4C0DC023-5F08-4968-B9E0-525D5BF44FE2}" destId="{F7FDF5E6-BF08-45E6-A24B-2171415B6D8E}" srcOrd="1" destOrd="0" presId="urn:microsoft.com/office/officeart/2005/8/layout/hierarchy5"/>
    <dgm:cxn modelId="{738ED269-4183-4141-A9B7-B1C03757D65A}" type="presParOf" srcId="{F7FDF5E6-BF08-45E6-A24B-2171415B6D8E}" destId="{1EA4D5C3-2C71-4D1E-8226-4D348B18A91B}" srcOrd="0" destOrd="0" presId="urn:microsoft.com/office/officeart/2005/8/layout/hierarchy5"/>
    <dgm:cxn modelId="{7D9E2E17-930F-444A-88F2-9E799357CB24}" type="presParOf" srcId="{F7FDF5E6-BF08-45E6-A24B-2171415B6D8E}" destId="{83698BD6-5B78-477F-BD03-D0332416A0F2}" srcOrd="1" destOrd="0" presId="urn:microsoft.com/office/officeart/2005/8/layout/hierarchy5"/>
    <dgm:cxn modelId="{9F2EA884-DAB5-438C-87E9-F3E0D9C3D50F}" type="presParOf" srcId="{83698BD6-5B78-477F-BD03-D0332416A0F2}" destId="{2D785A3B-D621-46BA-A6B1-B4AA8A90EFAF}" srcOrd="0" destOrd="0" presId="urn:microsoft.com/office/officeart/2005/8/layout/hierarchy5"/>
    <dgm:cxn modelId="{7F5EAC29-A812-4AD1-8234-4B28EA84C616}" type="presParOf" srcId="{2D785A3B-D621-46BA-A6B1-B4AA8A90EFAF}" destId="{2FFC59D4-6AB3-470C-BDFC-D74924A33C36}" srcOrd="0" destOrd="0" presId="urn:microsoft.com/office/officeart/2005/8/layout/hierarchy5"/>
    <dgm:cxn modelId="{2B29BBB2-C99E-4C29-9423-66038695CA6F}" type="presParOf" srcId="{83698BD6-5B78-477F-BD03-D0332416A0F2}" destId="{4D86A239-F65A-4835-898E-13E1DE3D31B3}" srcOrd="1" destOrd="0" presId="urn:microsoft.com/office/officeart/2005/8/layout/hierarchy5"/>
    <dgm:cxn modelId="{6EDE7581-1780-43AC-8652-C7F4CBBC6C94}" type="presParOf" srcId="{4D86A239-F65A-4835-898E-13E1DE3D31B3}" destId="{75E08E22-A31D-4A94-9EB0-6ED9E0086DF0}" srcOrd="0" destOrd="0" presId="urn:microsoft.com/office/officeart/2005/8/layout/hierarchy5"/>
    <dgm:cxn modelId="{7FDE75E0-9125-45E1-A94E-006B45444DB9}" type="presParOf" srcId="{4D86A239-F65A-4835-898E-13E1DE3D31B3}" destId="{E7BBF337-C3E2-4689-98D5-C0F758F93D80}" srcOrd="1" destOrd="0" presId="urn:microsoft.com/office/officeart/2005/8/layout/hierarchy5"/>
    <dgm:cxn modelId="{2BEC7C94-D756-461B-9CD2-CCC7141A4037}" type="presParOf" srcId="{83698BD6-5B78-477F-BD03-D0332416A0F2}" destId="{478AA4CD-8263-4434-92B3-DF4526A726BB}" srcOrd="2" destOrd="0" presId="urn:microsoft.com/office/officeart/2005/8/layout/hierarchy5"/>
    <dgm:cxn modelId="{322C16C3-3C16-4252-9A79-5E16ED5D8A1D}" type="presParOf" srcId="{478AA4CD-8263-4434-92B3-DF4526A726BB}" destId="{DE485FF8-0E10-4135-BA69-2FAE022373DB}" srcOrd="0" destOrd="0" presId="urn:microsoft.com/office/officeart/2005/8/layout/hierarchy5"/>
    <dgm:cxn modelId="{C19E20F2-3818-4029-B7B5-24E69AD527F8}" type="presParOf" srcId="{83698BD6-5B78-477F-BD03-D0332416A0F2}" destId="{B89A243C-0C47-4700-A2A3-85AC988414DA}" srcOrd="3" destOrd="0" presId="urn:microsoft.com/office/officeart/2005/8/layout/hierarchy5"/>
    <dgm:cxn modelId="{D58FE167-30A6-4E43-B017-A52DB32E732B}" type="presParOf" srcId="{B89A243C-0C47-4700-A2A3-85AC988414DA}" destId="{D86FA008-64CC-471F-9864-F5DED06CE984}" srcOrd="0" destOrd="0" presId="urn:microsoft.com/office/officeart/2005/8/layout/hierarchy5"/>
    <dgm:cxn modelId="{7608D193-CB6D-4A9E-97C4-96566A00C014}" type="presParOf" srcId="{B89A243C-0C47-4700-A2A3-85AC988414DA}" destId="{36F4A6EE-0666-48EF-B701-E8A3882D3D5C}" srcOrd="1" destOrd="0" presId="urn:microsoft.com/office/officeart/2005/8/layout/hierarchy5"/>
    <dgm:cxn modelId="{729AC584-AAA1-4345-9C7C-F9B53DEABDB2}" type="presParOf" srcId="{4C0DC023-5F08-4968-B9E0-525D5BF44FE2}" destId="{6621E2F4-B759-425A-B8C9-040FD48005AB}" srcOrd="2" destOrd="0" presId="urn:microsoft.com/office/officeart/2005/8/layout/hierarchy5"/>
    <dgm:cxn modelId="{B19B66FF-78FE-4629-84FC-9B561A289E96}" type="presParOf" srcId="{6621E2F4-B759-425A-B8C9-040FD48005AB}" destId="{16523729-776D-4B86-BEEF-CA15BEB6E399}" srcOrd="0" destOrd="0" presId="urn:microsoft.com/office/officeart/2005/8/layout/hierarchy5"/>
    <dgm:cxn modelId="{D2611F74-8E1B-4113-BB8F-D4D274F26AAA}" type="presParOf" srcId="{4C0DC023-5F08-4968-B9E0-525D5BF44FE2}" destId="{4BE282E1-FCFF-4438-97B5-589462D5AA8F}" srcOrd="3" destOrd="0" presId="urn:microsoft.com/office/officeart/2005/8/layout/hierarchy5"/>
    <dgm:cxn modelId="{78152C73-1EBF-4C8C-8CF4-0511A32BD22D}" type="presParOf" srcId="{4BE282E1-FCFF-4438-97B5-589462D5AA8F}" destId="{E0F66C68-9D81-4FBA-A485-7128411AFD8A}" srcOrd="0" destOrd="0" presId="urn:microsoft.com/office/officeart/2005/8/layout/hierarchy5"/>
    <dgm:cxn modelId="{2D9C39CB-3AF6-403D-A75C-A5E37B99E424}" type="presParOf" srcId="{4BE282E1-FCFF-4438-97B5-589462D5AA8F}" destId="{5865A1BA-532E-4EC1-9C3D-5F4657C64B64}" srcOrd="1" destOrd="0" presId="urn:microsoft.com/office/officeart/2005/8/layout/hierarchy5"/>
    <dgm:cxn modelId="{D0B78ED2-2E4E-42C5-940C-1E7E3E27287F}" type="presParOf" srcId="{4C0DC023-5F08-4968-B9E0-525D5BF44FE2}" destId="{CDF38CB0-04FD-417F-B6CD-9B64A17D159E}" srcOrd="4" destOrd="0" presId="urn:microsoft.com/office/officeart/2005/8/layout/hierarchy5"/>
    <dgm:cxn modelId="{4F03CB8A-CF9B-49B5-93C4-8DC0F41CD9EB}" type="presParOf" srcId="{CDF38CB0-04FD-417F-B6CD-9B64A17D159E}" destId="{E21CD575-FADF-48B5-8585-EC073321252E}" srcOrd="0" destOrd="0" presId="urn:microsoft.com/office/officeart/2005/8/layout/hierarchy5"/>
    <dgm:cxn modelId="{BD5D2A28-D27A-4D17-8146-96E7479C2833}" type="presParOf" srcId="{4C0DC023-5F08-4968-B9E0-525D5BF44FE2}" destId="{F1DEBB06-D1E9-41AA-AD4D-220B7B5D141D}" srcOrd="5" destOrd="0" presId="urn:microsoft.com/office/officeart/2005/8/layout/hierarchy5"/>
    <dgm:cxn modelId="{62B17B33-F76C-4DF3-A71B-39073DBC92F5}" type="presParOf" srcId="{F1DEBB06-D1E9-41AA-AD4D-220B7B5D141D}" destId="{EFC18BA4-B043-4511-9C5D-5DD35067AB84}" srcOrd="0" destOrd="0" presId="urn:microsoft.com/office/officeart/2005/8/layout/hierarchy5"/>
    <dgm:cxn modelId="{58CBB206-E687-459B-B8B4-E581FE97F112}" type="presParOf" srcId="{F1DEBB06-D1E9-41AA-AD4D-220B7B5D141D}" destId="{1556DD85-FEB1-4AD7-B560-C972044A4F4C}" srcOrd="1" destOrd="0" presId="urn:microsoft.com/office/officeart/2005/8/layout/hierarchy5"/>
    <dgm:cxn modelId="{430E776E-8133-4E05-9A5D-46D14B5BA648}" type="presParOf" srcId="{3664CD26-F2AF-4455-9B69-2B459CCF23DB}" destId="{96024502-E751-4E8E-BB24-95AA3170741F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25E29-5DFC-45D6-B906-A184EA2A930F}">
      <dsp:nvSpPr>
        <dsp:cNvPr id="0" name=""/>
        <dsp:cNvSpPr/>
      </dsp:nvSpPr>
      <dsp:spPr>
        <a:xfrm>
          <a:off x="23350" y="2751527"/>
          <a:ext cx="2124860" cy="10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内部类</a:t>
          </a:r>
        </a:p>
      </dsp:txBody>
      <dsp:txXfrm>
        <a:off x="54468" y="2782645"/>
        <a:ext cx="2062624" cy="1000194"/>
      </dsp:txXfrm>
    </dsp:sp>
    <dsp:sp modelId="{76D8A6E1-E740-4AE3-B5D7-804BC2979A6D}">
      <dsp:nvSpPr>
        <dsp:cNvPr id="0" name=""/>
        <dsp:cNvSpPr/>
      </dsp:nvSpPr>
      <dsp:spPr>
        <a:xfrm rot="18213726">
          <a:off x="1813688" y="2643162"/>
          <a:ext cx="1496209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1496209" y="16193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524388" y="2621950"/>
        <a:ext cx="74810" cy="74810"/>
      </dsp:txXfrm>
    </dsp:sp>
    <dsp:sp modelId="{1EA4D5C3-2C71-4D1E-8226-4D348B18A91B}">
      <dsp:nvSpPr>
        <dsp:cNvPr id="0" name=""/>
        <dsp:cNvSpPr/>
      </dsp:nvSpPr>
      <dsp:spPr>
        <a:xfrm>
          <a:off x="2975376" y="1504754"/>
          <a:ext cx="2124860" cy="10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成员内部类</a:t>
          </a:r>
        </a:p>
      </dsp:txBody>
      <dsp:txXfrm>
        <a:off x="3006494" y="1535872"/>
        <a:ext cx="2062624" cy="1000194"/>
      </dsp:txXfrm>
    </dsp:sp>
    <dsp:sp modelId="{2D785A3B-D621-46BA-A6B1-B4AA8A90EFAF}">
      <dsp:nvSpPr>
        <dsp:cNvPr id="0" name=""/>
        <dsp:cNvSpPr/>
      </dsp:nvSpPr>
      <dsp:spPr>
        <a:xfrm rot="19457599">
          <a:off x="5001853" y="1714327"/>
          <a:ext cx="1046709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1046709" y="16193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499040" y="1704353"/>
        <a:ext cx="52335" cy="52335"/>
      </dsp:txXfrm>
    </dsp:sp>
    <dsp:sp modelId="{75E08E22-A31D-4A94-9EB0-6ED9E0086DF0}">
      <dsp:nvSpPr>
        <dsp:cNvPr id="0" name=""/>
        <dsp:cNvSpPr/>
      </dsp:nvSpPr>
      <dsp:spPr>
        <a:xfrm>
          <a:off x="5950180" y="893857"/>
          <a:ext cx="2124860" cy="10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/>
            <a:t>Static</a:t>
          </a:r>
          <a:r>
            <a:rPr lang="zh-CN" altLang="en-US" sz="3200" kern="1200" dirty="0"/>
            <a:t>内部类</a:t>
          </a:r>
        </a:p>
      </dsp:txBody>
      <dsp:txXfrm>
        <a:off x="5981298" y="924975"/>
        <a:ext cx="2062624" cy="1000194"/>
      </dsp:txXfrm>
    </dsp:sp>
    <dsp:sp modelId="{478AA4CD-8263-4434-92B3-DF4526A726BB}">
      <dsp:nvSpPr>
        <dsp:cNvPr id="0" name=""/>
        <dsp:cNvSpPr/>
      </dsp:nvSpPr>
      <dsp:spPr>
        <a:xfrm rot="2142401">
          <a:off x="5001853" y="2325224"/>
          <a:ext cx="1046709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1046709" y="16193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499040" y="2315250"/>
        <a:ext cx="52335" cy="52335"/>
      </dsp:txXfrm>
    </dsp:sp>
    <dsp:sp modelId="{D86FA008-64CC-471F-9864-F5DED06CE984}">
      <dsp:nvSpPr>
        <dsp:cNvPr id="0" name=""/>
        <dsp:cNvSpPr/>
      </dsp:nvSpPr>
      <dsp:spPr>
        <a:xfrm>
          <a:off x="5950180" y="2115652"/>
          <a:ext cx="2124860" cy="10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非</a:t>
          </a:r>
          <a:r>
            <a:rPr lang="en-US" altLang="zh-CN" sz="3200" kern="1200" dirty="0"/>
            <a:t>Static</a:t>
          </a:r>
          <a:r>
            <a:rPr lang="zh-CN" altLang="en-US" sz="3200" kern="1200" dirty="0"/>
            <a:t>内部类</a:t>
          </a:r>
        </a:p>
      </dsp:txBody>
      <dsp:txXfrm>
        <a:off x="5981298" y="2146770"/>
        <a:ext cx="2062624" cy="1000194"/>
      </dsp:txXfrm>
    </dsp:sp>
    <dsp:sp modelId="{6621E2F4-B759-425A-B8C9-040FD48005AB}">
      <dsp:nvSpPr>
        <dsp:cNvPr id="0" name=""/>
        <dsp:cNvSpPr/>
      </dsp:nvSpPr>
      <dsp:spPr>
        <a:xfrm rot="21496223">
          <a:off x="2148022" y="3254059"/>
          <a:ext cx="827542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827542" y="16193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541105" y="3249564"/>
        <a:ext cx="41377" cy="41377"/>
      </dsp:txXfrm>
    </dsp:sp>
    <dsp:sp modelId="{E0F66C68-9D81-4FBA-A485-7128411AFD8A}">
      <dsp:nvSpPr>
        <dsp:cNvPr id="0" name=""/>
        <dsp:cNvSpPr/>
      </dsp:nvSpPr>
      <dsp:spPr>
        <a:xfrm>
          <a:off x="2975376" y="2726549"/>
          <a:ext cx="2124860" cy="10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局部内部类</a:t>
          </a:r>
        </a:p>
      </dsp:txBody>
      <dsp:txXfrm>
        <a:off x="3006494" y="2757667"/>
        <a:ext cx="2062624" cy="1000194"/>
      </dsp:txXfrm>
    </dsp:sp>
    <dsp:sp modelId="{CDF38CB0-04FD-417F-B6CD-9B64A17D159E}">
      <dsp:nvSpPr>
        <dsp:cNvPr id="0" name=""/>
        <dsp:cNvSpPr/>
      </dsp:nvSpPr>
      <dsp:spPr>
        <a:xfrm rot="3321011">
          <a:off x="1834371" y="3864956"/>
          <a:ext cx="1454844" cy="32387"/>
        </a:xfrm>
        <a:custGeom>
          <a:avLst/>
          <a:gdLst/>
          <a:ahLst/>
          <a:cxnLst/>
          <a:rect l="0" t="0" r="0" b="0"/>
          <a:pathLst>
            <a:path>
              <a:moveTo>
                <a:pt x="0" y="16193"/>
              </a:moveTo>
              <a:lnTo>
                <a:pt x="1454844" y="16193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525422" y="3844779"/>
        <a:ext cx="72742" cy="72742"/>
      </dsp:txXfrm>
    </dsp:sp>
    <dsp:sp modelId="{EFC18BA4-B043-4511-9C5D-5DD35067AB84}">
      <dsp:nvSpPr>
        <dsp:cNvPr id="0" name=""/>
        <dsp:cNvSpPr/>
      </dsp:nvSpPr>
      <dsp:spPr>
        <a:xfrm>
          <a:off x="2975376" y="3948344"/>
          <a:ext cx="2124860" cy="1062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匿名内部类</a:t>
          </a:r>
        </a:p>
      </dsp:txBody>
      <dsp:txXfrm>
        <a:off x="3006494" y="3979462"/>
        <a:ext cx="2062624" cy="1000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</dgm:alg>
                        </dgm:if>
                        <dgm:else name="Name28">
                          <dgm:alg type="conn"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  <a:endParaRPr lang="en-US" altLang="zh-CN" sz="2800" dirty="0"/>
          </a:p>
          <a:p>
            <a:pPr algn="l"/>
            <a:r>
              <a:rPr lang="en-US" altLang="zh-CN" sz="280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 </a:t>
            </a:r>
            <a:r>
              <a:rPr lang="zh-CN" altLang="en-US" dirty="0"/>
              <a:t> </a:t>
            </a:r>
            <a:r>
              <a:rPr lang="en-US" altLang="zh-CN" dirty="0"/>
              <a:t>lambda</a:t>
            </a:r>
            <a:r>
              <a:rPr lang="zh-CN" altLang="en-US" dirty="0"/>
              <a:t>表达式与内部类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表达式是</a:t>
            </a:r>
            <a:r>
              <a:rPr lang="en-US" altLang="zh-CN" dirty="0"/>
              <a:t>java8</a:t>
            </a:r>
            <a:r>
              <a:rPr lang="zh-CN" altLang="en-US" dirty="0"/>
              <a:t>增加的特征，是函数式接口，使用</a:t>
            </a:r>
            <a:r>
              <a:rPr lang="en-US" altLang="zh-CN" dirty="0"/>
              <a:t>Lambda</a:t>
            </a:r>
            <a:r>
              <a:rPr lang="zh-CN" altLang="en-US" dirty="0"/>
              <a:t>表达式让代码变的简单易读，代码量也随之减少很多。</a:t>
            </a:r>
            <a:endParaRPr lang="zh-CN" altLang="en-US" dirty="0"/>
          </a:p>
          <a:p>
            <a:r>
              <a:rPr lang="zh-CN" altLang="en-US" dirty="0"/>
              <a:t>内部类定义在另一个类的内部，可用于设计具有协作关系的类集合。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lambda</a:t>
            </a:r>
            <a:r>
              <a:rPr lang="zh-CN" altLang="en-US" dirty="0"/>
              <a:t>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表达式是 </a:t>
            </a:r>
            <a:r>
              <a:rPr lang="en-US" altLang="zh-CN" dirty="0"/>
              <a:t>Java 8 </a:t>
            </a:r>
            <a:r>
              <a:rPr lang="zh-CN" altLang="en-US" dirty="0"/>
              <a:t>发布的最重要新特性</a:t>
            </a:r>
            <a:r>
              <a:rPr lang="en-US" altLang="zh-CN" dirty="0"/>
              <a:t>,</a:t>
            </a:r>
            <a:r>
              <a:rPr lang="zh-CN" altLang="en-US" dirty="0"/>
              <a:t>允许把</a:t>
            </a:r>
            <a:r>
              <a:rPr lang="zh-CN" altLang="en-US" dirty="0">
                <a:solidFill>
                  <a:srgbClr val="FF0000"/>
                </a:solidFill>
              </a:rPr>
              <a:t>函数作为一个方法的参数</a:t>
            </a:r>
            <a:r>
              <a:rPr lang="zh-CN" altLang="en-US" dirty="0"/>
              <a:t>（函数作为参数传递进方法中）。</a:t>
            </a:r>
            <a:endParaRPr lang="zh-CN" altLang="en-US" dirty="0"/>
          </a:p>
          <a:p>
            <a:r>
              <a:rPr lang="zh-CN" altLang="en-US" dirty="0"/>
              <a:t>所有的</a:t>
            </a:r>
            <a:r>
              <a:rPr lang="en-US" altLang="zh-CN" dirty="0"/>
              <a:t>Lambda</a:t>
            </a:r>
            <a:r>
              <a:rPr lang="zh-CN" altLang="en-US" dirty="0"/>
              <a:t>的类型都是一个接口，而</a:t>
            </a:r>
            <a:r>
              <a:rPr lang="en-US" altLang="zh-CN" dirty="0"/>
              <a:t>Lambda</a:t>
            </a:r>
            <a:r>
              <a:rPr lang="zh-CN" altLang="en-US" dirty="0"/>
              <a:t>表达式本身，也就是“那段代码” ，是这个接口的实现。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/>
              <a:t>Lambda </a:t>
            </a:r>
            <a:r>
              <a:rPr lang="zh-CN" altLang="en-US" dirty="0"/>
              <a:t>表达式可以使代码变的更加简洁紧凑。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8.1.1  </a:t>
            </a:r>
            <a:r>
              <a:rPr lang="zh-CN" altLang="en-US" dirty="0"/>
              <a:t>引入</a:t>
            </a:r>
            <a:r>
              <a:rPr lang="en-US" altLang="zh-CN" dirty="0"/>
              <a:t>lambda</a:t>
            </a:r>
            <a:r>
              <a:rPr lang="zh-CN" altLang="en-US" dirty="0"/>
              <a:t>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76064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很多时候实现一个较复杂功能需要在一个方法中调用另一个方法。</a:t>
            </a:r>
            <a:endParaRPr lang="en-US" altLang="zh-CN" dirty="0"/>
          </a:p>
          <a:p>
            <a:r>
              <a:rPr lang="zh-CN" altLang="en-US" dirty="0"/>
              <a:t>看一个例子，先给出一个</a:t>
            </a:r>
            <a:r>
              <a:rPr lang="en-US" altLang="zh-CN" dirty="0"/>
              <a:t>Dog</a:t>
            </a:r>
            <a:r>
              <a:rPr lang="zh-CN" altLang="en-US" dirty="0"/>
              <a:t>类：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Dog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String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String color;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weight;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Dog() {};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Dog(String n, String c, </a:t>
            </a:r>
            <a:r>
              <a:rPr lang="en-US" altLang="zh-CN" dirty="0" err="1"/>
              <a:t>int</a:t>
            </a:r>
            <a:r>
              <a:rPr lang="en-US" altLang="zh-CN" dirty="0"/>
              <a:t> w)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this.name = n;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this.color</a:t>
            </a:r>
            <a:r>
              <a:rPr lang="en-US" altLang="zh-CN" dirty="0"/>
              <a:t> = c;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this.weight</a:t>
            </a:r>
            <a:r>
              <a:rPr lang="en-US" altLang="zh-CN" dirty="0"/>
              <a:t> = w;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88640"/>
            <a:ext cx="8568952" cy="6480720"/>
          </a:xfrm>
        </p:spPr>
        <p:txBody>
          <a:bodyPr>
            <a:normAutofit fontScale="850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	@Override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String </a:t>
            </a:r>
            <a:r>
              <a:rPr lang="en-US" altLang="zh-CN" dirty="0" err="1"/>
              <a:t>toString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</a:t>
            </a:r>
            <a:r>
              <a:rPr lang="en-US" altLang="zh-CN" dirty="0" err="1"/>
              <a:t>getName</a:t>
            </a:r>
            <a:r>
              <a:rPr lang="en-US" altLang="zh-CN" dirty="0"/>
              <a:t>() + ": color=" + </a:t>
            </a:r>
            <a:r>
              <a:rPr lang="en-US" altLang="zh-CN" dirty="0" err="1"/>
              <a:t>getColor</a:t>
            </a:r>
            <a:r>
              <a:rPr lang="en-US" altLang="zh-CN" dirty="0"/>
              <a:t>() + " weight=" + 			</a:t>
            </a:r>
            <a:r>
              <a:rPr lang="en-US" altLang="zh-CN" dirty="0" err="1"/>
              <a:t>getWeight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String </a:t>
            </a:r>
            <a:r>
              <a:rPr lang="en-US" altLang="zh-CN" dirty="0" err="1"/>
              <a:t>getName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String  </a:t>
            </a:r>
            <a:r>
              <a:rPr lang="en-US" altLang="zh-CN" dirty="0" err="1"/>
              <a:t>getColor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color;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getWeight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weight;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976664"/>
          </a:xfrm>
        </p:spPr>
        <p:txBody>
          <a:bodyPr/>
          <a:lstStyle/>
          <a:p>
            <a:r>
              <a:rPr lang="zh-CN" altLang="en-US" dirty="0"/>
              <a:t>现在需要对</a:t>
            </a:r>
            <a:r>
              <a:rPr lang="en-US" altLang="zh-CN" dirty="0"/>
              <a:t>Dog[]</a:t>
            </a:r>
            <a:r>
              <a:rPr lang="zh-CN" altLang="en-US" dirty="0"/>
              <a:t>按重量进行排序，该怎么实现？</a:t>
            </a:r>
            <a:endParaRPr lang="en-US" altLang="zh-CN" dirty="0"/>
          </a:p>
          <a:p>
            <a:r>
              <a:rPr lang="zh-CN" altLang="en-US" dirty="0"/>
              <a:t>第一种方法：编写一个比较大小的方法，再用冒泡法排序，其中调用该方法做元素比较：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aCompare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w1, </a:t>
            </a:r>
            <a:r>
              <a:rPr lang="en-US" altLang="zh-CN" dirty="0" err="1"/>
              <a:t>int</a:t>
            </a:r>
            <a:r>
              <a:rPr lang="en-US" altLang="zh-CN" dirty="0"/>
              <a:t> w2)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w1-w2;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48680"/>
            <a:ext cx="8640960" cy="604867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altLang="zh-CN" dirty="0"/>
              <a:t>public static void </a:t>
            </a:r>
            <a:r>
              <a:rPr lang="en-US" altLang="zh-CN" dirty="0" err="1">
                <a:solidFill>
                  <a:srgbClr val="FF0000"/>
                </a:solidFill>
              </a:rPr>
              <a:t>aSort</a:t>
            </a:r>
            <a:r>
              <a:rPr lang="en-US" altLang="zh-CN" dirty="0"/>
              <a:t>(Dog[] </a:t>
            </a:r>
            <a:r>
              <a:rPr lang="en-US" altLang="zh-CN" dirty="0" err="1"/>
              <a:t>dA</a:t>
            </a:r>
            <a:r>
              <a:rPr lang="en-US" altLang="zh-CN" dirty="0"/>
              <a:t>)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=0;i&lt;dA.length-1;i++)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j=0; j&lt;dA.length-1-i;j++)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				    			if(</a:t>
            </a:r>
            <a:r>
              <a:rPr lang="en-US" altLang="zh-CN" dirty="0" err="1">
                <a:solidFill>
                  <a:srgbClr val="FF0000"/>
                </a:solidFill>
              </a:rPr>
              <a:t>aCompare</a:t>
            </a:r>
            <a:r>
              <a:rPr lang="en-US" altLang="zh-CN" dirty="0"/>
              <a:t>(</a:t>
            </a:r>
            <a:r>
              <a:rPr lang="en-US" altLang="zh-CN" dirty="0" err="1"/>
              <a:t>dA</a:t>
            </a:r>
            <a:r>
              <a:rPr lang="en-US" altLang="zh-CN" dirty="0"/>
              <a:t>[j+1].</a:t>
            </a:r>
            <a:r>
              <a:rPr lang="en-US" altLang="zh-CN" dirty="0" err="1"/>
              <a:t>getWeight</a:t>
            </a:r>
            <a:r>
              <a:rPr lang="en-US" altLang="zh-CN" dirty="0"/>
              <a:t>(),</a:t>
            </a:r>
            <a:r>
              <a:rPr lang="en-US" altLang="zh-CN" dirty="0" err="1"/>
              <a:t>dA</a:t>
            </a:r>
            <a:r>
              <a:rPr lang="en-US" altLang="zh-CN" dirty="0"/>
              <a:t>[j].</a:t>
            </a:r>
            <a:r>
              <a:rPr lang="en-US" altLang="zh-CN" dirty="0" err="1"/>
              <a:t>getWeight</a:t>
            </a:r>
            <a:r>
              <a:rPr lang="en-US" altLang="zh-CN" dirty="0"/>
              <a:t>())&lt;0)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Dog temp=</a:t>
            </a:r>
            <a:r>
              <a:rPr lang="en-US" altLang="zh-CN" dirty="0" err="1"/>
              <a:t>dA</a:t>
            </a:r>
            <a:r>
              <a:rPr lang="en-US" altLang="zh-CN" dirty="0"/>
              <a:t>[j];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dA</a:t>
            </a:r>
            <a:r>
              <a:rPr lang="en-US" altLang="zh-CN" dirty="0"/>
              <a:t>[j]=</a:t>
            </a:r>
            <a:r>
              <a:rPr lang="en-US" altLang="zh-CN" dirty="0" err="1"/>
              <a:t>dA</a:t>
            </a:r>
            <a:r>
              <a:rPr lang="en-US" altLang="zh-CN" dirty="0"/>
              <a:t>[j+1];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dA</a:t>
            </a:r>
            <a:r>
              <a:rPr lang="en-US" altLang="zh-CN" dirty="0"/>
              <a:t>[j+1]=temp;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075240" cy="5832648"/>
          </a:xfrm>
        </p:spPr>
        <p:txBody>
          <a:bodyPr/>
          <a:lstStyle/>
          <a:p>
            <a:pPr lvl="1"/>
            <a:r>
              <a:rPr lang="zh-CN" altLang="en-US" dirty="0"/>
              <a:t>然后可以这样排序了：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Dog d1 = new Dog("Max", "black", 50);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Dog d2 = new Dog("Rocky", "yellow", 35);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Dog d3 = new Dog("Bear", "brown", 45);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Dog d4 = new Dog("Lucky", "white", 40);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Dog[] </a:t>
            </a:r>
            <a:r>
              <a:rPr lang="en-US" altLang="zh-CN" dirty="0" err="1">
                <a:solidFill>
                  <a:srgbClr val="FF0000"/>
                </a:solidFill>
              </a:rPr>
              <a:t>dogArray</a:t>
            </a:r>
            <a:r>
              <a:rPr lang="en-US" altLang="zh-CN" dirty="0"/>
              <a:t> = { d1, d2, d3, d4 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aSort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zh-CN" altLang="en-US" dirty="0"/>
              <a:t>第二种方法：为简化程序，使用已有的工具类方法</a:t>
            </a:r>
            <a:r>
              <a:rPr lang="en-US" altLang="zh-CN" dirty="0" err="1"/>
              <a:t>Arrays.sort</a:t>
            </a:r>
            <a:r>
              <a:rPr lang="zh-CN" altLang="en-US" dirty="0"/>
              <a:t>，该方法需要</a:t>
            </a:r>
            <a:r>
              <a:rPr lang="en-US" altLang="zh-CN" dirty="0"/>
              <a:t>Dog</a:t>
            </a:r>
            <a:r>
              <a:rPr lang="zh-CN" altLang="en-US" dirty="0"/>
              <a:t>类实现接口。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Dog</a:t>
            </a:r>
            <a:r>
              <a:rPr lang="zh-CN" altLang="en-US" dirty="0"/>
              <a:t>类，使其实现</a:t>
            </a:r>
            <a:r>
              <a:rPr lang="en-US" altLang="zh-CN" dirty="0"/>
              <a:t>Comparator</a:t>
            </a:r>
            <a:r>
              <a:rPr lang="zh-CN" altLang="en-US" dirty="0"/>
              <a:t>接口</a:t>
            </a:r>
            <a:endParaRPr lang="en-US" altLang="zh-CN" dirty="0"/>
          </a:p>
          <a:p>
            <a:pPr lvl="1"/>
            <a:r>
              <a:rPr lang="zh-CN" altLang="en-US" dirty="0"/>
              <a:t>调用</a:t>
            </a:r>
            <a:r>
              <a:rPr lang="en-US" altLang="zh-CN" dirty="0" err="1"/>
              <a:t>Arrays.sort</a:t>
            </a:r>
            <a:r>
              <a:rPr lang="zh-CN" altLang="en-US" dirty="0"/>
              <a:t>方法，以</a:t>
            </a:r>
            <a:r>
              <a:rPr lang="en-US" altLang="zh-CN" dirty="0"/>
              <a:t>Dog</a:t>
            </a:r>
            <a:r>
              <a:rPr lang="zh-CN" altLang="en-US" dirty="0"/>
              <a:t>实例做参数，传递其中实现的</a:t>
            </a:r>
            <a:r>
              <a:rPr lang="en-US" altLang="zh-CN" dirty="0"/>
              <a:t>compare</a:t>
            </a:r>
            <a:r>
              <a:rPr lang="zh-CN" altLang="en-US" dirty="0"/>
              <a:t>方法。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b="1" dirty="0"/>
              <a:t>public class Dog implements Comparator&lt;Dog&gt;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dirty="0"/>
              <a:t>{        …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@Override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compare</a:t>
            </a:r>
            <a:r>
              <a:rPr lang="en-US" altLang="zh-CN" dirty="0"/>
              <a:t>(Dog dog1,Dog dog2)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dog1.weight-dog2.weight;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Dog</a:t>
            </a:r>
            <a:r>
              <a:rPr lang="zh-CN" altLang="en-US" dirty="0"/>
              <a:t>类对象作为参数传递给</a:t>
            </a:r>
            <a:r>
              <a:rPr lang="en-US" altLang="zh-CN" dirty="0"/>
              <a:t>sort</a:t>
            </a:r>
            <a:r>
              <a:rPr lang="zh-CN" altLang="en-US" dirty="0"/>
              <a:t>，实际是传递了其实现的</a:t>
            </a:r>
            <a:r>
              <a:rPr lang="en-US" altLang="zh-CN" dirty="0"/>
              <a:t>compare</a:t>
            </a:r>
            <a:r>
              <a:rPr lang="zh-CN" altLang="en-US" dirty="0"/>
              <a:t>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new Dog</a:t>
            </a:r>
            <a:r>
              <a:rPr lang="en-US" altLang="zh-CN" dirty="0"/>
              <a:t>());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075240" cy="5832648"/>
          </a:xfrm>
        </p:spPr>
        <p:txBody>
          <a:bodyPr>
            <a:normAutofit/>
          </a:bodyPr>
          <a:lstStyle/>
          <a:p>
            <a:r>
              <a:rPr lang="zh-CN" altLang="en-US" dirty="0"/>
              <a:t>第三种方法，使用匿名类作为</a:t>
            </a:r>
            <a:r>
              <a:rPr lang="en-US" altLang="zh-CN" dirty="0"/>
              <a:t>sort</a:t>
            </a:r>
            <a:r>
              <a:rPr lang="zh-CN" altLang="en-US" dirty="0"/>
              <a:t>方法的第二个参数，在匿名类中实现</a:t>
            </a:r>
            <a:r>
              <a:rPr lang="en-US" altLang="zh-CN" dirty="0"/>
              <a:t>compare</a:t>
            </a:r>
            <a:r>
              <a:rPr lang="zh-CN" altLang="en-US" dirty="0"/>
              <a:t>方法。</a:t>
            </a:r>
            <a:endParaRPr lang="en-US" altLang="zh-CN" dirty="0"/>
          </a:p>
          <a:p>
            <a:pPr lvl="1"/>
            <a:r>
              <a:rPr lang="en-US" altLang="zh-CN" dirty="0"/>
              <a:t>Dog</a:t>
            </a:r>
            <a:r>
              <a:rPr lang="zh-CN" altLang="en-US" dirty="0"/>
              <a:t>类不需要实现接口；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sort</a:t>
            </a:r>
            <a:r>
              <a:rPr lang="zh-CN" altLang="en-US" dirty="0"/>
              <a:t>方法的调用方式如下：</a:t>
            </a:r>
            <a:br>
              <a:rPr lang="en-US" altLang="zh-CN" dirty="0"/>
            </a:b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FF"/>
                </a:solidFill>
              </a:rPr>
              <a:t>new Comparator&lt;Dog&gt;() </a:t>
            </a:r>
            <a:endParaRPr lang="en-US" altLang="zh-CN" dirty="0">
              <a:solidFill>
                <a:srgbClr val="FF00F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{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@Override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public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compare(Dog dog1, Dog dog2)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{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    return dog1.getWeight()-dog2.getWeight();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}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} 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6336704"/>
          </a:xfrm>
        </p:spPr>
        <p:txBody>
          <a:bodyPr>
            <a:normAutofit/>
          </a:bodyPr>
          <a:lstStyle/>
          <a:p>
            <a:r>
              <a:rPr lang="zh-CN" altLang="en-US" dirty="0"/>
              <a:t>既然</a:t>
            </a:r>
            <a:r>
              <a:rPr lang="en-US" altLang="zh-CN" dirty="0"/>
              <a:t>sort</a:t>
            </a:r>
            <a:r>
              <a:rPr lang="zh-CN" altLang="en-US" dirty="0"/>
              <a:t>方法的第二个参数的目的是传入一个代码块（</a:t>
            </a:r>
            <a:r>
              <a:rPr lang="en-US" altLang="zh-CN" dirty="0"/>
              <a:t>compare</a:t>
            </a:r>
            <a:r>
              <a:rPr lang="zh-CN" altLang="en-US" dirty="0"/>
              <a:t>方法），</a:t>
            </a:r>
            <a:r>
              <a:rPr lang="en-US" altLang="zh-CN" dirty="0"/>
              <a:t>java8</a:t>
            </a:r>
            <a:r>
              <a:rPr lang="zh-CN" altLang="en-US" dirty="0"/>
              <a:t>给出了更加简化的语法，</a:t>
            </a:r>
            <a:r>
              <a:rPr lang="en-US" altLang="zh-CN" dirty="0"/>
              <a:t>lambda</a:t>
            </a:r>
            <a:r>
              <a:rPr lang="zh-CN" altLang="en-US" dirty="0"/>
              <a:t>表达式：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FF"/>
                </a:solidFill>
              </a:rPr>
              <a:t>(Dog dog1, Dog dog2) -&gt; { return dog1.getWeight() - dog2.getWeight(); }  </a:t>
            </a:r>
            <a:r>
              <a:rPr lang="en-US" altLang="zh-CN" dirty="0"/>
              <a:t>);</a:t>
            </a:r>
            <a:endParaRPr lang="en-US" altLang="zh-CN" dirty="0"/>
          </a:p>
          <a:p>
            <a:pPr lvl="1"/>
            <a:r>
              <a:rPr lang="zh-CN" altLang="en-US" dirty="0"/>
              <a:t>甚至可以更加简化作</a:t>
            </a:r>
            <a:br>
              <a:rPr lang="en-US" altLang="zh-CN" dirty="0"/>
            </a:b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FF"/>
                </a:solidFill>
              </a:rPr>
              <a:t>(dog1, dog2) -&gt; dog1.getWeight() - dog2.getWeight()  </a:t>
            </a:r>
            <a:r>
              <a:rPr lang="en-US" altLang="zh-CN" dirty="0"/>
              <a:t>);</a:t>
            </a:r>
            <a:endParaRPr lang="en-US" altLang="zh-CN" dirty="0"/>
          </a:p>
          <a:p>
            <a:pPr lvl="1"/>
            <a:r>
              <a:rPr lang="en-US" altLang="zh-CN" dirty="0"/>
              <a:t>Lambda</a:t>
            </a:r>
            <a:r>
              <a:rPr lang="zh-CN" altLang="en-US" dirty="0"/>
              <a:t>表达式替代了</a:t>
            </a:r>
            <a:r>
              <a:rPr lang="en-US" altLang="zh-CN" dirty="0"/>
              <a:t>sort</a:t>
            </a:r>
            <a:r>
              <a:rPr lang="zh-CN" altLang="en-US" dirty="0"/>
              <a:t>所需的类对象，该对象中实现了</a:t>
            </a:r>
            <a:r>
              <a:rPr lang="en-US" altLang="zh-CN" dirty="0"/>
              <a:t>compare</a:t>
            </a:r>
            <a:r>
              <a:rPr lang="zh-CN" altLang="en-US" dirty="0"/>
              <a:t>方法。</a:t>
            </a:r>
            <a:r>
              <a:rPr lang="en-US" altLang="zh-CN" dirty="0"/>
              <a:t>Lambda</a:t>
            </a:r>
            <a:r>
              <a:rPr lang="zh-CN" altLang="en-US" dirty="0"/>
              <a:t>表达式提供了</a:t>
            </a:r>
            <a:r>
              <a:rPr lang="en-US" altLang="zh-CN" dirty="0"/>
              <a:t>compare</a:t>
            </a:r>
            <a:r>
              <a:rPr lang="zh-CN" altLang="en-US" dirty="0"/>
              <a:t>方法的功能：对两个值进行比较，返回正数，负数或零。</a:t>
            </a:r>
            <a:endParaRPr lang="en-US" altLang="zh-CN" dirty="0"/>
          </a:p>
          <a:p>
            <a:pPr lvl="1"/>
            <a:r>
              <a:rPr lang="zh-CN" altLang="en-US" dirty="0"/>
              <a:t>这种方法非常简练，还很灵活：如果需要按</a:t>
            </a:r>
            <a:r>
              <a:rPr lang="en-US" altLang="zh-CN" dirty="0"/>
              <a:t>name</a:t>
            </a:r>
            <a:r>
              <a:rPr lang="zh-CN" altLang="en-US" dirty="0"/>
              <a:t>排序，只需如下更改即可</a:t>
            </a:r>
            <a:br>
              <a:rPr lang="en-US" altLang="zh-CN" dirty="0"/>
            </a:b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DF11DF"/>
                </a:solidFill>
              </a:rPr>
              <a:t>(dog1, dog2) -&gt; </a:t>
            </a:r>
            <a:r>
              <a:rPr lang="en-US" altLang="zh-CN" dirty="0">
                <a:solidFill>
                  <a:srgbClr val="FF00FF"/>
                </a:solidFill>
              </a:rPr>
              <a:t>dog1.getName().</a:t>
            </a:r>
            <a:r>
              <a:rPr lang="en-US" altLang="zh-CN" dirty="0" err="1">
                <a:solidFill>
                  <a:srgbClr val="FF00FF"/>
                </a:solidFill>
              </a:rPr>
              <a:t>compareTo</a:t>
            </a:r>
            <a:r>
              <a:rPr lang="en-US" altLang="zh-CN" dirty="0">
                <a:solidFill>
                  <a:srgbClr val="FF00FF"/>
                </a:solidFill>
              </a:rPr>
              <a:t>(dog2.getName())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8.1.2  lambda</a:t>
            </a:r>
            <a:r>
              <a:rPr lang="zh-CN" altLang="en-US" dirty="0"/>
              <a:t>表达式的语法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可见，</a:t>
            </a:r>
            <a:r>
              <a:rPr lang="en-US" altLang="zh-CN" dirty="0"/>
              <a:t>lambda</a:t>
            </a:r>
            <a:r>
              <a:rPr lang="zh-CN" altLang="en-US" dirty="0"/>
              <a:t>表达式本质是一个匿名方法，它总是替代一个接口中的方法。其基本语法为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en-US" altLang="zh-CN" dirty="0"/>
              <a:t>(parameters) -&gt; expression  </a:t>
            </a:r>
            <a:r>
              <a:rPr lang="zh-CN" altLang="en-US" dirty="0"/>
              <a:t>或</a:t>
            </a:r>
            <a:endParaRPr lang="zh-CN" altLang="en-US" dirty="0"/>
          </a:p>
          <a:p>
            <a:pPr lvl="1"/>
            <a:r>
              <a:rPr lang="en-US" altLang="zh-CN" dirty="0"/>
              <a:t>(parameters) -&gt; { statements; }</a:t>
            </a:r>
            <a:endParaRPr lang="en-US" altLang="zh-CN" dirty="0"/>
          </a:p>
          <a:p>
            <a:pPr lvl="1"/>
            <a:r>
              <a:rPr lang="zh-CN" altLang="en-US" dirty="0"/>
              <a:t>这里</a:t>
            </a:r>
            <a:r>
              <a:rPr lang="en-US" altLang="zh-CN" dirty="0"/>
              <a:t>parameters</a:t>
            </a:r>
            <a:r>
              <a:rPr lang="zh-CN" altLang="en-US" dirty="0"/>
              <a:t>是接口中抽象方法的参数，</a:t>
            </a:r>
            <a:r>
              <a:rPr lang="en-US" altLang="zh-CN" dirty="0"/>
              <a:t> expression</a:t>
            </a:r>
            <a:r>
              <a:rPr lang="zh-CN" altLang="en-US" dirty="0"/>
              <a:t>或</a:t>
            </a:r>
            <a:r>
              <a:rPr lang="en-US" altLang="zh-CN" dirty="0"/>
              <a:t>statements;</a:t>
            </a:r>
            <a:r>
              <a:rPr lang="zh-CN" altLang="en-US" dirty="0"/>
              <a:t>是接口中方法的实现部分。</a:t>
            </a:r>
            <a:endParaRPr lang="en-US" altLang="zh-CN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6624736" cy="322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4365104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(dog1, dog2) -&gt; dog1.getWeight() - dog2.getWeight()</a:t>
            </a:r>
            <a:endParaRPr lang="zh-CN" altLang="en-US" sz="2400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899592" y="2204864"/>
            <a:ext cx="2736304" cy="223224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707904" y="2204864"/>
            <a:ext cx="252028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55576" y="4826769"/>
            <a:ext cx="172819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267744" y="2996952"/>
            <a:ext cx="388843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843808" y="4941168"/>
            <a:ext cx="489654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2843808" y="3068960"/>
            <a:ext cx="432048" cy="13681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6120680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/>
              <a:t>Lambda</a:t>
            </a:r>
            <a:r>
              <a:rPr lang="zh-CN" altLang="en-US" dirty="0"/>
              <a:t>表达式只有一个参数时，</a:t>
            </a:r>
            <a:r>
              <a:rPr lang="en-US" altLang="zh-CN" dirty="0"/>
              <a:t>()</a:t>
            </a:r>
            <a:r>
              <a:rPr lang="zh-CN" altLang="en-US" dirty="0"/>
              <a:t>可以省略：</a:t>
            </a:r>
            <a:br>
              <a:rPr lang="en-US" altLang="zh-CN" dirty="0"/>
            </a:br>
            <a:r>
              <a:rPr lang="en-US" altLang="zh-CN" dirty="0"/>
              <a:t>x-&gt;x*10      </a:t>
            </a:r>
            <a:endParaRPr lang="en-US" altLang="zh-CN" dirty="0"/>
          </a:p>
          <a:p>
            <a:pPr lvl="1"/>
            <a:r>
              <a:rPr lang="zh-CN" altLang="en-US" dirty="0"/>
              <a:t>没有参数或多个参数则不能省略：</a:t>
            </a:r>
            <a:br>
              <a:rPr lang="en-US" altLang="zh-CN" dirty="0"/>
            </a:br>
            <a:r>
              <a:rPr lang="en-US" altLang="zh-CN" dirty="0"/>
              <a:t>()-&gt;</a:t>
            </a:r>
            <a:r>
              <a:rPr lang="en-US" altLang="zh-CN" dirty="0" err="1"/>
              <a:t>System.out.println</a:t>
            </a:r>
            <a:r>
              <a:rPr lang="en-US" altLang="zh-CN" dirty="0"/>
              <a:t>(“null”)</a:t>
            </a:r>
            <a:br>
              <a:rPr lang="en-US" altLang="zh-CN" dirty="0"/>
            </a:br>
            <a:r>
              <a:rPr lang="en-US" altLang="zh-CN" dirty="0"/>
              <a:t>(x, y)-&gt;{if(x&lt;y) return -1;</a:t>
            </a:r>
            <a:br>
              <a:rPr lang="en-US" altLang="zh-CN" dirty="0"/>
            </a:br>
            <a:r>
              <a:rPr lang="en-US" altLang="zh-CN" dirty="0"/>
              <a:t>             else if(x==y) return 0;</a:t>
            </a:r>
            <a:br>
              <a:rPr lang="en-US" altLang="zh-CN" dirty="0"/>
            </a:br>
            <a:r>
              <a:rPr lang="en-US" altLang="zh-CN" dirty="0"/>
              <a:t>             return 1;}</a:t>
            </a:r>
            <a:endParaRPr lang="en-US" altLang="zh-CN" dirty="0"/>
          </a:p>
          <a:p>
            <a:pPr lvl="1"/>
            <a:r>
              <a:rPr lang="zh-CN" altLang="en-US" dirty="0"/>
              <a:t>如果只有一个语句，可以省略</a:t>
            </a:r>
            <a:r>
              <a:rPr lang="en-US" altLang="zh-CN" dirty="0"/>
              <a:t>{}</a:t>
            </a:r>
            <a:r>
              <a:rPr lang="zh-CN" altLang="en-US" dirty="0"/>
              <a:t>和</a:t>
            </a:r>
            <a:r>
              <a:rPr lang="en-US" altLang="zh-CN" dirty="0"/>
              <a:t>return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/>
              <a:t>(x, y)-&gt;x-y</a:t>
            </a:r>
            <a:endParaRPr lang="en-US" altLang="zh-CN" dirty="0"/>
          </a:p>
          <a:p>
            <a:pPr lvl="1"/>
            <a:r>
              <a:rPr lang="zh-CN" altLang="en-US" dirty="0"/>
              <a:t>一般来说，参数的类型不需要指定，可以由所对应的接口推出：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DF11DF"/>
                </a:solidFill>
              </a:rPr>
              <a:t>(dog1, dog2) -&gt; </a:t>
            </a:r>
            <a:r>
              <a:rPr lang="en-US" altLang="zh-CN" dirty="0">
                <a:solidFill>
                  <a:srgbClr val="FF00FF"/>
                </a:solidFill>
              </a:rPr>
              <a:t>dog1.getName().</a:t>
            </a:r>
            <a:r>
              <a:rPr lang="en-US" altLang="zh-CN" dirty="0" err="1">
                <a:solidFill>
                  <a:srgbClr val="FF00FF"/>
                </a:solidFill>
              </a:rPr>
              <a:t>compareTo</a:t>
            </a:r>
            <a:r>
              <a:rPr lang="en-US" altLang="zh-CN" dirty="0">
                <a:solidFill>
                  <a:srgbClr val="FF00FF"/>
                </a:solidFill>
              </a:rPr>
              <a:t>(dog2.getName())</a:t>
            </a:r>
            <a:r>
              <a:rPr lang="en-US" altLang="zh-CN" dirty="0"/>
              <a:t>);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Sort</a:t>
            </a:r>
            <a:r>
              <a:rPr lang="zh-CN" altLang="en-US" dirty="0"/>
              <a:t>方法的第二个参数是</a:t>
            </a:r>
            <a:r>
              <a:rPr lang="en-US" altLang="zh-CN" dirty="0"/>
              <a:t>Comparator&lt;Dog&gt; c </a:t>
            </a:r>
            <a:r>
              <a:rPr lang="zh-CN" altLang="en-US" dirty="0"/>
              <a:t>，其中的方法</a:t>
            </a:r>
            <a:br>
              <a:rPr lang="en-US" altLang="zh-CN" dirty="0"/>
            </a:br>
            <a:r>
              <a:rPr lang="en-US" altLang="zh-CN" dirty="0">
                <a:solidFill>
                  <a:schemeClr val="tx1"/>
                </a:solidFill>
              </a:rPr>
              <a:t>compare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Dog</a:t>
            </a:r>
            <a:r>
              <a:rPr lang="en-US" altLang="zh-CN" dirty="0"/>
              <a:t> dog1,</a:t>
            </a:r>
            <a:r>
              <a:rPr lang="en-US" altLang="zh-CN" dirty="0">
                <a:solidFill>
                  <a:srgbClr val="FF0000"/>
                </a:solidFill>
              </a:rPr>
              <a:t>Dog</a:t>
            </a:r>
            <a:r>
              <a:rPr lang="en-US" altLang="zh-CN" dirty="0"/>
              <a:t> dog2) </a:t>
            </a:r>
            <a:r>
              <a:rPr lang="zh-CN" altLang="en-US" dirty="0"/>
              <a:t>已经确定了参数类型。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8.1.2  </a:t>
            </a:r>
            <a:r>
              <a:rPr lang="zh-CN" altLang="en-US" dirty="0"/>
              <a:t>函数式接口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lambda</a:t>
            </a:r>
            <a:r>
              <a:rPr lang="zh-CN" altLang="en-US" dirty="0"/>
              <a:t>表达式可以被当做是一个</a:t>
            </a:r>
            <a:r>
              <a:rPr lang="zh-CN" altLang="en-US" dirty="0">
                <a:solidFill>
                  <a:srgbClr val="FF0000"/>
                </a:solidFill>
              </a:rPr>
              <a:t>实现了某个接口的对象</a:t>
            </a:r>
            <a:r>
              <a:rPr lang="zh-CN" altLang="en-US" dirty="0"/>
              <a:t>。</a:t>
            </a:r>
            <a:r>
              <a:rPr lang="en-US" altLang="zh-CN" dirty="0"/>
              <a:t> lambda</a:t>
            </a:r>
            <a:r>
              <a:rPr lang="zh-CN" altLang="en-US" dirty="0"/>
              <a:t>表达式的类型叫做“目标类型”（</a:t>
            </a:r>
            <a:r>
              <a:rPr lang="en-US" altLang="zh-CN" dirty="0"/>
              <a:t>target type</a:t>
            </a:r>
            <a:r>
              <a:rPr lang="zh-CN" altLang="en-US" dirty="0"/>
              <a:t>）。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lambda</a:t>
            </a:r>
            <a:r>
              <a:rPr lang="zh-CN" altLang="en-US" dirty="0"/>
              <a:t>表达式的目标类型是“函数式接口”（</a:t>
            </a:r>
            <a:r>
              <a:rPr lang="en-US" altLang="zh-CN" dirty="0"/>
              <a:t>functional interface</a:t>
            </a:r>
            <a:r>
              <a:rPr lang="zh-CN" altLang="en-US" dirty="0"/>
              <a:t>，</a:t>
            </a:r>
            <a:r>
              <a:rPr lang="en-US" altLang="zh-CN" dirty="0"/>
              <a:t>FI</a:t>
            </a:r>
            <a:r>
              <a:rPr lang="zh-CN" altLang="en-US" dirty="0"/>
              <a:t>），这是</a:t>
            </a:r>
            <a:r>
              <a:rPr lang="en-US" altLang="zh-CN" dirty="0"/>
              <a:t>Java8</a:t>
            </a:r>
            <a:r>
              <a:rPr lang="zh-CN" altLang="en-US" dirty="0"/>
              <a:t>新引入的概念：一个接口如果</a:t>
            </a:r>
            <a:r>
              <a:rPr lang="zh-CN" altLang="en-US" dirty="0">
                <a:solidFill>
                  <a:srgbClr val="FF0000"/>
                </a:solidFill>
              </a:rPr>
              <a:t>只有一个</a:t>
            </a:r>
            <a:r>
              <a:rPr lang="zh-CN" altLang="en-US" dirty="0"/>
              <a:t>抽象方法，那么它就是一个函数式接口。</a:t>
            </a:r>
            <a:endParaRPr lang="en-US" altLang="zh-CN" dirty="0"/>
          </a:p>
          <a:p>
            <a:pPr lvl="1"/>
            <a:r>
              <a:rPr lang="zh-CN" altLang="en-US" dirty="0"/>
              <a:t>接口中如果显式声明了</a:t>
            </a:r>
            <a:r>
              <a:rPr lang="en-US" altLang="zh-CN" dirty="0"/>
              <a:t>Object</a:t>
            </a:r>
            <a:r>
              <a:rPr lang="zh-CN" altLang="en-US" dirty="0"/>
              <a:t>中的公有方法，不影响其“函数式”性质，因为那些方法默认就是声明了的。</a:t>
            </a:r>
            <a:endParaRPr lang="en-US" altLang="zh-CN" dirty="0"/>
          </a:p>
          <a:p>
            <a:r>
              <a:rPr lang="zh-CN" altLang="en-US" dirty="0"/>
              <a:t>只有函数式接口才可以用</a:t>
            </a:r>
            <a:r>
              <a:rPr lang="en-US" altLang="zh-CN" dirty="0"/>
              <a:t>lambda</a:t>
            </a:r>
            <a:r>
              <a:rPr lang="zh-CN" altLang="en-US" dirty="0"/>
              <a:t>表达式替代。</a:t>
            </a:r>
            <a:endParaRPr lang="zh-CN" altLang="en-US" dirty="0"/>
          </a:p>
          <a:p>
            <a:pPr lvl="1"/>
            <a:r>
              <a:rPr lang="en-US" altLang="zh-CN" dirty="0"/>
              <a:t>Comparator</a:t>
            </a:r>
            <a:r>
              <a:rPr lang="zh-CN" altLang="en-US" dirty="0"/>
              <a:t>就是一个函数式接口，其中只有一个抽象方法</a:t>
            </a:r>
            <a:r>
              <a:rPr lang="en-US" altLang="zh-CN" dirty="0"/>
              <a:t>compare()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5735"/>
            <a:ext cx="8075295" cy="6642735"/>
          </a:xfrm>
        </p:spPr>
        <p:txBody>
          <a:bodyPr>
            <a:normAutofit fontScale="90000" lnSpcReduction="20000"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StringTest.java</a:t>
            </a:r>
            <a:r>
              <a:rPr lang="zh-CN" altLang="en-US" dirty="0"/>
              <a:t>中，想让字符串按长度排序：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String[] </a:t>
            </a:r>
            <a:r>
              <a:rPr lang="en-US" altLang="zh-CN" dirty="0" err="1"/>
              <a:t>sArr</a:t>
            </a:r>
            <a:r>
              <a:rPr lang="en-US" altLang="zh-CN" dirty="0"/>
              <a:t>=new String[] 				       	{"</a:t>
            </a:r>
            <a:r>
              <a:rPr lang="en-US" altLang="zh-CN" dirty="0" err="1"/>
              <a:t>China","America","France","Switzerland</a:t>
            </a:r>
            <a:r>
              <a:rPr lang="en-US" altLang="zh-CN" dirty="0"/>
              <a:t> "};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sArr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DF11DF"/>
                </a:solidFill>
              </a:rPr>
              <a:t>(s1,s2)-&gt;s1.length()-s2.length()</a:t>
            </a:r>
            <a:r>
              <a:rPr lang="en-US" altLang="zh-CN" dirty="0"/>
              <a:t>);</a:t>
            </a:r>
            <a:endParaRPr lang="en-US" altLang="zh-CN" dirty="0"/>
          </a:p>
          <a:p>
            <a:pPr lvl="1"/>
            <a:r>
              <a:rPr lang="zh-CN" altLang="en-US" dirty="0"/>
              <a:t>这里</a:t>
            </a:r>
            <a:r>
              <a:rPr lang="en-US" altLang="zh-CN" dirty="0"/>
              <a:t>sort</a:t>
            </a:r>
            <a:r>
              <a:rPr lang="zh-CN" altLang="en-US" dirty="0"/>
              <a:t>的第二个参数</a:t>
            </a:r>
            <a:r>
              <a:rPr lang="zh-CN" altLang="en-US" dirty="0">
                <a:solidFill>
                  <a:srgbClr val="FF0000"/>
                </a:solidFill>
              </a:rPr>
              <a:t>需要接收某个类对象</a:t>
            </a:r>
            <a:r>
              <a:rPr lang="en-US" altLang="zh-CN" dirty="0">
                <a:solidFill>
                  <a:srgbClr val="002060"/>
                </a:solidFill>
              </a:rPr>
              <a:t>----</a:t>
            </a:r>
            <a:r>
              <a:rPr lang="zh-CN" altLang="en-US" dirty="0"/>
              <a:t>该类实现了</a:t>
            </a:r>
            <a:r>
              <a:rPr lang="en-US" altLang="zh-CN" dirty="0"/>
              <a:t>Comparator</a:t>
            </a:r>
            <a:r>
              <a:rPr lang="zh-CN" altLang="en-US" dirty="0"/>
              <a:t>接口</a:t>
            </a:r>
            <a:r>
              <a:rPr lang="en-US" altLang="zh-CN" dirty="0"/>
              <a:t>----</a:t>
            </a:r>
            <a:r>
              <a:rPr lang="zh-CN" altLang="en-US" dirty="0"/>
              <a:t>由这个对象调用</a:t>
            </a:r>
            <a:r>
              <a:rPr lang="en-US" altLang="zh-CN" dirty="0"/>
              <a:t>compare</a:t>
            </a:r>
            <a:r>
              <a:rPr lang="zh-CN" altLang="en-US" dirty="0"/>
              <a:t>方法，执行</a:t>
            </a:r>
            <a:r>
              <a:rPr lang="en-US" altLang="zh-CN" dirty="0"/>
              <a:t>lambda</a:t>
            </a:r>
            <a:r>
              <a:rPr lang="zh-CN" altLang="en-US" dirty="0"/>
              <a:t>表达式的代码块。这里产生的对象和类完全取决于具体实现。</a:t>
            </a:r>
            <a:endParaRPr lang="zh-CN" altLang="en-US" dirty="0"/>
          </a:p>
          <a:p>
            <a:pPr lvl="0"/>
            <a:r>
              <a:rPr lang="zh-CN" altLang="zh-CN" dirty="0">
                <a:solidFill>
                  <a:srgbClr val="FF0000"/>
                </a:solidFill>
              </a:rPr>
              <a:t>考虑问题：ActionListener接口是否可以转换为</a:t>
            </a:r>
            <a:r>
              <a:rPr lang="en-US" altLang="zh-CN" dirty="0">
                <a:solidFill>
                  <a:srgbClr val="FF0000"/>
                </a:solidFill>
              </a:rPr>
              <a:t>lambda</a:t>
            </a:r>
            <a:r>
              <a:rPr lang="zh-CN" altLang="en-US" dirty="0">
                <a:solidFill>
                  <a:srgbClr val="FF0000"/>
                </a:solidFill>
              </a:rPr>
              <a:t>表达式？</a:t>
            </a:r>
            <a:endParaRPr lang="zh-CN" altLang="zh-CN" dirty="0"/>
          </a:p>
          <a:p>
            <a:r>
              <a:rPr lang="zh-CN" altLang="en-US" dirty="0"/>
              <a:t>再看一个例子（</a:t>
            </a:r>
            <a:r>
              <a:rPr lang="en-US" altLang="zh-CN" dirty="0"/>
              <a:t>LambdaDemo.java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interface Operation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函数式接口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operate(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interface </a:t>
            </a:r>
            <a:r>
              <a:rPr lang="en-US" altLang="zh-CN" dirty="0" err="1"/>
              <a:t>MessageInterface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函数式接口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void </a:t>
            </a:r>
            <a:r>
              <a:rPr lang="en-US" altLang="zh-CN" dirty="0" err="1"/>
              <a:t>sayMessage</a:t>
            </a:r>
            <a:r>
              <a:rPr lang="en-US" altLang="zh-CN" dirty="0"/>
              <a:t>(String message);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6120680"/>
          </a:xfrm>
        </p:spPr>
        <p:txBody>
          <a:bodyPr>
            <a:normAutofit fontScale="92500"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LambdaDemo</a:t>
            </a:r>
            <a:r>
              <a:rPr lang="en-US" altLang="zh-CN" dirty="0"/>
              <a:t>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创建一个类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</a:t>
            </a:r>
            <a:r>
              <a:rPr lang="en-US" altLang="zh-CN" dirty="0" err="1"/>
              <a:t>aString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</a:t>
            </a:r>
            <a:r>
              <a:rPr lang="en-US" altLang="zh-CN" dirty="0" err="1"/>
              <a:t>int</a:t>
            </a:r>
            <a:r>
              <a:rPr lang="en-US" altLang="zh-CN" dirty="0"/>
              <a:t> y;</a:t>
            </a:r>
            <a:br>
              <a:rPr lang="en-US" altLang="zh-CN" dirty="0"/>
            </a:br>
            <a:r>
              <a:rPr lang="en-US" altLang="zh-CN" dirty="0"/>
              <a:t>	……</a:t>
            </a:r>
            <a:br>
              <a:rPr lang="en-US" altLang="zh-CN" dirty="0"/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实例方法，接口做参数，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operate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的参数为实例的域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calInt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Operation</a:t>
            </a:r>
            <a:r>
              <a:rPr lang="en-US" altLang="zh-CN" dirty="0"/>
              <a:t> o) 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</a:t>
            </a:r>
            <a:r>
              <a:rPr lang="en-US" altLang="zh-CN" dirty="0" err="1"/>
              <a:t>o.operate</a:t>
            </a:r>
            <a:r>
              <a:rPr lang="en-US" altLang="zh-CN" dirty="0"/>
              <a:t>(x, y);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实例方法，接口做参数，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sayMessage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的参数为实例的域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public void </a:t>
            </a:r>
            <a:r>
              <a:rPr lang="en-US" altLang="zh-CN" dirty="0" err="1"/>
              <a:t>ShowMessage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MessageInterface</a:t>
            </a:r>
            <a:r>
              <a:rPr lang="en-US" altLang="zh-CN" dirty="0"/>
              <a:t> m)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m.sayMessage</a:t>
            </a:r>
            <a:r>
              <a:rPr lang="en-US" altLang="zh-CN" dirty="0"/>
              <a:t>(</a:t>
            </a:r>
            <a:r>
              <a:rPr lang="en-US" altLang="zh-CN" dirty="0" err="1"/>
              <a:t>aString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调用实例方法</a:t>
            </a:r>
            <a:r>
              <a:rPr lang="en-US" altLang="zh-CN" dirty="0"/>
              <a:t>(</a:t>
            </a:r>
            <a:r>
              <a:rPr lang="en-US" altLang="zh-CN" dirty="0" err="1"/>
              <a:t>LambdaDemoMain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LambdaDemo</a:t>
            </a:r>
            <a:r>
              <a:rPr lang="en-US" altLang="zh-CN" dirty="0"/>
              <a:t> </a:t>
            </a:r>
            <a:r>
              <a:rPr lang="en-US" altLang="zh-CN" dirty="0" err="1"/>
              <a:t>ld</a:t>
            </a:r>
            <a:r>
              <a:rPr lang="en-US" altLang="zh-CN" dirty="0"/>
              <a:t> = new </a:t>
            </a:r>
            <a:r>
              <a:rPr lang="en-US" altLang="zh-CN" dirty="0" err="1"/>
              <a:t>LambdaDemo</a:t>
            </a:r>
            <a:r>
              <a:rPr lang="en-US" altLang="zh-CN" dirty="0"/>
              <a:t>(10,20,"Hello");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ld.calInt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DF11DF"/>
                </a:solidFill>
              </a:rPr>
              <a:t>(</a:t>
            </a:r>
            <a:r>
              <a:rPr lang="en-US" altLang="zh-CN" dirty="0" err="1">
                <a:solidFill>
                  <a:srgbClr val="DF11DF"/>
                </a:solidFill>
              </a:rPr>
              <a:t>a,b</a:t>
            </a:r>
            <a:r>
              <a:rPr lang="en-US" altLang="zh-CN" dirty="0">
                <a:solidFill>
                  <a:srgbClr val="DF11DF"/>
                </a:solidFill>
              </a:rPr>
              <a:t>)-&gt;</a:t>
            </a:r>
            <a:r>
              <a:rPr lang="en-US" altLang="zh-CN" dirty="0" err="1">
                <a:solidFill>
                  <a:srgbClr val="DF11DF"/>
                </a:solidFill>
              </a:rPr>
              <a:t>a+b</a:t>
            </a:r>
            <a:r>
              <a:rPr lang="en-US" altLang="zh-CN" dirty="0">
                <a:solidFill>
                  <a:srgbClr val="DF11DF"/>
                </a:solidFill>
              </a:rPr>
              <a:t>)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//30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JVM</a:t>
            </a:r>
            <a:r>
              <a:rPr lang="zh-CN" altLang="en-US" dirty="0"/>
              <a:t>会生成一个匿名的</a:t>
            </a:r>
            <a:r>
              <a:rPr lang="en-US" altLang="zh-CN" dirty="0">
                <a:solidFill>
                  <a:srgbClr val="DF11DF"/>
                </a:solidFill>
              </a:rPr>
              <a:t>Operation</a:t>
            </a:r>
            <a:r>
              <a:rPr lang="zh-CN" altLang="en-US" dirty="0">
                <a:solidFill>
                  <a:srgbClr val="DF11DF"/>
                </a:solidFill>
              </a:rPr>
              <a:t>接口的子类对象</a:t>
            </a:r>
            <a:r>
              <a:rPr lang="zh-CN" altLang="en-US" dirty="0"/>
              <a:t>，用这个对象调用</a:t>
            </a:r>
            <a:r>
              <a:rPr lang="en-US" altLang="zh-CN" dirty="0"/>
              <a:t>operate(x, y)</a:t>
            </a:r>
            <a:r>
              <a:rPr lang="zh-CN" altLang="en-US" dirty="0"/>
              <a:t>，把参数传给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，返回</a:t>
            </a:r>
            <a:r>
              <a:rPr lang="en-US" altLang="zh-CN" dirty="0" err="1"/>
              <a:t>a+b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既然</a:t>
            </a:r>
            <a:r>
              <a:rPr lang="en-US" altLang="zh-CN" dirty="0"/>
              <a:t>lambda</a:t>
            </a:r>
            <a:r>
              <a:rPr lang="zh-CN" altLang="en-US" dirty="0"/>
              <a:t>表达式表示一个接口子类的对象，那么它可以赋值给接口变量：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Operation </a:t>
            </a:r>
            <a:r>
              <a:rPr lang="en-US" altLang="zh-CN" dirty="0" err="1"/>
              <a:t>oper</a:t>
            </a:r>
            <a:r>
              <a:rPr lang="en-US" altLang="zh-CN" dirty="0"/>
              <a:t>=(</a:t>
            </a:r>
            <a:r>
              <a:rPr lang="en-US" altLang="zh-CN" dirty="0" err="1"/>
              <a:t>a,b</a:t>
            </a:r>
            <a:r>
              <a:rPr lang="en-US" altLang="zh-CN" dirty="0"/>
              <a:t>)-&gt;a*</a:t>
            </a:r>
            <a:r>
              <a:rPr lang="en-US" altLang="zh-CN" dirty="0" err="1"/>
              <a:t>a+b</a:t>
            </a:r>
            <a:r>
              <a:rPr lang="en-US" altLang="zh-CN" dirty="0"/>
              <a:t>*b;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ld.calInt</a:t>
            </a:r>
            <a:r>
              <a:rPr lang="en-US" altLang="zh-CN" dirty="0"/>
              <a:t>(</a:t>
            </a:r>
            <a:r>
              <a:rPr lang="en-US" altLang="zh-CN" dirty="0" err="1"/>
              <a:t>oper</a:t>
            </a:r>
            <a:r>
              <a:rPr lang="en-US" altLang="zh-CN" dirty="0"/>
              <a:t>));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//500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同样的机制，调用另一个实例方法：</a:t>
            </a:r>
            <a:endParaRPr lang="en-US" altLang="zh-CN" dirty="0"/>
          </a:p>
          <a:p>
            <a:pPr lvl="1"/>
            <a:r>
              <a:rPr lang="en-US" altLang="zh-CN" dirty="0" err="1"/>
              <a:t>ld.ShowMessage</a:t>
            </a:r>
            <a:r>
              <a:rPr lang="en-US" altLang="zh-CN" dirty="0"/>
              <a:t>(m-&gt;</a:t>
            </a:r>
            <a:r>
              <a:rPr lang="en-US" altLang="zh-CN" dirty="0" err="1">
                <a:solidFill>
                  <a:srgbClr val="DF11DF"/>
                </a:solidFill>
              </a:rPr>
              <a:t>System.out.println</a:t>
            </a:r>
            <a:r>
              <a:rPr lang="en-US" altLang="zh-CN" dirty="0">
                <a:solidFill>
                  <a:srgbClr val="DF11DF"/>
                </a:solidFill>
              </a:rPr>
              <a:t>("The message in class is: "+m)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  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输出：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The message in class is: Hello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LambdaDemo</a:t>
            </a:r>
            <a:r>
              <a:rPr lang="zh-CN" altLang="en-US" dirty="0"/>
              <a:t>类加入类方法：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类方法的前两个参数传入操作数，最后一个参数是接口的子类对象，传入算法代码块</a:t>
            </a:r>
            <a:endParaRPr lang="zh-CN" altLang="en-US" dirty="0"/>
          </a:p>
          <a:p>
            <a:pPr marL="274320" lvl="1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public static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staticCalInt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y,</a:t>
            </a:r>
            <a:r>
              <a:rPr lang="en-US" altLang="zh-CN" dirty="0" err="1">
                <a:solidFill>
                  <a:srgbClr val="DF11DF"/>
                </a:solidFill>
              </a:rPr>
              <a:t>Operation</a:t>
            </a:r>
            <a:r>
              <a:rPr lang="en-US" altLang="zh-CN" dirty="0"/>
              <a:t> o)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</a:t>
            </a:r>
            <a:r>
              <a:rPr lang="en-US" altLang="zh-CN" dirty="0" err="1"/>
              <a:t>o.operate</a:t>
            </a:r>
            <a:r>
              <a:rPr lang="en-US" altLang="zh-CN" dirty="0"/>
              <a:t>(x, y);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参数与域无关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</a:t>
            </a:r>
            <a:r>
              <a:rPr lang="en-US" altLang="zh-CN" dirty="0" err="1"/>
              <a:t>staticMessage</a:t>
            </a:r>
            <a:r>
              <a:rPr lang="en-US" altLang="zh-CN" dirty="0"/>
              <a:t>(String s, 					</a:t>
            </a:r>
            <a:r>
              <a:rPr lang="en-US" altLang="zh-CN" dirty="0" err="1">
                <a:solidFill>
                  <a:srgbClr val="DF11DF"/>
                </a:solidFill>
              </a:rPr>
              <a:t>MessageInterface</a:t>
            </a:r>
            <a:r>
              <a:rPr lang="en-US" altLang="zh-CN" dirty="0"/>
              <a:t> m)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m.sayMessage</a:t>
            </a:r>
            <a:r>
              <a:rPr lang="en-US" altLang="zh-CN" dirty="0"/>
              <a:t>(s);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参数与域无关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48680"/>
            <a:ext cx="8568952" cy="5688632"/>
          </a:xfrm>
        </p:spPr>
        <p:txBody>
          <a:bodyPr/>
          <a:lstStyle/>
          <a:p>
            <a:r>
              <a:rPr lang="zh-CN" altLang="en-US" dirty="0"/>
              <a:t>现在可以使用类方法处理传入的参数：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ia</a:t>
            </a:r>
            <a:r>
              <a:rPr lang="en-US" altLang="zh-CN" dirty="0"/>
              <a:t>=1024;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ib</a:t>
            </a:r>
            <a:r>
              <a:rPr lang="en-US" altLang="zh-CN" dirty="0"/>
              <a:t>=512;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ic</a:t>
            </a:r>
            <a:r>
              <a:rPr lang="en-US" altLang="zh-CN" dirty="0"/>
              <a:t>=</a:t>
            </a:r>
            <a:r>
              <a:rPr lang="en-US" altLang="zh-CN" dirty="0" err="1"/>
              <a:t>LambdaDemo.staticCalInt</a:t>
            </a:r>
            <a:r>
              <a:rPr lang="en-US" altLang="zh-CN" dirty="0"/>
              <a:t>(</a:t>
            </a:r>
            <a:r>
              <a:rPr lang="en-US" altLang="zh-CN" dirty="0" err="1"/>
              <a:t>ia</a:t>
            </a:r>
            <a:r>
              <a:rPr lang="en-US" altLang="zh-CN" dirty="0"/>
              <a:t>, </a:t>
            </a:r>
            <a:r>
              <a:rPr lang="en-US" altLang="zh-CN" dirty="0" err="1"/>
              <a:t>ib</a:t>
            </a:r>
            <a:r>
              <a:rPr lang="en-US" altLang="zh-CN" dirty="0"/>
              <a:t>, (</a:t>
            </a:r>
            <a:r>
              <a:rPr lang="en-US" altLang="zh-CN" dirty="0" err="1"/>
              <a:t>x,y</a:t>
            </a:r>
            <a:r>
              <a:rPr lang="en-US" altLang="zh-CN" dirty="0"/>
              <a:t>)-&gt;</a:t>
            </a:r>
            <a:r>
              <a:rPr lang="en-US" altLang="zh-CN" dirty="0" err="1"/>
              <a:t>x+y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ic</a:t>
            </a:r>
            <a:r>
              <a:rPr lang="en-US" altLang="zh-CN" dirty="0"/>
              <a:t>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//1536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message="Welcome, java.";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LambdaDemo.staticMessage</a:t>
            </a:r>
            <a:r>
              <a:rPr lang="en-US" altLang="zh-CN" dirty="0"/>
              <a:t>(message,  </a:t>
            </a:r>
            <a:br>
              <a:rPr lang="en-US" altLang="zh-CN" dirty="0"/>
            </a:br>
            <a:r>
              <a:rPr lang="en-US" altLang="zh-CN" dirty="0"/>
              <a:t>m-&gt;</a:t>
            </a:r>
            <a:r>
              <a:rPr lang="en-US" altLang="zh-CN" dirty="0" err="1"/>
              <a:t>System.out.println</a:t>
            </a:r>
            <a:r>
              <a:rPr lang="en-US" altLang="zh-CN" dirty="0"/>
              <a:t>("The message out of class is: "+m));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输出：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The message out of class is: Welcome, java.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075240" cy="5832648"/>
          </a:xfrm>
        </p:spPr>
        <p:txBody>
          <a:bodyPr>
            <a:normAutofit/>
          </a:bodyPr>
          <a:lstStyle/>
          <a:p>
            <a:r>
              <a:rPr lang="zh-CN" altLang="en-US" dirty="0"/>
              <a:t>思考：</a:t>
            </a:r>
            <a:endParaRPr lang="en-US" altLang="zh-CN" dirty="0"/>
          </a:p>
          <a:p>
            <a:pPr lvl="1"/>
            <a:r>
              <a:rPr lang="zh-CN" altLang="en-US" dirty="0"/>
              <a:t>给定一个任意</a:t>
            </a:r>
            <a:r>
              <a:rPr lang="en-US" altLang="zh-CN" dirty="0"/>
              <a:t>Integer</a:t>
            </a:r>
            <a:r>
              <a:rPr lang="zh-CN" altLang="en-US" dirty="0"/>
              <a:t>数组，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Integer[] </a:t>
            </a:r>
            <a:r>
              <a:rPr lang="en-US" altLang="zh-CN" dirty="0" err="1"/>
              <a:t>ia</a:t>
            </a:r>
            <a:r>
              <a:rPr lang="en-US" altLang="zh-CN" dirty="0"/>
              <a:t> = new Integer[] { 10, 23, 0, -9, 55, -48 };</a:t>
            </a:r>
            <a:endParaRPr lang="en-US" altLang="zh-CN" dirty="0"/>
          </a:p>
          <a:p>
            <a:pPr lvl="1"/>
            <a:r>
              <a:rPr lang="zh-CN" altLang="en-US" dirty="0"/>
              <a:t>如何使元素从小到大排序？可以这样：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);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//Integer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已经实现了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Comparable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接口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-&gt;a-b);  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更严谨一点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s-ES" altLang="zh-CN" dirty="0"/>
              <a:t>Arrays.</a:t>
            </a:r>
            <a:r>
              <a:rPr lang="es-ES" altLang="zh-CN" i="1" dirty="0"/>
              <a:t>sort(ia, (x, y) -&gt;(x &lt; y) ? -1 : ((x == y) ? 0 : 1));</a:t>
            </a:r>
            <a:endParaRPr lang="es-ES" altLang="zh-CN" i="1" dirty="0"/>
          </a:p>
          <a:p>
            <a:pPr marL="274320" lvl="1" indent="0">
              <a:buNone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或者这样：</a:t>
            </a:r>
            <a:endParaRPr lang="zh-CN" altLang="en-US" dirty="0">
              <a:solidFill>
                <a:schemeClr val="accent2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Integer.compare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(a, b));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a.compareTo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(b));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后面的四种写法都是用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lambda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替代一个函数式接口</a:t>
            </a:r>
            <a:endParaRPr lang="zh-CN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2696"/>
            <a:ext cx="8075240" cy="5616624"/>
          </a:xfrm>
        </p:spPr>
        <p:txBody>
          <a:bodyPr/>
          <a:lstStyle/>
          <a:p>
            <a:pPr lvl="1"/>
            <a:r>
              <a:rPr lang="zh-CN" altLang="en-US" dirty="0"/>
              <a:t>如果想让数组元素从大到小排序呢？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-&gt;b-a);  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Integer.compare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(b, a));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b.compareTo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(a));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如下的代码会有什么效果？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 0);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位置不变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 1);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位置不变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Arrays.sort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ia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, (a, b) -&gt; -1);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变更为反序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sort</a:t>
            </a:r>
            <a:r>
              <a:rPr lang="zh-CN" altLang="en-US" dirty="0"/>
              <a:t>中元素作比较时是后面的比前面的，所以比较器为正数或</a:t>
            </a:r>
            <a:r>
              <a:rPr lang="en-US" altLang="zh-CN" dirty="0"/>
              <a:t>0</a:t>
            </a:r>
            <a:r>
              <a:rPr lang="zh-CN" altLang="en-US" dirty="0"/>
              <a:t>，位置不变，比较器为负数，则两元素交换）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内部类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内部类是定义在一个类之中的类。设计内部类的主要原因如下：</a:t>
            </a:r>
            <a:endParaRPr lang="en-US" altLang="zh-CN" dirty="0"/>
          </a:p>
          <a:p>
            <a:pPr lvl="1"/>
            <a:r>
              <a:rPr lang="zh-CN" altLang="en-US" dirty="0"/>
              <a:t>内部类的方法可以访问其所在（外部）类的数据，包括私有数据，但是外部类不能访问内部类的实现细节；</a:t>
            </a:r>
            <a:endParaRPr lang="en-US" altLang="zh-CN" dirty="0"/>
          </a:p>
          <a:p>
            <a:pPr lvl="1"/>
            <a:r>
              <a:rPr lang="zh-CN" altLang="en-US" dirty="0"/>
              <a:t>内部类可以对同一个包中的其他类隐藏起来；</a:t>
            </a:r>
            <a:endParaRPr lang="en-US" altLang="zh-CN" dirty="0"/>
          </a:p>
          <a:p>
            <a:pPr lvl="1"/>
            <a:r>
              <a:rPr lang="zh-CN" altLang="en-US" dirty="0"/>
              <a:t>当使用回调函数，匿名内部类可以使代码更简洁。</a:t>
            </a:r>
            <a:endParaRPr lang="en-US" altLang="zh-CN" dirty="0"/>
          </a:p>
          <a:p>
            <a:r>
              <a:rPr lang="zh-CN" altLang="en-US" dirty="0"/>
              <a:t>内部类与外部类的定义相似，但是</a:t>
            </a:r>
            <a:endParaRPr lang="en-US" altLang="zh-CN" dirty="0"/>
          </a:p>
          <a:p>
            <a:pPr lvl="1"/>
            <a:r>
              <a:rPr lang="zh-CN" altLang="en-US" dirty="0"/>
              <a:t>可以使用</a:t>
            </a:r>
            <a:r>
              <a:rPr lang="en-US" altLang="zh-CN" dirty="0"/>
              <a:t>private</a:t>
            </a:r>
            <a:r>
              <a:rPr lang="zh-CN" altLang="en-US" dirty="0"/>
              <a:t>，</a:t>
            </a:r>
            <a:r>
              <a:rPr lang="en-US" altLang="zh-CN" dirty="0"/>
              <a:t>static</a:t>
            </a:r>
            <a:r>
              <a:rPr lang="zh-CN" altLang="en-US" dirty="0"/>
              <a:t>，</a:t>
            </a:r>
            <a:r>
              <a:rPr lang="en-US" altLang="zh-CN" dirty="0"/>
              <a:t>protected</a:t>
            </a:r>
            <a:r>
              <a:rPr lang="zh-CN" altLang="en-US" dirty="0"/>
              <a:t>修饰</a:t>
            </a:r>
            <a:endParaRPr lang="en-US" altLang="zh-CN" dirty="0"/>
          </a:p>
          <a:p>
            <a:pPr lvl="1"/>
            <a:r>
              <a:rPr lang="zh-CN" altLang="en-US" dirty="0"/>
              <a:t>非</a:t>
            </a:r>
            <a:r>
              <a:rPr lang="en-US" altLang="zh-CN" dirty="0"/>
              <a:t>static</a:t>
            </a:r>
            <a:r>
              <a:rPr lang="zh-CN" altLang="en-US" dirty="0"/>
              <a:t>内部类不能拥有</a:t>
            </a:r>
            <a:r>
              <a:rPr lang="en-US" altLang="zh-CN" dirty="0"/>
              <a:t>static</a:t>
            </a:r>
            <a:r>
              <a:rPr lang="zh-CN" altLang="en-US" dirty="0"/>
              <a:t>成员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8.2.1  </a:t>
            </a:r>
            <a:r>
              <a:rPr lang="zh-CN" altLang="en-US" dirty="0"/>
              <a:t>非静态内部类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在类的内部再定义一个类即是内部类：</a:t>
            </a:r>
            <a:endParaRPr lang="en-US" altLang="zh-CN" dirty="0"/>
          </a:p>
          <a:p>
            <a:pPr lvl="1"/>
            <a:r>
              <a:rPr lang="zh-CN" altLang="en-US" dirty="0"/>
              <a:t>成员内部类，作为外部类的一个类成员</a:t>
            </a:r>
            <a:endParaRPr lang="en-US" altLang="zh-CN" dirty="0"/>
          </a:p>
          <a:p>
            <a:pPr lvl="1"/>
            <a:r>
              <a:rPr lang="zh-CN" altLang="en-US" dirty="0"/>
              <a:t>局部内部类，作为方法里面的内部类</a:t>
            </a:r>
            <a:endParaRPr lang="en-US" altLang="zh-CN" dirty="0"/>
          </a:p>
          <a:p>
            <a:pPr lvl="1"/>
            <a:r>
              <a:rPr lang="zh-CN" altLang="en-US" dirty="0"/>
              <a:t>匿名内部类，作为一个方法的参数</a:t>
            </a:r>
            <a:endParaRPr lang="en-US" altLang="zh-CN" dirty="0"/>
          </a:p>
          <a:p>
            <a:r>
              <a:rPr lang="zh-CN" altLang="en-US" dirty="0"/>
              <a:t>成员内部类根据是否使用</a:t>
            </a:r>
            <a:r>
              <a:rPr lang="en-US" altLang="zh-CN" dirty="0"/>
              <a:t>static</a:t>
            </a:r>
            <a:r>
              <a:rPr lang="zh-CN" altLang="en-US" dirty="0"/>
              <a:t>分为两种：</a:t>
            </a:r>
            <a:endParaRPr lang="en-US" altLang="zh-CN" dirty="0"/>
          </a:p>
          <a:p>
            <a:pPr lvl="1"/>
            <a:r>
              <a:rPr lang="zh-CN" altLang="en-US" dirty="0"/>
              <a:t>静态内部类，</a:t>
            </a:r>
            <a:r>
              <a:rPr lang="en-US" altLang="zh-CN" dirty="0"/>
              <a:t>static</a:t>
            </a:r>
            <a:r>
              <a:rPr lang="zh-CN" altLang="en-US" dirty="0"/>
              <a:t>修饰</a:t>
            </a:r>
            <a:endParaRPr lang="en-US" altLang="zh-CN" dirty="0"/>
          </a:p>
          <a:p>
            <a:pPr lvl="1"/>
            <a:r>
              <a:rPr lang="zh-CN" altLang="en-US" dirty="0"/>
              <a:t>非静态内部类，没有</a:t>
            </a:r>
            <a:r>
              <a:rPr lang="en-US" altLang="zh-CN" dirty="0"/>
              <a:t>static</a:t>
            </a:r>
            <a:r>
              <a:rPr lang="zh-CN" altLang="en-US" dirty="0"/>
              <a:t>修饰</a:t>
            </a:r>
            <a:endParaRPr lang="en-US" altLang="zh-CN" dirty="0"/>
          </a:p>
          <a:p>
            <a:r>
              <a:rPr lang="zh-CN" altLang="en-US" dirty="0"/>
              <a:t>内部类的访问控制不同于外部类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外部类：公有权限和包权限</a:t>
            </a:r>
            <a:endParaRPr lang="en-US" altLang="zh-CN" dirty="0"/>
          </a:p>
          <a:p>
            <a:pPr lvl="1"/>
            <a:r>
              <a:rPr lang="zh-CN" altLang="en-US" dirty="0"/>
              <a:t>内部类：类权限，包权限，父子类权限，公有权限，故可以使用四种访问控制修饰符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332657"/>
          <a:ext cx="8075613" cy="5904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83235"/>
            <a:ext cx="8075295" cy="5753735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/>
              <a:t>非静态内部类：形式如下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</a:t>
            </a: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class Outer </a:t>
            </a:r>
            <a:endParaRPr lang="zh-CN" altLang="en-US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>
              <a:buNone/>
            </a:pP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   {</a:t>
            </a:r>
            <a:endParaRPr lang="zh-CN" altLang="en-US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>
              <a:buNone/>
            </a:pP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       class Inner{}</a:t>
            </a:r>
            <a:endParaRPr lang="zh-CN" altLang="en-US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>
              <a:buNone/>
            </a:pP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   }   </a:t>
            </a:r>
            <a:r>
              <a:rPr lang="zh-CN" altLang="en-US" dirty="0"/>
              <a:t>    </a:t>
            </a:r>
            <a:endParaRPr lang="zh-CN" altLang="en-US" dirty="0"/>
          </a:p>
          <a:p>
            <a:r>
              <a:rPr lang="zh-CN" altLang="en-US" dirty="0"/>
              <a:t>编译上述代码会产生两个文件：Outer.class和  Outer$Inner.class。</a:t>
            </a:r>
            <a:endParaRPr lang="zh-CN" altLang="en-US" dirty="0"/>
          </a:p>
          <a:p>
            <a:r>
              <a:rPr lang="zh-CN" altLang="en-US" dirty="0"/>
              <a:t>内部类内不允许有静态声明的成员，下面代码不能通过编译：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</a:t>
            </a: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class Inner{</a:t>
            </a:r>
            <a:endParaRPr lang="zh-CN" altLang="en-US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>
              <a:buNone/>
            </a:pP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       static int a = 10;</a:t>
            </a:r>
            <a:endParaRPr lang="zh-CN" altLang="en-US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>
              <a:buNone/>
            </a:pPr>
            <a:r>
              <a:rPr lang="zh-CN" altLang="en-US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    } </a:t>
            </a:r>
            <a:endParaRPr lang="zh-CN" altLang="en-US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r>
              <a:rPr lang="zh-CN" altLang="en-US" dirty="0"/>
              <a:t>能够访问内部类的唯一途径就是</a:t>
            </a:r>
            <a:r>
              <a:rPr lang="zh-CN" altLang="en-US" dirty="0">
                <a:solidFill>
                  <a:srgbClr val="FF0000"/>
                </a:solidFill>
              </a:rPr>
              <a:t>通过外部类的对象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610"/>
            <a:ext cx="8075295" cy="65957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zh-CN" altLang="en-US" sz="2400" dirty="0">
                <a:sym typeface="+mn-ea"/>
              </a:rPr>
              <a:t>下面的代码从外部类的非静态方法中实例化内部类对象：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class Outer </a:t>
            </a:r>
            <a:r>
              <a:rPr lang="zh-CN" altLang="en-US" sz="2400" dirty="0">
                <a:sym typeface="+mn-ea"/>
              </a:rPr>
              <a:t>{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  private int i = 10;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  public void makeInner()</a:t>
            </a:r>
            <a:r>
              <a:rPr lang="zh-CN" altLang="en-US" sz="2400" dirty="0">
                <a:sym typeface="+mn-ea"/>
              </a:rPr>
              <a:t> {   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      Inner in =</a:t>
            </a:r>
            <a:r>
              <a:rPr lang="zh-CN" altLang="en-US" sz="2400" dirty="0">
                <a:solidFill>
                  <a:schemeClr val="tx1"/>
                </a:solidFill>
              </a:rPr>
              <a:t> new Inner()</a:t>
            </a:r>
            <a:r>
              <a:rPr lang="zh-CN" altLang="en-US" sz="2400" dirty="0"/>
              <a:t>;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      </a:t>
            </a:r>
            <a:r>
              <a:rPr lang="zh-CN" altLang="en-US" sz="2400" dirty="0">
                <a:solidFill>
                  <a:srgbClr val="FF0000"/>
                </a:solidFill>
              </a:rPr>
              <a:t>in.seeOuter()</a:t>
            </a:r>
            <a:r>
              <a:rPr lang="zh-CN" altLang="en-US" sz="2400" dirty="0"/>
              <a:t>;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  }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       </a:t>
            </a: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class Inner</a:t>
            </a: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 {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public void seeOuter()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{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System.out.print(i);   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访问外部类的成员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}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}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zh-CN" altLang="en-US" sz="2400" dirty="0"/>
              <a:t>  }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3355"/>
            <a:ext cx="8075295" cy="6509385"/>
          </a:xfrm>
        </p:spPr>
        <p:txBody>
          <a:bodyPr>
            <a:normAutofit fontScale="87500" lnSpcReduction="10000"/>
          </a:bodyPr>
          <a:lstStyle/>
          <a:p>
            <a:r>
              <a:rPr lang="zh-CN" altLang="en-US" dirty="0"/>
              <a:t>B、还可以从外部类的静态方法中实例化内部类对象。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class Outer 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private int i = 10;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class Inner{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public void seeOuter(){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System.out.print(i);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}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}    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public static void main(String[] args) 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Outer out = new Outer();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Outer.Inner in = out.new Inner();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//Outer.Inner in = new Outer().new Inner();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zh-CN" altLang="en-US" dirty="0"/>
              <a:t>            in.seeOuter();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}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}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41300"/>
            <a:ext cx="8075295" cy="6313805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/>
              <a:t>C、内部类的this引用。</a:t>
            </a:r>
            <a:endParaRPr lang="zh-CN" altLang="en-US" dirty="0"/>
          </a:p>
          <a:p>
            <a:r>
              <a:rPr lang="zh-CN" altLang="en-US" dirty="0"/>
              <a:t>普通的类可以用this引用当前的对象，内部类也是如此。假若内部类想引用外部类当前的对象，则用“外部类名”.this的形式,如下例的Outer.this：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class Outer 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class Inner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public void seeOuter()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System.out.println(this);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System.out.println(</a:t>
            </a:r>
            <a:r>
              <a:rPr lang="zh-CN" altLang="en-US" dirty="0">
                <a:solidFill>
                  <a:srgbClr val="FF0000"/>
                </a:solidFill>
              </a:rPr>
              <a:t>Outer.this</a:t>
            </a:r>
            <a:r>
              <a:rPr lang="zh-CN" altLang="en-US" dirty="0"/>
              <a:t>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}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}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}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619268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定义一个包含了内部类</a:t>
            </a:r>
            <a:r>
              <a:rPr lang="en-US" altLang="zh-CN" dirty="0"/>
              <a:t>Body</a:t>
            </a:r>
            <a:r>
              <a:rPr lang="zh-CN" altLang="en-US" dirty="0"/>
              <a:t>的类</a:t>
            </a:r>
            <a:r>
              <a:rPr lang="en-US" altLang="zh-CN" dirty="0"/>
              <a:t>Person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Person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String gender;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</a:t>
            </a: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birthDate</a:t>
            </a:r>
            <a:r>
              <a:rPr lang="en-US" altLang="zh-CN" dirty="0"/>
              <a:t>;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Person() {};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Person(String name, String gender, </a:t>
            </a: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birthDate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this.name=name;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this.gender</a:t>
            </a:r>
            <a:r>
              <a:rPr lang="en-US" altLang="zh-CN" dirty="0"/>
              <a:t>=gender;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this.birthDate</a:t>
            </a:r>
            <a:r>
              <a:rPr lang="en-US" altLang="zh-CN" dirty="0"/>
              <a:t>=</a:t>
            </a:r>
            <a:r>
              <a:rPr lang="en-US" altLang="zh-CN" dirty="0" err="1"/>
              <a:t>birthDate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//…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075240" cy="6552728"/>
          </a:xfrm>
        </p:spPr>
        <p:txBody>
          <a:bodyPr>
            <a:normAutofit fontScale="77500" lnSpcReduction="20000"/>
          </a:bodyPr>
          <a:lstStyle/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定义一个非静态内部类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public class Body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double height;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double weight;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Body() {};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Body(double h, double w)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this.height</a:t>
            </a:r>
            <a:r>
              <a:rPr lang="en-US" altLang="zh-CN" dirty="0"/>
              <a:t>=h;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this.weight</a:t>
            </a:r>
            <a:r>
              <a:rPr lang="en-US" altLang="zh-CN" dirty="0"/>
              <a:t>=w;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double </a:t>
            </a:r>
            <a:r>
              <a:rPr lang="en-US" altLang="zh-CN" dirty="0" err="1"/>
              <a:t>getHeight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height;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double </a:t>
            </a:r>
            <a:r>
              <a:rPr lang="en-US" altLang="zh-CN" dirty="0" err="1"/>
              <a:t>getWeight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return weight;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363272" cy="6552728"/>
          </a:xfrm>
        </p:spPr>
        <p:txBody>
          <a:bodyPr>
            <a:normAutofit fontScale="85000"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    public void </a:t>
            </a:r>
            <a:r>
              <a:rPr lang="en-US" altLang="zh-CN" dirty="0" err="1"/>
              <a:t>setHeight</a:t>
            </a:r>
            <a:r>
              <a:rPr lang="en-US" altLang="zh-CN" dirty="0"/>
              <a:t>(double h)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this.height</a:t>
            </a:r>
            <a:r>
              <a:rPr lang="en-US" altLang="zh-CN" dirty="0"/>
              <a:t>=h;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void </a:t>
            </a:r>
            <a:r>
              <a:rPr lang="en-US" altLang="zh-CN" dirty="0" err="1"/>
              <a:t>setWeight</a:t>
            </a:r>
            <a:r>
              <a:rPr lang="en-US" altLang="zh-CN" dirty="0"/>
              <a:t>(double w)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this.weight</a:t>
            </a:r>
            <a:r>
              <a:rPr lang="en-US" altLang="zh-CN" dirty="0"/>
              <a:t>=w;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void </a:t>
            </a:r>
            <a:r>
              <a:rPr lang="en-US" altLang="zh-CN" dirty="0" err="1"/>
              <a:t>personInfo</a:t>
            </a:r>
            <a:r>
              <a:rPr lang="en-US" altLang="zh-CN" dirty="0"/>
              <a:t>()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内部类可以访问外部类的任何成员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("Name: " + </a:t>
            </a:r>
            <a:r>
              <a:rPr lang="en-US" altLang="zh-CN" dirty="0">
                <a:solidFill>
                  <a:srgbClr val="FF0000"/>
                </a:solidFill>
              </a:rPr>
              <a:t>name</a:t>
            </a:r>
            <a:r>
              <a:rPr lang="en-US" altLang="zh-CN" dirty="0"/>
              <a:t> + "\</a:t>
            </a:r>
            <a:r>
              <a:rPr lang="en-US" altLang="zh-CN" dirty="0" err="1"/>
              <a:t>nGender</a:t>
            </a:r>
            <a:r>
              <a:rPr lang="en-US" altLang="zh-CN" dirty="0"/>
              <a:t>: " + gender);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@Override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String </a:t>
            </a:r>
            <a:r>
              <a:rPr lang="en-US" altLang="zh-CN" dirty="0" err="1"/>
              <a:t>toString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return "[The height is: "+height +"; The weight is: "+weight + "]";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内部类结束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   public String </a:t>
            </a:r>
            <a:r>
              <a:rPr lang="en-US" altLang="zh-CN" dirty="0" err="1"/>
              <a:t>bodyInfo</a:t>
            </a:r>
            <a:r>
              <a:rPr lang="en-US" altLang="zh-CN" dirty="0"/>
              <a:t>()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外部类通过内部类对象，可以访问内部类的任何成员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Body </a:t>
            </a:r>
            <a:r>
              <a:rPr lang="en-US" altLang="zh-CN" dirty="0" err="1"/>
              <a:t>body</a:t>
            </a:r>
            <a:r>
              <a:rPr lang="en-US" altLang="zh-CN" dirty="0"/>
              <a:t> =new Body();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body.setHeight</a:t>
            </a:r>
            <a:r>
              <a:rPr lang="en-US" altLang="zh-CN" dirty="0"/>
              <a:t>(1.75);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//public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body.setWeight</a:t>
            </a:r>
            <a:r>
              <a:rPr lang="en-US" altLang="zh-CN" dirty="0"/>
              <a:t>(65.5);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//public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body.height</a:t>
            </a:r>
            <a:r>
              <a:rPr lang="en-US" altLang="zh-CN" dirty="0"/>
              <a:t>=1.8;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//private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body.personInfo</a:t>
            </a:r>
            <a:r>
              <a:rPr lang="en-US" altLang="zh-CN" dirty="0"/>
              <a:t>();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//public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return </a:t>
            </a:r>
            <a:r>
              <a:rPr lang="en-US" altLang="zh-CN" dirty="0" err="1"/>
              <a:t>body.toString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再编写一个类</a:t>
            </a:r>
            <a:r>
              <a:rPr lang="en-US" altLang="zh-CN" dirty="0" err="1"/>
              <a:t>MainPerson</a:t>
            </a:r>
            <a:r>
              <a:rPr lang="zh-CN" altLang="en-US" dirty="0"/>
              <a:t>，使用</a:t>
            </a:r>
            <a:r>
              <a:rPr lang="en-US" altLang="zh-CN" dirty="0"/>
              <a:t>Person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Person p1=new Person("John Key", 				"male",</a:t>
            </a:r>
            <a:r>
              <a:rPr lang="en-US" altLang="zh-CN" dirty="0" err="1"/>
              <a:t>LocalDate.parse</a:t>
            </a:r>
            <a:r>
              <a:rPr lang="en-US" altLang="zh-CN" dirty="0"/>
              <a:t>("1981-05-08"));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(p1.bodyInfo());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Person p2=new Person("</a:t>
            </a:r>
            <a:r>
              <a:rPr lang="zh-CN" altLang="en-US" dirty="0"/>
              <a:t>李小萌</a:t>
            </a:r>
            <a:r>
              <a:rPr lang="en-US" altLang="zh-CN" dirty="0"/>
              <a:t>", "</a:t>
            </a:r>
            <a:r>
              <a:rPr lang="zh-CN" altLang="en-US" dirty="0"/>
              <a:t>女</a:t>
            </a:r>
            <a:r>
              <a:rPr lang="en-US" altLang="zh-CN" dirty="0"/>
              <a:t>				",</a:t>
            </a:r>
            <a:r>
              <a:rPr lang="en-US" altLang="zh-CN" dirty="0" err="1"/>
              <a:t>LocalDate.parse</a:t>
            </a:r>
            <a:r>
              <a:rPr lang="en-US" altLang="zh-CN" dirty="0"/>
              <a:t>("1984-12-08"));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</a:t>
            </a:r>
            <a:r>
              <a:rPr lang="en-US" altLang="zh-CN" dirty="0" err="1"/>
              <a:t>Person.Body</a:t>
            </a:r>
            <a:r>
              <a:rPr lang="en-US" altLang="zh-CN" dirty="0"/>
              <a:t> body =p2.new Body(1.65,50.5);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</a:t>
            </a:r>
            <a:r>
              <a:rPr lang="en-US" altLang="zh-CN" dirty="0" err="1"/>
              <a:t>body.setHeight</a:t>
            </a:r>
            <a:r>
              <a:rPr lang="en-US" altLang="zh-CN" dirty="0"/>
              <a:t>(1.68);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</a:t>
            </a:r>
            <a:r>
              <a:rPr lang="en-US" altLang="zh-CN" dirty="0" err="1"/>
              <a:t>body.personInfo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身高：</a:t>
            </a:r>
            <a:r>
              <a:rPr lang="en-US" altLang="zh-CN" dirty="0"/>
              <a:t>"+</a:t>
            </a:r>
            <a:r>
              <a:rPr lang="en-US" altLang="zh-CN" dirty="0" err="1"/>
              <a:t>body.getHeight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体重：</a:t>
            </a:r>
            <a:r>
              <a:rPr lang="en-US" altLang="zh-CN" dirty="0"/>
              <a:t>"+</a:t>
            </a:r>
            <a:r>
              <a:rPr lang="en-US" altLang="zh-CN" dirty="0" err="1"/>
              <a:t>body.getWeight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内外类成员之间的访问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147248" cy="5256584"/>
          </a:xfrm>
        </p:spPr>
        <p:txBody>
          <a:bodyPr/>
          <a:lstStyle/>
          <a:p>
            <a:r>
              <a:rPr lang="en-US" altLang="zh-CN" dirty="0"/>
              <a:t>Person.java</a:t>
            </a:r>
            <a:r>
              <a:rPr lang="zh-CN" altLang="en-US" dirty="0"/>
              <a:t>编译后产生两个类文件</a:t>
            </a:r>
            <a:endParaRPr lang="en-US" altLang="zh-CN" dirty="0"/>
          </a:p>
          <a:p>
            <a:pPr lvl="1"/>
            <a:r>
              <a:rPr lang="en-US" altLang="zh-CN" dirty="0" err="1"/>
              <a:t>Person.class</a:t>
            </a:r>
            <a:r>
              <a:rPr lang="en-US" altLang="zh-CN" dirty="0"/>
              <a:t>, </a:t>
            </a:r>
            <a:r>
              <a:rPr lang="en-US" altLang="zh-CN" dirty="0" err="1"/>
              <a:t>Person$Body.class</a:t>
            </a:r>
            <a:endParaRPr lang="en-US" altLang="zh-CN" dirty="0"/>
          </a:p>
          <a:p>
            <a:r>
              <a:rPr lang="zh-CN" altLang="en-US" dirty="0"/>
              <a:t>定义内部类后并没有内部类的实例产生。内部类实例的定义</a:t>
            </a:r>
            <a:endParaRPr lang="en-US" altLang="zh-CN" dirty="0"/>
          </a:p>
          <a:p>
            <a:pPr lvl="1"/>
            <a:r>
              <a:rPr lang="zh-CN" altLang="en-US" dirty="0"/>
              <a:t>可以在外部类之内，如外部类的</a:t>
            </a:r>
            <a:r>
              <a:rPr lang="en-US" altLang="zh-CN" dirty="0" err="1"/>
              <a:t>bodyInfo</a:t>
            </a:r>
            <a:r>
              <a:rPr lang="zh-CN" altLang="en-US" dirty="0"/>
              <a:t>方法中</a:t>
            </a:r>
            <a:br>
              <a:rPr lang="en-US" altLang="zh-CN" dirty="0"/>
            </a:br>
            <a:r>
              <a:rPr lang="en-US" altLang="zh-CN" dirty="0"/>
              <a:t>Body </a:t>
            </a:r>
            <a:r>
              <a:rPr lang="en-US" altLang="zh-CN" dirty="0" err="1"/>
              <a:t>body</a:t>
            </a:r>
            <a:r>
              <a:rPr lang="en-US" altLang="zh-CN" dirty="0"/>
              <a:t> =new Body(1.6, 48.5); </a:t>
            </a:r>
            <a:endParaRPr lang="en-US" altLang="zh-CN" dirty="0"/>
          </a:p>
          <a:p>
            <a:pPr lvl="1"/>
            <a:r>
              <a:rPr lang="zh-CN" altLang="en-US" dirty="0"/>
              <a:t>内部类为</a:t>
            </a:r>
            <a:r>
              <a:rPr lang="en-US" altLang="zh-CN" dirty="0">
                <a:solidFill>
                  <a:srgbClr val="FF0000"/>
                </a:solidFill>
              </a:rPr>
              <a:t>public</a:t>
            </a:r>
            <a:r>
              <a:rPr lang="zh-CN" altLang="en-US" dirty="0"/>
              <a:t>时，可以在外部类之外，用如下语法</a:t>
            </a:r>
            <a:br>
              <a:rPr lang="en-US" altLang="zh-CN" dirty="0"/>
            </a:br>
            <a:r>
              <a:rPr lang="en-US" altLang="zh-CN" dirty="0"/>
              <a:t>Person p2=new Person("</a:t>
            </a:r>
            <a:r>
              <a:rPr lang="zh-CN" altLang="en-US" dirty="0"/>
              <a:t>李小萌</a:t>
            </a:r>
            <a:r>
              <a:rPr lang="en-US" altLang="zh-CN" dirty="0"/>
              <a:t>", "</a:t>
            </a:r>
            <a:r>
              <a:rPr lang="zh-CN" altLang="en-US" dirty="0"/>
              <a:t>女	</a:t>
            </a:r>
            <a:r>
              <a:rPr lang="en-US" altLang="zh-CN" dirty="0"/>
              <a:t>",</a:t>
            </a:r>
            <a:r>
              <a:rPr lang="zh-CN" altLang="en-US" dirty="0"/>
              <a:t>		</a:t>
            </a:r>
            <a:r>
              <a:rPr lang="en-US" altLang="zh-CN" dirty="0" err="1"/>
              <a:t>LocalDate.parse</a:t>
            </a:r>
            <a:r>
              <a:rPr lang="en-US" altLang="zh-CN" dirty="0"/>
              <a:t>("1984-12-08"));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DF11DF"/>
                </a:solidFill>
              </a:rPr>
              <a:t>Person.Body</a:t>
            </a:r>
            <a:r>
              <a:rPr lang="en-US" altLang="zh-CN" dirty="0"/>
              <a:t> body =</a:t>
            </a:r>
            <a:r>
              <a:rPr lang="en-US" altLang="zh-CN" dirty="0">
                <a:solidFill>
                  <a:srgbClr val="DF11DF"/>
                </a:solidFill>
              </a:rPr>
              <a:t>p2.new Body</a:t>
            </a:r>
            <a:r>
              <a:rPr lang="en-US" altLang="zh-CN" dirty="0"/>
              <a:t>(1.65,50.5);  </a:t>
            </a:r>
            <a:r>
              <a:rPr lang="zh-CN" altLang="en-US" dirty="0"/>
              <a:t>或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Person.Body</a:t>
            </a:r>
            <a:r>
              <a:rPr lang="en-US" altLang="zh-CN" dirty="0"/>
              <a:t> body2=</a:t>
            </a:r>
            <a:r>
              <a:rPr lang="en-US" altLang="zh-CN" dirty="0">
                <a:solidFill>
                  <a:srgbClr val="DF11DF"/>
                </a:solidFill>
              </a:rPr>
              <a:t>new Person("</a:t>
            </a:r>
            <a:r>
              <a:rPr lang="zh-CN" altLang="en-US" dirty="0">
                <a:solidFill>
                  <a:srgbClr val="DF11DF"/>
                </a:solidFill>
              </a:rPr>
              <a:t>张文</a:t>
            </a:r>
            <a:r>
              <a:rPr lang="en-US" altLang="zh-CN" dirty="0">
                <a:solidFill>
                  <a:srgbClr val="DF11DF"/>
                </a:solidFill>
              </a:rPr>
              <a:t>",  "</a:t>
            </a:r>
            <a:r>
              <a:rPr lang="zh-CN" altLang="en-US" dirty="0">
                <a:solidFill>
                  <a:srgbClr val="DF11DF"/>
                </a:solidFill>
              </a:rPr>
              <a:t>男</a:t>
            </a:r>
            <a:r>
              <a:rPr lang="en-US" altLang="zh-CN" dirty="0">
                <a:solidFill>
                  <a:srgbClr val="DF11DF"/>
                </a:solidFill>
              </a:rPr>
              <a:t>",</a:t>
            </a:r>
            <a:br>
              <a:rPr lang="en-US" altLang="zh-CN" dirty="0"/>
            </a:br>
            <a:r>
              <a:rPr lang="en-US" altLang="zh-CN" dirty="0" err="1">
                <a:solidFill>
                  <a:srgbClr val="DF11DF"/>
                </a:solidFill>
              </a:rPr>
              <a:t>LocalDate.parse</a:t>
            </a:r>
            <a:r>
              <a:rPr lang="en-US" altLang="zh-CN" dirty="0">
                <a:solidFill>
                  <a:srgbClr val="DF11DF"/>
                </a:solidFill>
              </a:rPr>
              <a:t>("1976-05-12")).</a:t>
            </a:r>
            <a:r>
              <a:rPr lang="en-US" altLang="zh-CN" dirty="0">
                <a:solidFill>
                  <a:srgbClr val="002060"/>
                </a:solidFill>
              </a:rPr>
              <a:t>new Body(1.70,60);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创建一个内部类对象，它一定</a:t>
            </a:r>
            <a:r>
              <a:rPr lang="zh-CN" altLang="en-US" dirty="0">
                <a:solidFill>
                  <a:srgbClr val="FF0000"/>
                </a:solidFill>
              </a:rPr>
              <a:t>寄生在</a:t>
            </a:r>
            <a:r>
              <a:rPr lang="zh-CN" altLang="en-US" dirty="0"/>
              <a:t>一个外部类的对象，但是创建一个外部类对象，其中未必有内部类对象寄生。</a:t>
            </a:r>
            <a:endParaRPr lang="en-US" altLang="zh-CN" dirty="0"/>
          </a:p>
          <a:p>
            <a:pPr lvl="1"/>
            <a:r>
              <a:rPr lang="zh-CN" altLang="en-US" dirty="0"/>
              <a:t>内部类对象中隐含了一个其外部类对象的引用。</a:t>
            </a:r>
            <a:endParaRPr lang="en-US" altLang="zh-CN" dirty="0"/>
          </a:p>
          <a:p>
            <a:r>
              <a:rPr lang="zh-CN" altLang="en-US" dirty="0"/>
              <a:t>非静态内部类里可以访问它寄生的外部类的</a:t>
            </a:r>
            <a:r>
              <a:rPr lang="zh-CN" altLang="en-US" dirty="0">
                <a:solidFill>
                  <a:srgbClr val="FF0000"/>
                </a:solidFill>
              </a:rPr>
              <a:t>任意</a:t>
            </a:r>
            <a:r>
              <a:rPr lang="zh-CN" altLang="en-US" dirty="0"/>
              <a:t>成员，包括私有的。例如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("Name: " + </a:t>
            </a:r>
            <a:r>
              <a:rPr lang="en-US" altLang="zh-CN" b="1" i="1" dirty="0">
                <a:solidFill>
                  <a:srgbClr val="FF0000"/>
                </a:solidFill>
              </a:rPr>
              <a:t>name</a:t>
            </a:r>
            <a:r>
              <a:rPr lang="en-US" altLang="zh-CN" b="1" i="1" dirty="0"/>
              <a:t> + "\</a:t>
            </a:r>
            <a:r>
              <a:rPr lang="en-US" altLang="zh-CN" b="1" i="1" dirty="0" err="1"/>
              <a:t>nGender</a:t>
            </a:r>
            <a:r>
              <a:rPr lang="en-US" altLang="zh-CN" b="1" i="1" dirty="0"/>
              <a:t>: " + </a:t>
            </a:r>
            <a:r>
              <a:rPr lang="en-US" altLang="zh-CN" b="1" i="1" dirty="0">
                <a:solidFill>
                  <a:srgbClr val="FF0000"/>
                </a:solidFill>
              </a:rPr>
              <a:t>gender</a:t>
            </a:r>
            <a:r>
              <a:rPr lang="en-US" altLang="zh-CN" b="1" i="1" dirty="0"/>
              <a:t>);</a:t>
            </a:r>
            <a:endParaRPr lang="en-US" altLang="zh-CN" b="1" i="1" dirty="0"/>
          </a:p>
          <a:p>
            <a:pPr lvl="1"/>
            <a:r>
              <a:rPr lang="zh-CN" altLang="en-US" dirty="0"/>
              <a:t>内部类方法可以不受控制的访问：</a:t>
            </a:r>
            <a:br>
              <a:rPr lang="en-US" altLang="zh-CN" dirty="0"/>
            </a:br>
            <a:r>
              <a:rPr lang="zh-CN" altLang="en-US" dirty="0"/>
              <a:t>方法的局部变量</a:t>
            </a:r>
            <a:br>
              <a:rPr lang="en-US" altLang="zh-CN" dirty="0"/>
            </a:br>
            <a:r>
              <a:rPr lang="zh-CN" altLang="en-US" dirty="0"/>
              <a:t>内部类的域，如重名以 </a:t>
            </a:r>
            <a:r>
              <a:rPr lang="en-US" altLang="zh-CN" dirty="0">
                <a:solidFill>
                  <a:srgbClr val="FF0000"/>
                </a:solidFill>
              </a:rPr>
              <a:t>this.</a:t>
            </a:r>
            <a:r>
              <a:rPr lang="zh-CN" altLang="en-US" dirty="0">
                <a:solidFill>
                  <a:srgbClr val="FF0000"/>
                </a:solidFill>
              </a:rPr>
              <a:t>域名 </a:t>
            </a:r>
            <a:r>
              <a:rPr lang="zh-CN" altLang="en-US" dirty="0"/>
              <a:t>表示</a:t>
            </a:r>
            <a:br>
              <a:rPr lang="en-US" altLang="zh-CN" dirty="0"/>
            </a:br>
            <a:r>
              <a:rPr lang="zh-CN" altLang="en-US" dirty="0"/>
              <a:t>外部类的域，如重名以 </a:t>
            </a:r>
            <a:r>
              <a:rPr lang="zh-CN" altLang="en-US" dirty="0">
                <a:solidFill>
                  <a:srgbClr val="FF0000"/>
                </a:solidFill>
              </a:rPr>
              <a:t>外部类名</a:t>
            </a:r>
            <a:r>
              <a:rPr lang="en-US" altLang="zh-CN" dirty="0">
                <a:solidFill>
                  <a:srgbClr val="FF0000"/>
                </a:solidFill>
              </a:rPr>
              <a:t>.this.</a:t>
            </a:r>
            <a:r>
              <a:rPr lang="zh-CN" altLang="en-US" dirty="0">
                <a:solidFill>
                  <a:srgbClr val="FF0000"/>
                </a:solidFill>
              </a:rPr>
              <a:t>域名 </a:t>
            </a:r>
            <a:r>
              <a:rPr lang="zh-CN" altLang="en-US" dirty="0"/>
              <a:t>表示</a:t>
            </a:r>
            <a:endParaRPr lang="en-US" altLang="zh-CN" dirty="0"/>
          </a:p>
          <a:p>
            <a:pPr lvl="1"/>
            <a:r>
              <a:rPr lang="zh-CN" altLang="en-US" dirty="0"/>
              <a:t>看一个例子</a:t>
            </a:r>
            <a:r>
              <a:rPr lang="en-US" altLang="zh-CN" dirty="0"/>
              <a:t>DiscernVariable.java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外部类内可以</a:t>
            </a:r>
            <a:r>
              <a:rPr lang="zh-CN" altLang="en-US" dirty="0">
                <a:solidFill>
                  <a:srgbClr val="FF0000"/>
                </a:solidFill>
              </a:rPr>
              <a:t>通过内部类的实例</a:t>
            </a:r>
            <a:r>
              <a:rPr lang="zh-CN" altLang="en-US" dirty="0"/>
              <a:t>访问内部类的所有成员，包括私有的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zh-CN" altLang="en-US" dirty="0"/>
              <a:t>外部类的</a:t>
            </a:r>
            <a:r>
              <a:rPr lang="en-US" altLang="zh-CN" dirty="0" err="1"/>
              <a:t>bodyInfo</a:t>
            </a:r>
            <a:r>
              <a:rPr lang="zh-CN" altLang="en-US" dirty="0"/>
              <a:t>方法中</a:t>
            </a:r>
            <a:br>
              <a:rPr lang="en-US" altLang="zh-CN" dirty="0"/>
            </a:br>
            <a:r>
              <a:rPr lang="en-US" altLang="zh-CN" dirty="0"/>
              <a:t>Body </a:t>
            </a:r>
            <a:r>
              <a:rPr lang="en-US" altLang="zh-CN" dirty="0" err="1"/>
              <a:t>body</a:t>
            </a:r>
            <a:r>
              <a:rPr lang="en-US" altLang="zh-CN" dirty="0"/>
              <a:t> =new Body();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body.setHeight</a:t>
            </a:r>
            <a:r>
              <a:rPr lang="en-US" altLang="zh-CN" dirty="0"/>
              <a:t>(1.75);  </a:t>
            </a:r>
            <a:r>
              <a:rPr lang="en-US" altLang="zh-CN" dirty="0">
                <a:solidFill>
                  <a:srgbClr val="FF0000"/>
                </a:solidFill>
              </a:rPr>
              <a:t>//public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body.setWeight</a:t>
            </a:r>
            <a:r>
              <a:rPr lang="en-US" altLang="zh-CN" dirty="0"/>
              <a:t>(65.5);  </a:t>
            </a:r>
            <a:r>
              <a:rPr lang="en-US" altLang="zh-CN" dirty="0">
                <a:solidFill>
                  <a:srgbClr val="FF0000"/>
                </a:solidFill>
              </a:rPr>
              <a:t>//public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body.height</a:t>
            </a:r>
            <a:r>
              <a:rPr lang="en-US" altLang="zh-CN" dirty="0"/>
              <a:t>=1.8;       </a:t>
            </a:r>
            <a:r>
              <a:rPr lang="en-US" altLang="zh-CN" dirty="0">
                <a:solidFill>
                  <a:srgbClr val="FF0000"/>
                </a:solidFill>
              </a:rPr>
              <a:t>//private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在外部类的外部，访问一个类的内部类及其方法受访问控制修饰符的限制。</a:t>
            </a:r>
            <a:endParaRPr lang="en-US" altLang="zh-CN" dirty="0"/>
          </a:p>
          <a:p>
            <a:pPr lvl="1"/>
            <a:r>
              <a:rPr lang="zh-CN" altLang="en-US" dirty="0"/>
              <a:t>如创建内部类的对象需要内部类是公有或包访问权，如前面建立的对象</a:t>
            </a:r>
            <a:r>
              <a:rPr lang="en-US" altLang="zh-CN" dirty="0"/>
              <a:t>body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访问内部类的方法也是这样，如</a:t>
            </a:r>
            <a:r>
              <a:rPr lang="en-US" altLang="zh-CN" dirty="0" err="1"/>
              <a:t>body.getHeight</a:t>
            </a:r>
            <a:r>
              <a:rPr lang="en-US" altLang="zh-CN" dirty="0"/>
              <a:t>()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static</a:t>
            </a:r>
            <a:r>
              <a:rPr lang="zh-CN" altLang="en-US" dirty="0"/>
              <a:t>成员不能访问非</a:t>
            </a:r>
            <a:r>
              <a:rPr lang="en-US" altLang="zh-CN" dirty="0"/>
              <a:t>static</a:t>
            </a:r>
            <a:r>
              <a:rPr lang="zh-CN" altLang="en-US" dirty="0"/>
              <a:t>成员，故外部类的</a:t>
            </a:r>
            <a:r>
              <a:rPr lang="en-US" altLang="zh-CN" dirty="0"/>
              <a:t>static</a:t>
            </a:r>
            <a:r>
              <a:rPr lang="zh-CN" altLang="en-US" dirty="0"/>
              <a:t>方法中不能直接使用非静态内部类：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Person</a:t>
            </a:r>
            <a:r>
              <a:rPr lang="zh-CN" altLang="en-US" dirty="0"/>
              <a:t>类中：</a:t>
            </a:r>
            <a:br>
              <a:rPr lang="en-US" altLang="zh-CN" dirty="0"/>
            </a:br>
            <a:r>
              <a:rPr lang="en-US" altLang="zh-CN" dirty="0"/>
              <a:t>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Body</a:t>
            </a:r>
            <a:r>
              <a:rPr lang="en-US" altLang="zh-CN" dirty="0"/>
              <a:t> body3 =new Body(1.78, 66.5);</a:t>
            </a:r>
            <a:br>
              <a:rPr lang="en-US" altLang="zh-CN" dirty="0"/>
            </a:br>
            <a:r>
              <a:rPr lang="en-US" altLang="zh-CN" dirty="0"/>
              <a:t>    …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但是这里可以这样使用：</a:t>
            </a:r>
            <a:br>
              <a:rPr lang="en-US" altLang="zh-CN" dirty="0"/>
            </a:br>
            <a:r>
              <a:rPr lang="en-US" altLang="zh-CN" dirty="0"/>
              <a:t>Body body2=new Person("</a:t>
            </a:r>
            <a:r>
              <a:rPr lang="zh-CN" altLang="en-US" dirty="0"/>
              <a:t>张文</a:t>
            </a:r>
            <a:r>
              <a:rPr lang="en-US" altLang="zh-CN" dirty="0"/>
              <a:t>","</a:t>
            </a:r>
            <a:r>
              <a:rPr lang="zh-CN" altLang="en-US" dirty="0"/>
              <a:t>男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 err="1"/>
              <a:t>LocalDate.parse</a:t>
            </a:r>
            <a:r>
              <a:rPr lang="en-US" altLang="zh-CN" dirty="0"/>
              <a:t>("1976-05-12")).new Body(1.70,60);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body2.personInfo();</a:t>
            </a:r>
            <a:br>
              <a:rPr lang="en-US" altLang="zh-CN" dirty="0"/>
            </a:br>
            <a:r>
              <a:rPr lang="zh-CN" altLang="en-US" dirty="0"/>
              <a:t>此时是建立一个</a:t>
            </a:r>
            <a:r>
              <a:rPr lang="en-US" altLang="zh-CN" dirty="0"/>
              <a:t>Person</a:t>
            </a:r>
            <a:r>
              <a:rPr lang="zh-CN" altLang="en-US" dirty="0"/>
              <a:t>对象，再由该对象调用内部类的构造方法。</a:t>
            </a:r>
            <a:endParaRPr lang="en-US" altLang="zh-CN" dirty="0"/>
          </a:p>
          <a:p>
            <a:r>
              <a:rPr lang="zh-CN" altLang="en-US" dirty="0"/>
              <a:t>非静态内部类中也不能定义静态成员。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8.2.2  </a:t>
            </a:r>
            <a:r>
              <a:rPr lang="zh-CN" altLang="en-US" dirty="0"/>
              <a:t>静态内部类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472608"/>
          </a:xfrm>
        </p:spPr>
        <p:txBody>
          <a:bodyPr>
            <a:normAutofit/>
          </a:bodyPr>
          <a:lstStyle/>
          <a:p>
            <a:r>
              <a:rPr lang="zh-CN" altLang="en-US" dirty="0"/>
              <a:t>内部类使用</a:t>
            </a:r>
            <a:r>
              <a:rPr lang="en-US" altLang="zh-CN" dirty="0"/>
              <a:t>static</a:t>
            </a:r>
            <a:r>
              <a:rPr lang="zh-CN" altLang="en-US" dirty="0"/>
              <a:t>修饰，它不能引用外部类的对象。</a:t>
            </a:r>
            <a:endParaRPr lang="en-US" altLang="zh-CN" dirty="0"/>
          </a:p>
          <a:p>
            <a:pPr lvl="1"/>
            <a:r>
              <a:rPr lang="zh-CN" altLang="en-US" dirty="0"/>
              <a:t>在内部类不需要引用外部类对象时，应该使用静态内部类。</a:t>
            </a:r>
            <a:endParaRPr lang="en-US" altLang="zh-CN" dirty="0"/>
          </a:p>
          <a:p>
            <a:pPr lvl="1"/>
            <a:r>
              <a:rPr lang="zh-CN" altLang="en-US" dirty="0"/>
              <a:t>静态内部类可以有</a:t>
            </a:r>
            <a:r>
              <a:rPr lang="en-US" altLang="zh-CN" dirty="0"/>
              <a:t>static</a:t>
            </a:r>
            <a:r>
              <a:rPr lang="zh-CN" altLang="en-US" dirty="0"/>
              <a:t>域和</a:t>
            </a:r>
            <a:r>
              <a:rPr lang="en-US" altLang="zh-CN" dirty="0"/>
              <a:t>static</a:t>
            </a:r>
            <a:r>
              <a:rPr lang="zh-CN" altLang="en-US" dirty="0"/>
              <a:t>方法</a:t>
            </a:r>
            <a:endParaRPr lang="en-US" altLang="zh-CN" dirty="0"/>
          </a:p>
          <a:p>
            <a:r>
              <a:rPr lang="zh-CN" altLang="en-US" dirty="0"/>
              <a:t>考虑一个问题：计算数组中的最大值和最小值</a:t>
            </a:r>
            <a:endParaRPr lang="zh-CN" altLang="en-US" dirty="0"/>
          </a:p>
          <a:p>
            <a:pPr lvl="1"/>
            <a:r>
              <a:rPr lang="zh-CN" altLang="en-US" dirty="0"/>
              <a:t>设计一个工具类</a:t>
            </a:r>
            <a:r>
              <a:rPr lang="en-US" altLang="zh-CN" dirty="0" err="1"/>
              <a:t>ArrayAlg</a:t>
            </a:r>
            <a:r>
              <a:rPr lang="zh-CN" altLang="en-US" dirty="0"/>
              <a:t>，其中设计一个类方法</a:t>
            </a:r>
            <a:r>
              <a:rPr lang="en-US" altLang="zh-CN" dirty="0" err="1"/>
              <a:t>minmax</a:t>
            </a:r>
            <a:r>
              <a:rPr lang="zh-CN" altLang="en-US" dirty="0"/>
              <a:t>，这样就可以如下计算了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 err="1"/>
              <a:t>ArrayAlg.minmax</a:t>
            </a:r>
            <a:r>
              <a:rPr lang="en-US" altLang="zh-CN" dirty="0"/>
              <a:t>(</a:t>
            </a:r>
            <a:r>
              <a:rPr lang="en-US" altLang="zh-CN" dirty="0" err="1"/>
              <a:t>arrayName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这里需要返回两个值，可以做成一个内部类，作为</a:t>
            </a:r>
            <a:r>
              <a:rPr lang="en-US" altLang="zh-CN" dirty="0" err="1"/>
              <a:t>ninmax</a:t>
            </a:r>
            <a:r>
              <a:rPr lang="zh-CN" altLang="en-US" dirty="0"/>
              <a:t>的返回值：</a:t>
            </a:r>
            <a:br>
              <a:rPr lang="en-US" altLang="zh-CN" dirty="0"/>
            </a:br>
            <a:r>
              <a:rPr lang="en-US" altLang="zh-CN" dirty="0"/>
              <a:t>class pair</a:t>
            </a:r>
            <a:endParaRPr lang="en-US" altLang="zh-CN" dirty="0"/>
          </a:p>
          <a:p>
            <a:pPr lvl="1"/>
            <a:r>
              <a:rPr lang="en-US" altLang="zh-CN" dirty="0" err="1"/>
              <a:t>minmax</a:t>
            </a:r>
            <a:r>
              <a:rPr lang="zh-CN" altLang="en-US" dirty="0"/>
              <a:t>是一个</a:t>
            </a:r>
            <a:r>
              <a:rPr lang="en-US" altLang="zh-CN" dirty="0"/>
              <a:t>static</a:t>
            </a:r>
            <a:r>
              <a:rPr lang="zh-CN" altLang="en-US" dirty="0"/>
              <a:t>方法，它只能访问</a:t>
            </a:r>
            <a:r>
              <a:rPr lang="en-US" altLang="zh-CN" dirty="0"/>
              <a:t>static</a:t>
            </a:r>
            <a:r>
              <a:rPr lang="zh-CN" altLang="en-US" dirty="0"/>
              <a:t>成员，所以</a:t>
            </a:r>
            <a:r>
              <a:rPr lang="en-US" altLang="zh-CN" dirty="0"/>
              <a:t>pair</a:t>
            </a:r>
            <a:r>
              <a:rPr lang="zh-CN" altLang="en-US" dirty="0"/>
              <a:t>内部类应该是</a:t>
            </a:r>
            <a:r>
              <a:rPr lang="en-US" altLang="zh-CN" dirty="0"/>
              <a:t>static</a:t>
            </a:r>
            <a:r>
              <a:rPr lang="zh-CN" altLang="en-US" dirty="0"/>
              <a:t>的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075240" cy="6408712"/>
          </a:xfrm>
        </p:spPr>
        <p:txBody>
          <a:bodyPr>
            <a:normAutofit fontScale="92500"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ArrayAlg</a:t>
            </a:r>
            <a:r>
              <a:rPr lang="en-US" altLang="zh-CN" dirty="0"/>
              <a:t>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外部类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public static class Pair {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静态内部类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private double first;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private double second;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public Pair(double f, double s)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first = f;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second = s;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      public double </a:t>
            </a:r>
            <a:r>
              <a:rPr lang="en-US" altLang="zh-CN" dirty="0" err="1"/>
              <a:t>getFirst</a:t>
            </a:r>
            <a:r>
              <a:rPr lang="en-US" altLang="zh-CN" dirty="0"/>
              <a:t>()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return first;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      public double </a:t>
            </a:r>
            <a:r>
              <a:rPr lang="en-US" altLang="zh-CN" dirty="0" err="1"/>
              <a:t>getSecond</a:t>
            </a:r>
            <a:r>
              <a:rPr lang="en-US" altLang="zh-CN" dirty="0"/>
              <a:t>() {   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return second;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静态内部类结束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976664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外部类的静态方法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/>
              <a:t>public static Pair </a:t>
            </a:r>
            <a:r>
              <a:rPr lang="en-US" altLang="zh-CN" dirty="0" err="1"/>
              <a:t>minmax</a:t>
            </a:r>
            <a:r>
              <a:rPr lang="en-US" altLang="zh-CN" dirty="0"/>
              <a:t>(double[] values)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double min = </a:t>
            </a:r>
            <a:r>
              <a:rPr lang="en-US" altLang="zh-CN" dirty="0" err="1"/>
              <a:t>Double.POSITIVE_INFINITY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double max = </a:t>
            </a:r>
            <a:r>
              <a:rPr lang="en-US" altLang="zh-CN" dirty="0" err="1"/>
              <a:t>Double.NEGATIVE_INFINITY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for (double v : values)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{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  if (min &gt; v) min = v;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  if (max &lt; v) max = v;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}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return new Pair(min, max);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}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外部类结束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pPr marL="274320" lvl="1" indent="0">
              <a:buNone/>
            </a:pPr>
            <a:r>
              <a:rPr lang="zh-CN" altLang="en-US" dirty="0"/>
              <a:t>下面的</a:t>
            </a:r>
            <a:r>
              <a:rPr lang="en-US" altLang="zh-CN" dirty="0"/>
              <a:t>main</a:t>
            </a:r>
            <a:r>
              <a:rPr lang="zh-CN" altLang="en-US" dirty="0"/>
              <a:t>方法中使用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double[] d = new double[20];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d.length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d[</a:t>
            </a:r>
            <a:r>
              <a:rPr lang="en-US" altLang="zh-CN" dirty="0" err="1"/>
              <a:t>i</a:t>
            </a:r>
            <a:r>
              <a:rPr lang="en-US" altLang="zh-CN" dirty="0"/>
              <a:t>] = 100 * </a:t>
            </a:r>
            <a:r>
              <a:rPr lang="en-US" altLang="zh-CN" dirty="0" err="1"/>
              <a:t>Math.random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ArrayAlg.Pair</a:t>
            </a:r>
            <a:r>
              <a:rPr lang="en-US" altLang="zh-CN" dirty="0"/>
              <a:t> p = </a:t>
            </a:r>
            <a:r>
              <a:rPr lang="en-US" altLang="zh-CN" dirty="0" err="1"/>
              <a:t>ArrayAlg.minmax</a:t>
            </a:r>
            <a:r>
              <a:rPr lang="en-US" altLang="zh-CN" dirty="0"/>
              <a:t>(d);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("min = " + </a:t>
            </a:r>
            <a:r>
              <a:rPr lang="en-US" altLang="zh-CN" dirty="0" err="1"/>
              <a:t>p.getFirst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("max = " + </a:t>
            </a:r>
            <a:r>
              <a:rPr lang="en-US" altLang="zh-CN" dirty="0" err="1"/>
              <a:t>p.getSecond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8.2.3  </a:t>
            </a:r>
            <a:r>
              <a:rPr lang="zh-CN" altLang="en-US" dirty="0"/>
              <a:t>局部内部类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在方法中定义一个类是局部内部类。</a:t>
            </a:r>
            <a:endParaRPr lang="en-US" altLang="zh-CN" dirty="0"/>
          </a:p>
          <a:p>
            <a:pPr lvl="1"/>
            <a:r>
              <a:rPr lang="zh-CN" altLang="en-US" dirty="0"/>
              <a:t>局部内部类的作用域仅限于所在的方法，不能使用访问控制符</a:t>
            </a:r>
            <a:endParaRPr lang="en-US" altLang="zh-CN" dirty="0"/>
          </a:p>
          <a:p>
            <a:pPr lvl="1"/>
            <a:r>
              <a:rPr lang="zh-CN" altLang="en-US" dirty="0"/>
              <a:t>由于其上层是一个方法，故也不能使用</a:t>
            </a:r>
            <a:r>
              <a:rPr lang="en-US" altLang="zh-CN" dirty="0"/>
              <a:t>static</a:t>
            </a:r>
            <a:r>
              <a:rPr lang="zh-CN" altLang="en-US" dirty="0"/>
              <a:t>修饰</a:t>
            </a:r>
            <a:endParaRPr lang="en-US" altLang="zh-CN" dirty="0"/>
          </a:p>
          <a:p>
            <a:pPr lvl="1"/>
            <a:r>
              <a:rPr lang="zh-CN" altLang="en-US" dirty="0"/>
              <a:t>看一个例子</a:t>
            </a:r>
            <a:r>
              <a:rPr lang="en-US" altLang="zh-CN" dirty="0"/>
              <a:t>LocalInner.java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8.3.4  </a:t>
            </a:r>
            <a:r>
              <a:rPr lang="zh-CN" altLang="en-US" dirty="0"/>
              <a:t>匿名内部类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075240" cy="583264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回调函数：</a:t>
            </a:r>
            <a:endParaRPr lang="en-US" altLang="zh-CN" dirty="0"/>
          </a:p>
          <a:p>
            <a:pPr lvl="1"/>
            <a:r>
              <a:rPr lang="zh-CN" altLang="en-US" dirty="0"/>
              <a:t>回调函数就是一个被作为参数传递的函数。在</a:t>
            </a:r>
            <a:r>
              <a:rPr lang="en-US" altLang="zh-CN" dirty="0"/>
              <a:t>C</a:t>
            </a:r>
            <a:r>
              <a:rPr lang="zh-CN" altLang="en-US" dirty="0"/>
              <a:t>语言中，回调函数使用函数指针实现。</a:t>
            </a:r>
            <a:endParaRPr lang="en-US" altLang="zh-CN" dirty="0"/>
          </a:p>
          <a:p>
            <a:pPr lvl="1"/>
            <a:r>
              <a:rPr lang="en-US" altLang="zh-CN" dirty="0"/>
              <a:t>Java</a:t>
            </a:r>
            <a:r>
              <a:rPr lang="zh-CN" altLang="en-US" dirty="0"/>
              <a:t>中没有指针，可以通过传递一个实现了某个接口的对象传递函数。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var</a:t>
            </a:r>
            <a:r>
              <a:rPr lang="en-US" altLang="zh-CN" dirty="0"/>
              <a:t> listener = new </a:t>
            </a:r>
            <a:r>
              <a:rPr lang="en-US" altLang="zh-CN" dirty="0" err="1"/>
              <a:t>TimePrinter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 </a:t>
            </a:r>
            <a:r>
              <a:rPr lang="en-US" altLang="zh-CN" dirty="0" err="1"/>
              <a:t>ActionListener</a:t>
            </a:r>
            <a:r>
              <a:rPr lang="en-US" altLang="zh-CN" dirty="0"/>
              <a:t> a=null;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var</a:t>
            </a:r>
            <a:r>
              <a:rPr lang="en-US" altLang="zh-CN" dirty="0"/>
              <a:t> t = new Timer(1000,  a);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t.start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>
                <a:solidFill>
                  <a:srgbClr val="FF0000"/>
                </a:solidFill>
              </a:rPr>
              <a:t>t.addActionListener</a:t>
            </a:r>
            <a:r>
              <a:rPr lang="en-US" altLang="zh-CN" dirty="0">
                <a:solidFill>
                  <a:srgbClr val="FF0000"/>
                </a:solidFill>
              </a:rPr>
              <a:t>(listener);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//////////////////////////////////////////////////////////////////////////////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2060"/>
                </a:solidFill>
              </a:rPr>
              <a:t>class </a:t>
            </a:r>
            <a:r>
              <a:rPr lang="en-US" altLang="zh-CN" dirty="0" err="1">
                <a:solidFill>
                  <a:srgbClr val="002060"/>
                </a:solidFill>
              </a:rPr>
              <a:t>TimePrinter</a:t>
            </a:r>
            <a:r>
              <a:rPr lang="en-US" altLang="zh-CN" dirty="0">
                <a:solidFill>
                  <a:srgbClr val="002060"/>
                </a:solidFill>
              </a:rPr>
              <a:t> implements </a:t>
            </a:r>
            <a:r>
              <a:rPr lang="en-US" altLang="zh-CN" dirty="0" err="1">
                <a:solidFill>
                  <a:srgbClr val="002060"/>
                </a:solidFill>
              </a:rPr>
              <a:t>ActionListener</a:t>
            </a:r>
            <a:r>
              <a:rPr lang="en-US" altLang="zh-CN" dirty="0">
                <a:solidFill>
                  <a:srgbClr val="002060"/>
                </a:solidFill>
              </a:rPr>
              <a:t>   {  </a:t>
            </a:r>
            <a:endParaRPr lang="en-US" altLang="zh-CN" dirty="0">
              <a:solidFill>
                <a:srgbClr val="00206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2060"/>
                </a:solidFill>
              </a:rPr>
              <a:t>   public void </a:t>
            </a:r>
            <a:r>
              <a:rPr lang="en-US" altLang="zh-CN" dirty="0" err="1">
                <a:solidFill>
                  <a:srgbClr val="FF0000"/>
                </a:solidFill>
              </a:rPr>
              <a:t>actionPerformed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en-US" altLang="zh-CN" dirty="0" err="1">
                <a:solidFill>
                  <a:srgbClr val="002060"/>
                </a:solidFill>
              </a:rPr>
              <a:t>ActionEvent</a:t>
            </a:r>
            <a:r>
              <a:rPr lang="en-US" altLang="zh-CN" dirty="0">
                <a:solidFill>
                  <a:srgbClr val="002060"/>
                </a:solidFill>
              </a:rPr>
              <a:t> event)   {  </a:t>
            </a:r>
            <a:endParaRPr lang="en-US" altLang="zh-CN" dirty="0">
              <a:solidFill>
                <a:srgbClr val="00206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2060"/>
                </a:solidFill>
              </a:rPr>
              <a:t>      </a:t>
            </a:r>
            <a:r>
              <a:rPr lang="en-US" altLang="zh-CN" dirty="0" err="1">
                <a:solidFill>
                  <a:srgbClr val="002060"/>
                </a:solidFill>
              </a:rPr>
              <a:t>System.out.println</a:t>
            </a:r>
            <a:r>
              <a:rPr lang="en-US" altLang="zh-CN" dirty="0">
                <a:solidFill>
                  <a:srgbClr val="002060"/>
                </a:solidFill>
              </a:rPr>
              <a:t>("At the tone, the time is " + new Date());</a:t>
            </a:r>
            <a:endParaRPr lang="en-US" altLang="zh-CN" dirty="0">
              <a:solidFill>
                <a:srgbClr val="00206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2060"/>
                </a:solidFill>
              </a:rPr>
              <a:t>      </a:t>
            </a:r>
            <a:r>
              <a:rPr lang="en-US" altLang="zh-CN" dirty="0" err="1">
                <a:solidFill>
                  <a:srgbClr val="002060"/>
                </a:solidFill>
              </a:rPr>
              <a:t>Toolkit.getDefaultToolkit</a:t>
            </a:r>
            <a:r>
              <a:rPr lang="en-US" altLang="zh-CN" dirty="0">
                <a:solidFill>
                  <a:srgbClr val="002060"/>
                </a:solidFill>
              </a:rPr>
              <a:t>().beep();</a:t>
            </a:r>
            <a:endParaRPr lang="en-US" altLang="zh-CN" dirty="0">
              <a:solidFill>
                <a:srgbClr val="00206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2060"/>
                </a:solidFill>
              </a:rPr>
              <a:t>   }</a:t>
            </a:r>
            <a:endParaRPr lang="en-US" altLang="zh-CN" dirty="0">
              <a:solidFill>
                <a:srgbClr val="00206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2060"/>
                </a:solidFill>
              </a:rPr>
              <a:t>}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075240" cy="5976664"/>
          </a:xfrm>
        </p:spPr>
        <p:txBody>
          <a:bodyPr>
            <a:normAutofit/>
          </a:bodyPr>
          <a:lstStyle/>
          <a:p>
            <a:r>
              <a:rPr lang="zh-CN" altLang="en-US" dirty="0"/>
              <a:t>匿名内部类没有名字，只用来创建一个实例。方法的参数需要一个类对象时可以使用它。</a:t>
            </a:r>
            <a:endParaRPr lang="en-US" altLang="zh-CN" dirty="0"/>
          </a:p>
          <a:p>
            <a:pPr lvl="1"/>
            <a:r>
              <a:rPr lang="zh-CN" altLang="en-US" dirty="0"/>
              <a:t>匿名内部类必须继承一个父类，或实现一个接口。</a:t>
            </a:r>
            <a:endParaRPr lang="en-US" altLang="zh-CN" dirty="0"/>
          </a:p>
          <a:p>
            <a:pPr lvl="1"/>
            <a:r>
              <a:rPr lang="zh-CN" altLang="en-US" dirty="0"/>
              <a:t>匿名内部类不能是抽象类，它要实例化</a:t>
            </a:r>
            <a:endParaRPr lang="en-US" altLang="zh-CN" dirty="0"/>
          </a:p>
          <a:p>
            <a:pPr lvl="1"/>
            <a:r>
              <a:rPr lang="zh-CN" altLang="en-US" dirty="0"/>
              <a:t>匿名内部类没有名字，所以也没有构造器</a:t>
            </a:r>
            <a:endParaRPr lang="en-US" altLang="zh-CN" dirty="0"/>
          </a:p>
          <a:p>
            <a:r>
              <a:rPr lang="zh-CN" altLang="en-US" dirty="0"/>
              <a:t>前面的回调函数可以如下实现：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t.addActionListener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</a:rPr>
              <a:t>new </a:t>
            </a:r>
            <a:r>
              <a:rPr lang="en-US" altLang="zh-CN" dirty="0" err="1">
                <a:solidFill>
                  <a:srgbClr val="FF0000"/>
                </a:solidFill>
              </a:rPr>
              <a:t>ActionListener</a:t>
            </a:r>
            <a:r>
              <a:rPr lang="en-US" altLang="zh-CN" dirty="0">
                <a:solidFill>
                  <a:srgbClr val="FF0000"/>
                </a:solidFill>
              </a:rPr>
              <a:t>() {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public void </a:t>
            </a:r>
            <a:r>
              <a:rPr lang="en-US" altLang="zh-CN" dirty="0" err="1">
                <a:solidFill>
                  <a:srgbClr val="FF0000"/>
                </a:solidFill>
              </a:rPr>
              <a:t>actionPerformed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ActionEvent</a:t>
            </a:r>
            <a:r>
              <a:rPr lang="en-US" altLang="zh-CN" dirty="0">
                <a:solidFill>
                  <a:srgbClr val="FF0000"/>
                </a:solidFill>
              </a:rPr>
              <a:t> event) {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System.out.println</a:t>
            </a:r>
            <a:r>
              <a:rPr lang="en-US" altLang="zh-CN" dirty="0">
                <a:solidFill>
                  <a:srgbClr val="FF0000"/>
                </a:solidFill>
              </a:rPr>
              <a:t>("At the tone, the time is " + new   	Date());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Toolkit.getDefaultToolkit</a:t>
            </a:r>
            <a:r>
              <a:rPr lang="en-US" altLang="zh-CN" dirty="0">
                <a:solidFill>
                  <a:srgbClr val="FF0000"/>
                </a:solidFill>
              </a:rPr>
              <a:t>().beep();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}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en-US" altLang="zh-CN" dirty="0"/>
              <a:t>);</a:t>
            </a:r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在前面实现排序的</a:t>
            </a:r>
            <a:r>
              <a:rPr lang="en-US" altLang="zh-CN" dirty="0" err="1"/>
              <a:t>ArraySort</a:t>
            </a:r>
            <a:r>
              <a:rPr lang="zh-CN" altLang="en-US" dirty="0"/>
              <a:t>类中，第三种方法也是使用了匿名内部类：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Arrays.sort</a:t>
            </a:r>
            <a:r>
              <a:rPr lang="en-US" altLang="zh-CN" dirty="0"/>
              <a:t>(</a:t>
            </a:r>
            <a:r>
              <a:rPr lang="en-US" altLang="zh-CN" dirty="0" err="1"/>
              <a:t>dogArray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DF11DF"/>
                </a:solidFill>
              </a:rPr>
              <a:t>new Comparator&lt;Dog&gt;() 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{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	@Override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	public </a:t>
            </a:r>
            <a:r>
              <a:rPr lang="en-US" altLang="zh-CN" dirty="0" err="1">
                <a:solidFill>
                  <a:srgbClr val="DF11DF"/>
                </a:solidFill>
              </a:rPr>
              <a:t>int</a:t>
            </a:r>
            <a:r>
              <a:rPr lang="en-US" altLang="zh-CN" dirty="0">
                <a:solidFill>
                  <a:srgbClr val="DF11DF"/>
                </a:solidFill>
              </a:rPr>
              <a:t> compare(Dog dog1, Dog dog2)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	{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	     return dog1.getWeight()-dog2.getWeight();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	}</a:t>
            </a:r>
            <a:endParaRPr lang="en-US" altLang="zh-CN" dirty="0">
              <a:solidFill>
                <a:srgbClr val="DF11DF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DF11DF"/>
                </a:solidFill>
              </a:rPr>
              <a:t>} </a:t>
            </a:r>
            <a:r>
              <a:rPr lang="en-US" altLang="zh-CN" dirty="0"/>
              <a:t>) ;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075240" cy="604867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编程练习：</a:t>
            </a:r>
            <a:endParaRPr lang="en-US" altLang="zh-CN" dirty="0"/>
          </a:p>
          <a:p>
            <a:pPr lvl="1"/>
            <a:r>
              <a:rPr lang="zh-CN" altLang="en-US" dirty="0"/>
              <a:t>写一个顾客类</a:t>
            </a:r>
            <a:r>
              <a:rPr lang="en-US" altLang="zh-CN" dirty="0"/>
              <a:t>Customer</a:t>
            </a:r>
            <a:r>
              <a:rPr lang="zh-CN" altLang="en-US" dirty="0"/>
              <a:t>，其中有一个内部类</a:t>
            </a:r>
            <a:r>
              <a:rPr lang="en-US" altLang="zh-CN" dirty="0" err="1"/>
              <a:t>ShoppingBasket</a:t>
            </a:r>
            <a:r>
              <a:rPr lang="zh-CN" altLang="en-US" dirty="0"/>
              <a:t>，基本结构如下：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Customer{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name;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gender;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age;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…;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B0F0"/>
                </a:solidFill>
              </a:rPr>
              <a:t>public class </a:t>
            </a:r>
            <a:r>
              <a:rPr lang="en-US" altLang="zh-CN" dirty="0" err="1">
                <a:solidFill>
                  <a:srgbClr val="00B0F0"/>
                </a:solidFill>
              </a:rPr>
              <a:t>ShoppingBasket</a:t>
            </a:r>
            <a:r>
              <a:rPr lang="en-US" altLang="zh-CN" dirty="0">
                <a:solidFill>
                  <a:srgbClr val="00B0F0"/>
                </a:solidFill>
              </a:rPr>
              <a:t>{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	commodity;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	</a:t>
            </a:r>
            <a:r>
              <a:rPr lang="en-US" altLang="zh-CN" dirty="0" err="1">
                <a:solidFill>
                  <a:srgbClr val="00B0F0"/>
                </a:solidFill>
              </a:rPr>
              <a:t>UnitPrice</a:t>
            </a:r>
            <a:r>
              <a:rPr lang="en-US" altLang="zh-CN" dirty="0">
                <a:solidFill>
                  <a:srgbClr val="00B0F0"/>
                </a:solidFill>
              </a:rPr>
              <a:t>;		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	Quantity;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	Price;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	…;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}</a:t>
            </a:r>
            <a:endParaRPr lang="en-US" altLang="zh-CN" dirty="0">
              <a:solidFill>
                <a:srgbClr val="00B0F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12653</Words>
  <Application>WPS 演示</Application>
  <PresentationFormat>全屏显示(4:3)</PresentationFormat>
  <Paragraphs>555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3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8  lambda表达式与内部类</vt:lpstr>
      <vt:lpstr>8.1 lambda表达式</vt:lpstr>
      <vt:lpstr>8.1.1  引入lambda表达式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8.1.2  lambda表达式的语法</vt:lpstr>
      <vt:lpstr>PowerPoint 演示文稿</vt:lpstr>
      <vt:lpstr>PowerPoint 演示文稿</vt:lpstr>
      <vt:lpstr>8.1.2  函数式接口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  内部类</vt:lpstr>
      <vt:lpstr>8.2.1  非静态内部类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内外类成员之间的访问</vt:lpstr>
      <vt:lpstr>PowerPoint 演示文稿</vt:lpstr>
      <vt:lpstr>PowerPoint 演示文稿</vt:lpstr>
      <vt:lpstr>PowerPoint 演示文稿</vt:lpstr>
      <vt:lpstr>8.2.2  静态内部类</vt:lpstr>
      <vt:lpstr>PowerPoint 演示文稿</vt:lpstr>
      <vt:lpstr>PowerPoint 演示文稿</vt:lpstr>
      <vt:lpstr>PowerPoint 演示文稿</vt:lpstr>
      <vt:lpstr>8.2.3  局部内部类</vt:lpstr>
      <vt:lpstr>8.3.4  匿名内部类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140</cp:revision>
  <dcterms:created xsi:type="dcterms:W3CDTF">2024-05-21T15:03:40Z</dcterms:created>
  <dcterms:modified xsi:type="dcterms:W3CDTF">2024-05-21T15:03:40Z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D43266D27F91767DCCB74C665AD95C91_43</vt:lpwstr>
  </property>
</Properties>
</file>