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4"/>
  </p:notesMasterIdLst>
  <p:sldIdLst>
    <p:sldId id="309" r:id="rId3"/>
    <p:sldId id="257" r:id="rId4"/>
    <p:sldId id="258" r:id="rId5"/>
    <p:sldId id="259" r:id="rId6"/>
    <p:sldId id="260" r:id="rId7"/>
    <p:sldId id="261" r:id="rId8"/>
    <p:sldId id="262" r:id="rId9"/>
    <p:sldId id="263" r:id="rId10"/>
    <p:sldId id="264" r:id="rId11"/>
    <p:sldId id="265" r:id="rId12"/>
    <p:sldId id="282" r:id="rId13"/>
    <p:sldId id="266" r:id="rId14"/>
    <p:sldId id="267" r:id="rId15"/>
    <p:sldId id="268" r:id="rId16"/>
    <p:sldId id="269" r:id="rId17"/>
    <p:sldId id="270" r:id="rId18"/>
    <p:sldId id="271" r:id="rId19"/>
    <p:sldId id="272" r:id="rId20"/>
    <p:sldId id="307" r:id="rId21"/>
    <p:sldId id="273" r:id="rId22"/>
    <p:sldId id="274" r:id="rId23"/>
    <p:sldId id="275" r:id="rId24"/>
    <p:sldId id="276" r:id="rId25"/>
    <p:sldId id="277" r:id="rId26"/>
    <p:sldId id="278" r:id="rId27"/>
    <p:sldId id="279" r:id="rId28"/>
    <p:sldId id="280" r:id="rId29"/>
    <p:sldId id="281" r:id="rId30"/>
    <p:sldId id="283" r:id="rId31"/>
    <p:sldId id="284" r:id="rId32"/>
    <p:sldId id="285" r:id="rId33"/>
    <p:sldId id="286" r:id="rId35"/>
    <p:sldId id="287" r:id="rId36"/>
    <p:sldId id="288" r:id="rId37"/>
    <p:sldId id="289" r:id="rId38"/>
    <p:sldId id="290" r:id="rId39"/>
    <p:sldId id="291" r:id="rId40"/>
    <p:sldId id="292" r:id="rId41"/>
    <p:sldId id="293" r:id="rId42"/>
    <p:sldId id="294" r:id="rId43"/>
    <p:sldId id="295" r:id="rId44"/>
    <p:sldId id="296" r:id="rId45"/>
    <p:sldId id="308" r:id="rId46"/>
    <p:sldId id="297" r:id="rId47"/>
    <p:sldId id="298" r:id="rId48"/>
    <p:sldId id="299" r:id="rId49"/>
    <p:sldId id="300" r:id="rId50"/>
    <p:sldId id="301" r:id="rId51"/>
    <p:sldId id="306" r:id="rId52"/>
    <p:sldId id="303" r:id="rId53"/>
    <p:sldId id="302" r:id="rId54"/>
    <p:sldId id="304" r:id="rId55"/>
    <p:sldId id="305" r:id="rId5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6" d="100"/>
          <a:sy n="106" d="100"/>
        </p:scale>
        <p:origin x="176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9E825A-9DAF-477B-AC5C-4050AFD6B15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C47105-71C5-4BF5-AD58-12C73EDD56E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5C47105-71C5-4BF5-AD58-12C73EDD56E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cap="none" spc="-80" baseline="0">
                <a:solidFill>
                  <a:schemeClr val="tx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none"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r>
              <a:rPr lang="en-US" altLang="zh-CN"/>
              <a:t>2</a:t>
            </a:r>
            <a:endParaRPr lang="zh-CN" alt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307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40352" y="17537"/>
            <a:ext cx="1242239" cy="1035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57200" y="152718"/>
            <a:ext cx="8075240" cy="683994"/>
          </a:xfrm>
        </p:spPr>
        <p:txBody>
          <a:bodyPr/>
          <a:lstStyle>
            <a:lvl1pPr>
              <a:defRPr cap="none" baseline="0"/>
            </a:lvl1pPr>
          </a:lstStyle>
          <a:p>
            <a:r>
              <a:rPr lang="zh-CN" altLang="en-US" dirty="0"/>
              <a:t>单击此处编辑母版标题样式</a:t>
            </a:r>
            <a:endParaRPr lang="en-US" dirty="0"/>
          </a:p>
        </p:txBody>
      </p:sp>
      <p:sp>
        <p:nvSpPr>
          <p:cNvPr id="3" name="Content Placeholder 2"/>
          <p:cNvSpPr>
            <a:spLocks noGrp="1"/>
          </p:cNvSpPr>
          <p:nvPr>
            <p:ph idx="1"/>
          </p:nvPr>
        </p:nvSpPr>
        <p:spPr>
          <a:xfrm>
            <a:off x="457200" y="980728"/>
            <a:ext cx="8075240" cy="5256584"/>
          </a:xfrm>
        </p:spPr>
        <p:txBody>
          <a:bodyPr/>
          <a:lstStyle>
            <a:lvl1pPr marL="0" indent="0" defTabSz="1080135">
              <a:spcBef>
                <a:spcPts val="600"/>
              </a:spcBef>
              <a:spcAft>
                <a:spcPts val="0"/>
              </a:spcAft>
              <a:buFont typeface="Arial" panose="020B0704020202020204" pitchFamily="34" charset="0"/>
              <a:buChar char="•"/>
              <a:defRPr sz="2800" b="0" i="0" baseline="0">
                <a:solidFill>
                  <a:schemeClr val="tx1"/>
                </a:solidFill>
                <a:ea typeface="华文宋体" panose="02010600040101010101" pitchFamily="2" charset="-122"/>
              </a:defRPr>
            </a:lvl1pPr>
            <a:lvl2pPr>
              <a:lnSpc>
                <a:spcPct val="100000"/>
              </a:lnSpc>
              <a:spcBef>
                <a:spcPts val="600"/>
              </a:spcBef>
              <a:defRPr sz="2400" baseline="0">
                <a:solidFill>
                  <a:schemeClr val="tx2">
                    <a:lumMod val="75000"/>
                  </a:schemeClr>
                </a:solidFill>
              </a:defRPr>
            </a:lvl2pPr>
            <a:lvl3pPr>
              <a:spcBef>
                <a:spcPts val="600"/>
              </a:spcBef>
              <a:defRPr sz="2400"/>
            </a:lvl3pPr>
            <a:lvl4pPr>
              <a:lnSpc>
                <a:spcPct val="100000"/>
              </a:lnSpc>
              <a:spcBef>
                <a:spcPts val="600"/>
              </a:spcBef>
              <a:defRPr sz="2400"/>
            </a:lvl4pPr>
            <a:lvl5pPr>
              <a:spcBef>
                <a:spcPts val="600"/>
              </a:spcBef>
              <a:defRPr sz="24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2" name="灯片编号占位符 11"/>
          <p:cNvSpPr>
            <a:spLocks noGrp="1"/>
          </p:cNvSpPr>
          <p:nvPr>
            <p:ph type="sldNum" sz="quarter" idx="12"/>
          </p:nvPr>
        </p:nvSpPr>
        <p:spPr/>
        <p:txBody>
          <a:bodyPr/>
          <a:lstStyle/>
          <a:p>
            <a:fld id="{94568401-C238-4940-8B37-740CB2A88BB9}"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7" name="Date Placeholder 6"/>
          <p:cNvSpPr>
            <a:spLocks noGrp="1"/>
          </p:cNvSpPr>
          <p:nvPr>
            <p:ph type="dt" sz="half" idx="10"/>
          </p:nvPr>
        </p:nvSpPr>
        <p:spPr/>
        <p:txBody>
          <a:bodyPr/>
          <a:lstStyle/>
          <a:p>
            <a:endParaRPr lang="zh-CN" altLang="en-US"/>
          </a:p>
        </p:txBody>
      </p:sp>
      <p:sp>
        <p:nvSpPr>
          <p:cNvPr id="8" name="Slide Number Placeholder 7"/>
          <p:cNvSpPr>
            <a:spLocks noGrp="1"/>
          </p:cNvSpPr>
          <p:nvPr>
            <p:ph type="sldNum" sz="quarter" idx="11"/>
          </p:nvPr>
        </p:nvSpPr>
        <p:spPr/>
        <p:txBody>
          <a:bodyPr/>
          <a:lstStyle/>
          <a:p>
            <a:fld id="{0C913308-F349-4B6D-A68A-DD1791B4A57B}" type="slidenum">
              <a:rPr lang="zh-CN" altLang="en-US" smtClean="0"/>
            </a:fld>
            <a:endParaRPr lang="zh-CN" altLang="en-US"/>
          </a:p>
        </p:txBody>
      </p:sp>
      <p:sp>
        <p:nvSpPr>
          <p:cNvPr id="9" name="Footer Placeholder 8"/>
          <p:cNvSpPr>
            <a:spLocks noGrp="1"/>
          </p:cNvSpPr>
          <p:nvPr>
            <p:ph type="ftr" sz="quarter" idx="12"/>
          </p:nvPr>
        </p:nvSpPr>
        <p:spPr/>
        <p:txBody>
          <a:bodyPr/>
          <a:lstStyle/>
          <a:p>
            <a:r>
              <a:rPr lang="en-US" altLang="zh-CN"/>
              <a:t>2</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r>
              <a:rPr lang="en-US" altLang="zh-CN"/>
              <a:t>2</a:t>
            </a:r>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anose="020B0704020202020204" pitchFamily="34" charset="0"/>
              <a:buNone/>
            </a:pPr>
            <a:r>
              <a:rPr lang="zh-CN" altLang="en-US"/>
              <a:t>单击此处编辑母版文本样式</a:t>
            </a:r>
            <a:endParaRPr lang="zh-CN" altLang="en-US"/>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r>
              <a:rPr lang="en-US" altLang="zh-CN"/>
              <a:t>2</a:t>
            </a:r>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r>
              <a:rPr lang="en-US" altLang="zh-CN"/>
              <a:t>2</a:t>
            </a:r>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r>
              <a:rPr lang="en-US" altLang="zh-CN"/>
              <a:t>2</a:t>
            </a:r>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r>
              <a:rPr lang="en-US" altLang="zh-CN"/>
              <a:t>2</a:t>
            </a:r>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r>
              <a:rPr lang="en-US" altLang="zh-CN"/>
              <a:t>2</a:t>
            </a:r>
            <a:endParaRPr lang="zh-CN" alt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0C913308-F349-4B6D-A68A-DD1791B4A57B}" type="slidenum">
              <a:rPr lang="zh-CN" altLang="en-US" smtClean="0"/>
            </a:fld>
            <a:endParaRPr lang="zh-CN" alt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zh-CN" altLang="en-US"/>
              <a:t>单击此处编辑母版标题样式</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r>
              <a:rPr lang="en-US" altLang="zh-CN"/>
              <a:t>2</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r>
              <a:rPr lang="en-US" altLang="zh-CN"/>
              <a:t>2</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endParaRPr lang="zh-CN" alt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r>
              <a:rPr lang="en-US" altLang="zh-CN"/>
              <a:t>2</a:t>
            </a:r>
            <a:endParaRPr lang="zh-CN" alt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0C913308-F349-4B6D-A68A-DD1791B4A57B}" type="slidenum">
              <a:rPr lang="zh-CN" altLang="en-US" smtClean="0"/>
            </a:fld>
            <a:endParaRPr lang="zh-CN" alt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anose="020B0704020202020204"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anose="020B07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anose="020B07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anose="020B0704020202020204"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7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mailto:heyq@cugb.edu.cn" TargetMode="Externa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60032" y="242445"/>
            <a:ext cx="3976795" cy="25584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标题 1"/>
          <p:cNvSpPr>
            <a:spLocks noGrp="1"/>
          </p:cNvSpPr>
          <p:nvPr>
            <p:ph type="ctrTitle"/>
          </p:nvPr>
        </p:nvSpPr>
        <p:spPr>
          <a:xfrm>
            <a:off x="611560" y="1628800"/>
            <a:ext cx="4608512" cy="1470025"/>
          </a:xfrm>
        </p:spPr>
        <p:txBody>
          <a:bodyPr>
            <a:normAutofit/>
          </a:bodyPr>
          <a:lstStyle/>
          <a:p>
            <a:r>
              <a:rPr lang="en-US" altLang="zh-CN" sz="4800" dirty="0"/>
              <a:t>Java </a:t>
            </a:r>
            <a:r>
              <a:rPr lang="zh-CN" altLang="en-US" sz="4800" dirty="0"/>
              <a:t>程序设计</a:t>
            </a:r>
            <a:endParaRPr lang="zh-CN" altLang="en-US" sz="4800" dirty="0"/>
          </a:p>
        </p:txBody>
      </p:sp>
      <p:sp>
        <p:nvSpPr>
          <p:cNvPr id="3" name="副标题 2"/>
          <p:cNvSpPr>
            <a:spLocks noGrp="1"/>
          </p:cNvSpPr>
          <p:nvPr>
            <p:ph type="subTitle" idx="1"/>
          </p:nvPr>
        </p:nvSpPr>
        <p:spPr>
          <a:xfrm>
            <a:off x="899592" y="3789040"/>
            <a:ext cx="7772400" cy="1656184"/>
          </a:xfrm>
        </p:spPr>
        <p:txBody>
          <a:bodyPr>
            <a:noAutofit/>
          </a:bodyPr>
          <a:lstStyle/>
          <a:p>
            <a:pPr algn="l"/>
            <a:r>
              <a:rPr lang="zh-CN" altLang="en-US" sz="2800" dirty="0"/>
              <a:t>何勇强</a:t>
            </a:r>
            <a:endParaRPr lang="en-US" altLang="zh-CN" sz="2800" dirty="0"/>
          </a:p>
          <a:p>
            <a:pPr algn="l"/>
            <a:r>
              <a:rPr lang="en-US" altLang="zh-CN" sz="2800" dirty="0">
                <a:hlinkClick r:id="rId2"/>
              </a:rPr>
              <a:t>heyq@cugb.edu.cn</a:t>
            </a:r>
            <a:endParaRPr lang="en-US" altLang="zh-CN" sz="2800" dirty="0"/>
          </a:p>
          <a:p>
            <a:pPr algn="l"/>
            <a:r>
              <a:rPr lang="en-US" altLang="zh-CN" sz="2800" dirty="0"/>
              <a:t>18810819390</a:t>
            </a:r>
            <a:endParaRPr lang="en-US" altLang="zh-CN" sz="2800" dirty="0"/>
          </a:p>
          <a:p>
            <a:pPr algn="l"/>
            <a:r>
              <a:rPr lang="en-US" altLang="zh-CN" sz="2800"/>
              <a:t>                                      2024-2</a:t>
            </a:r>
            <a:endParaRPr lang="zh-CN" altLang="en-US" sz="2800" dirty="0"/>
          </a:p>
        </p:txBody>
      </p:sp>
      <p:sp>
        <p:nvSpPr>
          <p:cNvPr id="4" name="TextBox 3"/>
          <p:cNvSpPr txBox="1"/>
          <p:nvPr/>
        </p:nvSpPr>
        <p:spPr>
          <a:xfrm>
            <a:off x="5884600" y="2638521"/>
            <a:ext cx="2664296" cy="584775"/>
          </a:xfrm>
          <a:prstGeom prst="rect">
            <a:avLst/>
          </a:prstGeom>
          <a:noFill/>
        </p:spPr>
        <p:txBody>
          <a:bodyPr wrap="square" rtlCol="0">
            <a:spAutoFit/>
          </a:bodyPr>
          <a:lstStyle/>
          <a:p>
            <a:r>
              <a:rPr lang="zh-CN" altLang="en-US" sz="3200" i="1" dirty="0">
                <a:solidFill>
                  <a:srgbClr val="0070C0"/>
                </a:solidFill>
              </a:rPr>
              <a:t>本科生公共课</a:t>
            </a:r>
            <a:endParaRPr lang="zh-CN" altLang="en-US" sz="3200" i="1"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  </a:t>
            </a:r>
            <a:r>
              <a:rPr lang="zh-CN" altLang="en-US" dirty="0"/>
              <a:t>继承</a:t>
            </a:r>
            <a:endParaRPr lang="zh-CN" altLang="en-US" dirty="0"/>
          </a:p>
        </p:txBody>
      </p:sp>
      <p:sp>
        <p:nvSpPr>
          <p:cNvPr id="3" name="内容占位符 2"/>
          <p:cNvSpPr>
            <a:spLocks noGrp="1"/>
          </p:cNvSpPr>
          <p:nvPr>
            <p:ph idx="1"/>
          </p:nvPr>
        </p:nvSpPr>
        <p:spPr/>
        <p:txBody>
          <a:bodyPr/>
          <a:lstStyle/>
          <a:p>
            <a:r>
              <a:rPr lang="zh-CN" altLang="en-US" dirty="0"/>
              <a:t>面向对象的三个基本特征：</a:t>
            </a:r>
            <a:endParaRPr lang="en-US" altLang="zh-CN" dirty="0"/>
          </a:p>
          <a:p>
            <a:pPr lvl="1"/>
            <a:r>
              <a:rPr lang="zh-CN" altLang="en-US" dirty="0"/>
              <a:t>封装，继承，多态</a:t>
            </a:r>
            <a:endParaRPr lang="en-US" altLang="zh-CN" dirty="0"/>
          </a:p>
          <a:p>
            <a:r>
              <a:rPr lang="zh-CN" altLang="en-US" dirty="0"/>
              <a:t>如果两个类之间存在 </a:t>
            </a:r>
            <a:r>
              <a:rPr lang="en-US" altLang="zh-CN" dirty="0"/>
              <a:t>is-a </a:t>
            </a:r>
            <a:r>
              <a:rPr lang="zh-CN" altLang="en-US" dirty="0"/>
              <a:t>关系，则可以用继承的方法利用已有的代码。</a:t>
            </a:r>
            <a:endParaRPr lang="en-US" altLang="zh-CN" dirty="0"/>
          </a:p>
          <a:p>
            <a:pPr lvl="1"/>
            <a:r>
              <a:rPr lang="zh-CN" altLang="en-US" dirty="0"/>
              <a:t>例如研究生</a:t>
            </a:r>
            <a:r>
              <a:rPr lang="en-US" altLang="zh-CN" dirty="0"/>
              <a:t>-</a:t>
            </a:r>
            <a:r>
              <a:rPr lang="zh-CN" altLang="en-US" dirty="0"/>
              <a:t>学生，经理</a:t>
            </a:r>
            <a:r>
              <a:rPr lang="en-US" altLang="zh-CN" dirty="0"/>
              <a:t>-</a:t>
            </a:r>
            <a:r>
              <a:rPr lang="zh-CN" altLang="en-US" dirty="0"/>
              <a:t>雇员，猫科动物</a:t>
            </a:r>
            <a:r>
              <a:rPr lang="en-US" altLang="zh-CN" dirty="0"/>
              <a:t>-</a:t>
            </a:r>
            <a:r>
              <a:rPr lang="zh-CN" altLang="en-US" dirty="0"/>
              <a:t>动物</a:t>
            </a:r>
            <a:endParaRPr lang="en-US" altLang="zh-CN" dirty="0"/>
          </a:p>
          <a:p>
            <a:r>
              <a:rPr lang="zh-CN" altLang="en-US" dirty="0"/>
              <a:t>通过前面已有的</a:t>
            </a:r>
            <a:r>
              <a:rPr lang="en-US" altLang="zh-CN" dirty="0"/>
              <a:t>Employee</a:t>
            </a:r>
            <a:r>
              <a:rPr lang="zh-CN" altLang="en-US" dirty="0"/>
              <a:t>类派生一个</a:t>
            </a:r>
            <a:r>
              <a:rPr lang="en-US" altLang="zh-CN" dirty="0"/>
              <a:t>Manager</a:t>
            </a:r>
            <a:r>
              <a:rPr lang="zh-CN" altLang="en-US" dirty="0"/>
              <a:t>类，则可以省去设计那些</a:t>
            </a:r>
            <a:r>
              <a:rPr lang="en-US" altLang="zh-CN" dirty="0"/>
              <a:t>Manager</a:t>
            </a:r>
            <a:r>
              <a:rPr lang="zh-CN" altLang="en-US" dirty="0"/>
              <a:t>中与普通雇员相同的数据和功能，只需在</a:t>
            </a:r>
            <a:r>
              <a:rPr lang="en-US" altLang="zh-CN" dirty="0"/>
              <a:t>Manager</a:t>
            </a:r>
            <a:r>
              <a:rPr lang="zh-CN" altLang="en-US" dirty="0"/>
              <a:t>类中添加经理人特有的数据和功能即可。</a:t>
            </a:r>
            <a:endParaRPr lang="en-US" altLang="zh-CN" dirty="0"/>
          </a:p>
          <a:p>
            <a:r>
              <a:rPr lang="zh-CN" altLang="en-US" dirty="0"/>
              <a:t>派生出来的新类称为被继承类的子类，被继承类称为其继承者的父类或超类。</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 </a:t>
            </a:r>
            <a:r>
              <a:rPr lang="zh-CN" altLang="en-US" dirty="0"/>
              <a:t>类，超类和子类</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由</a:t>
            </a:r>
            <a:r>
              <a:rPr lang="en-US" altLang="zh-CN" dirty="0"/>
              <a:t>Employee</a:t>
            </a:r>
            <a:r>
              <a:rPr lang="zh-CN" altLang="en-US" dirty="0"/>
              <a:t>类派生一个子类</a:t>
            </a:r>
            <a:r>
              <a:rPr lang="en-US" altLang="zh-CN" dirty="0"/>
              <a:t>Manager</a:t>
            </a:r>
            <a:r>
              <a:rPr lang="zh-CN" altLang="en-US" dirty="0"/>
              <a:t>：</a:t>
            </a:r>
            <a:endParaRPr lang="en-US" altLang="zh-CN" dirty="0"/>
          </a:p>
          <a:p>
            <a:pPr marL="274320" lvl="1" indent="0">
              <a:buNone/>
            </a:pPr>
            <a:r>
              <a:rPr lang="en-US" altLang="zh-CN" dirty="0"/>
              <a:t>public class Manager </a:t>
            </a:r>
            <a:r>
              <a:rPr lang="en-US" altLang="zh-CN" dirty="0">
                <a:solidFill>
                  <a:srgbClr val="FF0000"/>
                </a:solidFill>
              </a:rPr>
              <a:t>extends</a:t>
            </a:r>
            <a:r>
              <a:rPr lang="en-US" altLang="zh-CN" dirty="0"/>
              <a:t> Employee</a:t>
            </a:r>
            <a:endParaRPr lang="en-US" altLang="zh-CN" dirty="0"/>
          </a:p>
          <a:p>
            <a:pPr marL="274320" lvl="1" indent="0">
              <a:buNone/>
            </a:pPr>
            <a:r>
              <a:rPr lang="en-US" altLang="zh-CN" dirty="0"/>
              <a:t>{</a:t>
            </a:r>
            <a:br>
              <a:rPr lang="en-US" altLang="zh-CN" dirty="0"/>
            </a:b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添加域和方法</a:t>
            </a:r>
            <a:br>
              <a:rPr lang="en-US" altLang="zh-CN" dirty="0">
                <a:solidFill>
                  <a:schemeClr val="accent3">
                    <a:lumMod val="50000"/>
                  </a:schemeClr>
                </a:solidFill>
              </a:rPr>
            </a:br>
            <a:r>
              <a:rPr lang="en-US" altLang="zh-CN" dirty="0"/>
              <a:t>}</a:t>
            </a:r>
            <a:endParaRPr lang="en-US" altLang="zh-CN" dirty="0"/>
          </a:p>
          <a:p>
            <a:r>
              <a:rPr lang="zh-CN" altLang="en-US" dirty="0"/>
              <a:t>在</a:t>
            </a:r>
            <a:r>
              <a:rPr lang="en-US" altLang="zh-CN" dirty="0"/>
              <a:t>java</a:t>
            </a:r>
            <a:r>
              <a:rPr lang="zh-CN" altLang="en-US" dirty="0"/>
              <a:t>中只有单继承，即只能有一个直接父类。</a:t>
            </a:r>
            <a:endParaRPr lang="en-US" altLang="zh-CN" dirty="0"/>
          </a:p>
          <a:p>
            <a:r>
              <a:rPr lang="zh-CN" altLang="en-US" dirty="0"/>
              <a:t>在</a:t>
            </a:r>
            <a:r>
              <a:rPr lang="en-US" altLang="zh-CN" dirty="0"/>
              <a:t>Manager</a:t>
            </a:r>
            <a:r>
              <a:rPr lang="zh-CN" altLang="en-US" dirty="0"/>
              <a:t>类中增加了一个域，一个方法：</a:t>
            </a:r>
            <a:endParaRPr lang="en-US" altLang="zh-CN" dirty="0"/>
          </a:p>
          <a:p>
            <a:pPr lvl="1"/>
            <a:r>
              <a:rPr lang="en-US" altLang="zh-CN" dirty="0"/>
              <a:t>private double bonus;  </a:t>
            </a:r>
            <a:r>
              <a:rPr lang="en-US" altLang="zh-CN" dirty="0">
                <a:solidFill>
                  <a:schemeClr val="accent3">
                    <a:lumMod val="50000"/>
                  </a:schemeClr>
                </a:solidFill>
              </a:rPr>
              <a:t>//</a:t>
            </a:r>
            <a:r>
              <a:rPr lang="zh-CN" altLang="en-US" dirty="0">
                <a:solidFill>
                  <a:schemeClr val="accent3">
                    <a:lumMod val="50000"/>
                  </a:schemeClr>
                </a:solidFill>
              </a:rPr>
              <a:t>保存奖金信息</a:t>
            </a:r>
            <a:br>
              <a:rPr lang="en-US" altLang="zh-CN" dirty="0">
                <a:solidFill>
                  <a:schemeClr val="accent3">
                    <a:lumMod val="50000"/>
                  </a:schemeClr>
                </a:solidFill>
              </a:rPr>
            </a:br>
            <a:r>
              <a:rPr lang="fr-FR" altLang="zh-CN" dirty="0"/>
              <a:t>public void setBonus(double b)  </a:t>
            </a:r>
            <a:r>
              <a:rPr lang="en-US" altLang="zh-CN" dirty="0">
                <a:solidFill>
                  <a:schemeClr val="accent3">
                    <a:lumMod val="50000"/>
                  </a:schemeClr>
                </a:solidFill>
              </a:rPr>
              <a:t>//</a:t>
            </a:r>
            <a:r>
              <a:rPr lang="zh-CN" altLang="en-US" dirty="0">
                <a:solidFill>
                  <a:schemeClr val="accent3">
                    <a:lumMod val="50000"/>
                  </a:schemeClr>
                </a:solidFill>
              </a:rPr>
              <a:t>设置奖金</a:t>
            </a:r>
            <a:endParaRPr lang="fr-FR" altLang="zh-CN" dirty="0">
              <a:solidFill>
                <a:schemeClr val="accent3">
                  <a:lumMod val="50000"/>
                </a:schemeClr>
              </a:solidFill>
            </a:endParaRPr>
          </a:p>
          <a:p>
            <a:pPr marL="274320" lvl="1" indent="0">
              <a:buNone/>
            </a:pPr>
            <a:r>
              <a:rPr lang="fr-FR" altLang="zh-CN" dirty="0"/>
              <a:t>   {</a:t>
            </a:r>
            <a:endParaRPr lang="fr-FR" altLang="zh-CN" dirty="0"/>
          </a:p>
          <a:p>
            <a:pPr marL="274320" lvl="1" indent="0">
              <a:buNone/>
            </a:pPr>
            <a:r>
              <a:rPr lang="fr-FR" altLang="zh-CN" dirty="0"/>
              <a:t>      bonus = b;</a:t>
            </a:r>
            <a:endParaRPr lang="fr-FR" altLang="zh-CN" dirty="0"/>
          </a:p>
          <a:p>
            <a:pPr marL="274320" lvl="1" indent="0">
              <a:buNone/>
            </a:pPr>
            <a:r>
              <a:rPr lang="fr-FR" altLang="zh-CN" dirty="0"/>
              <a:t>   }</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此时</a:t>
            </a:r>
            <a:r>
              <a:rPr lang="en-US" altLang="zh-CN" dirty="0"/>
              <a:t>Manager</a:t>
            </a:r>
            <a:r>
              <a:rPr lang="zh-CN" altLang="en-US" dirty="0"/>
              <a:t>类的对象可以使用</a:t>
            </a:r>
            <a:r>
              <a:rPr lang="en-US" altLang="zh-CN" dirty="0" err="1"/>
              <a:t>setBonus</a:t>
            </a:r>
            <a:r>
              <a:rPr lang="zh-CN" altLang="en-US" dirty="0"/>
              <a:t>方法，也可以使用继承自</a:t>
            </a:r>
            <a:r>
              <a:rPr lang="en-US" altLang="zh-CN" dirty="0"/>
              <a:t>Employee</a:t>
            </a:r>
            <a:r>
              <a:rPr lang="zh-CN" altLang="en-US" dirty="0"/>
              <a:t>类的</a:t>
            </a:r>
            <a:r>
              <a:rPr lang="en-US" altLang="zh-CN" dirty="0" err="1"/>
              <a:t>getName</a:t>
            </a:r>
            <a:r>
              <a:rPr lang="zh-CN" altLang="en-US" dirty="0"/>
              <a:t>等方法。</a:t>
            </a:r>
            <a:endParaRPr lang="en-US" altLang="zh-CN" dirty="0"/>
          </a:p>
          <a:p>
            <a:r>
              <a:rPr lang="en-US" altLang="zh-CN" dirty="0"/>
              <a:t>Manager</a:t>
            </a:r>
            <a:r>
              <a:rPr lang="zh-CN" altLang="en-US" dirty="0"/>
              <a:t>还继承了</a:t>
            </a:r>
            <a:r>
              <a:rPr lang="en-US" altLang="zh-CN" dirty="0"/>
              <a:t>Employee</a:t>
            </a:r>
            <a:r>
              <a:rPr lang="zh-CN" altLang="en-US" dirty="0"/>
              <a:t>类中的</a:t>
            </a:r>
            <a:r>
              <a:rPr lang="en-US" altLang="zh-CN" dirty="0"/>
              <a:t>name</a:t>
            </a:r>
            <a:r>
              <a:rPr lang="zh-CN" altLang="en-US" dirty="0"/>
              <a:t>，</a:t>
            </a:r>
            <a:r>
              <a:rPr lang="en-US" altLang="zh-CN" dirty="0"/>
              <a:t>salary</a:t>
            </a:r>
            <a:r>
              <a:rPr lang="zh-CN" altLang="en-US" dirty="0"/>
              <a:t>和</a:t>
            </a:r>
            <a:r>
              <a:rPr lang="en-US" altLang="zh-CN" dirty="0" err="1"/>
              <a:t>hireDay</a:t>
            </a:r>
            <a:r>
              <a:rPr lang="zh-CN" altLang="en-US" dirty="0"/>
              <a:t>。</a:t>
            </a:r>
            <a:endParaRPr lang="en-US" altLang="zh-CN" dirty="0"/>
          </a:p>
          <a:p>
            <a:r>
              <a:rPr lang="zh-CN" altLang="en-US" dirty="0"/>
              <a:t>设计子类的时候应该：</a:t>
            </a:r>
            <a:endParaRPr lang="en-US" altLang="zh-CN" dirty="0"/>
          </a:p>
          <a:p>
            <a:pPr lvl="1"/>
            <a:r>
              <a:rPr lang="zh-CN" altLang="en-US" dirty="0"/>
              <a:t>把通用的方法和域放在超类中</a:t>
            </a:r>
            <a:endParaRPr lang="en-US" altLang="zh-CN" dirty="0"/>
          </a:p>
          <a:p>
            <a:pPr lvl="1"/>
            <a:r>
              <a:rPr lang="zh-CN" altLang="en-US" dirty="0"/>
              <a:t>子类中只需指出与超类的不同之处，即把特殊用途的方法和只属于子类本身的域添加到子类中。</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5.1.1  </a:t>
            </a:r>
            <a:r>
              <a:rPr lang="zh-CN" altLang="en-US" dirty="0"/>
              <a:t>覆盖超类的方法</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有时超类中的方法在子类中不合适：</a:t>
            </a:r>
            <a:endParaRPr lang="en-US" altLang="zh-CN" dirty="0"/>
          </a:p>
          <a:p>
            <a:pPr lvl="1"/>
            <a:r>
              <a:rPr lang="en-US" altLang="zh-CN" dirty="0"/>
              <a:t>Manager</a:t>
            </a:r>
            <a:r>
              <a:rPr lang="zh-CN" altLang="en-US" dirty="0"/>
              <a:t>中的</a:t>
            </a:r>
            <a:r>
              <a:rPr lang="en-US" altLang="zh-CN" dirty="0" err="1"/>
              <a:t>getSalary</a:t>
            </a:r>
            <a:r>
              <a:rPr lang="zh-CN" altLang="en-US" dirty="0"/>
              <a:t>方法应该包含</a:t>
            </a:r>
            <a:r>
              <a:rPr lang="en-US" altLang="zh-CN" dirty="0"/>
              <a:t>salary</a:t>
            </a:r>
            <a:r>
              <a:rPr lang="zh-CN" altLang="en-US" dirty="0"/>
              <a:t>和</a:t>
            </a:r>
            <a:r>
              <a:rPr lang="en-US" altLang="zh-CN" dirty="0"/>
              <a:t>bonus</a:t>
            </a:r>
            <a:r>
              <a:rPr lang="zh-CN" altLang="en-US" dirty="0"/>
              <a:t>两部分，而</a:t>
            </a:r>
            <a:r>
              <a:rPr lang="en-US" altLang="zh-CN" dirty="0"/>
              <a:t>Employee</a:t>
            </a:r>
            <a:r>
              <a:rPr lang="zh-CN" altLang="en-US" dirty="0"/>
              <a:t>中只包含</a:t>
            </a:r>
            <a:r>
              <a:rPr lang="en-US" altLang="zh-CN" dirty="0"/>
              <a:t>salary</a:t>
            </a:r>
            <a:r>
              <a:rPr lang="zh-CN" altLang="en-US" dirty="0"/>
              <a:t>。</a:t>
            </a:r>
            <a:endParaRPr lang="en-US" altLang="zh-CN" dirty="0"/>
          </a:p>
          <a:p>
            <a:pPr lvl="1"/>
            <a:r>
              <a:rPr lang="zh-CN" altLang="en-US" dirty="0"/>
              <a:t>此时应该重写</a:t>
            </a:r>
            <a:r>
              <a:rPr lang="en-US" altLang="zh-CN" dirty="0" err="1"/>
              <a:t>getSalary</a:t>
            </a:r>
            <a:r>
              <a:rPr lang="zh-CN" altLang="en-US" dirty="0"/>
              <a:t>方法，称为覆盖（</a:t>
            </a:r>
            <a:r>
              <a:rPr lang="en-US" altLang="zh-CN" dirty="0"/>
              <a:t>Override</a:t>
            </a:r>
            <a:r>
              <a:rPr lang="zh-CN" altLang="en-US" dirty="0"/>
              <a:t>）。</a:t>
            </a:r>
            <a:br>
              <a:rPr lang="en-US" altLang="zh-CN" dirty="0"/>
            </a:br>
            <a:r>
              <a:rPr lang="en-US" altLang="zh-CN" dirty="0"/>
              <a:t> public double </a:t>
            </a:r>
            <a:r>
              <a:rPr lang="en-US" altLang="zh-CN" dirty="0" err="1"/>
              <a:t>getSalary</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return </a:t>
            </a:r>
            <a:r>
              <a:rPr lang="en-US" altLang="zh-CN" dirty="0">
                <a:solidFill>
                  <a:srgbClr val="FF0000"/>
                </a:solidFill>
              </a:rPr>
              <a:t>salary</a:t>
            </a:r>
            <a:r>
              <a:rPr lang="en-US" altLang="zh-CN" dirty="0"/>
              <a:t> + bonus;  </a:t>
            </a:r>
            <a:r>
              <a:rPr lang="en-US" altLang="zh-CN" dirty="0">
                <a:solidFill>
                  <a:schemeClr val="accent3">
                    <a:lumMod val="50000"/>
                  </a:schemeClr>
                </a:solidFill>
              </a:rPr>
              <a:t>//</a:t>
            </a:r>
            <a:r>
              <a:rPr lang="zh-CN" altLang="en-US" dirty="0">
                <a:solidFill>
                  <a:schemeClr val="accent3">
                    <a:lumMod val="50000"/>
                  </a:schemeClr>
                </a:solidFill>
              </a:rPr>
              <a:t>错误</a:t>
            </a:r>
            <a:endParaRPr lang="en-US" altLang="zh-CN" dirty="0">
              <a:solidFill>
                <a:schemeClr val="accent3">
                  <a:lumMod val="50000"/>
                </a:schemeClr>
              </a:solidFill>
            </a:endParaRPr>
          </a:p>
          <a:p>
            <a:pPr marL="274320" lvl="1" indent="0">
              <a:buNone/>
            </a:pPr>
            <a:r>
              <a:rPr lang="en-US" altLang="zh-CN" dirty="0"/>
              <a:t>   }  </a:t>
            </a:r>
            <a:r>
              <a:rPr lang="en-US" altLang="zh-CN" dirty="0">
                <a:solidFill>
                  <a:schemeClr val="accent3">
                    <a:lumMod val="50000"/>
                  </a:schemeClr>
                </a:solidFill>
              </a:rPr>
              <a:t>//salary</a:t>
            </a:r>
            <a:r>
              <a:rPr lang="zh-CN" altLang="en-US" dirty="0">
                <a:solidFill>
                  <a:schemeClr val="accent3">
                    <a:lumMod val="50000"/>
                  </a:schemeClr>
                </a:solidFill>
              </a:rPr>
              <a:t>是超类的私有域，子类中不能访问！</a:t>
            </a:r>
            <a:endParaRPr lang="en-US" altLang="zh-CN" dirty="0">
              <a:solidFill>
                <a:schemeClr val="accent3">
                  <a:lumMod val="50000"/>
                </a:schemeClr>
              </a:solidFill>
            </a:endParaRPr>
          </a:p>
          <a:p>
            <a:pPr marL="274320" lvl="1" indent="0">
              <a:buNone/>
            </a:pPr>
            <a:r>
              <a:rPr lang="en-US" altLang="zh-CN" dirty="0"/>
              <a:t> public double </a:t>
            </a:r>
            <a:r>
              <a:rPr lang="en-US" altLang="zh-CN" dirty="0" err="1"/>
              <a:t>getSalary</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double </a:t>
            </a:r>
            <a:r>
              <a:rPr lang="en-US" altLang="zh-CN" dirty="0" err="1"/>
              <a:t>baseSalary</a:t>
            </a:r>
            <a:r>
              <a:rPr lang="en-US" altLang="zh-CN" dirty="0"/>
              <a:t> = </a:t>
            </a:r>
            <a:r>
              <a:rPr lang="en-US" altLang="zh-CN" dirty="0" err="1">
                <a:solidFill>
                  <a:srgbClr val="FF0000"/>
                </a:solidFill>
              </a:rPr>
              <a:t>getSalary</a:t>
            </a:r>
            <a:r>
              <a:rPr lang="en-US" altLang="zh-CN" dirty="0">
                <a:solidFill>
                  <a:srgbClr val="FF0000"/>
                </a:solidFill>
              </a:rPr>
              <a:t>();</a:t>
            </a:r>
            <a:endParaRPr lang="en-US" altLang="zh-CN" dirty="0">
              <a:solidFill>
                <a:srgbClr val="FF0000"/>
              </a:solidFill>
            </a:endParaRPr>
          </a:p>
          <a:p>
            <a:pPr marL="274320" lvl="1" indent="0">
              <a:buNone/>
            </a:pPr>
            <a:r>
              <a:rPr lang="en-US" altLang="zh-CN" dirty="0"/>
              <a:t>      return </a:t>
            </a:r>
            <a:r>
              <a:rPr lang="en-US" altLang="zh-CN" dirty="0" err="1"/>
              <a:t>baseSalary</a:t>
            </a:r>
            <a:r>
              <a:rPr lang="en-US" altLang="zh-CN" dirty="0"/>
              <a:t> + bonus;</a:t>
            </a:r>
            <a:endParaRPr lang="en-US" altLang="zh-CN" dirty="0"/>
          </a:p>
          <a:p>
            <a:pPr marL="274320" lvl="1" indent="0">
              <a:buNone/>
            </a:pPr>
            <a:r>
              <a:rPr lang="en-US" altLang="zh-CN" dirty="0"/>
              <a:t>   }  </a:t>
            </a:r>
            <a:r>
              <a:rPr lang="en-US" altLang="zh-CN" dirty="0">
                <a:solidFill>
                  <a:schemeClr val="accent3">
                    <a:lumMod val="50000"/>
                  </a:schemeClr>
                </a:solidFill>
              </a:rPr>
              <a:t>//</a:t>
            </a:r>
            <a:r>
              <a:rPr lang="zh-CN" altLang="en-US" dirty="0">
                <a:solidFill>
                  <a:schemeClr val="accent3">
                    <a:lumMod val="50000"/>
                  </a:schemeClr>
                </a:solidFill>
              </a:rPr>
              <a:t>仍然错误，导致了自身的递归调用</a:t>
            </a:r>
            <a:endParaRPr lang="zh-CN" altLang="en-US" dirty="0">
              <a:solidFill>
                <a:schemeClr val="accent3">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274320" lvl="1" indent="0">
              <a:buNone/>
            </a:pPr>
            <a:r>
              <a:rPr lang="en-US" altLang="zh-CN" dirty="0"/>
              <a:t> public double </a:t>
            </a:r>
            <a:r>
              <a:rPr lang="en-US" altLang="zh-CN" dirty="0" err="1"/>
              <a:t>getSalary</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double </a:t>
            </a:r>
            <a:r>
              <a:rPr lang="en-US" altLang="zh-CN" dirty="0" err="1"/>
              <a:t>baseSalary</a:t>
            </a:r>
            <a:r>
              <a:rPr lang="en-US" altLang="zh-CN" dirty="0"/>
              <a:t> = </a:t>
            </a:r>
            <a:r>
              <a:rPr lang="en-US" altLang="zh-CN" dirty="0" err="1">
                <a:solidFill>
                  <a:srgbClr val="FF0000"/>
                </a:solidFill>
              </a:rPr>
              <a:t>super</a:t>
            </a:r>
            <a:r>
              <a:rPr lang="en-US" altLang="zh-CN" dirty="0" err="1"/>
              <a:t>.getSalary</a:t>
            </a:r>
            <a:r>
              <a:rPr lang="en-US" altLang="zh-CN" dirty="0"/>
              <a:t>();</a:t>
            </a:r>
            <a:endParaRPr lang="en-US" altLang="zh-CN" dirty="0"/>
          </a:p>
          <a:p>
            <a:pPr marL="274320" lvl="1" indent="0">
              <a:buNone/>
            </a:pPr>
            <a:r>
              <a:rPr lang="en-US" altLang="zh-CN" dirty="0"/>
              <a:t>      return </a:t>
            </a:r>
            <a:r>
              <a:rPr lang="en-US" altLang="zh-CN" dirty="0" err="1"/>
              <a:t>baseSalary</a:t>
            </a:r>
            <a:r>
              <a:rPr lang="en-US" altLang="zh-CN" dirty="0"/>
              <a:t> + bonus;</a:t>
            </a:r>
            <a:endParaRPr lang="en-US" altLang="zh-CN" dirty="0"/>
          </a:p>
          <a:p>
            <a:pPr marL="274320" lvl="1" indent="0">
              <a:buNone/>
            </a:pPr>
            <a:r>
              <a:rPr lang="en-US" altLang="zh-CN" dirty="0"/>
              <a:t>   }</a:t>
            </a:r>
            <a:endParaRPr lang="en-US" altLang="zh-CN" dirty="0"/>
          </a:p>
          <a:p>
            <a:pPr lvl="1"/>
            <a:r>
              <a:rPr lang="en-US" altLang="zh-CN" dirty="0"/>
              <a:t>super</a:t>
            </a:r>
            <a:r>
              <a:rPr lang="zh-CN" altLang="en-US" dirty="0"/>
              <a:t>关键字表示调用超类中的方法。</a:t>
            </a:r>
            <a:endParaRPr lang="en-US" altLang="zh-CN" dirty="0"/>
          </a:p>
          <a:p>
            <a:r>
              <a:rPr lang="zh-CN" altLang="en-US" dirty="0"/>
              <a:t>子类覆盖父类方法时（两同两小一大）</a:t>
            </a:r>
            <a:endParaRPr lang="en-US" altLang="zh-CN" dirty="0"/>
          </a:p>
          <a:p>
            <a:pPr lvl="1"/>
            <a:r>
              <a:rPr lang="zh-CN" altLang="en-US" dirty="0"/>
              <a:t>方法名相同，参数列表相同</a:t>
            </a:r>
            <a:endParaRPr lang="en-US" altLang="zh-CN" dirty="0"/>
          </a:p>
          <a:p>
            <a:pPr lvl="1"/>
            <a:r>
              <a:rPr lang="zh-CN" altLang="en-US" dirty="0"/>
              <a:t>返回值类型小于或等于父类的返回值类型，如果抛出异常，异常的类型要小于或等于父类抛出的异常</a:t>
            </a:r>
            <a:endParaRPr lang="en-US" altLang="zh-CN" dirty="0"/>
          </a:p>
          <a:p>
            <a:pPr lvl="1"/>
            <a:r>
              <a:rPr lang="zh-CN" altLang="en-US" dirty="0"/>
              <a:t>方法的访问权限大于或等于父类中方法的访问权限</a:t>
            </a:r>
            <a:endParaRPr lang="en-US" altLang="zh-CN" dirty="0"/>
          </a:p>
          <a:p>
            <a:pPr lvl="1"/>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5.1.2  </a:t>
            </a:r>
            <a:r>
              <a:rPr lang="zh-CN" altLang="en-US" dirty="0"/>
              <a:t>子类的构造器</a:t>
            </a:r>
            <a:endParaRPr lang="zh-CN" altLang="en-US" dirty="0"/>
          </a:p>
        </p:txBody>
      </p:sp>
      <p:sp>
        <p:nvSpPr>
          <p:cNvPr id="3" name="内容占位符 2"/>
          <p:cNvSpPr>
            <a:spLocks noGrp="1"/>
          </p:cNvSpPr>
          <p:nvPr>
            <p:ph idx="1"/>
          </p:nvPr>
        </p:nvSpPr>
        <p:spPr/>
        <p:txBody>
          <a:bodyPr/>
          <a:lstStyle/>
          <a:p>
            <a:r>
              <a:rPr lang="zh-CN" altLang="en-US" dirty="0"/>
              <a:t>例子中有一个子类的构造器：</a:t>
            </a:r>
            <a:endParaRPr lang="en-US" altLang="zh-CN" dirty="0"/>
          </a:p>
          <a:p>
            <a:pPr marL="274320" lvl="1" indent="0">
              <a:buNone/>
            </a:pPr>
            <a:r>
              <a:rPr lang="en-US" altLang="zh-CN" dirty="0"/>
              <a:t>public Manager(String name, double salary, </a:t>
            </a:r>
            <a:r>
              <a:rPr lang="en-US" altLang="zh-CN" dirty="0" err="1"/>
              <a:t>int</a:t>
            </a:r>
            <a:r>
              <a:rPr lang="en-US" altLang="zh-CN" dirty="0"/>
              <a:t> year, </a:t>
            </a:r>
            <a:r>
              <a:rPr lang="en-US" altLang="zh-CN" dirty="0" err="1"/>
              <a:t>int</a:t>
            </a:r>
            <a:r>
              <a:rPr lang="en-US" altLang="zh-CN" dirty="0"/>
              <a:t> month, </a:t>
            </a:r>
            <a:r>
              <a:rPr lang="en-US" altLang="zh-CN" dirty="0" err="1"/>
              <a:t>int</a:t>
            </a:r>
            <a:r>
              <a:rPr lang="en-US" altLang="zh-CN" dirty="0"/>
              <a:t> day)</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a:solidFill>
                  <a:srgbClr val="FF0000"/>
                </a:solidFill>
              </a:rPr>
              <a:t>super</a:t>
            </a:r>
            <a:r>
              <a:rPr lang="en-US" altLang="zh-CN" dirty="0"/>
              <a:t>(name, salary, year, month, day);</a:t>
            </a:r>
            <a:endParaRPr lang="en-US" altLang="zh-CN" dirty="0"/>
          </a:p>
          <a:p>
            <a:pPr marL="274320" lvl="1" indent="0">
              <a:buNone/>
            </a:pPr>
            <a:r>
              <a:rPr lang="en-US" altLang="zh-CN" dirty="0"/>
              <a:t>      bonus = 0;</a:t>
            </a:r>
            <a:endParaRPr lang="en-US" altLang="zh-CN" dirty="0"/>
          </a:p>
          <a:p>
            <a:pPr marL="274320" lvl="1" indent="0">
              <a:buNone/>
            </a:pPr>
            <a:r>
              <a:rPr lang="en-US" altLang="zh-CN" dirty="0"/>
              <a:t>   }</a:t>
            </a:r>
            <a:endParaRPr lang="en-US" altLang="zh-CN" dirty="0"/>
          </a:p>
          <a:p>
            <a:pPr lvl="1"/>
            <a:r>
              <a:rPr lang="zh-CN" altLang="en-US" dirty="0"/>
              <a:t>这里</a:t>
            </a:r>
            <a:r>
              <a:rPr lang="en-US" altLang="zh-CN" dirty="0"/>
              <a:t>super</a:t>
            </a:r>
            <a:r>
              <a:rPr lang="zh-CN" altLang="en-US" dirty="0"/>
              <a:t>（）调用了父类的构造器。</a:t>
            </a:r>
            <a:r>
              <a:rPr lang="en-US" altLang="zh-CN" dirty="0"/>
              <a:t>super</a:t>
            </a:r>
            <a:r>
              <a:rPr lang="zh-CN" altLang="en-US" dirty="0"/>
              <a:t>调用必须写在构造器的第一行。</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6120680"/>
          </a:xfrm>
        </p:spPr>
        <p:txBody>
          <a:bodyPr>
            <a:normAutofit fontScale="92500" lnSpcReduction="10000"/>
          </a:bodyPr>
          <a:lstStyle/>
          <a:p>
            <a:r>
              <a:rPr lang="zh-CN" altLang="en-US" dirty="0"/>
              <a:t>子类对象创建时一定调用父类构造器：</a:t>
            </a:r>
            <a:endParaRPr lang="en-US" altLang="zh-CN" dirty="0"/>
          </a:p>
          <a:p>
            <a:pPr marL="274320" lvl="1" indent="0">
              <a:buNone/>
            </a:pPr>
            <a:r>
              <a:rPr lang="en-US" altLang="zh-CN" dirty="0"/>
              <a:t>class Super {</a:t>
            </a:r>
            <a:endParaRPr lang="en-US" altLang="zh-CN" dirty="0"/>
          </a:p>
          <a:p>
            <a:pPr marL="274320" lvl="1" indent="0">
              <a:buNone/>
            </a:pPr>
            <a:r>
              <a:rPr lang="en-US" altLang="zh-CN" dirty="0"/>
              <a:t>    String s;</a:t>
            </a:r>
            <a:endParaRPr lang="en-US" altLang="zh-CN" dirty="0"/>
          </a:p>
          <a:p>
            <a:pPr marL="274320" lvl="1" indent="0">
              <a:buNone/>
            </a:pPr>
            <a:r>
              <a:rPr lang="en-US" altLang="zh-CN" dirty="0"/>
              <a:t>    public Super() {  </a:t>
            </a:r>
            <a:r>
              <a:rPr lang="en-US" altLang="zh-CN" dirty="0" err="1"/>
              <a:t>System.out.println</a:t>
            </a:r>
            <a:r>
              <a:rPr lang="en-US" altLang="zh-CN" dirty="0"/>
              <a:t>("Super");    }</a:t>
            </a:r>
            <a:endParaRPr lang="en-US" altLang="zh-CN" dirty="0"/>
          </a:p>
          <a:p>
            <a:pPr marL="274320" lvl="1" indent="0">
              <a:buNone/>
            </a:pPr>
            <a:r>
              <a:rPr lang="en-US" altLang="zh-CN" dirty="0"/>
              <a:t>}</a:t>
            </a:r>
            <a:endParaRPr lang="en-US" altLang="zh-CN" dirty="0"/>
          </a:p>
          <a:p>
            <a:pPr marL="274320" lvl="1" indent="0">
              <a:buNone/>
            </a:pPr>
            <a:endParaRPr lang="en-US" altLang="zh-CN" dirty="0"/>
          </a:p>
          <a:p>
            <a:pPr marL="274320" lvl="1" indent="0">
              <a:buNone/>
            </a:pPr>
            <a:r>
              <a:rPr lang="en-US" altLang="zh-CN" dirty="0"/>
              <a:t>class Sub extends Super {</a:t>
            </a:r>
            <a:endParaRPr lang="en-US" altLang="zh-CN" dirty="0"/>
          </a:p>
          <a:p>
            <a:pPr marL="274320" lvl="1" indent="0">
              <a:buNone/>
            </a:pPr>
            <a:r>
              <a:rPr lang="en-US" altLang="zh-CN" dirty="0"/>
              <a:t>    public Sub() {  </a:t>
            </a:r>
            <a:r>
              <a:rPr lang="en-US" altLang="zh-CN" dirty="0" err="1"/>
              <a:t>System.out.println</a:t>
            </a:r>
            <a:r>
              <a:rPr lang="en-US" altLang="zh-CN" dirty="0"/>
              <a:t>("Sub");  }</a:t>
            </a:r>
            <a:endParaRPr lang="en-US" altLang="zh-CN" dirty="0"/>
          </a:p>
          <a:p>
            <a:pPr marL="274320" lvl="1" indent="0">
              <a:buNone/>
            </a:pPr>
            <a:r>
              <a:rPr lang="en-US" altLang="zh-CN" dirty="0"/>
              <a:t>}</a:t>
            </a:r>
            <a:endParaRPr lang="en-US" altLang="zh-CN" dirty="0"/>
          </a:p>
          <a:p>
            <a:pPr marL="274320" lvl="1" indent="0">
              <a:buNone/>
            </a:pPr>
            <a:endParaRPr lang="en-US" altLang="zh-CN" dirty="0"/>
          </a:p>
          <a:p>
            <a:pPr marL="274320" lvl="1" indent="0">
              <a:buNone/>
            </a:pPr>
            <a:r>
              <a:rPr lang="en-US" altLang="zh-CN" dirty="0"/>
              <a:t>public class </a:t>
            </a:r>
            <a:r>
              <a:rPr lang="en-US" altLang="zh-CN" dirty="0" err="1"/>
              <a:t>SubTest</a:t>
            </a:r>
            <a:r>
              <a:rPr lang="en-US" altLang="zh-CN" dirty="0"/>
              <a:t> {</a:t>
            </a:r>
            <a:endParaRPr lang="en-US" altLang="zh-CN" dirty="0"/>
          </a:p>
          <a:p>
            <a:pPr marL="274320" lvl="1" indent="0">
              <a:buNone/>
            </a:pPr>
            <a:r>
              <a:rPr lang="en-US" altLang="zh-CN" dirty="0"/>
              <a:t>    public static void main(String[] </a:t>
            </a:r>
            <a:r>
              <a:rPr lang="en-US" altLang="zh-CN" dirty="0" err="1"/>
              <a:t>args</a:t>
            </a:r>
            <a:r>
              <a:rPr lang="en-US" altLang="zh-CN" dirty="0"/>
              <a:t>) {</a:t>
            </a:r>
            <a:endParaRPr lang="en-US" altLang="zh-CN" dirty="0"/>
          </a:p>
          <a:p>
            <a:pPr marL="274320" lvl="1" indent="0">
              <a:buNone/>
            </a:pPr>
            <a:r>
              <a:rPr lang="en-US" altLang="zh-CN" dirty="0"/>
              <a:t>        Sub s = new Sub();</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a:solidFill>
                  <a:schemeClr val="accent3">
                    <a:lumMod val="50000"/>
                  </a:schemeClr>
                </a:solidFill>
              </a:rPr>
              <a:t>// </a:t>
            </a:r>
            <a:r>
              <a:rPr lang="zh-CN" altLang="en-US" dirty="0">
                <a:solidFill>
                  <a:schemeClr val="accent3">
                    <a:lumMod val="50000"/>
                  </a:schemeClr>
                </a:solidFill>
              </a:rPr>
              <a:t>输出 </a:t>
            </a:r>
            <a:r>
              <a:rPr lang="en-US" altLang="zh-CN" dirty="0">
                <a:solidFill>
                  <a:schemeClr val="accent3">
                    <a:lumMod val="50000"/>
                  </a:schemeClr>
                </a:solidFill>
              </a:rPr>
              <a:t>Super   Sub</a:t>
            </a:r>
            <a:endParaRPr lang="zh-CN" altLang="en-US" dirty="0">
              <a:solidFill>
                <a:schemeClr val="accent3">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关于子类的构造器调用父类构造器的规则：</a:t>
            </a:r>
            <a:endParaRPr lang="en-US" altLang="zh-CN" dirty="0"/>
          </a:p>
          <a:p>
            <a:pPr lvl="1"/>
            <a:r>
              <a:rPr lang="zh-CN" altLang="en-US" dirty="0"/>
              <a:t>构造子类对象时一定先执行父类构造器，由此上推，会执行派生层次中的每一个类的构造器，直至</a:t>
            </a:r>
            <a:r>
              <a:rPr lang="en-US" altLang="zh-CN" dirty="0" err="1"/>
              <a:t>Objact</a:t>
            </a:r>
            <a:r>
              <a:rPr lang="zh-CN" altLang="en-US" dirty="0"/>
              <a:t>类。</a:t>
            </a:r>
            <a:endParaRPr lang="en-US" altLang="zh-CN" dirty="0"/>
          </a:p>
          <a:p>
            <a:pPr lvl="1"/>
            <a:r>
              <a:rPr lang="zh-CN" altLang="en-US" dirty="0"/>
              <a:t>子类构造器第一行调用</a:t>
            </a:r>
            <a:r>
              <a:rPr lang="en-US" altLang="zh-CN" dirty="0"/>
              <a:t>super(…)</a:t>
            </a:r>
            <a:r>
              <a:rPr lang="zh-CN" altLang="en-US" dirty="0"/>
              <a:t>指定父类的构造器。</a:t>
            </a:r>
            <a:endParaRPr lang="en-US" altLang="zh-CN" dirty="0"/>
          </a:p>
          <a:p>
            <a:pPr lvl="1"/>
            <a:r>
              <a:rPr lang="zh-CN" altLang="en-US" dirty="0"/>
              <a:t>子类构造器第一行用</a:t>
            </a:r>
            <a:r>
              <a:rPr lang="en-US" altLang="zh-CN" dirty="0"/>
              <a:t>this(…)</a:t>
            </a:r>
            <a:r>
              <a:rPr lang="zh-CN" altLang="en-US" dirty="0"/>
              <a:t>调用本类的另一个构造器，在此之前执行</a:t>
            </a:r>
            <a:r>
              <a:rPr lang="zh-CN" altLang="en-US" dirty="0">
                <a:solidFill>
                  <a:srgbClr val="FF0000"/>
                </a:solidFill>
              </a:rPr>
              <a:t>该</a:t>
            </a:r>
            <a:r>
              <a:rPr lang="zh-CN" altLang="en-US" dirty="0"/>
              <a:t>构造器中指定的父类构造器。</a:t>
            </a:r>
            <a:endParaRPr lang="en-US" altLang="zh-CN" dirty="0"/>
          </a:p>
          <a:p>
            <a:pPr lvl="1"/>
            <a:r>
              <a:rPr lang="zh-CN" altLang="en-US" dirty="0"/>
              <a:t>构造器中没有</a:t>
            </a:r>
            <a:r>
              <a:rPr lang="en-US" altLang="zh-CN" dirty="0"/>
              <a:t>super</a:t>
            </a:r>
            <a:r>
              <a:rPr lang="zh-CN" altLang="en-US" dirty="0"/>
              <a:t>和</a:t>
            </a:r>
            <a:r>
              <a:rPr lang="en-US" altLang="zh-CN" dirty="0"/>
              <a:t>this</a:t>
            </a:r>
            <a:r>
              <a:rPr lang="zh-CN" altLang="en-US" dirty="0"/>
              <a:t>，系统会在执行构造器前隐式调用父类的默认构造器（即无参数构造器）。如果父类中没有默认构造器，系统报错。</a:t>
            </a:r>
            <a:endParaRPr lang="en-US" altLang="zh-CN" dirty="0"/>
          </a:p>
          <a:p>
            <a:pPr lvl="1"/>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075240" cy="6264696"/>
          </a:xfrm>
        </p:spPr>
        <p:txBody>
          <a:bodyPr>
            <a:normAutofit fontScale="92500" lnSpcReduction="20000"/>
          </a:bodyPr>
          <a:lstStyle/>
          <a:p>
            <a:pPr marL="274320" lvl="1" indent="0">
              <a:buNone/>
            </a:pPr>
            <a:r>
              <a:rPr lang="en-US" altLang="zh-CN" dirty="0"/>
              <a:t>class Super </a:t>
            </a:r>
            <a:endParaRPr lang="en-US" altLang="zh-CN" dirty="0"/>
          </a:p>
          <a:p>
            <a:pPr marL="274320" lvl="1" indent="0">
              <a:buNone/>
            </a:pPr>
            <a:r>
              <a:rPr lang="en-US" altLang="zh-CN" dirty="0"/>
              <a:t>{</a:t>
            </a:r>
            <a:endParaRPr lang="en-US" altLang="zh-CN" dirty="0"/>
          </a:p>
          <a:p>
            <a:pPr marL="274320" lvl="1" indent="0">
              <a:buNone/>
            </a:pPr>
            <a:r>
              <a:rPr lang="en-US" altLang="zh-CN" dirty="0"/>
              <a:t>	private String s;</a:t>
            </a:r>
            <a:endParaRPr lang="en-US" altLang="zh-CN" dirty="0"/>
          </a:p>
          <a:p>
            <a:pPr marL="274320" lvl="1" indent="0">
              <a:buNone/>
            </a:pPr>
            <a:r>
              <a:rPr lang="en-US" altLang="zh-CN" dirty="0"/>
              <a:t>	public Super(String s) </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err="1"/>
              <a:t>this.s</a:t>
            </a:r>
            <a:r>
              <a:rPr lang="en-US" altLang="zh-CN" dirty="0"/>
              <a:t>=s;</a:t>
            </a:r>
            <a:endParaRPr lang="en-US" altLang="zh-CN" dirty="0"/>
          </a:p>
          <a:p>
            <a:pPr marL="274320" lvl="1" indent="0">
              <a:buNone/>
            </a:pPr>
            <a:r>
              <a:rPr lang="en-US" altLang="zh-CN" dirty="0"/>
              <a:t>	}</a:t>
            </a:r>
            <a:endParaRPr lang="en-US" altLang="zh-CN" dirty="0"/>
          </a:p>
          <a:p>
            <a:pPr marL="274320" lvl="1" indent="0">
              <a:buNone/>
            </a:pPr>
            <a:r>
              <a:rPr lang="en-US" altLang="zh-CN" dirty="0"/>
              <a:t>}</a:t>
            </a:r>
            <a:endParaRPr lang="en-US" altLang="zh-CN" dirty="0"/>
          </a:p>
          <a:p>
            <a:pPr marL="274320" lvl="1" indent="0">
              <a:buNone/>
            </a:pPr>
            <a:endParaRPr lang="en-US" altLang="zh-CN" dirty="0"/>
          </a:p>
          <a:p>
            <a:pPr marL="274320" lvl="1" indent="0">
              <a:buNone/>
            </a:pPr>
            <a:r>
              <a:rPr lang="en-US" altLang="zh-CN" dirty="0"/>
              <a:t>class Sub extends Super</a:t>
            </a:r>
            <a:endParaRPr lang="en-US" altLang="zh-CN" dirty="0"/>
          </a:p>
          <a:p>
            <a:pPr marL="274320" lvl="1" indent="0">
              <a:buNone/>
            </a:pPr>
            <a:r>
              <a:rPr lang="en-US" altLang="zh-CN" dirty="0"/>
              <a:t>{</a:t>
            </a:r>
            <a:endParaRPr lang="en-US" altLang="zh-CN" dirty="0"/>
          </a:p>
          <a:p>
            <a:pPr marL="274320" lvl="1" indent="0">
              <a:buNone/>
            </a:pPr>
            <a:r>
              <a:rPr lang="en-US" altLang="zh-CN" dirty="0"/>
              <a:t>	private </a:t>
            </a:r>
            <a:r>
              <a:rPr lang="en-US" altLang="zh-CN" dirty="0" err="1"/>
              <a:t>int</a:t>
            </a:r>
            <a:r>
              <a:rPr lang="en-US" altLang="zh-CN" dirty="0"/>
              <a:t> x=100;</a:t>
            </a:r>
            <a:endParaRPr lang="en-US" altLang="zh-CN" dirty="0"/>
          </a:p>
          <a:p>
            <a:pPr marL="274320" lvl="1" indent="0">
              <a:buNone/>
            </a:pPr>
            <a:r>
              <a:rPr lang="en-US" altLang="zh-CN" dirty="0"/>
              <a:t>	public Sub()</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err="1"/>
              <a:t>System.out.println</a:t>
            </a:r>
            <a:r>
              <a:rPr lang="en-US" altLang="zh-CN" dirty="0"/>
              <a:t>("Sub");</a:t>
            </a:r>
            <a:endParaRPr lang="en-US" altLang="zh-CN" dirty="0"/>
          </a:p>
          <a:p>
            <a:pPr marL="274320" lvl="1" indent="0">
              <a:buNone/>
            </a:pPr>
            <a:r>
              <a:rPr lang="en-US" altLang="zh-CN" dirty="0"/>
              <a:t>	}</a:t>
            </a:r>
            <a:endParaRPr lang="en-US" altLang="zh-CN" dirty="0"/>
          </a:p>
          <a:p>
            <a:pPr marL="274320" lvl="1" indent="0">
              <a:buNone/>
            </a:pPr>
            <a:r>
              <a:rPr lang="en-US" altLang="zh-CN" dirty="0"/>
              <a:t>}  </a:t>
            </a:r>
            <a:r>
              <a:rPr lang="en-US" altLang="zh-CN" dirty="0">
                <a:solidFill>
                  <a:schemeClr val="accent3">
                    <a:lumMod val="50000"/>
                  </a:schemeClr>
                </a:solidFill>
              </a:rPr>
              <a:t>//Sub()</a:t>
            </a:r>
            <a:r>
              <a:rPr lang="zh-CN" altLang="en-US" dirty="0">
                <a:solidFill>
                  <a:schemeClr val="accent3">
                    <a:lumMod val="50000"/>
                  </a:schemeClr>
                </a:solidFill>
              </a:rPr>
              <a:t>会调用父类的默认方法</a:t>
            </a:r>
            <a:r>
              <a:rPr lang="en-US" altLang="zh-CN" dirty="0">
                <a:solidFill>
                  <a:schemeClr val="accent3">
                    <a:lumMod val="50000"/>
                  </a:schemeClr>
                </a:solidFill>
              </a:rPr>
              <a:t>Super()</a:t>
            </a:r>
            <a:r>
              <a:rPr lang="zh-CN" altLang="en-US" dirty="0">
                <a:solidFill>
                  <a:schemeClr val="accent3">
                    <a:lumMod val="50000"/>
                  </a:schemeClr>
                </a:solidFill>
              </a:rPr>
              <a:t>，而父类中没有这个方法。</a:t>
            </a:r>
            <a:endParaRPr lang="zh-CN" altLang="en-US" dirty="0">
              <a:solidFill>
                <a:schemeClr val="accent3">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再看一个例子：</a:t>
            </a:r>
            <a:endParaRPr lang="en-US" altLang="zh-CN" dirty="0"/>
          </a:p>
          <a:p>
            <a:pPr lvl="1"/>
            <a:r>
              <a:rPr lang="en-US" altLang="zh-CN" dirty="0" err="1"/>
              <a:t>Dog.class</a:t>
            </a:r>
            <a:endParaRPr lang="en-US" altLang="zh-CN" dirty="0"/>
          </a:p>
          <a:p>
            <a:pPr lvl="1"/>
            <a:r>
              <a:rPr lang="en-US" altLang="zh-CN" dirty="0" err="1"/>
              <a:t>LargeDog.class</a:t>
            </a:r>
            <a:endParaRPr lang="en-US" altLang="zh-CN" dirty="0"/>
          </a:p>
          <a:p>
            <a:pPr lvl="1"/>
            <a:r>
              <a:rPr lang="en-US" altLang="zh-CN" dirty="0" err="1"/>
              <a:t>DogTest.class</a:t>
            </a:r>
            <a:endParaRPr lang="en-US" altLang="zh-CN" dirty="0"/>
          </a:p>
          <a:p>
            <a:pPr lvl="1"/>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5.1.3  </a:t>
            </a:r>
            <a:r>
              <a:rPr lang="zh-CN" altLang="en-US" dirty="0"/>
              <a:t>引用和对象</a:t>
            </a:r>
            <a:endParaRPr lang="zh-CN" altLang="en-US" dirty="0"/>
          </a:p>
        </p:txBody>
      </p:sp>
      <p:sp>
        <p:nvSpPr>
          <p:cNvPr id="3" name="内容占位符 2"/>
          <p:cNvSpPr>
            <a:spLocks noGrp="1"/>
          </p:cNvSpPr>
          <p:nvPr>
            <p:ph idx="1"/>
          </p:nvPr>
        </p:nvSpPr>
        <p:spPr/>
        <p:txBody>
          <a:bodyPr/>
          <a:lstStyle/>
          <a:p>
            <a:r>
              <a:rPr lang="zh-CN" altLang="en-US" dirty="0"/>
              <a:t>用子类创建一个引用变量，指向一个子类对象</a:t>
            </a:r>
            <a:endParaRPr lang="en-US" altLang="zh-CN" dirty="0"/>
          </a:p>
          <a:p>
            <a:pPr marL="274320" lvl="1" indent="0">
              <a:buNone/>
            </a:pPr>
            <a:r>
              <a:rPr lang="en-US" altLang="zh-CN" dirty="0"/>
              <a:t>Manager boss = </a:t>
            </a:r>
            <a:r>
              <a:rPr lang="en-US" altLang="zh-CN" b="1" dirty="0"/>
              <a:t>new Manager("Carl Cracker", 80000, 1987, 12, 15);</a:t>
            </a:r>
            <a:endParaRPr lang="en-US" altLang="zh-CN" b="1" dirty="0"/>
          </a:p>
          <a:p>
            <a:pPr marL="274320" lvl="1" indent="0">
              <a:buNone/>
            </a:pPr>
            <a:r>
              <a:rPr lang="en-US" altLang="zh-CN" dirty="0" err="1"/>
              <a:t>boss.setBonus</a:t>
            </a:r>
            <a:r>
              <a:rPr lang="en-US" altLang="zh-CN" dirty="0"/>
              <a:t>(5000);</a:t>
            </a:r>
            <a:endParaRPr lang="en-US" altLang="zh-CN" dirty="0"/>
          </a:p>
          <a:p>
            <a:r>
              <a:rPr lang="zh-CN" altLang="en-US" dirty="0"/>
              <a:t>下面是超类的引用数组，分别指向不同对象</a:t>
            </a:r>
            <a:endParaRPr lang="en-US" altLang="zh-CN" dirty="0"/>
          </a:p>
          <a:p>
            <a:pPr lvl="1"/>
            <a:r>
              <a:rPr lang="en-US" altLang="zh-CN" dirty="0"/>
              <a:t>Employee[] staff = new Employee[3];</a:t>
            </a:r>
            <a:br>
              <a:rPr lang="en-US" altLang="zh-CN" dirty="0"/>
            </a:br>
            <a:r>
              <a:rPr lang="en-US" altLang="zh-CN" dirty="0"/>
              <a:t>staff[0] = boss;</a:t>
            </a:r>
            <a:endParaRPr lang="en-US" altLang="zh-CN" dirty="0"/>
          </a:p>
          <a:p>
            <a:pPr marL="274320" lvl="1" indent="0">
              <a:buNone/>
            </a:pPr>
            <a:r>
              <a:rPr lang="en-US" altLang="zh-CN" dirty="0"/>
              <a:t>  staff[1] = new Employee("Harry Hacker", 50000, 1989, 10, 1);</a:t>
            </a:r>
            <a:endParaRPr lang="en-US" altLang="zh-CN" dirty="0"/>
          </a:p>
          <a:p>
            <a:pPr marL="274320" lvl="1" indent="0">
              <a:buNone/>
            </a:pPr>
            <a:r>
              <a:rPr lang="en-US" altLang="zh-CN" dirty="0"/>
              <a:t>  staff[2] = new Employee("Tommy Tester", 40000, 1990, 3, 15);</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980728"/>
            <a:ext cx="8363272" cy="5256584"/>
          </a:xfrm>
        </p:spPr>
        <p:txBody>
          <a:bodyPr/>
          <a:lstStyle/>
          <a:p>
            <a:r>
              <a:rPr lang="zh-CN" altLang="en-US" dirty="0"/>
              <a:t>这里</a:t>
            </a:r>
            <a:r>
              <a:rPr lang="en-US" altLang="zh-CN" dirty="0"/>
              <a:t>staff</a:t>
            </a:r>
            <a:r>
              <a:rPr lang="zh-CN" altLang="en-US" dirty="0"/>
              <a:t>是超类的引用，</a:t>
            </a:r>
            <a:r>
              <a:rPr lang="en-US" altLang="zh-CN" dirty="0"/>
              <a:t>staff[0]</a:t>
            </a:r>
            <a:r>
              <a:rPr lang="zh-CN" altLang="en-US" dirty="0"/>
              <a:t>指向一个子类的对象：超类的引用变量可以指向其派生类的对象。</a:t>
            </a:r>
            <a:endParaRPr lang="en-US" altLang="zh-CN" dirty="0"/>
          </a:p>
          <a:p>
            <a:pPr marL="274320" lvl="1" indent="0">
              <a:buNone/>
            </a:pPr>
            <a:r>
              <a:rPr lang="en-US" altLang="zh-CN" dirty="0"/>
              <a:t>for (Employee e : staff)</a:t>
            </a:r>
            <a:endParaRPr lang="en-US" altLang="zh-CN" dirty="0"/>
          </a:p>
          <a:p>
            <a:pPr marL="274320" lvl="1" indent="0">
              <a:buNone/>
            </a:pPr>
            <a:r>
              <a:rPr lang="en-US" altLang="zh-CN" dirty="0"/>
              <a:t>    </a:t>
            </a:r>
            <a:r>
              <a:rPr lang="en-US" altLang="zh-CN" dirty="0" err="1"/>
              <a:t>System.out.println</a:t>
            </a:r>
            <a:r>
              <a:rPr lang="en-US" altLang="zh-CN" dirty="0"/>
              <a:t>("name=" + </a:t>
            </a:r>
            <a:r>
              <a:rPr lang="en-US" altLang="zh-CN" dirty="0" err="1"/>
              <a:t>e.getName</a:t>
            </a:r>
            <a:r>
              <a:rPr lang="en-US" altLang="zh-CN" dirty="0"/>
              <a:t>() + ",salary=" + </a:t>
            </a:r>
            <a:r>
              <a:rPr lang="en-US" altLang="zh-CN" dirty="0" err="1"/>
              <a:t>e.getSalary</a:t>
            </a:r>
            <a:r>
              <a:rPr lang="en-US" altLang="zh-CN" dirty="0"/>
              <a:t>());</a:t>
            </a:r>
            <a:endParaRPr lang="en-US" altLang="zh-CN" dirty="0"/>
          </a:p>
          <a:p>
            <a:pPr lvl="1"/>
            <a:r>
              <a:rPr lang="zh-CN" altLang="en-US" dirty="0"/>
              <a:t>依次输出三个对象的姓名和薪水，这里实现了</a:t>
            </a:r>
            <a:r>
              <a:rPr lang="zh-CN" altLang="en-US" dirty="0">
                <a:solidFill>
                  <a:srgbClr val="FF0000"/>
                </a:solidFill>
              </a:rPr>
              <a:t>多态</a:t>
            </a:r>
            <a:r>
              <a:rPr lang="zh-CN" altLang="en-US" dirty="0"/>
              <a:t>：</a:t>
            </a:r>
            <a:r>
              <a:rPr lang="en-US" altLang="zh-CN" dirty="0" err="1"/>
              <a:t>e.getSalary</a:t>
            </a:r>
            <a:r>
              <a:rPr lang="en-US" altLang="zh-CN" dirty="0"/>
              <a:t>()</a:t>
            </a:r>
            <a:r>
              <a:rPr lang="zh-CN" altLang="en-US" dirty="0"/>
              <a:t>会根据不同的对象调用不同版本。</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5.1.4  </a:t>
            </a:r>
            <a:r>
              <a:rPr lang="zh-CN" altLang="en-US" dirty="0"/>
              <a:t>多态</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在继承关系中存在</a:t>
            </a:r>
            <a:r>
              <a:rPr lang="en-US" altLang="zh-CN" dirty="0"/>
              <a:t>is-a</a:t>
            </a:r>
            <a:r>
              <a:rPr lang="zh-CN" altLang="en-US" dirty="0"/>
              <a:t>关系，故一个子类的引用可以赋值给一个超类的变量，这称为多态：</a:t>
            </a:r>
            <a:endParaRPr lang="en-US" altLang="zh-CN" dirty="0"/>
          </a:p>
          <a:p>
            <a:pPr lvl="1"/>
            <a:r>
              <a:rPr lang="en-US" altLang="zh-CN" dirty="0"/>
              <a:t>Employee e; </a:t>
            </a:r>
            <a:br>
              <a:rPr lang="en-US" altLang="zh-CN" dirty="0"/>
            </a:br>
            <a:r>
              <a:rPr lang="en-US" altLang="zh-CN" dirty="0"/>
              <a:t>e = new Employee(…);</a:t>
            </a:r>
            <a:br>
              <a:rPr lang="en-US" altLang="zh-CN" dirty="0"/>
            </a:br>
            <a:r>
              <a:rPr lang="en-US" altLang="zh-CN" dirty="0"/>
              <a:t>e = new Manager(…);</a:t>
            </a:r>
            <a:endParaRPr lang="en-US" altLang="zh-CN" dirty="0"/>
          </a:p>
          <a:p>
            <a:pPr lvl="1"/>
            <a:r>
              <a:rPr lang="zh-CN" altLang="en-US" dirty="0"/>
              <a:t>前面例子中</a:t>
            </a:r>
            <a:r>
              <a:rPr lang="en-US" altLang="zh-CN" dirty="0"/>
              <a:t>staff[0]</a:t>
            </a:r>
            <a:r>
              <a:rPr lang="zh-CN" altLang="en-US" dirty="0"/>
              <a:t>和</a:t>
            </a:r>
            <a:r>
              <a:rPr lang="en-US" altLang="zh-CN" dirty="0"/>
              <a:t>boss</a:t>
            </a:r>
            <a:r>
              <a:rPr lang="zh-CN" altLang="en-US" dirty="0"/>
              <a:t>引用同一个</a:t>
            </a:r>
            <a:r>
              <a:rPr lang="en-US" altLang="zh-CN" dirty="0"/>
              <a:t>Manager</a:t>
            </a:r>
            <a:r>
              <a:rPr lang="zh-CN" altLang="en-US" dirty="0"/>
              <a:t>对象，但编译器把</a:t>
            </a:r>
            <a:r>
              <a:rPr lang="en-US" altLang="zh-CN" dirty="0"/>
              <a:t>staff[0]</a:t>
            </a:r>
            <a:r>
              <a:rPr lang="zh-CN" altLang="en-US" dirty="0"/>
              <a:t>看做是</a:t>
            </a:r>
            <a:r>
              <a:rPr lang="en-US" altLang="zh-CN" dirty="0"/>
              <a:t>Employee</a:t>
            </a:r>
            <a:r>
              <a:rPr lang="zh-CN" altLang="en-US" dirty="0"/>
              <a:t>对象：</a:t>
            </a:r>
            <a:br>
              <a:rPr lang="en-US" altLang="zh-CN" dirty="0"/>
            </a:br>
            <a:r>
              <a:rPr lang="en-US" altLang="zh-CN" dirty="0" err="1"/>
              <a:t>boss.setBonus</a:t>
            </a:r>
            <a:r>
              <a:rPr lang="en-US" altLang="zh-CN" dirty="0"/>
              <a:t>(5000);  </a:t>
            </a:r>
            <a:r>
              <a:rPr lang="en-US" altLang="zh-CN" dirty="0">
                <a:solidFill>
                  <a:schemeClr val="accent3">
                    <a:lumMod val="50000"/>
                  </a:schemeClr>
                </a:solidFill>
              </a:rPr>
              <a:t>//</a:t>
            </a:r>
            <a:r>
              <a:rPr lang="zh-CN" altLang="en-US" dirty="0">
                <a:solidFill>
                  <a:schemeClr val="accent3">
                    <a:lumMod val="50000"/>
                  </a:schemeClr>
                </a:solidFill>
              </a:rPr>
              <a:t>正确，调用</a:t>
            </a:r>
            <a:r>
              <a:rPr lang="en-US" altLang="zh-CN" dirty="0">
                <a:solidFill>
                  <a:schemeClr val="accent3">
                    <a:lumMod val="50000"/>
                  </a:schemeClr>
                </a:solidFill>
              </a:rPr>
              <a:t>Manager</a:t>
            </a:r>
            <a:r>
              <a:rPr lang="zh-CN" altLang="en-US" dirty="0">
                <a:solidFill>
                  <a:schemeClr val="accent3">
                    <a:lumMod val="50000"/>
                  </a:schemeClr>
                </a:solidFill>
              </a:rPr>
              <a:t>类的方法。</a:t>
            </a:r>
            <a:br>
              <a:rPr lang="en-US" altLang="zh-CN" dirty="0"/>
            </a:br>
            <a:r>
              <a:rPr lang="en-US" altLang="zh-CN" dirty="0"/>
              <a:t>staff[0]. </a:t>
            </a:r>
            <a:r>
              <a:rPr lang="en-US" altLang="zh-CN" dirty="0" err="1"/>
              <a:t>setBonus</a:t>
            </a:r>
            <a:r>
              <a:rPr lang="en-US" altLang="zh-CN" dirty="0"/>
              <a:t>(5000);  </a:t>
            </a:r>
            <a:r>
              <a:rPr lang="en-US" altLang="zh-CN" dirty="0">
                <a:solidFill>
                  <a:schemeClr val="accent3">
                    <a:lumMod val="50000"/>
                  </a:schemeClr>
                </a:solidFill>
              </a:rPr>
              <a:t>//</a:t>
            </a:r>
            <a:r>
              <a:rPr lang="zh-CN" altLang="en-US" dirty="0">
                <a:solidFill>
                  <a:schemeClr val="accent3">
                    <a:lumMod val="50000"/>
                  </a:schemeClr>
                </a:solidFill>
              </a:rPr>
              <a:t>错误，尽管</a:t>
            </a:r>
            <a:r>
              <a:rPr lang="en-US" altLang="zh-CN" dirty="0">
                <a:solidFill>
                  <a:schemeClr val="accent3">
                    <a:lumMod val="50000"/>
                  </a:schemeClr>
                </a:solidFill>
              </a:rPr>
              <a:t>staff[[0]</a:t>
            </a:r>
            <a:r>
              <a:rPr lang="zh-CN" altLang="en-US" dirty="0">
                <a:solidFill>
                  <a:schemeClr val="accent3">
                    <a:lumMod val="50000"/>
                  </a:schemeClr>
                </a:solidFill>
              </a:rPr>
              <a:t>引用了一个</a:t>
            </a:r>
            <a:r>
              <a:rPr lang="en-US" altLang="zh-CN" dirty="0">
                <a:solidFill>
                  <a:schemeClr val="accent3">
                    <a:lumMod val="50000"/>
                  </a:schemeClr>
                </a:solidFill>
              </a:rPr>
              <a:t>Manager</a:t>
            </a:r>
            <a:r>
              <a:rPr lang="zh-CN" altLang="en-US" dirty="0">
                <a:solidFill>
                  <a:schemeClr val="accent3">
                    <a:lumMod val="50000"/>
                  </a:schemeClr>
                </a:solidFill>
              </a:rPr>
              <a:t>对象，但它本身还是</a:t>
            </a:r>
            <a:r>
              <a:rPr lang="en-US" altLang="zh-CN" dirty="0">
                <a:solidFill>
                  <a:schemeClr val="accent3">
                    <a:lumMod val="50000"/>
                  </a:schemeClr>
                </a:solidFill>
              </a:rPr>
              <a:t>Employee</a:t>
            </a:r>
            <a:r>
              <a:rPr lang="zh-CN" altLang="en-US" dirty="0">
                <a:solidFill>
                  <a:schemeClr val="accent3">
                    <a:lumMod val="50000"/>
                  </a:schemeClr>
                </a:solidFill>
              </a:rPr>
              <a:t>类型，该类没有</a:t>
            </a:r>
            <a:r>
              <a:rPr lang="en-US" altLang="zh-CN" dirty="0" err="1">
                <a:solidFill>
                  <a:schemeClr val="accent3">
                    <a:lumMod val="50000"/>
                  </a:schemeClr>
                </a:solidFill>
              </a:rPr>
              <a:t>setBonus</a:t>
            </a:r>
            <a:r>
              <a:rPr lang="zh-CN" altLang="en-US" dirty="0">
                <a:solidFill>
                  <a:schemeClr val="accent3">
                    <a:lumMod val="50000"/>
                  </a:schemeClr>
                </a:solidFill>
              </a:rPr>
              <a:t>方法。</a:t>
            </a:r>
            <a:endParaRPr lang="en-US" altLang="zh-CN" dirty="0">
              <a:solidFill>
                <a:schemeClr val="accent3">
                  <a:lumMod val="50000"/>
                </a:schemeClr>
              </a:solidFill>
            </a:endParaRPr>
          </a:p>
          <a:p>
            <a:r>
              <a:rPr lang="zh-CN" altLang="en-US" dirty="0"/>
              <a:t>但是不能把一个父类引用赋值给子类的变量：</a:t>
            </a:r>
            <a:endParaRPr lang="en-US" altLang="zh-CN" dirty="0"/>
          </a:p>
          <a:p>
            <a:pPr lvl="1"/>
            <a:r>
              <a:rPr lang="en-US" altLang="zh-CN" dirty="0"/>
              <a:t>Manager m = staff[0];    </a:t>
            </a:r>
            <a:r>
              <a:rPr lang="en-US" altLang="zh-CN" dirty="0">
                <a:solidFill>
                  <a:schemeClr val="accent3">
                    <a:lumMod val="50000"/>
                  </a:schemeClr>
                </a:solidFill>
              </a:rPr>
              <a:t>//</a:t>
            </a:r>
            <a:r>
              <a:rPr lang="zh-CN" altLang="en-US" dirty="0">
                <a:solidFill>
                  <a:schemeClr val="accent3">
                    <a:lumMod val="50000"/>
                  </a:schemeClr>
                </a:solidFill>
              </a:rPr>
              <a:t>错误，</a:t>
            </a:r>
            <a:r>
              <a:rPr lang="en-US" altLang="zh-CN" dirty="0">
                <a:solidFill>
                  <a:schemeClr val="accent3">
                    <a:lumMod val="50000"/>
                  </a:schemeClr>
                </a:solidFill>
              </a:rPr>
              <a:t>staff</a:t>
            </a:r>
            <a:r>
              <a:rPr lang="zh-CN" altLang="en-US" dirty="0">
                <a:solidFill>
                  <a:schemeClr val="accent3">
                    <a:lumMod val="50000"/>
                  </a:schemeClr>
                </a:solidFill>
              </a:rPr>
              <a:t>是</a:t>
            </a:r>
            <a:r>
              <a:rPr lang="en-US" altLang="zh-CN" dirty="0">
                <a:solidFill>
                  <a:schemeClr val="accent3">
                    <a:lumMod val="50000"/>
                  </a:schemeClr>
                </a:solidFill>
              </a:rPr>
              <a:t>Employee</a:t>
            </a:r>
            <a:r>
              <a:rPr lang="zh-CN" altLang="en-US" dirty="0">
                <a:solidFill>
                  <a:schemeClr val="accent3">
                    <a:lumMod val="50000"/>
                  </a:schemeClr>
                </a:solidFill>
              </a:rPr>
              <a:t>引用</a:t>
            </a:r>
            <a:endParaRPr lang="zh-CN" altLang="en-US" dirty="0">
              <a:solidFill>
                <a:schemeClr val="accent3">
                  <a:lumMod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现在调用方法：</a:t>
            </a:r>
            <a:endParaRPr lang="en-US" altLang="zh-CN" dirty="0"/>
          </a:p>
          <a:p>
            <a:pPr lvl="1"/>
            <a:r>
              <a:rPr lang="en-US" altLang="zh-CN" dirty="0" err="1"/>
              <a:t>e.getSalary</a:t>
            </a:r>
            <a:r>
              <a:rPr lang="en-US" altLang="zh-CN" dirty="0"/>
              <a:t>(); </a:t>
            </a:r>
            <a:br>
              <a:rPr lang="en-US" altLang="zh-CN" dirty="0"/>
            </a:br>
            <a:r>
              <a:rPr lang="en-US" altLang="zh-CN" dirty="0" err="1"/>
              <a:t>e.getName</a:t>
            </a:r>
            <a:r>
              <a:rPr lang="en-US" altLang="zh-CN" dirty="0"/>
              <a:t>();   e</a:t>
            </a:r>
            <a:r>
              <a:rPr lang="zh-CN" altLang="en-US" dirty="0"/>
              <a:t>的类型为</a:t>
            </a:r>
            <a:r>
              <a:rPr lang="en-US" altLang="zh-CN" dirty="0"/>
              <a:t>Employee</a:t>
            </a:r>
            <a:r>
              <a:rPr lang="zh-CN" altLang="en-US" dirty="0"/>
              <a:t>，但是它可以指向其子类，此时方法的调用产生多种状态：</a:t>
            </a:r>
            <a:endParaRPr lang="en-US" altLang="zh-CN" dirty="0"/>
          </a:p>
          <a:p>
            <a:pPr lvl="1"/>
            <a:r>
              <a:rPr lang="zh-CN" altLang="en-US" dirty="0"/>
              <a:t>当子类和父类中都有这个方法时，则会根据其实际指向的对象类型调用相应的方法。</a:t>
            </a:r>
            <a:endParaRPr lang="en-US" altLang="zh-CN" dirty="0"/>
          </a:p>
          <a:p>
            <a:pPr lvl="1"/>
            <a:r>
              <a:rPr lang="zh-CN" altLang="en-US" dirty="0"/>
              <a:t>当子类中没有这个方法，而父类中有这个方法时，则调用父类的方法。</a:t>
            </a:r>
            <a:endParaRPr lang="en-US" altLang="zh-CN" dirty="0"/>
          </a:p>
          <a:p>
            <a:pPr lvl="1"/>
            <a:r>
              <a:rPr lang="zh-CN" altLang="en-US" dirty="0"/>
              <a:t>注意：</a:t>
            </a:r>
            <a:r>
              <a:rPr lang="en-US" altLang="zh-CN" dirty="0"/>
              <a:t>e</a:t>
            </a:r>
            <a:r>
              <a:rPr lang="zh-CN" altLang="en-US" dirty="0"/>
              <a:t>不能调用父类中没有，而是在子类中添加的方法。</a:t>
            </a:r>
            <a:endParaRPr lang="en-US" altLang="zh-CN" dirty="0"/>
          </a:p>
          <a:p>
            <a:pPr lvl="1"/>
            <a:r>
              <a:rPr lang="zh-CN" altLang="en-US" dirty="0"/>
              <a:t>多态只体现在实例方法上。类方法在字节码中就已经确定。</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5.1.5  </a:t>
            </a:r>
            <a:r>
              <a:rPr lang="zh-CN" altLang="en-US" dirty="0"/>
              <a:t>理解方法调用</a:t>
            </a:r>
            <a:endParaRPr lang="zh-CN" altLang="en-US" dirty="0"/>
          </a:p>
        </p:txBody>
      </p:sp>
      <p:sp>
        <p:nvSpPr>
          <p:cNvPr id="3" name="内容占位符 2"/>
          <p:cNvSpPr>
            <a:spLocks noGrp="1"/>
          </p:cNvSpPr>
          <p:nvPr>
            <p:ph idx="1"/>
          </p:nvPr>
        </p:nvSpPr>
        <p:spPr>
          <a:xfrm>
            <a:off x="457200" y="764704"/>
            <a:ext cx="8075240" cy="5976664"/>
          </a:xfrm>
        </p:spPr>
        <p:txBody>
          <a:bodyPr>
            <a:normAutofit lnSpcReduction="10000"/>
          </a:bodyPr>
          <a:lstStyle/>
          <a:p>
            <a:r>
              <a:rPr lang="zh-CN" altLang="en-US" dirty="0"/>
              <a:t>假设有如下调用：</a:t>
            </a:r>
            <a:endParaRPr lang="en-US" altLang="zh-CN" dirty="0"/>
          </a:p>
          <a:p>
            <a:pPr lvl="1"/>
            <a:r>
              <a:rPr lang="en-US" altLang="zh-CN" dirty="0"/>
              <a:t>C </a:t>
            </a:r>
            <a:r>
              <a:rPr lang="en-US" altLang="zh-CN" dirty="0" err="1"/>
              <a:t>cObject</a:t>
            </a:r>
            <a:r>
              <a:rPr lang="en-US" altLang="zh-CN" dirty="0"/>
              <a:t>; </a:t>
            </a:r>
            <a:r>
              <a:rPr lang="en-US" altLang="zh-CN" dirty="0">
                <a:solidFill>
                  <a:schemeClr val="accent3">
                    <a:lumMod val="50000"/>
                  </a:schemeClr>
                </a:solidFill>
              </a:rPr>
              <a:t>//</a:t>
            </a:r>
            <a:r>
              <a:rPr lang="en-US" altLang="zh-CN" dirty="0" err="1">
                <a:solidFill>
                  <a:schemeClr val="accent3">
                    <a:lumMod val="50000"/>
                  </a:schemeClr>
                </a:solidFill>
              </a:rPr>
              <a:t>cObjact</a:t>
            </a:r>
            <a:r>
              <a:rPr lang="zh-CN" altLang="en-US" dirty="0">
                <a:solidFill>
                  <a:schemeClr val="accent3">
                    <a:lumMod val="50000"/>
                  </a:schemeClr>
                </a:solidFill>
              </a:rPr>
              <a:t>是</a:t>
            </a:r>
            <a:r>
              <a:rPr lang="en-US" altLang="zh-CN" dirty="0">
                <a:solidFill>
                  <a:schemeClr val="accent3">
                    <a:lumMod val="50000"/>
                  </a:schemeClr>
                </a:solidFill>
              </a:rPr>
              <a:t>C</a:t>
            </a:r>
            <a:r>
              <a:rPr lang="zh-CN" altLang="en-US" dirty="0">
                <a:solidFill>
                  <a:schemeClr val="accent3">
                    <a:lumMod val="50000"/>
                  </a:schemeClr>
                </a:solidFill>
              </a:rPr>
              <a:t>类的引用变量</a:t>
            </a:r>
            <a:br>
              <a:rPr lang="en-US" altLang="zh-CN" dirty="0"/>
            </a:br>
            <a:r>
              <a:rPr lang="en-US" altLang="zh-CN" dirty="0" err="1"/>
              <a:t>cObject</a:t>
            </a:r>
            <a:r>
              <a:rPr lang="en-US" altLang="zh-CN" dirty="0"/>
              <a:t> = new … </a:t>
            </a:r>
            <a:r>
              <a:rPr lang="en-US" altLang="zh-CN" dirty="0">
                <a:solidFill>
                  <a:schemeClr val="accent3">
                    <a:lumMod val="50000"/>
                  </a:schemeClr>
                </a:solidFill>
              </a:rPr>
              <a:t>//</a:t>
            </a:r>
            <a:r>
              <a:rPr lang="zh-CN" altLang="en-US" dirty="0">
                <a:solidFill>
                  <a:schemeClr val="accent3">
                    <a:lumMod val="50000"/>
                  </a:schemeClr>
                </a:solidFill>
              </a:rPr>
              <a:t>可以指向</a:t>
            </a:r>
            <a:r>
              <a:rPr lang="en-US" altLang="zh-CN" dirty="0">
                <a:solidFill>
                  <a:schemeClr val="accent3">
                    <a:lumMod val="50000"/>
                  </a:schemeClr>
                </a:solidFill>
              </a:rPr>
              <a:t>C</a:t>
            </a:r>
            <a:r>
              <a:rPr lang="zh-CN" altLang="en-US" dirty="0">
                <a:solidFill>
                  <a:schemeClr val="accent3">
                    <a:lumMod val="50000"/>
                  </a:schemeClr>
                </a:solidFill>
              </a:rPr>
              <a:t>类或其子类的对象</a:t>
            </a:r>
            <a:br>
              <a:rPr lang="en-US" altLang="zh-CN" dirty="0"/>
            </a:br>
            <a:r>
              <a:rPr lang="en-US" altLang="zh-CN" dirty="0" err="1"/>
              <a:t>cObject.fun</a:t>
            </a: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调用方法</a:t>
            </a:r>
            <a:r>
              <a:rPr lang="en-US" altLang="zh-CN" dirty="0">
                <a:solidFill>
                  <a:schemeClr val="accent3">
                    <a:lumMod val="50000"/>
                  </a:schemeClr>
                </a:solidFill>
              </a:rPr>
              <a:t>fun()</a:t>
            </a:r>
            <a:endParaRPr lang="en-US" altLang="zh-CN" dirty="0">
              <a:solidFill>
                <a:schemeClr val="accent3">
                  <a:lumMod val="50000"/>
                </a:schemeClr>
              </a:solidFill>
            </a:endParaRPr>
          </a:p>
          <a:p>
            <a:r>
              <a:rPr lang="zh-CN" altLang="en-US" dirty="0"/>
              <a:t>调用过程如下：</a:t>
            </a:r>
            <a:endParaRPr lang="en-US" altLang="zh-CN" dirty="0"/>
          </a:p>
          <a:p>
            <a:pPr lvl="1"/>
            <a:r>
              <a:rPr lang="zh-CN" altLang="en-US" dirty="0"/>
              <a:t>编译器查看</a:t>
            </a:r>
            <a:r>
              <a:rPr lang="zh-CN" altLang="en-US" dirty="0">
                <a:solidFill>
                  <a:srgbClr val="FF0000"/>
                </a:solidFill>
              </a:rPr>
              <a:t>对象的声明类型</a:t>
            </a:r>
            <a:r>
              <a:rPr lang="zh-CN" altLang="en-US" dirty="0"/>
              <a:t>和方法名，</a:t>
            </a:r>
            <a:r>
              <a:rPr lang="zh-CN" altLang="en-US" dirty="0">
                <a:solidFill>
                  <a:srgbClr val="FF0000"/>
                </a:solidFill>
              </a:rPr>
              <a:t>一一列举</a:t>
            </a:r>
            <a:r>
              <a:rPr lang="zh-CN" altLang="en-US" dirty="0"/>
              <a:t>：</a:t>
            </a:r>
            <a:endParaRPr lang="en-US" altLang="zh-CN" dirty="0"/>
          </a:p>
          <a:p>
            <a:pPr lvl="2"/>
            <a:r>
              <a:rPr lang="en-US" altLang="zh-CN" dirty="0"/>
              <a:t>C</a:t>
            </a:r>
            <a:r>
              <a:rPr lang="zh-CN" altLang="en-US" dirty="0"/>
              <a:t>类的名为</a:t>
            </a:r>
            <a:r>
              <a:rPr lang="en-US" altLang="zh-CN" dirty="0"/>
              <a:t>fun</a:t>
            </a:r>
            <a:r>
              <a:rPr lang="zh-CN" altLang="en-US" dirty="0"/>
              <a:t>的方法（可能有重载的多个）</a:t>
            </a:r>
            <a:endParaRPr lang="en-US" altLang="zh-CN" dirty="0"/>
          </a:p>
          <a:p>
            <a:pPr lvl="2"/>
            <a:r>
              <a:rPr lang="en-US" altLang="zh-CN" dirty="0"/>
              <a:t>C</a:t>
            </a:r>
            <a:r>
              <a:rPr lang="zh-CN" altLang="en-US" dirty="0"/>
              <a:t>的超类中的名为</a:t>
            </a:r>
            <a:r>
              <a:rPr lang="en-US" altLang="zh-CN" dirty="0"/>
              <a:t>fun</a:t>
            </a:r>
            <a:r>
              <a:rPr lang="zh-CN" altLang="en-US" dirty="0"/>
              <a:t>的</a:t>
            </a:r>
            <a:r>
              <a:rPr lang="zh-CN" altLang="en-US" dirty="0">
                <a:solidFill>
                  <a:srgbClr val="FF0000"/>
                </a:solidFill>
              </a:rPr>
              <a:t>可以访问</a:t>
            </a:r>
            <a:r>
              <a:rPr lang="zh-CN" altLang="en-US" dirty="0"/>
              <a:t>的方法</a:t>
            </a:r>
            <a:endParaRPr lang="en-US" altLang="zh-CN" dirty="0"/>
          </a:p>
          <a:p>
            <a:pPr lvl="1"/>
            <a:r>
              <a:rPr lang="zh-CN" altLang="en-US" dirty="0"/>
              <a:t>编译器查看调用方法时的实际参数类型，选择相匹配的一个方法。如果没有或者有多个，则报错。（方法的名字和参数列表称为“方法签名”）</a:t>
            </a:r>
            <a:endParaRPr lang="en-US" altLang="zh-CN" dirty="0"/>
          </a:p>
          <a:p>
            <a:pPr lvl="2"/>
            <a:r>
              <a:rPr lang="zh-CN" altLang="en-US" dirty="0"/>
              <a:t>例如</a:t>
            </a:r>
            <a:r>
              <a:rPr lang="en-US" altLang="zh-CN" dirty="0"/>
              <a:t>fun(10,20)</a:t>
            </a:r>
            <a:r>
              <a:rPr lang="zh-CN" altLang="en-US" dirty="0"/>
              <a:t>，则调用</a:t>
            </a:r>
            <a:r>
              <a:rPr lang="en-US" altLang="zh-CN" dirty="0"/>
              <a:t>fun(</a:t>
            </a:r>
            <a:r>
              <a:rPr lang="en-US" altLang="zh-CN" dirty="0" err="1"/>
              <a:t>int,int</a:t>
            </a:r>
            <a:r>
              <a:rPr lang="en-US" altLang="zh-CN" dirty="0"/>
              <a:t>)</a:t>
            </a:r>
            <a:r>
              <a:rPr lang="zh-CN" altLang="en-US" dirty="0"/>
              <a:t>。</a:t>
            </a:r>
            <a:endParaRPr lang="en-US" altLang="zh-CN" dirty="0"/>
          </a:p>
          <a:p>
            <a:pPr lvl="2"/>
            <a:r>
              <a:rPr lang="zh-CN" altLang="en-US" dirty="0"/>
              <a:t>注意，若子类和父类具有方法签名相同的方法，则子类会覆盖父类的方法，即子类对象调用时看不到被覆盖的父类方法。</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6192688"/>
          </a:xfrm>
        </p:spPr>
        <p:txBody>
          <a:bodyPr>
            <a:normAutofit/>
          </a:bodyPr>
          <a:lstStyle/>
          <a:p>
            <a:pPr lvl="2"/>
            <a:r>
              <a:rPr lang="zh-CN" altLang="en-US" dirty="0"/>
              <a:t>返回值不是方法签名的组成部分，覆盖父类方法时子类中方法的返回值可以是父类中方法返回值的子类型。例如在</a:t>
            </a:r>
            <a:r>
              <a:rPr lang="en-US" altLang="zh-CN" dirty="0"/>
              <a:t>Employee</a:t>
            </a:r>
            <a:r>
              <a:rPr lang="zh-CN" altLang="en-US" dirty="0"/>
              <a:t>类中有方法</a:t>
            </a:r>
            <a:br>
              <a:rPr lang="en-US" altLang="zh-CN" dirty="0"/>
            </a:br>
            <a:r>
              <a:rPr lang="en-US" altLang="zh-CN" dirty="0">
                <a:solidFill>
                  <a:srgbClr val="0070C0"/>
                </a:solidFill>
              </a:rPr>
              <a:t>Employee </a:t>
            </a:r>
            <a:r>
              <a:rPr lang="en-US" altLang="zh-CN" dirty="0" err="1">
                <a:solidFill>
                  <a:srgbClr val="0070C0"/>
                </a:solidFill>
              </a:rPr>
              <a:t>getBuddy</a:t>
            </a:r>
            <a:r>
              <a:rPr lang="en-US" altLang="zh-CN" dirty="0">
                <a:solidFill>
                  <a:srgbClr val="0070C0"/>
                </a:solidFill>
              </a:rPr>
              <a:t>() </a:t>
            </a:r>
            <a:r>
              <a:rPr lang="en-US" altLang="zh-CN" dirty="0"/>
              <a:t>{</a:t>
            </a:r>
            <a:r>
              <a:rPr lang="en-US" altLang="zh-CN" dirty="0">
                <a:solidFill>
                  <a:schemeClr val="accent3">
                    <a:lumMod val="50000"/>
                  </a:schemeClr>
                </a:solidFill>
              </a:rPr>
              <a:t>//</a:t>
            </a:r>
            <a:r>
              <a:rPr lang="zh-CN" altLang="en-US" dirty="0">
                <a:solidFill>
                  <a:schemeClr val="accent3">
                    <a:lumMod val="50000"/>
                  </a:schemeClr>
                </a:solidFill>
              </a:rPr>
              <a:t>返回一个普通员工对象</a:t>
            </a:r>
            <a:r>
              <a:rPr lang="en-US" altLang="zh-CN" dirty="0"/>
              <a:t>}</a:t>
            </a:r>
            <a:br>
              <a:rPr lang="en-US" altLang="zh-CN" dirty="0"/>
            </a:br>
            <a:r>
              <a:rPr lang="en-US" altLang="zh-CN" dirty="0"/>
              <a:t>Manager</a:t>
            </a:r>
            <a:r>
              <a:rPr lang="zh-CN" altLang="en-US" dirty="0"/>
              <a:t>类中覆盖这个方法</a:t>
            </a:r>
            <a:br>
              <a:rPr lang="en-US" altLang="zh-CN" dirty="0"/>
            </a:br>
            <a:r>
              <a:rPr lang="en-US" altLang="zh-CN" dirty="0">
                <a:solidFill>
                  <a:srgbClr val="0070C0"/>
                </a:solidFill>
              </a:rPr>
              <a:t>Manager </a:t>
            </a:r>
            <a:r>
              <a:rPr lang="en-US" altLang="zh-CN" dirty="0" err="1">
                <a:solidFill>
                  <a:srgbClr val="0070C0"/>
                </a:solidFill>
              </a:rPr>
              <a:t>getBuddy</a:t>
            </a:r>
            <a:r>
              <a:rPr lang="en-US" altLang="zh-CN" dirty="0">
                <a:solidFill>
                  <a:srgbClr val="0070C0"/>
                </a:solidFill>
              </a:rPr>
              <a:t>() </a:t>
            </a:r>
            <a:r>
              <a:rPr lang="en-US" altLang="zh-CN" dirty="0"/>
              <a:t>{</a:t>
            </a:r>
            <a:r>
              <a:rPr lang="en-US" altLang="zh-CN" dirty="0">
                <a:solidFill>
                  <a:schemeClr val="accent3">
                    <a:lumMod val="50000"/>
                  </a:schemeClr>
                </a:solidFill>
              </a:rPr>
              <a:t>//</a:t>
            </a:r>
            <a:r>
              <a:rPr lang="zh-CN" altLang="en-US" dirty="0">
                <a:solidFill>
                  <a:schemeClr val="accent3">
                    <a:lumMod val="50000"/>
                  </a:schemeClr>
                </a:solidFill>
              </a:rPr>
              <a:t>返回一个管理者对象</a:t>
            </a:r>
            <a:r>
              <a:rPr lang="en-US" altLang="zh-CN" dirty="0"/>
              <a:t>}</a:t>
            </a:r>
            <a:endParaRPr lang="en-US" altLang="zh-CN" dirty="0"/>
          </a:p>
          <a:p>
            <a:pPr lvl="1"/>
            <a:r>
              <a:rPr lang="zh-CN" altLang="en-US" dirty="0"/>
              <a:t>程序运行时，采用</a:t>
            </a:r>
            <a:r>
              <a:rPr lang="zh-CN" altLang="en-US" dirty="0">
                <a:solidFill>
                  <a:srgbClr val="FF0000"/>
                </a:solidFill>
              </a:rPr>
              <a:t>动态绑定</a:t>
            </a:r>
            <a:r>
              <a:rPr lang="zh-CN" altLang="en-US" dirty="0"/>
              <a:t>机制，虚拟机调用与</a:t>
            </a:r>
            <a:r>
              <a:rPr lang="en-US" altLang="zh-CN" dirty="0" err="1"/>
              <a:t>cObject</a:t>
            </a:r>
            <a:r>
              <a:rPr lang="zh-CN" altLang="en-US" dirty="0"/>
              <a:t>引用对象实际类型最合适的那个方法：</a:t>
            </a:r>
            <a:endParaRPr lang="en-US" altLang="zh-CN" dirty="0"/>
          </a:p>
          <a:p>
            <a:pPr lvl="2"/>
            <a:r>
              <a:rPr lang="zh-CN" altLang="en-US" dirty="0"/>
              <a:t>假如</a:t>
            </a:r>
            <a:r>
              <a:rPr lang="en-US" altLang="zh-CN" dirty="0" err="1"/>
              <a:t>cObject</a:t>
            </a:r>
            <a:r>
              <a:rPr lang="zh-CN" altLang="en-US" dirty="0"/>
              <a:t>实际类型是</a:t>
            </a:r>
            <a:r>
              <a:rPr lang="en-US" altLang="zh-CN" dirty="0"/>
              <a:t>D</a:t>
            </a:r>
            <a:r>
              <a:rPr lang="zh-CN" altLang="en-US" dirty="0"/>
              <a:t>（</a:t>
            </a:r>
            <a:r>
              <a:rPr lang="en-US" altLang="zh-CN" dirty="0"/>
              <a:t>C</a:t>
            </a:r>
            <a:r>
              <a:rPr lang="zh-CN" altLang="en-US" dirty="0"/>
              <a:t>的子类），</a:t>
            </a:r>
            <a:br>
              <a:rPr lang="en-US" altLang="zh-CN" dirty="0"/>
            </a:br>
            <a:r>
              <a:rPr lang="en-US" altLang="zh-CN" dirty="0" err="1"/>
              <a:t>cObject.fun</a:t>
            </a:r>
            <a:r>
              <a:rPr lang="en-US" altLang="zh-CN" dirty="0"/>
              <a:t>(“Hello, everyone”)  </a:t>
            </a:r>
            <a:r>
              <a:rPr lang="zh-CN" altLang="en-US" dirty="0"/>
              <a:t>会调用</a:t>
            </a:r>
            <a:r>
              <a:rPr lang="en-US" altLang="zh-CN" dirty="0"/>
              <a:t>D</a:t>
            </a:r>
            <a:r>
              <a:rPr lang="zh-CN" altLang="en-US" dirty="0"/>
              <a:t>类中的</a:t>
            </a:r>
            <a:br>
              <a:rPr lang="en-US" altLang="zh-CN" dirty="0"/>
            </a:br>
            <a:r>
              <a:rPr lang="en-US" altLang="zh-CN" dirty="0"/>
              <a:t>fun(String)</a:t>
            </a:r>
            <a:r>
              <a:rPr lang="zh-CN" altLang="en-US" dirty="0"/>
              <a:t>，如果没有就看</a:t>
            </a:r>
            <a:r>
              <a:rPr lang="en-US" altLang="zh-CN" dirty="0"/>
              <a:t>C</a:t>
            </a:r>
            <a:r>
              <a:rPr lang="zh-CN" altLang="en-US" dirty="0"/>
              <a:t>类中，以此类推。</a:t>
            </a:r>
            <a:endParaRPr lang="en-US" altLang="zh-CN" dirty="0"/>
          </a:p>
          <a:p>
            <a:r>
              <a:rPr lang="zh-CN" altLang="en-US" dirty="0"/>
              <a:t>调用下列方法使用</a:t>
            </a:r>
            <a:r>
              <a:rPr lang="zh-CN" altLang="en-US" dirty="0">
                <a:solidFill>
                  <a:srgbClr val="FF0000"/>
                </a:solidFill>
              </a:rPr>
              <a:t>静态绑定</a:t>
            </a:r>
            <a:r>
              <a:rPr lang="zh-CN" altLang="en-US" dirty="0"/>
              <a:t>，编译器可以准确的判断是哪一个方法，字节码中即可确定：</a:t>
            </a:r>
            <a:endParaRPr lang="en-US" altLang="zh-CN" dirty="0"/>
          </a:p>
          <a:p>
            <a:pPr lvl="1"/>
            <a:r>
              <a:rPr lang="en-US" altLang="zh-CN" dirty="0"/>
              <a:t>private </a:t>
            </a:r>
            <a:r>
              <a:rPr lang="zh-CN" altLang="en-US" dirty="0"/>
              <a:t>方法，</a:t>
            </a:r>
            <a:r>
              <a:rPr lang="en-US" altLang="zh-CN" dirty="0"/>
              <a:t>static</a:t>
            </a:r>
            <a:r>
              <a:rPr lang="zh-CN" altLang="en-US" dirty="0"/>
              <a:t>方法，</a:t>
            </a:r>
            <a:r>
              <a:rPr lang="en-US" altLang="zh-CN" dirty="0"/>
              <a:t>final</a:t>
            </a:r>
            <a:r>
              <a:rPr lang="zh-CN" altLang="en-US" dirty="0"/>
              <a:t>方法</a:t>
            </a:r>
            <a:endParaRPr lang="en-US" altLang="zh-CN" dirty="0"/>
          </a:p>
          <a:p>
            <a:pPr lvl="1"/>
            <a:r>
              <a:rPr lang="zh-CN" altLang="en-US" dirty="0"/>
              <a:t>这些方法不能在子类重写。</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075240" cy="5832648"/>
          </a:xfrm>
        </p:spPr>
        <p:txBody>
          <a:bodyPr/>
          <a:lstStyle/>
          <a:p>
            <a:r>
              <a:rPr lang="zh-CN" altLang="en-US" dirty="0"/>
              <a:t>动态绑定：无须对现有代码进行改动即可扩充程序。例如</a:t>
            </a:r>
            <a:endParaRPr lang="en-US" altLang="zh-CN" dirty="0"/>
          </a:p>
          <a:p>
            <a:pPr lvl="1"/>
            <a:r>
              <a:rPr lang="zh-CN" altLang="en-US" dirty="0"/>
              <a:t>创建一个新类</a:t>
            </a:r>
            <a:r>
              <a:rPr lang="en-US" altLang="zh-CN" dirty="0"/>
              <a:t>Executive</a:t>
            </a:r>
            <a:r>
              <a:rPr lang="zh-CN" altLang="en-US" dirty="0"/>
              <a:t>，派生自</a:t>
            </a:r>
            <a:r>
              <a:rPr lang="en-US" altLang="zh-CN" dirty="0"/>
              <a:t>Manager</a:t>
            </a:r>
            <a:r>
              <a:rPr lang="zh-CN" altLang="en-US" dirty="0"/>
              <a:t>，变量</a:t>
            </a:r>
            <a:r>
              <a:rPr lang="en-US" altLang="zh-CN" dirty="0"/>
              <a:t>e</a:t>
            </a:r>
            <a:r>
              <a:rPr lang="zh-CN" altLang="en-US" dirty="0"/>
              <a:t>有可能指向</a:t>
            </a:r>
            <a:r>
              <a:rPr lang="en-US" altLang="zh-CN" dirty="0"/>
              <a:t>Executive</a:t>
            </a:r>
            <a:r>
              <a:rPr lang="zh-CN" altLang="en-US" dirty="0"/>
              <a:t>的对象。此时不需要修改包含</a:t>
            </a:r>
            <a:br>
              <a:rPr lang="en-US" altLang="zh-CN" dirty="0"/>
            </a:br>
            <a:r>
              <a:rPr lang="en-US" altLang="zh-CN" dirty="0" err="1"/>
              <a:t>e.getSalary</a:t>
            </a:r>
            <a:r>
              <a:rPr lang="en-US" altLang="zh-CN" dirty="0"/>
              <a:t>()</a:t>
            </a:r>
            <a:r>
              <a:rPr lang="zh-CN" altLang="en-US" dirty="0"/>
              <a:t>调用的代码，就可以自动调用</a:t>
            </a:r>
            <a:br>
              <a:rPr lang="en-US" altLang="zh-CN" dirty="0"/>
            </a:br>
            <a:r>
              <a:rPr lang="en-US" altLang="zh-CN" dirty="0"/>
              <a:t>Executive</a:t>
            </a:r>
            <a:r>
              <a:rPr lang="zh-CN" altLang="en-US" dirty="0"/>
              <a:t>中的</a:t>
            </a:r>
            <a:r>
              <a:rPr lang="en-US" altLang="zh-CN" dirty="0" err="1"/>
              <a:t>getSalary</a:t>
            </a:r>
            <a:r>
              <a:rPr lang="en-US" altLang="zh-CN" dirty="0"/>
              <a:t>()</a:t>
            </a:r>
            <a:r>
              <a:rPr lang="zh-CN" altLang="en-US" dirty="0"/>
              <a:t>方法。</a:t>
            </a:r>
            <a:endParaRPr lang="en-US" altLang="zh-CN" dirty="0"/>
          </a:p>
          <a:p>
            <a:pPr lvl="1"/>
            <a:r>
              <a:rPr lang="zh-CN" altLang="en-US" dirty="0"/>
              <a:t>注意，覆盖父类方法时方法的可见性不能低于父类方法的可见性，如果父类中该方法为</a:t>
            </a:r>
            <a:r>
              <a:rPr lang="en-US" altLang="zh-CN" dirty="0"/>
              <a:t>public</a:t>
            </a:r>
            <a:r>
              <a:rPr lang="zh-CN" altLang="en-US" dirty="0"/>
              <a:t>，则子类覆盖它时必须为</a:t>
            </a:r>
            <a:r>
              <a:rPr lang="en-US" altLang="zh-CN" dirty="0"/>
              <a:t>public</a:t>
            </a:r>
            <a:r>
              <a:rPr lang="zh-CN" altLang="en-US" dirty="0"/>
              <a:t>。</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6264696"/>
          </a:xfrm>
        </p:spPr>
        <p:txBody>
          <a:bodyPr>
            <a:normAutofit fontScale="92500" lnSpcReduction="10000"/>
          </a:bodyPr>
          <a:lstStyle/>
          <a:p>
            <a:r>
              <a:rPr lang="zh-CN" altLang="en-US" dirty="0"/>
              <a:t>再写一个简单例子：</a:t>
            </a:r>
            <a:endParaRPr lang="en-US" altLang="zh-CN" dirty="0"/>
          </a:p>
          <a:p>
            <a:pPr marL="274320" lvl="1" indent="0">
              <a:buNone/>
            </a:pPr>
            <a:r>
              <a:rPr lang="en-US" altLang="zh-CN" dirty="0"/>
              <a:t>class </a:t>
            </a:r>
            <a:r>
              <a:rPr lang="en-US" altLang="zh-CN" dirty="0" err="1"/>
              <a:t>AClass</a:t>
            </a:r>
            <a:r>
              <a:rPr lang="en-US" altLang="zh-CN" dirty="0"/>
              <a:t> {</a:t>
            </a:r>
            <a:endParaRPr lang="en-US" altLang="zh-CN" dirty="0"/>
          </a:p>
          <a:p>
            <a:pPr marL="274320" lvl="1" indent="0">
              <a:buNone/>
            </a:pPr>
            <a:r>
              <a:rPr lang="en-US" altLang="zh-CN" dirty="0"/>
              <a:t>	public void fun() {</a:t>
            </a:r>
            <a:r>
              <a:rPr lang="en-US" altLang="zh-CN" dirty="0" err="1"/>
              <a:t>System.out.print</a:t>
            </a:r>
            <a:r>
              <a:rPr lang="en-US" altLang="zh-CN" dirty="0"/>
              <a:t>("I'm A.");}	</a:t>
            </a:r>
            <a:endParaRPr lang="en-US" altLang="zh-CN" dirty="0"/>
          </a:p>
          <a:p>
            <a:pPr marL="274320" lvl="1" indent="0">
              <a:buNone/>
            </a:pPr>
            <a:r>
              <a:rPr lang="en-US" altLang="zh-CN" dirty="0"/>
              <a:t>}</a:t>
            </a:r>
            <a:endParaRPr lang="en-US" altLang="zh-CN" dirty="0"/>
          </a:p>
          <a:p>
            <a:pPr marL="274320" lvl="1" indent="0">
              <a:buNone/>
            </a:pPr>
            <a:r>
              <a:rPr lang="en-US" altLang="zh-CN" dirty="0"/>
              <a:t>class </a:t>
            </a:r>
            <a:r>
              <a:rPr lang="en-US" altLang="zh-CN" dirty="0" err="1"/>
              <a:t>BClass</a:t>
            </a:r>
            <a:r>
              <a:rPr lang="en-US" altLang="zh-CN" dirty="0"/>
              <a:t> extends </a:t>
            </a:r>
            <a:r>
              <a:rPr lang="en-US" altLang="zh-CN" dirty="0" err="1"/>
              <a:t>AClass</a:t>
            </a:r>
            <a:r>
              <a:rPr lang="en-US" altLang="zh-CN" dirty="0"/>
              <a:t> {</a:t>
            </a:r>
            <a:endParaRPr lang="en-US" altLang="zh-CN" dirty="0"/>
          </a:p>
          <a:p>
            <a:pPr marL="274320" lvl="1" indent="0">
              <a:buNone/>
            </a:pPr>
            <a:r>
              <a:rPr lang="en-US" altLang="zh-CN" dirty="0"/>
              <a:t>	public void fun() {</a:t>
            </a:r>
            <a:r>
              <a:rPr lang="en-US" altLang="zh-CN" dirty="0" err="1"/>
              <a:t>System.out.print</a:t>
            </a:r>
            <a:r>
              <a:rPr lang="en-US" altLang="zh-CN" dirty="0"/>
              <a:t>("I'm B.");}</a:t>
            </a:r>
            <a:endParaRPr lang="en-US" altLang="zh-CN" dirty="0"/>
          </a:p>
          <a:p>
            <a:pPr marL="274320" lvl="1" indent="0">
              <a:buNone/>
            </a:pPr>
            <a:r>
              <a:rPr lang="en-US" altLang="zh-CN" dirty="0"/>
              <a:t>}</a:t>
            </a:r>
            <a:endParaRPr lang="en-US" altLang="zh-CN" dirty="0"/>
          </a:p>
          <a:p>
            <a:pPr marL="274320" lvl="1" indent="0">
              <a:buNone/>
            </a:pPr>
            <a:r>
              <a:rPr lang="en-US" altLang="zh-CN" dirty="0"/>
              <a:t>class </a:t>
            </a:r>
            <a:r>
              <a:rPr lang="en-US" altLang="zh-CN" dirty="0" err="1"/>
              <a:t>CClass</a:t>
            </a:r>
            <a:r>
              <a:rPr lang="en-US" altLang="zh-CN" dirty="0"/>
              <a:t> extends </a:t>
            </a:r>
            <a:r>
              <a:rPr lang="en-US" altLang="zh-CN" dirty="0" err="1"/>
              <a:t>BClass</a:t>
            </a:r>
            <a:r>
              <a:rPr lang="en-US" altLang="zh-CN" dirty="0"/>
              <a:t> {</a:t>
            </a:r>
            <a:endParaRPr lang="en-US" altLang="zh-CN" dirty="0"/>
          </a:p>
          <a:p>
            <a:pPr marL="274320" lvl="1" indent="0">
              <a:buNone/>
            </a:pPr>
            <a:r>
              <a:rPr lang="en-US" altLang="zh-CN" dirty="0"/>
              <a:t>	public void fun() {</a:t>
            </a:r>
            <a:r>
              <a:rPr lang="en-US" altLang="zh-CN" dirty="0" err="1"/>
              <a:t>System.out.print</a:t>
            </a:r>
            <a:r>
              <a:rPr lang="en-US" altLang="zh-CN" dirty="0"/>
              <a:t>("I'm C.");}</a:t>
            </a:r>
            <a:endParaRPr lang="en-US" altLang="zh-CN" dirty="0"/>
          </a:p>
          <a:p>
            <a:pPr marL="274320" lvl="1" indent="0">
              <a:buNone/>
            </a:pPr>
            <a:r>
              <a:rPr lang="en-US" altLang="zh-CN" dirty="0"/>
              <a:t>}</a:t>
            </a:r>
            <a:endParaRPr lang="en-US" altLang="zh-CN" dirty="0"/>
          </a:p>
          <a:p>
            <a:pPr marL="274320" lvl="1" indent="0">
              <a:buNone/>
            </a:pPr>
            <a:r>
              <a:rPr lang="en-US" altLang="zh-CN" dirty="0"/>
              <a:t>public class </a:t>
            </a:r>
            <a:r>
              <a:rPr lang="en-US" altLang="zh-CN" dirty="0" err="1"/>
              <a:t>SubTest</a:t>
            </a:r>
            <a:r>
              <a:rPr lang="en-US" altLang="zh-CN" dirty="0"/>
              <a:t> {</a:t>
            </a:r>
            <a:endParaRPr lang="en-US" altLang="zh-CN" dirty="0"/>
          </a:p>
          <a:p>
            <a:pPr marL="274320" lvl="1" indent="0">
              <a:buNone/>
            </a:pPr>
            <a:r>
              <a:rPr lang="en-US" altLang="zh-CN" dirty="0"/>
              <a:t>	public static void main(String[] </a:t>
            </a:r>
            <a:r>
              <a:rPr lang="en-US" altLang="zh-CN" dirty="0" err="1"/>
              <a:t>args</a:t>
            </a:r>
            <a:r>
              <a:rPr lang="en-US" altLang="zh-CN" dirty="0"/>
              <a:t>) {</a:t>
            </a:r>
            <a:endParaRPr lang="en-US" altLang="zh-CN" dirty="0"/>
          </a:p>
          <a:p>
            <a:pPr marL="274320" lvl="1" indent="0">
              <a:buNone/>
            </a:pPr>
            <a:r>
              <a:rPr lang="en-US" altLang="zh-CN" dirty="0"/>
              <a:t>		</a:t>
            </a:r>
            <a:r>
              <a:rPr lang="en-US" altLang="zh-CN" dirty="0" err="1"/>
              <a:t>AClass</a:t>
            </a:r>
            <a:r>
              <a:rPr lang="en-US" altLang="zh-CN" dirty="0"/>
              <a:t> a=new </a:t>
            </a:r>
            <a:r>
              <a:rPr lang="en-US" altLang="zh-CN" dirty="0" err="1"/>
              <a:t>CClass</a:t>
            </a:r>
            <a:r>
              <a:rPr lang="en-US" altLang="zh-CN" dirty="0"/>
              <a:t>();		</a:t>
            </a:r>
            <a:endParaRPr lang="en-US" altLang="zh-CN" dirty="0"/>
          </a:p>
          <a:p>
            <a:pPr marL="274320" lvl="1" indent="0">
              <a:buNone/>
            </a:pPr>
            <a:r>
              <a:rPr lang="en-US" altLang="zh-CN" dirty="0"/>
              <a:t>		</a:t>
            </a:r>
            <a:r>
              <a:rPr lang="en-US" altLang="zh-CN" dirty="0" err="1"/>
              <a:t>a.fun</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5.1.6  </a:t>
            </a:r>
            <a:r>
              <a:rPr lang="zh-CN" altLang="en-US" dirty="0"/>
              <a:t>阻止继承</a:t>
            </a:r>
            <a:r>
              <a:rPr lang="en-US" altLang="zh-CN" dirty="0"/>
              <a:t>: final</a:t>
            </a:r>
            <a:endParaRPr lang="zh-CN" altLang="en-US" dirty="0"/>
          </a:p>
        </p:txBody>
      </p:sp>
      <p:sp>
        <p:nvSpPr>
          <p:cNvPr id="3" name="内容占位符 2"/>
          <p:cNvSpPr>
            <a:spLocks noGrp="1"/>
          </p:cNvSpPr>
          <p:nvPr>
            <p:ph idx="1"/>
          </p:nvPr>
        </p:nvSpPr>
        <p:spPr/>
        <p:txBody>
          <a:bodyPr/>
          <a:lstStyle/>
          <a:p>
            <a:r>
              <a:rPr lang="zh-CN" altLang="en-US" dirty="0"/>
              <a:t>定义类时使用</a:t>
            </a:r>
            <a:r>
              <a:rPr lang="en-US" altLang="zh-CN" dirty="0"/>
              <a:t>final</a:t>
            </a:r>
            <a:r>
              <a:rPr lang="zh-CN" altLang="en-US" dirty="0"/>
              <a:t>修饰，则该类不能被继承。</a:t>
            </a:r>
            <a:endParaRPr lang="en-US" altLang="zh-CN" dirty="0"/>
          </a:p>
          <a:p>
            <a:pPr lvl="1"/>
            <a:r>
              <a:rPr lang="en-US" altLang="zh-CN" dirty="0"/>
              <a:t>public </a:t>
            </a:r>
            <a:r>
              <a:rPr lang="en-US" altLang="zh-CN" dirty="0">
                <a:solidFill>
                  <a:srgbClr val="FF0000"/>
                </a:solidFill>
              </a:rPr>
              <a:t>final</a:t>
            </a:r>
            <a:r>
              <a:rPr lang="en-US" altLang="zh-CN" dirty="0"/>
              <a:t> class Executive extends Manager</a:t>
            </a:r>
            <a:br>
              <a:rPr lang="en-US" altLang="zh-CN" dirty="0"/>
            </a:br>
            <a:r>
              <a:rPr lang="en-US" altLang="zh-CN" dirty="0"/>
              <a:t>{ … }  </a:t>
            </a:r>
            <a:r>
              <a:rPr lang="en-US" altLang="zh-CN" dirty="0">
                <a:solidFill>
                  <a:schemeClr val="accent3">
                    <a:lumMod val="50000"/>
                  </a:schemeClr>
                </a:solidFill>
              </a:rPr>
              <a:t>//</a:t>
            </a:r>
            <a:r>
              <a:rPr lang="zh-CN" altLang="en-US" dirty="0">
                <a:solidFill>
                  <a:schemeClr val="accent3">
                    <a:lumMod val="50000"/>
                  </a:schemeClr>
                </a:solidFill>
              </a:rPr>
              <a:t>不能再创建</a:t>
            </a:r>
            <a:r>
              <a:rPr lang="en-US" altLang="zh-CN" dirty="0">
                <a:solidFill>
                  <a:schemeClr val="accent3">
                    <a:lumMod val="50000"/>
                  </a:schemeClr>
                </a:solidFill>
              </a:rPr>
              <a:t>Executive</a:t>
            </a:r>
            <a:r>
              <a:rPr lang="zh-CN" altLang="en-US" dirty="0">
                <a:solidFill>
                  <a:schemeClr val="accent3">
                    <a:lumMod val="50000"/>
                  </a:schemeClr>
                </a:solidFill>
              </a:rPr>
              <a:t>的子类</a:t>
            </a:r>
            <a:endParaRPr lang="en-US" altLang="zh-CN" dirty="0">
              <a:solidFill>
                <a:schemeClr val="accent3">
                  <a:lumMod val="50000"/>
                </a:schemeClr>
              </a:solidFill>
            </a:endParaRPr>
          </a:p>
          <a:p>
            <a:r>
              <a:rPr lang="zh-CN" altLang="en-US" dirty="0"/>
              <a:t>必要时方法也可以用</a:t>
            </a:r>
            <a:r>
              <a:rPr lang="en-US" altLang="zh-CN" dirty="0"/>
              <a:t>final</a:t>
            </a:r>
            <a:r>
              <a:rPr lang="zh-CN" altLang="en-US" dirty="0"/>
              <a:t>修饰，表示该方法不允许在子类中覆盖。</a:t>
            </a:r>
            <a:endParaRPr lang="en-US" altLang="zh-CN" dirty="0"/>
          </a:p>
          <a:p>
            <a:pPr lvl="1"/>
            <a:r>
              <a:rPr lang="en-US" altLang="zh-CN" dirty="0"/>
              <a:t>public class Employee</a:t>
            </a:r>
            <a:br>
              <a:rPr lang="en-US" altLang="zh-CN" dirty="0"/>
            </a:br>
            <a:r>
              <a:rPr lang="en-US" altLang="zh-CN" dirty="0"/>
              <a:t>{     …</a:t>
            </a:r>
            <a:br>
              <a:rPr lang="en-US" altLang="zh-CN" dirty="0"/>
            </a:br>
            <a:r>
              <a:rPr lang="en-US" altLang="zh-CN" dirty="0"/>
              <a:t>      public </a:t>
            </a:r>
            <a:r>
              <a:rPr lang="en-US" altLang="zh-CN" dirty="0">
                <a:solidFill>
                  <a:srgbClr val="FF0000"/>
                </a:solidFill>
              </a:rPr>
              <a:t>final</a:t>
            </a:r>
            <a:r>
              <a:rPr lang="en-US" altLang="zh-CN" dirty="0"/>
              <a:t> String </a:t>
            </a:r>
            <a:r>
              <a:rPr lang="en-US" altLang="zh-CN" dirty="0" err="1"/>
              <a:t>getName</a:t>
            </a:r>
            <a:r>
              <a:rPr lang="en-US" altLang="zh-CN" dirty="0"/>
              <a:t>()</a:t>
            </a:r>
            <a:br>
              <a:rPr lang="en-US" altLang="zh-CN" dirty="0"/>
            </a:br>
            <a:r>
              <a:rPr lang="en-US" altLang="zh-CN" dirty="0"/>
              <a:t>      {</a:t>
            </a:r>
            <a:br>
              <a:rPr lang="en-US" altLang="zh-CN" dirty="0"/>
            </a:br>
            <a:r>
              <a:rPr lang="en-US" altLang="zh-CN" dirty="0"/>
              <a:t>       return name;    </a:t>
            </a:r>
            <a:br>
              <a:rPr lang="en-US" altLang="zh-CN" dirty="0"/>
            </a:br>
            <a:r>
              <a:rPr lang="en-US" altLang="zh-CN" dirty="0"/>
              <a:t>      }</a:t>
            </a:r>
            <a:br>
              <a:rPr lang="en-US" altLang="zh-CN" dirty="0"/>
            </a:b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在</a:t>
            </a:r>
            <a:r>
              <a:rPr lang="en-US" altLang="zh-CN" dirty="0">
                <a:solidFill>
                  <a:schemeClr val="accent3">
                    <a:lumMod val="50000"/>
                  </a:schemeClr>
                </a:solidFill>
              </a:rPr>
              <a:t>Manager</a:t>
            </a:r>
            <a:r>
              <a:rPr lang="zh-CN" altLang="en-US" dirty="0">
                <a:solidFill>
                  <a:schemeClr val="accent3">
                    <a:lumMod val="50000"/>
                  </a:schemeClr>
                </a:solidFill>
              </a:rPr>
              <a:t>类中不能重写</a:t>
            </a:r>
            <a:r>
              <a:rPr lang="en-US" altLang="zh-CN" dirty="0" err="1">
                <a:solidFill>
                  <a:schemeClr val="accent3">
                    <a:lumMod val="50000"/>
                  </a:schemeClr>
                </a:solidFill>
              </a:rPr>
              <a:t>getName</a:t>
            </a:r>
            <a:r>
              <a:rPr lang="zh-CN" altLang="en-US" dirty="0">
                <a:solidFill>
                  <a:schemeClr val="accent3">
                    <a:lumMod val="50000"/>
                  </a:schemeClr>
                </a:solidFill>
              </a:rPr>
              <a:t>方法。</a:t>
            </a:r>
            <a:endParaRPr lang="zh-CN" altLang="en-US" dirty="0">
              <a:solidFill>
                <a:schemeClr val="accent3">
                  <a:lumMod val="5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5832648"/>
          </a:xfrm>
        </p:spPr>
        <p:txBody>
          <a:bodyPr/>
          <a:lstStyle/>
          <a:p>
            <a:r>
              <a:rPr lang="zh-CN" altLang="en-US" dirty="0"/>
              <a:t>注意：一个类声明为</a:t>
            </a:r>
            <a:r>
              <a:rPr lang="en-US" altLang="zh-CN" dirty="0"/>
              <a:t>final</a:t>
            </a:r>
            <a:r>
              <a:rPr lang="zh-CN" altLang="en-US" dirty="0"/>
              <a:t>后，类里面的方法默认为</a:t>
            </a:r>
            <a:r>
              <a:rPr lang="en-US" altLang="zh-CN" dirty="0"/>
              <a:t>final</a:t>
            </a:r>
            <a:r>
              <a:rPr lang="zh-CN" altLang="en-US" dirty="0"/>
              <a:t>方法，但是域并不是</a:t>
            </a:r>
            <a:r>
              <a:rPr lang="en-US" altLang="zh-CN" dirty="0"/>
              <a:t>final</a:t>
            </a:r>
            <a:r>
              <a:rPr lang="zh-CN" altLang="en-US" dirty="0"/>
              <a:t>，域的值依然可以改变。</a:t>
            </a:r>
            <a:endParaRPr lang="en-US" altLang="zh-CN" dirty="0"/>
          </a:p>
          <a:p>
            <a:r>
              <a:rPr lang="zh-CN" altLang="en-US" dirty="0"/>
              <a:t>总结：</a:t>
            </a:r>
            <a:r>
              <a:rPr lang="en-US" altLang="zh-CN" dirty="0"/>
              <a:t>final</a:t>
            </a:r>
            <a:r>
              <a:rPr lang="zh-CN" altLang="en-US" dirty="0"/>
              <a:t>可用于不同的场合，含义不同</a:t>
            </a:r>
            <a:endParaRPr lang="en-US" altLang="zh-CN" dirty="0"/>
          </a:p>
          <a:p>
            <a:pPr lvl="1"/>
            <a:r>
              <a:rPr lang="zh-CN" altLang="en-US" dirty="0"/>
              <a:t>用于局部变量，表示该值是个常量，初始化后不可改变。</a:t>
            </a:r>
            <a:endParaRPr lang="en-US" altLang="zh-CN" dirty="0"/>
          </a:p>
          <a:p>
            <a:pPr lvl="1"/>
            <a:r>
              <a:rPr lang="zh-CN" altLang="en-US" dirty="0"/>
              <a:t>用于实例域：</a:t>
            </a:r>
            <a:r>
              <a:rPr lang="en-US" altLang="zh-CN" dirty="0"/>
              <a:t>private </a:t>
            </a:r>
            <a:r>
              <a:rPr lang="en-US" altLang="zh-CN" dirty="0">
                <a:solidFill>
                  <a:srgbClr val="FF0000"/>
                </a:solidFill>
              </a:rPr>
              <a:t>final</a:t>
            </a:r>
            <a:r>
              <a:rPr lang="en-US" altLang="zh-CN" dirty="0"/>
              <a:t> String name; </a:t>
            </a:r>
            <a:r>
              <a:rPr lang="zh-CN" altLang="en-US" dirty="0"/>
              <a:t>在构造器中初始化，之后不能使</a:t>
            </a:r>
            <a:r>
              <a:rPr lang="en-US" altLang="zh-CN" dirty="0"/>
              <a:t>name</a:t>
            </a:r>
            <a:r>
              <a:rPr lang="zh-CN" altLang="en-US" dirty="0"/>
              <a:t>指向其他对象；如果定义一个</a:t>
            </a:r>
            <a:r>
              <a:rPr lang="en-US" altLang="zh-CN" dirty="0"/>
              <a:t>final</a:t>
            </a:r>
            <a:r>
              <a:rPr lang="zh-CN" altLang="en-US" dirty="0"/>
              <a:t>基本类型实例域，则初始化后值不可变。</a:t>
            </a:r>
            <a:endParaRPr lang="en-US" altLang="zh-CN" dirty="0"/>
          </a:p>
          <a:p>
            <a:pPr lvl="1"/>
            <a:r>
              <a:rPr lang="zh-CN" altLang="en-US" dirty="0"/>
              <a:t>用于</a:t>
            </a:r>
            <a:r>
              <a:rPr lang="en-US" altLang="zh-CN" dirty="0"/>
              <a:t>static</a:t>
            </a:r>
            <a:r>
              <a:rPr lang="zh-CN" altLang="en-US" dirty="0"/>
              <a:t>域，定义时初始化，如</a:t>
            </a:r>
            <a:r>
              <a:rPr lang="en-US" altLang="zh-CN" dirty="0"/>
              <a:t>Math</a:t>
            </a:r>
            <a:r>
              <a:rPr lang="zh-CN" altLang="en-US" dirty="0"/>
              <a:t>中的</a:t>
            </a:r>
            <a:br>
              <a:rPr lang="en-US" altLang="zh-CN" dirty="0"/>
            </a:br>
            <a:r>
              <a:rPr lang="en-US" altLang="zh-CN" dirty="0"/>
              <a:t>public static </a:t>
            </a:r>
            <a:r>
              <a:rPr lang="en-US" altLang="zh-CN" dirty="0">
                <a:solidFill>
                  <a:srgbClr val="FF0000"/>
                </a:solidFill>
              </a:rPr>
              <a:t>final </a:t>
            </a:r>
            <a:r>
              <a:rPr lang="en-US" altLang="zh-CN" dirty="0"/>
              <a:t>double PI=3.14159265…;</a:t>
            </a:r>
            <a:endParaRPr lang="en-US" altLang="zh-CN" dirty="0"/>
          </a:p>
          <a:p>
            <a:pPr lvl="1"/>
            <a:r>
              <a:rPr lang="zh-CN" altLang="en-US" dirty="0"/>
              <a:t>用于类中方法定义，则该方法在派生链中不可修改。</a:t>
            </a:r>
            <a:endParaRPr lang="en-US" altLang="zh-CN" dirty="0"/>
          </a:p>
          <a:p>
            <a:pPr lvl="1"/>
            <a:r>
              <a:rPr lang="zh-CN" altLang="en-US" dirty="0"/>
              <a:t>用于类定义，则该类不能派生子类，但类中的实例域可变性不受影响。</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5.1.7  </a:t>
            </a:r>
            <a:r>
              <a:rPr lang="zh-CN" altLang="en-US" dirty="0"/>
              <a:t>强制类型转换</a:t>
            </a:r>
            <a:endParaRPr lang="zh-CN" altLang="en-US" dirty="0"/>
          </a:p>
        </p:txBody>
      </p:sp>
      <p:sp>
        <p:nvSpPr>
          <p:cNvPr id="3" name="内容占位符 2"/>
          <p:cNvSpPr>
            <a:spLocks noGrp="1"/>
          </p:cNvSpPr>
          <p:nvPr>
            <p:ph idx="1"/>
          </p:nvPr>
        </p:nvSpPr>
        <p:spPr/>
        <p:txBody>
          <a:bodyPr/>
          <a:lstStyle/>
          <a:p>
            <a:r>
              <a:rPr lang="zh-CN" altLang="en-US" dirty="0"/>
              <a:t>有时需要将一个类的对象引用转换成另一个类的对象引用：</a:t>
            </a:r>
            <a:endParaRPr lang="en-US" altLang="zh-CN" dirty="0"/>
          </a:p>
          <a:p>
            <a:pPr lvl="1"/>
            <a:r>
              <a:rPr lang="en-US" altLang="zh-CN" dirty="0"/>
              <a:t>Manager boss1 = staff[0]; </a:t>
            </a:r>
            <a:r>
              <a:rPr lang="en-US" altLang="zh-CN" dirty="0">
                <a:solidFill>
                  <a:schemeClr val="accent3">
                    <a:lumMod val="50000"/>
                  </a:schemeClr>
                </a:solidFill>
              </a:rPr>
              <a:t>//</a:t>
            </a:r>
            <a:r>
              <a:rPr lang="zh-CN" altLang="en-US" dirty="0">
                <a:solidFill>
                  <a:schemeClr val="accent3">
                    <a:lumMod val="50000"/>
                  </a:schemeClr>
                </a:solidFill>
              </a:rPr>
              <a:t>错误，类型不匹配</a:t>
            </a:r>
            <a:endParaRPr lang="zh-CN" altLang="en-US" dirty="0">
              <a:solidFill>
                <a:schemeClr val="accent3">
                  <a:lumMod val="50000"/>
                </a:schemeClr>
              </a:solidFill>
            </a:endParaRPr>
          </a:p>
          <a:p>
            <a:pPr lvl="1"/>
            <a:r>
              <a:rPr lang="en-US" altLang="zh-CN" dirty="0"/>
              <a:t>Manager boss1 = (Manager)staff[0];</a:t>
            </a:r>
            <a:br>
              <a:rPr lang="en-US" altLang="zh-CN" dirty="0"/>
            </a:br>
            <a:r>
              <a:rPr lang="en-US" altLang="zh-CN" dirty="0"/>
              <a:t>boss1.setBonus(1000);</a:t>
            </a:r>
            <a:endParaRPr lang="en-US" altLang="zh-CN" dirty="0"/>
          </a:p>
          <a:p>
            <a:r>
              <a:rPr lang="zh-CN" altLang="en-US" dirty="0"/>
              <a:t>注意：把子类的引用赋值给超类变量编译器是允许的；把一个超类的引用赋值给一个子类的变量，需进行强制类型转换。这一点与基本类型间的转换是一致的：小的类型可以自动转换成大的类型，反过来不行。</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normAutofit lnSpcReduction="10000"/>
          </a:bodyPr>
          <a:lstStyle/>
          <a:p>
            <a:r>
              <a:rPr lang="zh-CN" altLang="en-US" dirty="0"/>
              <a:t>前面转换中</a:t>
            </a:r>
            <a:r>
              <a:rPr lang="en-US" altLang="zh-CN" dirty="0"/>
              <a:t>staff[0]</a:t>
            </a:r>
            <a:r>
              <a:rPr lang="zh-CN" altLang="en-US" dirty="0"/>
              <a:t>实际指向的对象是</a:t>
            </a:r>
            <a:r>
              <a:rPr lang="en-US" altLang="zh-CN" dirty="0"/>
              <a:t>Manager</a:t>
            </a:r>
            <a:r>
              <a:rPr lang="zh-CN" altLang="en-US" dirty="0"/>
              <a:t>类型的，这种转换没有问题。</a:t>
            </a:r>
            <a:endParaRPr lang="en-US" altLang="zh-CN" dirty="0"/>
          </a:p>
          <a:p>
            <a:r>
              <a:rPr lang="zh-CN" altLang="en-US" dirty="0"/>
              <a:t>如果试图把一个超类对象引用强制转换成子类对象引用，但是被转换的引用实际指向了超类类型对象，运行时会产生异常：</a:t>
            </a:r>
            <a:endParaRPr lang="en-US" altLang="zh-CN" dirty="0"/>
          </a:p>
          <a:p>
            <a:pPr marL="274320" lvl="1" indent="0">
              <a:buNone/>
            </a:pPr>
            <a:r>
              <a:rPr lang="en-US" altLang="zh-CN" dirty="0"/>
              <a:t>Manager boss2=(Manager) </a:t>
            </a:r>
            <a:r>
              <a:rPr lang="en-US" altLang="zh-CN" dirty="0">
                <a:solidFill>
                  <a:srgbClr val="FF0000"/>
                </a:solidFill>
              </a:rPr>
              <a:t>staff[1]</a:t>
            </a:r>
            <a:r>
              <a:rPr lang="en-US" altLang="zh-CN" dirty="0">
                <a:solidFill>
                  <a:schemeClr val="tx1"/>
                </a:solidFill>
              </a:rPr>
              <a:t>;</a:t>
            </a:r>
            <a:endParaRPr lang="en-US" altLang="zh-CN" dirty="0">
              <a:solidFill>
                <a:schemeClr val="tx1"/>
              </a:solidFill>
            </a:endParaRPr>
          </a:p>
          <a:p>
            <a:pPr marL="274320" lvl="1" indent="0">
              <a:buNone/>
            </a:pPr>
            <a:r>
              <a:rPr lang="en-US" altLang="zh-CN" dirty="0"/>
              <a:t>boss2.setBonus(1000);</a:t>
            </a:r>
            <a:endParaRPr lang="en-US" altLang="zh-CN" dirty="0"/>
          </a:p>
          <a:p>
            <a:r>
              <a:rPr lang="zh-CN" altLang="en-US" dirty="0"/>
              <a:t>在进行类型转换时应该先判断是否可以转换：</a:t>
            </a:r>
            <a:endParaRPr lang="en-US" altLang="zh-CN" dirty="0"/>
          </a:p>
          <a:p>
            <a:pPr lvl="1"/>
            <a:r>
              <a:rPr lang="en-US" altLang="zh-CN" dirty="0"/>
              <a:t>if(staff[1] </a:t>
            </a:r>
            <a:r>
              <a:rPr lang="en-US" altLang="zh-CN" dirty="0" err="1">
                <a:solidFill>
                  <a:srgbClr val="FF0000"/>
                </a:solidFill>
              </a:rPr>
              <a:t>instanceof</a:t>
            </a:r>
            <a:r>
              <a:rPr lang="en-US" altLang="zh-CN" dirty="0"/>
              <a:t> Manager)</a:t>
            </a:r>
            <a:br>
              <a:rPr lang="en-US" altLang="zh-CN" dirty="0"/>
            </a:br>
            <a:r>
              <a:rPr lang="en-US" altLang="zh-CN" dirty="0"/>
              <a:t>    Manager boss2=(Manager) </a:t>
            </a:r>
            <a:r>
              <a:rPr lang="en-US" altLang="zh-CN" dirty="0">
                <a:solidFill>
                  <a:schemeClr val="tx1"/>
                </a:solidFill>
              </a:rPr>
              <a:t>staff[1];</a:t>
            </a:r>
            <a:endParaRPr lang="en-US" altLang="zh-CN" dirty="0">
              <a:solidFill>
                <a:schemeClr val="tx1"/>
              </a:solidFill>
            </a:endParaRPr>
          </a:p>
          <a:p>
            <a:pPr lvl="1"/>
            <a:r>
              <a:rPr lang="en-US" altLang="zh-CN" dirty="0"/>
              <a:t>if(staff[0] </a:t>
            </a:r>
            <a:r>
              <a:rPr lang="en-US" altLang="zh-CN" dirty="0" err="1">
                <a:solidFill>
                  <a:srgbClr val="FF0000"/>
                </a:solidFill>
              </a:rPr>
              <a:t>instanceof</a:t>
            </a:r>
            <a:r>
              <a:rPr lang="en-US" altLang="zh-CN" dirty="0"/>
              <a:t> Manager)</a:t>
            </a:r>
            <a:br>
              <a:rPr lang="en-US" altLang="zh-CN" dirty="0"/>
            </a:br>
            <a:r>
              <a:rPr lang="en-US" altLang="zh-CN" dirty="0"/>
              <a:t>    Manager boss1=(Manager) </a:t>
            </a:r>
            <a:r>
              <a:rPr lang="en-US" altLang="zh-CN" dirty="0">
                <a:solidFill>
                  <a:schemeClr val="tx1"/>
                </a:solidFill>
              </a:rPr>
              <a:t>staff[0];</a:t>
            </a:r>
            <a:endParaRPr lang="en-US" altLang="zh-CN" dirty="0">
              <a:solidFill>
                <a:schemeClr val="tx1"/>
              </a:solidFill>
            </a:endParaRPr>
          </a:p>
          <a:p>
            <a:pPr lvl="1"/>
            <a:r>
              <a:rPr lang="zh-CN" altLang="en-US" dirty="0"/>
              <a:t>这里</a:t>
            </a:r>
            <a:r>
              <a:rPr lang="en-US" altLang="zh-CN" dirty="0"/>
              <a:t>staff[0]</a:t>
            </a:r>
            <a:r>
              <a:rPr lang="zh-CN" altLang="en-US" dirty="0"/>
              <a:t>指向的对象类型如果是</a:t>
            </a:r>
            <a:r>
              <a:rPr lang="en-US" altLang="zh-CN" dirty="0"/>
              <a:t>Manager</a:t>
            </a:r>
            <a:r>
              <a:rPr lang="zh-CN" altLang="en-US" dirty="0"/>
              <a:t>或它的子类的实例，</a:t>
            </a:r>
            <a:r>
              <a:rPr lang="en-US" altLang="zh-CN" dirty="0"/>
              <a:t>instanceof</a:t>
            </a:r>
            <a:r>
              <a:rPr lang="zh-CN" altLang="en-US" dirty="0"/>
              <a:t>返回</a:t>
            </a:r>
            <a:r>
              <a:rPr lang="en-US" altLang="zh-CN" dirty="0"/>
              <a:t>ture</a:t>
            </a:r>
            <a:r>
              <a:rPr lang="zh-CN" altLang="en-US" dirty="0"/>
              <a:t>，否则返回</a:t>
            </a:r>
            <a:r>
              <a:rPr lang="en-US" altLang="zh-CN" dirty="0"/>
              <a:t>false</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由于多态机制的存在，在大多数情况下不需要进行类型转换：</a:t>
            </a:r>
            <a:r>
              <a:rPr lang="en-US" altLang="zh-CN" dirty="0"/>
              <a:t>staff</a:t>
            </a:r>
            <a:r>
              <a:rPr lang="zh-CN" altLang="en-US" dirty="0"/>
              <a:t>可以正确的调用继承链中的方法的版本。只有特殊情况下需要用</a:t>
            </a:r>
            <a:r>
              <a:rPr lang="en-US" altLang="zh-CN" dirty="0"/>
              <a:t>staff</a:t>
            </a:r>
            <a:r>
              <a:rPr lang="zh-CN" altLang="en-US" dirty="0"/>
              <a:t>调用子类中</a:t>
            </a:r>
            <a:r>
              <a:rPr lang="zh-CN" altLang="en-US" dirty="0">
                <a:solidFill>
                  <a:srgbClr val="FF0000"/>
                </a:solidFill>
              </a:rPr>
              <a:t>独有的</a:t>
            </a:r>
            <a:r>
              <a:rPr lang="zh-CN" altLang="en-US" dirty="0"/>
              <a:t>方法（如</a:t>
            </a:r>
            <a:r>
              <a:rPr lang="en-US" altLang="zh-CN" dirty="0" err="1"/>
              <a:t>setBonus</a:t>
            </a:r>
            <a:r>
              <a:rPr lang="en-US" altLang="zh-CN" dirty="0"/>
              <a:t>()</a:t>
            </a:r>
            <a:r>
              <a:rPr lang="zh-CN" altLang="en-US" dirty="0"/>
              <a:t>）时才需要转换。</a:t>
            </a:r>
            <a:endParaRPr lang="en-US" altLang="zh-CN" dirty="0"/>
          </a:p>
          <a:p>
            <a:pPr lvl="1"/>
            <a:r>
              <a:rPr lang="zh-CN" altLang="en-US" dirty="0"/>
              <a:t>只有在继承层次内才能进行类型转换。</a:t>
            </a:r>
            <a:endParaRPr lang="en-US" altLang="zh-CN" dirty="0"/>
          </a:p>
          <a:p>
            <a:pPr lvl="1"/>
            <a:r>
              <a:rPr lang="zh-CN" altLang="en-US" dirty="0"/>
              <a:t>将超类转换成子类之前使用</a:t>
            </a:r>
            <a:r>
              <a:rPr lang="en-US" altLang="zh-CN" dirty="0" err="1"/>
              <a:t>instanceof</a:t>
            </a:r>
            <a:r>
              <a:rPr lang="zh-CN" altLang="en-US" dirty="0"/>
              <a:t>进行检查。</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5.1.8  </a:t>
            </a:r>
            <a:r>
              <a:rPr lang="zh-CN" altLang="en-US" dirty="0"/>
              <a:t>抽象类</a:t>
            </a:r>
            <a:endParaRPr lang="zh-CN" altLang="en-US" dirty="0"/>
          </a:p>
        </p:txBody>
      </p:sp>
      <p:sp>
        <p:nvSpPr>
          <p:cNvPr id="3" name="内容占位符 2"/>
          <p:cNvSpPr>
            <a:spLocks noGrp="1"/>
          </p:cNvSpPr>
          <p:nvPr>
            <p:ph idx="1"/>
          </p:nvPr>
        </p:nvSpPr>
        <p:spPr/>
        <p:txBody>
          <a:bodyPr/>
          <a:lstStyle/>
          <a:p>
            <a:r>
              <a:rPr lang="zh-CN" altLang="en-US" dirty="0"/>
              <a:t>回想一下如下的类继承链：</a:t>
            </a:r>
            <a:endParaRPr lang="en-US" altLang="zh-CN" dirty="0"/>
          </a:p>
          <a:p>
            <a:endParaRPr lang="en-US" altLang="zh-CN" dirty="0"/>
          </a:p>
          <a:p>
            <a:endParaRPr lang="en-US" altLang="zh-CN" dirty="0"/>
          </a:p>
          <a:p>
            <a:endParaRPr lang="en-US" altLang="zh-CN" dirty="0"/>
          </a:p>
          <a:p>
            <a:endParaRPr lang="en-US" altLang="zh-CN" dirty="0"/>
          </a:p>
          <a:p>
            <a:r>
              <a:rPr lang="en-US" altLang="zh-CN" dirty="0"/>
              <a:t>Shape</a:t>
            </a:r>
            <a:r>
              <a:rPr lang="zh-CN" altLang="en-US" dirty="0"/>
              <a:t>中应该提供方法</a:t>
            </a:r>
            <a:r>
              <a:rPr lang="en-US" altLang="zh-CN" dirty="0" err="1"/>
              <a:t>calPerimeter</a:t>
            </a:r>
            <a:r>
              <a:rPr lang="en-US" altLang="zh-CN" dirty="0"/>
              <a:t>()</a:t>
            </a:r>
            <a:r>
              <a:rPr lang="zh-CN" altLang="en-US" dirty="0"/>
              <a:t>计算图形的周长，但它的子类中计算方法不同：</a:t>
            </a:r>
            <a:endParaRPr lang="en-US" altLang="zh-CN" dirty="0"/>
          </a:p>
          <a:p>
            <a:pPr lvl="1"/>
            <a:r>
              <a:rPr lang="en-US" altLang="zh-CN" dirty="0"/>
              <a:t>Shape</a:t>
            </a:r>
            <a:r>
              <a:rPr lang="zh-CN" altLang="en-US" dirty="0"/>
              <a:t>中不设计</a:t>
            </a:r>
            <a:r>
              <a:rPr lang="en-US" altLang="zh-CN" dirty="0" err="1"/>
              <a:t>calPerimeter</a:t>
            </a:r>
            <a:r>
              <a:rPr lang="en-US" altLang="zh-CN" dirty="0"/>
              <a:t>()</a:t>
            </a:r>
            <a:r>
              <a:rPr lang="zh-CN" altLang="en-US" dirty="0"/>
              <a:t>，子类中分别添加。</a:t>
            </a:r>
            <a:endParaRPr lang="en-US" altLang="zh-CN" dirty="0"/>
          </a:p>
          <a:p>
            <a:pPr lvl="1"/>
            <a:r>
              <a:rPr lang="en-US" altLang="zh-CN" dirty="0"/>
              <a:t>Shape</a:t>
            </a:r>
            <a:r>
              <a:rPr lang="zh-CN" altLang="en-US" dirty="0"/>
              <a:t>中给出方法签名而不实现它，成为抽象方法。</a:t>
            </a:r>
            <a:endParaRPr lang="zh-CN" altLang="en-US" dirty="0"/>
          </a:p>
        </p:txBody>
      </p:sp>
      <p:sp>
        <p:nvSpPr>
          <p:cNvPr id="4" name="矩形 3"/>
          <p:cNvSpPr/>
          <p:nvPr/>
        </p:nvSpPr>
        <p:spPr>
          <a:xfrm>
            <a:off x="3059832" y="1628800"/>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Shape</a:t>
            </a:r>
            <a:endParaRPr lang="zh-CN" altLang="en-US" dirty="0"/>
          </a:p>
        </p:txBody>
      </p:sp>
      <p:sp>
        <p:nvSpPr>
          <p:cNvPr id="5" name="矩形 4"/>
          <p:cNvSpPr/>
          <p:nvPr/>
        </p:nvSpPr>
        <p:spPr>
          <a:xfrm>
            <a:off x="5148064" y="2780928"/>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Rectangle</a:t>
            </a:r>
            <a:endParaRPr lang="zh-CN" altLang="en-US" dirty="0"/>
          </a:p>
        </p:txBody>
      </p:sp>
      <p:sp>
        <p:nvSpPr>
          <p:cNvPr id="6" name="矩形 5"/>
          <p:cNvSpPr/>
          <p:nvPr/>
        </p:nvSpPr>
        <p:spPr>
          <a:xfrm>
            <a:off x="3103662" y="2780928"/>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Triangle</a:t>
            </a:r>
            <a:endParaRPr lang="zh-CN" altLang="en-US" dirty="0"/>
          </a:p>
        </p:txBody>
      </p:sp>
      <p:sp>
        <p:nvSpPr>
          <p:cNvPr id="7" name="矩形 6"/>
          <p:cNvSpPr/>
          <p:nvPr/>
        </p:nvSpPr>
        <p:spPr>
          <a:xfrm>
            <a:off x="1187624" y="2780928"/>
            <a:ext cx="158417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Circle</a:t>
            </a:r>
            <a:endParaRPr lang="zh-CN" altLang="en-US" dirty="0"/>
          </a:p>
        </p:txBody>
      </p:sp>
      <p:cxnSp>
        <p:nvCxnSpPr>
          <p:cNvPr id="9" name="直接连接符 8"/>
          <p:cNvCxnSpPr/>
          <p:nvPr/>
        </p:nvCxnSpPr>
        <p:spPr>
          <a:xfrm>
            <a:off x="1979712" y="2492896"/>
            <a:ext cx="3960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3851920" y="2132856"/>
            <a:ext cx="0"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7" idx="0"/>
          </p:cNvCxnSpPr>
          <p:nvPr/>
        </p:nvCxnSpPr>
        <p:spPr>
          <a:xfrm>
            <a:off x="1979712" y="2492896"/>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5" idx="0"/>
          </p:cNvCxnSpPr>
          <p:nvPr/>
        </p:nvCxnSpPr>
        <p:spPr>
          <a:xfrm>
            <a:off x="5940152" y="2492896"/>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851920" y="2492896"/>
            <a:ext cx="0" cy="28803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抽象方法和抽象类规则</a:t>
            </a:r>
            <a:endParaRPr lang="zh-CN" altLang="en-US" dirty="0"/>
          </a:p>
        </p:txBody>
      </p:sp>
      <p:sp>
        <p:nvSpPr>
          <p:cNvPr id="3" name="内容占位符 2"/>
          <p:cNvSpPr>
            <a:spLocks noGrp="1"/>
          </p:cNvSpPr>
          <p:nvPr>
            <p:ph idx="1"/>
          </p:nvPr>
        </p:nvSpPr>
        <p:spPr/>
        <p:txBody>
          <a:bodyPr/>
          <a:lstStyle/>
          <a:p>
            <a:r>
              <a:rPr lang="zh-CN" altLang="en-US" dirty="0"/>
              <a:t>抽象类和抽象方法必须使用</a:t>
            </a:r>
            <a:r>
              <a:rPr lang="en-US" altLang="zh-CN" dirty="0"/>
              <a:t>abstract</a:t>
            </a:r>
            <a:r>
              <a:rPr lang="zh-CN" altLang="en-US" dirty="0"/>
              <a:t>修饰，抽象方法没有方法体。抽象类里可以没有抽象方法。</a:t>
            </a:r>
            <a:endParaRPr lang="en-US" altLang="zh-CN" dirty="0"/>
          </a:p>
          <a:p>
            <a:r>
              <a:rPr lang="zh-CN" altLang="en-US" dirty="0"/>
              <a:t>抽象类不能创建实例，即不能用</a:t>
            </a:r>
            <a:r>
              <a:rPr lang="en-US" altLang="zh-CN" dirty="0"/>
              <a:t>new</a:t>
            </a:r>
            <a:r>
              <a:rPr lang="zh-CN" altLang="en-US" dirty="0"/>
              <a:t>调用抽象类的构造器。</a:t>
            </a:r>
            <a:endParaRPr lang="en-US" altLang="zh-CN" dirty="0"/>
          </a:p>
          <a:p>
            <a:r>
              <a:rPr lang="zh-CN" altLang="en-US" dirty="0"/>
              <a:t>抽象类可以包含域，方法（普通方法和抽象方法），构造器，初始化块，内部类。其构造器不用于创建实例，而是被子类调用。</a:t>
            </a:r>
            <a:endParaRPr lang="en-US" altLang="zh-CN" dirty="0"/>
          </a:p>
          <a:p>
            <a:r>
              <a:rPr lang="zh-CN" altLang="en-US" dirty="0"/>
              <a:t>含有抽象方法的类必须定义为抽象类：</a:t>
            </a:r>
            <a:endParaRPr lang="en-US" altLang="zh-CN" dirty="0"/>
          </a:p>
          <a:p>
            <a:pPr lvl="1"/>
            <a:r>
              <a:rPr lang="zh-CN" altLang="en-US" dirty="0"/>
              <a:t>直接在类中定义了抽象方法</a:t>
            </a:r>
            <a:endParaRPr lang="en-US" altLang="zh-CN" dirty="0"/>
          </a:p>
          <a:p>
            <a:pPr lvl="1"/>
            <a:r>
              <a:rPr lang="zh-CN" altLang="en-US" dirty="0"/>
              <a:t>继承了抽象父类，而没有完全实现其抽象方法</a:t>
            </a:r>
            <a:endParaRPr lang="en-US" altLang="zh-CN" dirty="0"/>
          </a:p>
          <a:p>
            <a:pPr lvl="1"/>
            <a:r>
              <a:rPr lang="zh-CN" altLang="en-US" dirty="0"/>
              <a:t>实现了一个接口，而没有完全实现接口中的抽象方法</a:t>
            </a:r>
            <a:endParaRPr lang="en-US" altLang="zh-CN" dirty="0"/>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看一个例子：</a:t>
            </a:r>
            <a:endParaRPr lang="en-US" altLang="zh-CN" dirty="0"/>
          </a:p>
          <a:p>
            <a:pPr lvl="1"/>
            <a:r>
              <a:rPr lang="zh-CN" altLang="en-US" dirty="0"/>
              <a:t>创建一个抽象类</a:t>
            </a:r>
            <a:r>
              <a:rPr lang="en-US" altLang="zh-CN" dirty="0"/>
              <a:t>Shape</a:t>
            </a:r>
            <a:endParaRPr lang="en-US" altLang="zh-CN" dirty="0"/>
          </a:p>
          <a:p>
            <a:pPr lvl="1"/>
            <a:r>
              <a:rPr lang="zh-CN" altLang="en-US" dirty="0"/>
              <a:t>创建</a:t>
            </a:r>
            <a:r>
              <a:rPr lang="en-US" altLang="zh-CN" dirty="0"/>
              <a:t>Shape</a:t>
            </a:r>
            <a:r>
              <a:rPr lang="zh-CN" altLang="en-US" dirty="0"/>
              <a:t>的一个子类</a:t>
            </a:r>
            <a:r>
              <a:rPr lang="en-US" altLang="zh-CN" dirty="0"/>
              <a:t>Circle</a:t>
            </a:r>
            <a:endParaRPr lang="en-US" altLang="zh-CN" dirty="0"/>
          </a:p>
          <a:p>
            <a:pPr lvl="1"/>
            <a:r>
              <a:rPr lang="zh-CN" altLang="en-US" dirty="0"/>
              <a:t>创建</a:t>
            </a:r>
            <a:r>
              <a:rPr lang="en-US" altLang="zh-CN" dirty="0"/>
              <a:t>Shape</a:t>
            </a:r>
            <a:r>
              <a:rPr lang="zh-CN" altLang="en-US" dirty="0"/>
              <a:t>的一个子类</a:t>
            </a:r>
            <a:r>
              <a:rPr lang="en-US" altLang="zh-CN" dirty="0"/>
              <a:t>Triangle</a:t>
            </a:r>
            <a:endParaRPr lang="en-US" altLang="zh-CN" dirty="0"/>
          </a:p>
          <a:p>
            <a:r>
              <a:rPr lang="zh-CN" altLang="en-US" dirty="0"/>
              <a:t>注意：</a:t>
            </a:r>
            <a:endParaRPr lang="en-US" altLang="zh-CN" dirty="0"/>
          </a:p>
          <a:p>
            <a:pPr lvl="1"/>
            <a:r>
              <a:rPr lang="en-US" altLang="zh-CN" dirty="0"/>
              <a:t>abstract</a:t>
            </a:r>
            <a:r>
              <a:rPr lang="zh-CN" altLang="en-US" dirty="0"/>
              <a:t>不能修饰域和构造器。</a:t>
            </a:r>
            <a:endParaRPr lang="en-US" altLang="zh-CN" dirty="0"/>
          </a:p>
          <a:p>
            <a:pPr lvl="1"/>
            <a:r>
              <a:rPr lang="en-US" altLang="zh-CN" dirty="0"/>
              <a:t>abstract</a:t>
            </a:r>
            <a:r>
              <a:rPr lang="zh-CN" altLang="en-US" dirty="0"/>
              <a:t>方法只有被子类中重写才有意义，所以它不能被</a:t>
            </a:r>
            <a:r>
              <a:rPr lang="en-US" altLang="zh-CN" dirty="0"/>
              <a:t>private</a:t>
            </a:r>
            <a:r>
              <a:rPr lang="zh-CN" altLang="en-US" dirty="0"/>
              <a:t>修饰。</a:t>
            </a:r>
            <a:endParaRPr lang="en-US" altLang="zh-CN" dirty="0"/>
          </a:p>
          <a:p>
            <a:pPr lvl="1"/>
            <a:r>
              <a:rPr lang="zh-CN" altLang="en-US" dirty="0"/>
              <a:t>空方法有方法体，不是抽象方法。</a:t>
            </a:r>
            <a:endParaRPr lang="en-US" altLang="zh-CN" dirty="0"/>
          </a:p>
          <a:p>
            <a:pPr lvl="1"/>
            <a:r>
              <a:rPr lang="zh-CN" altLang="en-US" dirty="0"/>
              <a:t>抽象类不能创建对象，但是可以创建其引用变量，指向其子类的对象。</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normAutofit fontScale="92500" lnSpcReduction="10000"/>
          </a:bodyPr>
          <a:lstStyle/>
          <a:p>
            <a:r>
              <a:rPr lang="zh-CN" altLang="en-US" dirty="0"/>
              <a:t>再看一个例子：</a:t>
            </a:r>
            <a:endParaRPr lang="en-US" altLang="zh-CN" dirty="0"/>
          </a:p>
          <a:p>
            <a:pPr marL="274320" lvl="1" indent="0">
              <a:buNone/>
            </a:pPr>
            <a:r>
              <a:rPr lang="en-US" altLang="zh-CN" dirty="0"/>
              <a:t>public </a:t>
            </a:r>
            <a:r>
              <a:rPr lang="en-US" altLang="zh-CN" dirty="0">
                <a:solidFill>
                  <a:srgbClr val="FF0000"/>
                </a:solidFill>
              </a:rPr>
              <a:t>abstract</a:t>
            </a:r>
            <a:r>
              <a:rPr lang="en-US" altLang="zh-CN" dirty="0"/>
              <a:t> class Person</a:t>
            </a:r>
            <a:endParaRPr lang="en-US" altLang="zh-CN" dirty="0"/>
          </a:p>
          <a:p>
            <a:pPr marL="274320" lvl="1" indent="0">
              <a:buNone/>
            </a:pPr>
            <a:r>
              <a:rPr lang="en-US" altLang="zh-CN" dirty="0"/>
              <a:t>{</a:t>
            </a:r>
            <a:endParaRPr lang="en-US" altLang="zh-CN" dirty="0"/>
          </a:p>
          <a:p>
            <a:pPr marL="274320" lvl="1" indent="0">
              <a:buNone/>
            </a:pPr>
            <a:r>
              <a:rPr lang="en-US" altLang="zh-CN" dirty="0"/>
              <a:t>   public </a:t>
            </a:r>
            <a:r>
              <a:rPr lang="en-US" altLang="zh-CN" dirty="0">
                <a:solidFill>
                  <a:srgbClr val="FF0000"/>
                </a:solidFill>
              </a:rPr>
              <a:t>abstract</a:t>
            </a:r>
            <a:r>
              <a:rPr lang="en-US" altLang="zh-CN" dirty="0"/>
              <a:t>  String </a:t>
            </a:r>
            <a:r>
              <a:rPr lang="en-US" altLang="zh-CN" dirty="0" err="1"/>
              <a:t>getDescription</a:t>
            </a:r>
            <a:r>
              <a:rPr lang="en-US" altLang="zh-CN" dirty="0"/>
              <a:t>() ;</a:t>
            </a:r>
            <a:endParaRPr lang="en-US" altLang="zh-CN" dirty="0"/>
          </a:p>
          <a:p>
            <a:pPr marL="274320" lvl="1" indent="0">
              <a:buNone/>
            </a:pPr>
            <a:r>
              <a:rPr lang="en-US" altLang="zh-CN" dirty="0"/>
              <a:t>   private String name;</a:t>
            </a:r>
            <a:endParaRPr lang="en-US" altLang="zh-CN" dirty="0"/>
          </a:p>
          <a:p>
            <a:pPr marL="274320" lvl="1" indent="0">
              <a:buNone/>
            </a:pPr>
            <a:r>
              <a:rPr lang="en-US" altLang="zh-CN" dirty="0"/>
              <a:t>   public Person(String name)</a:t>
            </a:r>
            <a:endParaRPr lang="en-US" altLang="zh-CN" dirty="0"/>
          </a:p>
          <a:p>
            <a:pPr marL="274320" lvl="1" indent="0">
              <a:buNone/>
            </a:pPr>
            <a:r>
              <a:rPr lang="en-US" altLang="zh-CN" dirty="0"/>
              <a:t>   {</a:t>
            </a:r>
            <a:endParaRPr lang="en-US" altLang="zh-CN" dirty="0"/>
          </a:p>
          <a:p>
            <a:pPr marL="274320" lvl="1" indent="0">
              <a:buNone/>
            </a:pPr>
            <a:r>
              <a:rPr lang="en-US" altLang="zh-CN" dirty="0"/>
              <a:t>      this.name = name;</a:t>
            </a:r>
            <a:endParaRPr lang="en-US" altLang="zh-CN" dirty="0"/>
          </a:p>
          <a:p>
            <a:pPr marL="274320" lvl="1" indent="0">
              <a:buNone/>
            </a:pPr>
            <a:r>
              <a:rPr lang="en-US" altLang="zh-CN" dirty="0"/>
              <a:t>   }</a:t>
            </a:r>
            <a:endParaRPr lang="en-US" altLang="zh-CN" dirty="0"/>
          </a:p>
          <a:p>
            <a:pPr marL="274320" lvl="1" indent="0">
              <a:buNone/>
            </a:pPr>
            <a:r>
              <a:rPr lang="en-US" altLang="zh-CN" dirty="0"/>
              <a:t>   public String </a:t>
            </a:r>
            <a:r>
              <a:rPr lang="en-US" altLang="zh-CN" dirty="0" err="1"/>
              <a:t>getName</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return name;</a:t>
            </a:r>
            <a:endParaRPr lang="en-US" altLang="zh-CN" dirty="0"/>
          </a:p>
          <a:p>
            <a:pPr marL="274320" lvl="1" indent="0">
              <a:buNone/>
            </a:pPr>
            <a:r>
              <a:rPr lang="en-US" altLang="zh-CN" dirty="0"/>
              <a:t>   }</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6336704"/>
          </a:xfrm>
        </p:spPr>
        <p:txBody>
          <a:bodyPr>
            <a:normAutofit fontScale="92500" lnSpcReduction="10000"/>
          </a:bodyPr>
          <a:lstStyle/>
          <a:p>
            <a:r>
              <a:rPr lang="zh-CN" altLang="en-US" dirty="0"/>
              <a:t>派生一个</a:t>
            </a:r>
            <a:r>
              <a:rPr lang="en-US" altLang="zh-CN" dirty="0"/>
              <a:t>Employee</a:t>
            </a:r>
            <a:r>
              <a:rPr lang="zh-CN" altLang="en-US" dirty="0"/>
              <a:t>类，一个</a:t>
            </a:r>
            <a:r>
              <a:rPr lang="en-US" altLang="zh-CN" dirty="0"/>
              <a:t>Student</a:t>
            </a:r>
            <a:r>
              <a:rPr lang="zh-CN" altLang="en-US" dirty="0"/>
              <a:t>类</a:t>
            </a:r>
            <a:endParaRPr lang="en-US" altLang="zh-CN" dirty="0"/>
          </a:p>
          <a:p>
            <a:pPr lvl="1"/>
            <a:r>
              <a:rPr lang="en-US" altLang="zh-CN" b="1" dirty="0"/>
              <a:t>public class Employee extends Person</a:t>
            </a:r>
            <a:br>
              <a:rPr lang="en-US" altLang="zh-CN" b="1" dirty="0"/>
            </a:br>
            <a:r>
              <a:rPr lang="en-US" altLang="zh-CN" b="1" dirty="0"/>
              <a:t>{</a:t>
            </a:r>
            <a:br>
              <a:rPr lang="en-US" altLang="zh-CN" b="1" dirty="0"/>
            </a:br>
            <a:r>
              <a:rPr lang="en-US" altLang="zh-CN" b="1" dirty="0"/>
              <a:t>     …</a:t>
            </a:r>
            <a:br>
              <a:rPr lang="en-US" altLang="zh-CN" b="1" dirty="0"/>
            </a:br>
            <a:r>
              <a:rPr lang="en-US" altLang="zh-CN" b="1" dirty="0"/>
              <a:t>     public String </a:t>
            </a:r>
            <a:r>
              <a:rPr lang="en-US" altLang="zh-CN" b="1" dirty="0" err="1">
                <a:solidFill>
                  <a:srgbClr val="FF0000"/>
                </a:solidFill>
              </a:rPr>
              <a:t>getDescription</a:t>
            </a:r>
            <a:r>
              <a:rPr lang="en-US" altLang="zh-CN" b="1" dirty="0">
                <a:solidFill>
                  <a:srgbClr val="FF0000"/>
                </a:solidFill>
              </a:rPr>
              <a:t>()</a:t>
            </a:r>
            <a:endParaRPr lang="en-US" altLang="zh-CN" b="1" dirty="0">
              <a:solidFill>
                <a:srgbClr val="FF0000"/>
              </a:solidFill>
            </a:endParaRPr>
          </a:p>
          <a:p>
            <a:pPr marL="274320" lvl="1" indent="0">
              <a:buNone/>
            </a:pPr>
            <a:r>
              <a:rPr lang="en-US" altLang="zh-CN" b="1" dirty="0"/>
              <a:t>      {</a:t>
            </a:r>
            <a:endParaRPr lang="en-US" altLang="zh-CN" b="1" dirty="0"/>
          </a:p>
          <a:p>
            <a:pPr marL="274320" lvl="1" indent="0">
              <a:buNone/>
            </a:pPr>
            <a:r>
              <a:rPr lang="en-US" altLang="zh-CN" b="1" dirty="0"/>
              <a:t>          return </a:t>
            </a:r>
            <a:r>
              <a:rPr lang="en-US" altLang="zh-CN" b="1" dirty="0" err="1"/>
              <a:t>String.format</a:t>
            </a:r>
            <a:r>
              <a:rPr lang="en-US" altLang="zh-CN" b="1" dirty="0"/>
              <a:t>("an employee with a 		salary of $%.2f", salary);</a:t>
            </a:r>
            <a:endParaRPr lang="en-US" altLang="zh-CN" b="1" dirty="0"/>
          </a:p>
          <a:p>
            <a:pPr marL="274320" lvl="1" indent="0">
              <a:buNone/>
            </a:pPr>
            <a:r>
              <a:rPr lang="en-US" altLang="zh-CN" b="1" dirty="0"/>
              <a:t>      }</a:t>
            </a:r>
            <a:br>
              <a:rPr lang="en-US" altLang="zh-CN" b="1" dirty="0"/>
            </a:br>
            <a:r>
              <a:rPr lang="en-US" altLang="zh-CN" b="1" dirty="0"/>
              <a:t>  }</a:t>
            </a:r>
            <a:endParaRPr lang="en-US" altLang="zh-CN" b="1" dirty="0"/>
          </a:p>
          <a:p>
            <a:pPr lvl="1"/>
            <a:r>
              <a:rPr lang="en-US" altLang="zh-CN" b="1" dirty="0"/>
              <a:t>public class Student extends Person</a:t>
            </a:r>
            <a:endParaRPr lang="en-US" altLang="zh-CN" b="1" dirty="0"/>
          </a:p>
          <a:p>
            <a:pPr marL="274320" lvl="1" indent="0">
              <a:buNone/>
            </a:pPr>
            <a:r>
              <a:rPr lang="en-US" altLang="zh-CN" b="1" dirty="0"/>
              <a:t>{   …</a:t>
            </a:r>
            <a:br>
              <a:rPr lang="en-US" altLang="zh-CN" b="1" dirty="0"/>
            </a:br>
            <a:r>
              <a:rPr lang="en-US" altLang="zh-CN" b="1" dirty="0"/>
              <a:t>     public String </a:t>
            </a:r>
            <a:r>
              <a:rPr lang="en-US" altLang="zh-CN" b="1" dirty="0" err="1">
                <a:solidFill>
                  <a:srgbClr val="FF0000"/>
                </a:solidFill>
              </a:rPr>
              <a:t>getDescription</a:t>
            </a:r>
            <a:r>
              <a:rPr lang="en-US" altLang="zh-CN" b="1" dirty="0">
                <a:solidFill>
                  <a:srgbClr val="FF0000"/>
                </a:solidFill>
              </a:rPr>
              <a:t>()</a:t>
            </a:r>
            <a:endParaRPr lang="en-US" altLang="zh-CN" b="1" dirty="0">
              <a:solidFill>
                <a:srgbClr val="FF0000"/>
              </a:solidFill>
            </a:endParaRPr>
          </a:p>
          <a:p>
            <a:pPr marL="274320" lvl="1" indent="0">
              <a:buNone/>
            </a:pPr>
            <a:r>
              <a:rPr lang="en-US" altLang="zh-CN" b="1" dirty="0"/>
              <a:t>     {</a:t>
            </a:r>
            <a:endParaRPr lang="en-US" altLang="zh-CN" b="1" dirty="0"/>
          </a:p>
          <a:p>
            <a:pPr marL="274320" lvl="1" indent="0">
              <a:buNone/>
            </a:pPr>
            <a:r>
              <a:rPr lang="en-US" altLang="zh-CN" b="1" dirty="0"/>
              <a:t>         return "a student majoring in " + major;</a:t>
            </a:r>
            <a:endParaRPr lang="en-US" altLang="zh-CN" b="1" dirty="0"/>
          </a:p>
          <a:p>
            <a:pPr marL="274320" lvl="1" indent="0">
              <a:buNone/>
            </a:pPr>
            <a:r>
              <a:rPr lang="en-US" altLang="zh-CN" b="1" dirty="0"/>
              <a:t>     }</a:t>
            </a:r>
            <a:br>
              <a:rPr lang="en-US" altLang="zh-CN" b="1" dirty="0"/>
            </a:br>
            <a:r>
              <a:rPr lang="en-US" altLang="zh-CN" b="1" dirty="0"/>
              <a:t>}</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如果不在</a:t>
            </a:r>
            <a:r>
              <a:rPr lang="en-US" altLang="zh-CN" dirty="0"/>
              <a:t>Person</a:t>
            </a:r>
            <a:r>
              <a:rPr lang="zh-CN" altLang="en-US" dirty="0"/>
              <a:t>中定义</a:t>
            </a:r>
            <a:r>
              <a:rPr lang="en-US" altLang="zh-CN" dirty="0" err="1"/>
              <a:t>getDescription</a:t>
            </a:r>
            <a:r>
              <a:rPr lang="en-US" altLang="zh-CN" dirty="0"/>
              <a:t>() </a:t>
            </a:r>
            <a:r>
              <a:rPr lang="zh-CN" altLang="en-US" dirty="0"/>
              <a:t>，会怎么样？</a:t>
            </a:r>
            <a:endParaRPr lang="en-US" altLang="zh-CN" dirty="0"/>
          </a:p>
          <a:p>
            <a:r>
              <a:rPr lang="zh-CN" altLang="en-US" dirty="0"/>
              <a:t>如果把</a:t>
            </a:r>
            <a:r>
              <a:rPr lang="en-US" altLang="zh-CN" dirty="0"/>
              <a:t>Person</a:t>
            </a:r>
            <a:r>
              <a:rPr lang="zh-CN" altLang="en-US" dirty="0"/>
              <a:t>中的</a:t>
            </a:r>
            <a:r>
              <a:rPr lang="en-US" altLang="zh-CN" dirty="0" err="1"/>
              <a:t>getDescription</a:t>
            </a:r>
            <a:r>
              <a:rPr lang="zh-CN" altLang="en-US" dirty="0"/>
              <a:t>写成如下形式：</a:t>
            </a:r>
            <a:endParaRPr lang="en-US" altLang="zh-CN" dirty="0"/>
          </a:p>
          <a:p>
            <a:pPr marL="274320" lvl="1" indent="0">
              <a:buNone/>
            </a:pPr>
            <a:r>
              <a:rPr lang="en-US" altLang="zh-CN" b="1" dirty="0"/>
              <a:t>public String </a:t>
            </a:r>
            <a:r>
              <a:rPr lang="en-US" altLang="zh-CN" b="1" dirty="0" err="1"/>
              <a:t>getDescription</a:t>
            </a:r>
            <a:r>
              <a:rPr lang="en-US" altLang="zh-CN" b="1" dirty="0"/>
              <a:t>() </a:t>
            </a:r>
            <a:endParaRPr lang="en-US" altLang="zh-CN" b="1" dirty="0"/>
          </a:p>
          <a:p>
            <a:pPr marL="274320" lvl="1" indent="0">
              <a:buNone/>
            </a:pPr>
            <a:r>
              <a:rPr lang="en-US" altLang="zh-CN" dirty="0"/>
              <a:t>{</a:t>
            </a:r>
            <a:endParaRPr lang="en-US" altLang="zh-CN" dirty="0"/>
          </a:p>
          <a:p>
            <a:pPr marL="274320" lvl="1" indent="0">
              <a:buNone/>
            </a:pPr>
            <a:r>
              <a:rPr lang="en-US" altLang="zh-CN" dirty="0"/>
              <a:t>}   </a:t>
            </a:r>
            <a:r>
              <a:rPr lang="zh-CN" altLang="en-US" dirty="0"/>
              <a:t>是否可以？</a:t>
            </a:r>
            <a:br>
              <a:rPr lang="en-US" altLang="zh-CN" dirty="0"/>
            </a:br>
            <a:br>
              <a:rPr lang="en-US" altLang="zh-CN" dirty="0"/>
            </a:br>
            <a:r>
              <a:rPr lang="en-US" altLang="zh-CN" b="1" dirty="0"/>
              <a:t>public String </a:t>
            </a:r>
            <a:r>
              <a:rPr lang="en-US" altLang="zh-CN" b="1" dirty="0" err="1"/>
              <a:t>getDescription</a:t>
            </a:r>
            <a:r>
              <a:rPr lang="en-US" altLang="zh-CN" b="1" dirty="0"/>
              <a:t>() </a:t>
            </a:r>
            <a:endParaRPr lang="en-US" altLang="zh-CN" b="1" dirty="0"/>
          </a:p>
          <a:p>
            <a:pPr marL="274320" lvl="1" indent="0">
              <a:buNone/>
            </a:pPr>
            <a:r>
              <a:rPr lang="en-US" altLang="zh-CN" dirty="0"/>
              <a:t>{</a:t>
            </a:r>
            <a:endParaRPr lang="en-US" altLang="zh-CN" dirty="0"/>
          </a:p>
          <a:p>
            <a:pPr marL="274320" lvl="1" indent="0">
              <a:buNone/>
            </a:pPr>
            <a:r>
              <a:rPr lang="en-US" altLang="zh-CN" dirty="0"/>
              <a:t>        return “”;</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5.1.9  protected</a:t>
            </a:r>
            <a:r>
              <a:rPr lang="zh-CN" altLang="en-US" dirty="0"/>
              <a:t>成员</a:t>
            </a:r>
            <a:endParaRPr lang="zh-CN" altLang="en-US" dirty="0"/>
          </a:p>
        </p:txBody>
      </p:sp>
      <p:sp>
        <p:nvSpPr>
          <p:cNvPr id="3" name="内容占位符 2"/>
          <p:cNvSpPr>
            <a:spLocks noGrp="1"/>
          </p:cNvSpPr>
          <p:nvPr>
            <p:ph idx="1"/>
          </p:nvPr>
        </p:nvSpPr>
        <p:spPr/>
        <p:txBody>
          <a:bodyPr/>
          <a:lstStyle/>
          <a:p>
            <a:r>
              <a:rPr lang="zh-CN" altLang="en-US" dirty="0"/>
              <a:t>通常，类中的域定义为</a:t>
            </a:r>
            <a:r>
              <a:rPr lang="en-US" altLang="zh-CN" dirty="0"/>
              <a:t>private</a:t>
            </a:r>
            <a:r>
              <a:rPr lang="zh-CN" altLang="en-US" dirty="0"/>
              <a:t>，方法定义为</a:t>
            </a:r>
            <a:r>
              <a:rPr lang="en-US" altLang="zh-CN" dirty="0"/>
              <a:t>public</a:t>
            </a:r>
            <a:r>
              <a:rPr lang="zh-CN" altLang="en-US" dirty="0"/>
              <a:t>，这样可以防止数据的不受限制的访问。</a:t>
            </a:r>
            <a:endParaRPr lang="en-US" altLang="zh-CN" dirty="0"/>
          </a:p>
          <a:p>
            <a:pPr lvl="1"/>
            <a:r>
              <a:rPr lang="zh-CN" altLang="en-US" dirty="0"/>
              <a:t>继承系列中同样适用：子类不能访问超类的私有部分。</a:t>
            </a:r>
            <a:endParaRPr lang="en-US" altLang="zh-CN" dirty="0"/>
          </a:p>
          <a:p>
            <a:r>
              <a:rPr lang="zh-CN" altLang="en-US" dirty="0"/>
              <a:t>有时需要在子类中访问超类的域，则可将超类中这个域定义为</a:t>
            </a:r>
            <a:r>
              <a:rPr lang="en-US" altLang="zh-CN" dirty="0"/>
              <a:t>protected</a:t>
            </a:r>
            <a:r>
              <a:rPr lang="zh-CN" altLang="en-US" dirty="0"/>
              <a:t>，这样在</a:t>
            </a:r>
            <a:r>
              <a:rPr lang="zh-CN" altLang="en-US" dirty="0">
                <a:solidFill>
                  <a:srgbClr val="FF0000"/>
                </a:solidFill>
              </a:rPr>
              <a:t>同一个包中的所有类</a:t>
            </a:r>
            <a:r>
              <a:rPr lang="zh-CN" altLang="en-US" dirty="0"/>
              <a:t>或</a:t>
            </a:r>
            <a:r>
              <a:rPr lang="zh-CN" altLang="en-US" dirty="0">
                <a:solidFill>
                  <a:srgbClr val="FF0000"/>
                </a:solidFill>
              </a:rPr>
              <a:t>其他包中子类</a:t>
            </a:r>
            <a:r>
              <a:rPr lang="zh-CN" altLang="en-US" dirty="0"/>
              <a:t>可以访问。</a:t>
            </a:r>
            <a:endParaRPr lang="en-US" altLang="zh-CN" dirty="0"/>
          </a:p>
          <a:p>
            <a:r>
              <a:rPr lang="zh-CN" altLang="en-US" dirty="0"/>
              <a:t>如果一个方法被定义为</a:t>
            </a:r>
            <a:r>
              <a:rPr lang="en-US" altLang="zh-CN" dirty="0"/>
              <a:t>protected</a:t>
            </a:r>
            <a:r>
              <a:rPr lang="zh-CN" altLang="en-US" dirty="0"/>
              <a:t>，则在</a:t>
            </a:r>
            <a:r>
              <a:rPr lang="zh-CN" altLang="en-US" dirty="0">
                <a:solidFill>
                  <a:srgbClr val="FF0000"/>
                </a:solidFill>
              </a:rPr>
              <a:t>同一个包中的所有类</a:t>
            </a:r>
            <a:r>
              <a:rPr lang="zh-CN" altLang="en-US" dirty="0"/>
              <a:t>或</a:t>
            </a:r>
            <a:r>
              <a:rPr lang="zh-CN" altLang="en-US" dirty="0">
                <a:solidFill>
                  <a:srgbClr val="FF0000"/>
                </a:solidFill>
              </a:rPr>
              <a:t>其他包中子类</a:t>
            </a:r>
            <a:r>
              <a:rPr lang="zh-CN" altLang="en-US" dirty="0"/>
              <a:t>可以访问这个方法。</a:t>
            </a:r>
            <a:endParaRPr lang="en-US" altLang="zh-CN" dirty="0"/>
          </a:p>
          <a:p>
            <a:pPr lvl="1"/>
            <a:r>
              <a:rPr lang="zh-CN" altLang="en-US" dirty="0"/>
              <a:t>一个例子</a:t>
            </a:r>
            <a:r>
              <a:rPr lang="en-US" altLang="zh-CN" dirty="0"/>
              <a:t>ProtectedTest.java</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  Object</a:t>
            </a:r>
            <a:r>
              <a:rPr lang="zh-CN" altLang="en-US" dirty="0"/>
              <a:t>：所有类的超类</a:t>
            </a:r>
            <a:endParaRPr lang="zh-CN" altLang="en-US" dirty="0"/>
          </a:p>
        </p:txBody>
      </p:sp>
      <p:sp>
        <p:nvSpPr>
          <p:cNvPr id="3" name="内容占位符 2"/>
          <p:cNvSpPr>
            <a:spLocks noGrp="1"/>
          </p:cNvSpPr>
          <p:nvPr>
            <p:ph idx="1"/>
          </p:nvPr>
        </p:nvSpPr>
        <p:spPr>
          <a:xfrm>
            <a:off x="457200" y="980728"/>
            <a:ext cx="8075240" cy="5688632"/>
          </a:xfrm>
        </p:spPr>
        <p:txBody>
          <a:bodyPr/>
          <a:lstStyle/>
          <a:p>
            <a:r>
              <a:rPr lang="zh-CN" altLang="en-US" dirty="0"/>
              <a:t>定义一个类时没有明确其继承自哪一个类，则是继承自</a:t>
            </a:r>
            <a:r>
              <a:rPr lang="en-US" altLang="zh-CN" dirty="0" err="1"/>
              <a:t>java.lang.Object</a:t>
            </a:r>
            <a:r>
              <a:rPr lang="zh-CN" altLang="en-US" dirty="0"/>
              <a:t>类，即它是</a:t>
            </a:r>
            <a:r>
              <a:rPr lang="en-US" altLang="zh-CN" dirty="0"/>
              <a:t>java</a:t>
            </a:r>
            <a:r>
              <a:rPr lang="zh-CN" altLang="en-US" dirty="0"/>
              <a:t>中所有类的祖先。</a:t>
            </a:r>
            <a:endParaRPr lang="en-US" altLang="zh-CN" dirty="0"/>
          </a:p>
          <a:p>
            <a:pPr lvl="1"/>
            <a:r>
              <a:rPr lang="zh-CN" altLang="en-US" dirty="0"/>
              <a:t>可以使用</a:t>
            </a:r>
            <a:r>
              <a:rPr lang="en-US" altLang="zh-CN" dirty="0"/>
              <a:t>Object</a:t>
            </a:r>
            <a:r>
              <a:rPr lang="zh-CN" altLang="en-US" dirty="0"/>
              <a:t>的变量引用所有对象：</a:t>
            </a:r>
            <a:br>
              <a:rPr lang="en-US" altLang="zh-CN" dirty="0"/>
            </a:br>
            <a:r>
              <a:rPr lang="en-US" altLang="zh-CN" dirty="0"/>
              <a:t>Object </a:t>
            </a:r>
            <a:r>
              <a:rPr lang="en-US" altLang="zh-CN" dirty="0" err="1"/>
              <a:t>obj</a:t>
            </a:r>
            <a:r>
              <a:rPr lang="en-US" altLang="zh-CN" dirty="0"/>
              <a:t> = new Employee</a:t>
            </a:r>
            <a:r>
              <a:rPr lang="zh-CN" altLang="en-US" dirty="0"/>
              <a:t>（</a:t>
            </a:r>
            <a:r>
              <a:rPr lang="en-US" altLang="zh-CN" dirty="0"/>
              <a:t>…</a:t>
            </a:r>
            <a:r>
              <a:rPr lang="zh-CN" altLang="en-US" dirty="0"/>
              <a:t>）；</a:t>
            </a:r>
            <a:endParaRPr lang="en-US" altLang="zh-CN" dirty="0"/>
          </a:p>
          <a:p>
            <a:pPr lvl="1"/>
            <a:r>
              <a:rPr lang="zh-CN" altLang="en-US" dirty="0"/>
              <a:t>要想使用对象的功能，要清楚其具体类型并转换：</a:t>
            </a:r>
            <a:br>
              <a:rPr lang="en-US" altLang="zh-CN" dirty="0"/>
            </a:br>
            <a:r>
              <a:rPr lang="en-US" altLang="zh-CN" dirty="0"/>
              <a:t>if</a:t>
            </a:r>
            <a:r>
              <a:rPr lang="zh-CN" altLang="en-US" dirty="0"/>
              <a:t>（</a:t>
            </a:r>
            <a:r>
              <a:rPr lang="en-US" altLang="zh-CN" dirty="0" err="1"/>
              <a:t>obj</a:t>
            </a:r>
            <a:r>
              <a:rPr lang="en-US" altLang="zh-CN" dirty="0"/>
              <a:t>  </a:t>
            </a:r>
            <a:r>
              <a:rPr lang="en-US" altLang="zh-CN" dirty="0" err="1"/>
              <a:t>instanceof</a:t>
            </a:r>
            <a:r>
              <a:rPr lang="en-US" altLang="zh-CN" dirty="0"/>
              <a:t>  Employee</a:t>
            </a:r>
            <a:r>
              <a:rPr lang="zh-CN" altLang="en-US" dirty="0"/>
              <a:t>）</a:t>
            </a:r>
            <a:endParaRPr lang="en-US" altLang="zh-CN" dirty="0"/>
          </a:p>
          <a:p>
            <a:pPr marL="274320" lvl="1" indent="0">
              <a:buNone/>
            </a:pPr>
            <a:r>
              <a:rPr lang="en-US" altLang="zh-CN" dirty="0"/>
              <a:t>         Employee e = (Employee)</a:t>
            </a:r>
            <a:r>
              <a:rPr lang="en-US" altLang="zh-CN" dirty="0" err="1"/>
              <a:t>obj</a:t>
            </a:r>
            <a:r>
              <a:rPr lang="en-US" altLang="zh-CN" dirty="0"/>
              <a:t>;</a:t>
            </a:r>
            <a:br>
              <a:rPr lang="en-US" altLang="zh-CN" dirty="0"/>
            </a:br>
            <a:r>
              <a:rPr lang="en-US" altLang="zh-CN" dirty="0"/>
              <a:t>  double salary = </a:t>
            </a:r>
            <a:r>
              <a:rPr lang="en-US" altLang="zh-CN" dirty="0" err="1"/>
              <a:t>e.getSalary</a:t>
            </a:r>
            <a:r>
              <a:rPr lang="en-US" altLang="zh-CN" dirty="0"/>
              <a:t>();</a:t>
            </a:r>
            <a:endParaRPr lang="en-US" altLang="zh-CN" dirty="0"/>
          </a:p>
          <a:p>
            <a:pPr lvl="1"/>
            <a:r>
              <a:rPr lang="zh-CN" altLang="en-US" dirty="0"/>
              <a:t>所有的数组是</a:t>
            </a:r>
            <a:r>
              <a:rPr lang="en-US" altLang="zh-CN" dirty="0"/>
              <a:t>Object</a:t>
            </a:r>
            <a:r>
              <a:rPr lang="zh-CN" altLang="en-US" dirty="0"/>
              <a:t>的子类：</a:t>
            </a:r>
            <a:br>
              <a:rPr lang="en-US" altLang="zh-CN" dirty="0"/>
            </a:br>
            <a:r>
              <a:rPr lang="en-US" altLang="zh-CN" dirty="0"/>
              <a:t>Employee[] staff = new Employee[10];</a:t>
            </a:r>
            <a:br>
              <a:rPr lang="en-US" altLang="zh-CN" dirty="0"/>
            </a:br>
            <a:r>
              <a:rPr lang="en-US" altLang="zh-CN" dirty="0" err="1"/>
              <a:t>obj</a:t>
            </a:r>
            <a:r>
              <a:rPr lang="en-US" altLang="zh-CN" dirty="0"/>
              <a:t> = staff;</a:t>
            </a:r>
            <a:br>
              <a:rPr lang="en-US" altLang="zh-CN" dirty="0"/>
            </a:br>
            <a:r>
              <a:rPr lang="en-US" altLang="zh-CN" dirty="0" err="1"/>
              <a:t>obj</a:t>
            </a:r>
            <a:r>
              <a:rPr lang="en-US" altLang="zh-CN" dirty="0"/>
              <a:t> = new </a:t>
            </a:r>
            <a:r>
              <a:rPr lang="en-US" altLang="zh-CN" dirty="0" err="1"/>
              <a:t>int</a:t>
            </a:r>
            <a:r>
              <a:rPr lang="en-US" altLang="zh-CN" dirty="0"/>
              <a:t>[20]; </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5.2.1  </a:t>
            </a:r>
            <a:r>
              <a:rPr lang="zh-CN" altLang="en-US" dirty="0"/>
              <a:t>再谈</a:t>
            </a:r>
            <a:r>
              <a:rPr lang="en-US" altLang="zh-CN" dirty="0"/>
              <a:t>equals</a:t>
            </a:r>
            <a:r>
              <a:rPr lang="zh-CN" altLang="en-US" dirty="0"/>
              <a:t>方法</a:t>
            </a:r>
            <a:endParaRPr lang="zh-CN" altLang="en-US" dirty="0"/>
          </a:p>
        </p:txBody>
      </p:sp>
      <p:sp>
        <p:nvSpPr>
          <p:cNvPr id="3" name="内容占位符 2"/>
          <p:cNvSpPr>
            <a:spLocks noGrp="1"/>
          </p:cNvSpPr>
          <p:nvPr>
            <p:ph idx="1"/>
          </p:nvPr>
        </p:nvSpPr>
        <p:spPr/>
        <p:txBody>
          <a:bodyPr>
            <a:normAutofit/>
          </a:bodyPr>
          <a:lstStyle/>
          <a:p>
            <a:r>
              <a:rPr lang="en-US" altLang="zh-CN" dirty="0"/>
              <a:t>Object</a:t>
            </a:r>
            <a:r>
              <a:rPr lang="zh-CN" altLang="en-US" dirty="0"/>
              <a:t>类中的定义如下：</a:t>
            </a:r>
            <a:endParaRPr lang="en-US" altLang="zh-CN" dirty="0"/>
          </a:p>
          <a:p>
            <a:pPr marL="274320" lvl="1" indent="0">
              <a:buNone/>
            </a:pPr>
            <a:r>
              <a:rPr lang="en-US" altLang="zh-CN" dirty="0">
                <a:solidFill>
                  <a:srgbClr val="FF0000"/>
                </a:solidFill>
              </a:rPr>
              <a:t>public </a:t>
            </a:r>
            <a:r>
              <a:rPr lang="en-US" altLang="zh-CN" dirty="0" err="1">
                <a:solidFill>
                  <a:srgbClr val="FF0000"/>
                </a:solidFill>
              </a:rPr>
              <a:t>boolean</a:t>
            </a:r>
            <a:r>
              <a:rPr lang="en-US" altLang="zh-CN" dirty="0">
                <a:solidFill>
                  <a:srgbClr val="FF0000"/>
                </a:solidFill>
              </a:rPr>
              <a:t> equals​(Object </a:t>
            </a:r>
            <a:r>
              <a:rPr lang="en-US" altLang="zh-CN" dirty="0" err="1">
                <a:solidFill>
                  <a:srgbClr val="FF0000"/>
                </a:solidFill>
              </a:rPr>
              <a:t>obj</a:t>
            </a:r>
            <a:r>
              <a:rPr lang="en-US" altLang="zh-CN" dirty="0">
                <a:solidFill>
                  <a:srgbClr val="FF0000"/>
                </a:solidFill>
              </a:rPr>
              <a:t>) </a:t>
            </a:r>
            <a:endParaRPr lang="en-US" altLang="zh-CN" dirty="0">
              <a:solidFill>
                <a:srgbClr val="FF0000"/>
              </a:solidFill>
            </a:endParaRPr>
          </a:p>
          <a:p>
            <a:pPr marL="274320" lvl="1" indent="0">
              <a:buNone/>
            </a:pPr>
            <a:r>
              <a:rPr lang="en-US" altLang="zh-CN" dirty="0">
                <a:solidFill>
                  <a:srgbClr val="FF0000"/>
                </a:solidFill>
              </a:rPr>
              <a:t>{return (this == </a:t>
            </a:r>
            <a:r>
              <a:rPr lang="en-US" altLang="zh-CN" dirty="0" err="1">
                <a:solidFill>
                  <a:srgbClr val="FF0000"/>
                </a:solidFill>
              </a:rPr>
              <a:t>obj</a:t>
            </a:r>
            <a:r>
              <a:rPr lang="en-US" altLang="zh-CN" dirty="0">
                <a:solidFill>
                  <a:srgbClr val="FF0000"/>
                </a:solidFill>
              </a:rPr>
              <a:t>)}</a:t>
            </a:r>
            <a:br>
              <a:rPr lang="en-US" altLang="zh-CN" dirty="0">
                <a:solidFill>
                  <a:srgbClr val="FF0000"/>
                </a:solidFill>
              </a:rPr>
            </a:br>
            <a:r>
              <a:rPr lang="en-US" altLang="zh-CN" b="1" dirty="0" err="1">
                <a:solidFill>
                  <a:schemeClr val="tx1"/>
                </a:solidFill>
              </a:rPr>
              <a:t>Returns:</a:t>
            </a:r>
            <a:r>
              <a:rPr lang="en-US" altLang="zh-CN" dirty="0" err="1">
                <a:solidFill>
                  <a:schemeClr val="tx1"/>
                </a:solidFill>
              </a:rPr>
              <a:t>true</a:t>
            </a:r>
            <a:r>
              <a:rPr lang="en-US" altLang="zh-CN" dirty="0">
                <a:solidFill>
                  <a:schemeClr val="tx1"/>
                </a:solidFill>
              </a:rPr>
              <a:t> if this object is the same as the </a:t>
            </a:r>
            <a:r>
              <a:rPr lang="en-US" altLang="zh-CN" dirty="0" err="1">
                <a:solidFill>
                  <a:schemeClr val="tx1"/>
                </a:solidFill>
              </a:rPr>
              <a:t>obj</a:t>
            </a:r>
            <a:r>
              <a:rPr lang="en-US" altLang="zh-CN" dirty="0">
                <a:solidFill>
                  <a:schemeClr val="tx1"/>
                </a:solidFill>
              </a:rPr>
              <a:t> argument; false otherwise.</a:t>
            </a:r>
            <a:endParaRPr lang="en-US" altLang="zh-CN" dirty="0">
              <a:solidFill>
                <a:schemeClr val="tx1"/>
              </a:solidFill>
            </a:endParaRPr>
          </a:p>
          <a:p>
            <a:pPr marL="274320" lvl="1" indent="0">
              <a:buNone/>
            </a:pPr>
            <a:r>
              <a:rPr lang="en-US" altLang="zh-CN" dirty="0"/>
              <a:t>Object e1=new Employee("John",70000,2010,9,10);</a:t>
            </a:r>
            <a:endParaRPr lang="en-US" altLang="zh-CN" dirty="0"/>
          </a:p>
          <a:p>
            <a:pPr marL="274320" lvl="1" indent="0">
              <a:buNone/>
            </a:pPr>
            <a:r>
              <a:rPr lang="en-US" altLang="zh-CN" dirty="0"/>
              <a:t>Object e2=new Employee("John",70000,2010,9,10);</a:t>
            </a:r>
            <a:endParaRPr lang="en-US" altLang="zh-CN" dirty="0"/>
          </a:p>
          <a:p>
            <a:pPr marL="274320" lvl="1" indent="0">
              <a:buNone/>
            </a:pPr>
            <a:r>
              <a:rPr lang="en-US" altLang="zh-CN" dirty="0"/>
              <a:t>if(e1==e2)</a:t>
            </a:r>
            <a:endParaRPr lang="en-US" altLang="zh-CN" dirty="0">
              <a:solidFill>
                <a:schemeClr val="accent3">
                  <a:lumMod val="50000"/>
                </a:schemeClr>
              </a:solidFill>
            </a:endParaRPr>
          </a:p>
          <a:p>
            <a:pPr marL="274320" lvl="1" indent="0">
              <a:buNone/>
            </a:pPr>
            <a:r>
              <a:rPr lang="en-US" altLang="zh-CN" dirty="0"/>
              <a:t>	</a:t>
            </a:r>
            <a:r>
              <a:rPr lang="en-US" altLang="zh-CN" dirty="0" err="1"/>
              <a:t>System.out.println</a:t>
            </a:r>
            <a:r>
              <a:rPr lang="en-US" altLang="zh-CN" dirty="0"/>
              <a:t>("e1</a:t>
            </a:r>
            <a:r>
              <a:rPr lang="zh-CN" altLang="en-US" dirty="0"/>
              <a:t>和 </a:t>
            </a:r>
            <a:r>
              <a:rPr lang="en-US" altLang="zh-CN" dirty="0"/>
              <a:t>e2</a:t>
            </a:r>
            <a:r>
              <a:rPr lang="zh-CN" altLang="en-US" dirty="0"/>
              <a:t>是同一个对象。 </a:t>
            </a:r>
            <a:r>
              <a:rPr lang="en-US" altLang="zh-CN" dirty="0"/>
              <a:t>");</a:t>
            </a:r>
            <a:endParaRPr lang="en-US" altLang="zh-CN" dirty="0"/>
          </a:p>
          <a:p>
            <a:pPr marL="274320" lvl="1" indent="0">
              <a:buNone/>
            </a:pPr>
            <a:r>
              <a:rPr lang="en-US" altLang="zh-CN" dirty="0"/>
              <a:t>else</a:t>
            </a:r>
            <a:endParaRPr lang="en-US" altLang="zh-CN" dirty="0"/>
          </a:p>
          <a:p>
            <a:pPr marL="274320" lvl="1" indent="0">
              <a:buNone/>
            </a:pPr>
            <a:r>
              <a:rPr lang="en-US" altLang="zh-CN" dirty="0"/>
              <a:t>	</a:t>
            </a:r>
            <a:r>
              <a:rPr lang="en-US" altLang="zh-CN" dirty="0" err="1"/>
              <a:t>System.out.println</a:t>
            </a:r>
            <a:r>
              <a:rPr lang="en-US" altLang="zh-CN" dirty="0"/>
              <a:t>("e1</a:t>
            </a:r>
            <a:r>
              <a:rPr lang="zh-CN" altLang="en-US" dirty="0"/>
              <a:t>和 </a:t>
            </a:r>
            <a:r>
              <a:rPr lang="en-US" altLang="zh-CN" dirty="0"/>
              <a:t>e2</a:t>
            </a:r>
            <a:r>
              <a:rPr lang="zh-CN" altLang="en-US" dirty="0"/>
              <a:t>不是同一个对象。 </a:t>
            </a:r>
            <a:r>
              <a:rPr lang="en-US" altLang="zh-CN" dirty="0"/>
              <a:t>");</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760640"/>
          </a:xfrm>
        </p:spPr>
        <p:txBody>
          <a:bodyPr/>
          <a:lstStyle/>
          <a:p>
            <a:r>
              <a:rPr lang="en-US" altLang="zh-CN" dirty="0"/>
              <a:t>Employee</a:t>
            </a:r>
            <a:r>
              <a:rPr lang="zh-CN" altLang="en-US" dirty="0"/>
              <a:t>类继承了</a:t>
            </a:r>
            <a:r>
              <a:rPr lang="en-US" altLang="zh-CN" dirty="0"/>
              <a:t>Object</a:t>
            </a:r>
            <a:r>
              <a:rPr lang="zh-CN" altLang="en-US" dirty="0"/>
              <a:t>中的</a:t>
            </a:r>
            <a:r>
              <a:rPr lang="en-US" altLang="zh-CN" dirty="0"/>
              <a:t>equals</a:t>
            </a:r>
            <a:r>
              <a:rPr lang="zh-CN" altLang="en-US" dirty="0"/>
              <a:t>方法：</a:t>
            </a:r>
            <a:endParaRPr lang="en-US" altLang="zh-CN" dirty="0"/>
          </a:p>
          <a:p>
            <a:pPr marL="274320" lvl="1" indent="0">
              <a:buNone/>
            </a:pPr>
            <a:r>
              <a:rPr lang="en-US" altLang="zh-CN" dirty="0"/>
              <a:t>Employee e3=</a:t>
            </a:r>
            <a:r>
              <a:rPr lang="en-US" altLang="zh-CN" b="1" dirty="0"/>
              <a:t>new Employee("Tom",50000,2013,9,10);</a:t>
            </a:r>
            <a:endParaRPr lang="en-US" altLang="zh-CN" b="1" dirty="0"/>
          </a:p>
          <a:p>
            <a:pPr marL="274320" lvl="1" indent="0">
              <a:buNone/>
            </a:pPr>
            <a:r>
              <a:rPr lang="en-US" altLang="zh-CN" dirty="0"/>
              <a:t>Employee e4=</a:t>
            </a:r>
            <a:r>
              <a:rPr lang="en-US" altLang="zh-CN" b="1" dirty="0"/>
              <a:t>new Employee("Tom",50000,2013,9,10);</a:t>
            </a:r>
            <a:endParaRPr lang="en-US" altLang="zh-CN" b="1" dirty="0"/>
          </a:p>
          <a:p>
            <a:pPr marL="274320" lvl="1" indent="0">
              <a:buNone/>
            </a:pPr>
            <a:r>
              <a:rPr lang="en-US" altLang="zh-CN" b="1" dirty="0"/>
              <a:t>if(e3.equals(e4))</a:t>
            </a:r>
            <a:endParaRPr lang="en-US" altLang="zh-CN" b="1" dirty="0"/>
          </a:p>
          <a:p>
            <a:pPr marL="274320" lvl="1" indent="0">
              <a:buNone/>
            </a:pPr>
            <a:r>
              <a:rPr lang="en-US" altLang="zh-CN" dirty="0"/>
              <a:t>     </a:t>
            </a:r>
            <a:r>
              <a:rPr lang="en-US" altLang="zh-CN" dirty="0" err="1"/>
              <a:t>System.</a:t>
            </a:r>
            <a:r>
              <a:rPr lang="en-US" altLang="zh-CN" b="1" i="1" dirty="0" err="1"/>
              <a:t>out.println</a:t>
            </a:r>
            <a:r>
              <a:rPr lang="en-US" altLang="zh-CN" b="1" i="1" dirty="0"/>
              <a:t>("e3</a:t>
            </a:r>
            <a:r>
              <a:rPr lang="zh-CN" altLang="en-US" b="1" i="1" dirty="0"/>
              <a:t>和 </a:t>
            </a:r>
            <a:r>
              <a:rPr lang="en-US" altLang="zh-CN" b="1" i="1" dirty="0"/>
              <a:t>e4</a:t>
            </a:r>
            <a:r>
              <a:rPr lang="zh-CN" altLang="en-US" b="1" i="1" dirty="0"/>
              <a:t>是同一个对象。 </a:t>
            </a:r>
            <a:r>
              <a:rPr lang="en-US" altLang="zh-CN" b="1" i="1" dirty="0"/>
              <a:t>");</a:t>
            </a:r>
            <a:endParaRPr lang="en-US" altLang="zh-CN" b="1" i="1" dirty="0"/>
          </a:p>
          <a:p>
            <a:pPr marL="274320" lvl="1" indent="0">
              <a:buNone/>
            </a:pPr>
            <a:r>
              <a:rPr lang="en-US" altLang="zh-CN" b="1" dirty="0"/>
              <a:t>else</a:t>
            </a:r>
            <a:endParaRPr lang="en-US" altLang="zh-CN" b="1" dirty="0"/>
          </a:p>
          <a:p>
            <a:pPr marL="274320" lvl="1" indent="0">
              <a:buNone/>
            </a:pPr>
            <a:r>
              <a:rPr lang="en-US" altLang="zh-CN" dirty="0"/>
              <a:t>     </a:t>
            </a:r>
            <a:r>
              <a:rPr lang="en-US" altLang="zh-CN" dirty="0" err="1"/>
              <a:t>System.</a:t>
            </a:r>
            <a:r>
              <a:rPr lang="en-US" altLang="zh-CN" b="1" i="1" dirty="0" err="1"/>
              <a:t>out.println</a:t>
            </a:r>
            <a:r>
              <a:rPr lang="en-US" altLang="zh-CN" b="1" i="1" dirty="0"/>
              <a:t>("e3</a:t>
            </a:r>
            <a:r>
              <a:rPr lang="zh-CN" altLang="en-US" b="1" i="1" dirty="0"/>
              <a:t>和 </a:t>
            </a:r>
            <a:r>
              <a:rPr lang="en-US" altLang="zh-CN" b="1" i="1" dirty="0"/>
              <a:t>e4</a:t>
            </a:r>
            <a:r>
              <a:rPr lang="zh-CN" altLang="en-US" b="1" i="1" dirty="0"/>
              <a:t>不是同一个对象。 </a:t>
            </a:r>
            <a:r>
              <a:rPr lang="en-US" altLang="zh-CN" b="1" i="1" dirty="0"/>
              <a:t>");</a:t>
            </a:r>
            <a:endParaRPr lang="en-US" altLang="zh-CN" b="1" i="1" dirty="0"/>
          </a:p>
          <a:p>
            <a:r>
              <a:rPr lang="zh-CN" altLang="en-US" dirty="0"/>
              <a:t>逻辑上，各个域相同的对象应该是同一个，故在</a:t>
            </a:r>
            <a:r>
              <a:rPr lang="en-US" altLang="zh-CN" dirty="0"/>
              <a:t>Employee</a:t>
            </a:r>
            <a:r>
              <a:rPr lang="zh-CN" altLang="en-US" dirty="0"/>
              <a:t>类中应该重写</a:t>
            </a:r>
            <a:r>
              <a:rPr lang="en-US" altLang="zh-CN" dirty="0"/>
              <a:t>equals</a:t>
            </a:r>
            <a:r>
              <a:rPr lang="zh-CN" altLang="en-US" dirty="0"/>
              <a:t>方法：</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6192688"/>
          </a:xfrm>
        </p:spPr>
        <p:txBody>
          <a:bodyPr>
            <a:normAutofit fontScale="77500" lnSpcReduction="20000"/>
          </a:bodyPr>
          <a:lstStyle/>
          <a:p>
            <a:pPr>
              <a:buNone/>
            </a:pPr>
            <a:r>
              <a:rPr lang="en-US" altLang="zh-CN" dirty="0"/>
              <a:t>   public </a:t>
            </a:r>
            <a:r>
              <a:rPr lang="en-US" altLang="zh-CN" dirty="0" err="1"/>
              <a:t>boolean</a:t>
            </a:r>
            <a:r>
              <a:rPr lang="en-US" altLang="zh-CN" dirty="0"/>
              <a:t> equals(Object </a:t>
            </a:r>
            <a:r>
              <a:rPr lang="en-US" altLang="zh-CN" dirty="0" err="1"/>
              <a:t>otherObject</a:t>
            </a:r>
            <a:r>
              <a:rPr lang="en-US" altLang="zh-CN" dirty="0"/>
              <a:t>)</a:t>
            </a:r>
            <a:endParaRPr lang="en-US" altLang="zh-CN" dirty="0"/>
          </a:p>
          <a:p>
            <a:pPr>
              <a:buNone/>
            </a:pPr>
            <a:r>
              <a:rPr lang="en-US" altLang="zh-CN" dirty="0"/>
              <a:t>   {</a:t>
            </a:r>
            <a:endParaRPr lang="en-US" altLang="zh-CN" dirty="0"/>
          </a:p>
          <a:p>
            <a:pPr>
              <a:buNone/>
            </a:pPr>
            <a:r>
              <a:rPr lang="en-US" altLang="zh-CN" dirty="0"/>
              <a:t>      </a:t>
            </a:r>
            <a:r>
              <a:rPr lang="en-US" altLang="zh-CN" dirty="0">
                <a:solidFill>
                  <a:schemeClr val="accent3">
                    <a:lumMod val="50000"/>
                  </a:schemeClr>
                </a:solidFill>
              </a:rPr>
              <a:t>// a quick test to see if the objects are identical</a:t>
            </a:r>
            <a:endParaRPr lang="en-US" altLang="zh-CN" dirty="0">
              <a:solidFill>
                <a:schemeClr val="accent3">
                  <a:lumMod val="50000"/>
                </a:schemeClr>
              </a:solidFill>
            </a:endParaRPr>
          </a:p>
          <a:p>
            <a:pPr>
              <a:buNone/>
            </a:pPr>
            <a:r>
              <a:rPr lang="en-US" altLang="zh-CN" dirty="0"/>
              <a:t>      if (this == </a:t>
            </a:r>
            <a:r>
              <a:rPr lang="en-US" altLang="zh-CN" dirty="0" err="1"/>
              <a:t>otherObject</a:t>
            </a:r>
            <a:r>
              <a:rPr lang="en-US" altLang="zh-CN" dirty="0"/>
              <a:t>) return true;</a:t>
            </a:r>
            <a:endParaRPr lang="en-US" altLang="zh-CN" dirty="0"/>
          </a:p>
          <a:p>
            <a:pPr>
              <a:buNone/>
            </a:pPr>
            <a:r>
              <a:rPr lang="en-US" altLang="zh-CN" dirty="0">
                <a:solidFill>
                  <a:srgbClr val="0070C0"/>
                </a:solidFill>
              </a:rPr>
              <a:t>//</a:t>
            </a:r>
            <a:r>
              <a:rPr lang="zh-CN" altLang="en-US" dirty="0">
                <a:solidFill>
                  <a:srgbClr val="0070C0"/>
                </a:solidFill>
              </a:rPr>
              <a:t>是否等同于  </a:t>
            </a:r>
            <a:r>
              <a:rPr lang="en-US" altLang="zh-CN" dirty="0">
                <a:solidFill>
                  <a:srgbClr val="0070C0"/>
                </a:solidFill>
              </a:rPr>
              <a:t>if(</a:t>
            </a:r>
            <a:r>
              <a:rPr lang="en-US" altLang="zh-CN" dirty="0" err="1">
                <a:solidFill>
                  <a:srgbClr val="0070C0"/>
                </a:solidFill>
              </a:rPr>
              <a:t>super.equals</a:t>
            </a:r>
            <a:r>
              <a:rPr lang="en-US" altLang="zh-CN" dirty="0">
                <a:solidFill>
                  <a:srgbClr val="0070C0"/>
                </a:solidFill>
              </a:rPr>
              <a:t>(</a:t>
            </a:r>
            <a:r>
              <a:rPr lang="en-US" altLang="zh-CN" dirty="0" err="1">
                <a:solidFill>
                  <a:srgbClr val="0070C0"/>
                </a:solidFill>
              </a:rPr>
              <a:t>otherObject</a:t>
            </a:r>
            <a:r>
              <a:rPr lang="en-US" altLang="zh-CN" dirty="0">
                <a:solidFill>
                  <a:srgbClr val="0070C0"/>
                </a:solidFill>
              </a:rPr>
              <a:t>)) return true;</a:t>
            </a:r>
            <a:endParaRPr lang="en-US" altLang="zh-CN" dirty="0">
              <a:solidFill>
                <a:srgbClr val="0070C0"/>
              </a:solidFill>
            </a:endParaRPr>
          </a:p>
          <a:p>
            <a:pPr>
              <a:buNone/>
            </a:pPr>
            <a:r>
              <a:rPr lang="en-US" altLang="zh-CN" dirty="0">
                <a:solidFill>
                  <a:schemeClr val="accent3">
                    <a:lumMod val="50000"/>
                  </a:schemeClr>
                </a:solidFill>
              </a:rPr>
              <a:t>      // must return false if the explicit parameter is null</a:t>
            </a:r>
            <a:endParaRPr lang="en-US" altLang="zh-CN" dirty="0">
              <a:solidFill>
                <a:schemeClr val="accent3">
                  <a:lumMod val="50000"/>
                </a:schemeClr>
              </a:solidFill>
            </a:endParaRPr>
          </a:p>
          <a:p>
            <a:pPr>
              <a:buNone/>
            </a:pPr>
            <a:r>
              <a:rPr lang="en-US" altLang="zh-CN" dirty="0"/>
              <a:t>      if (</a:t>
            </a:r>
            <a:r>
              <a:rPr lang="en-US" altLang="zh-CN" dirty="0" err="1"/>
              <a:t>otherObject</a:t>
            </a:r>
            <a:r>
              <a:rPr lang="en-US" altLang="zh-CN" dirty="0"/>
              <a:t> == null) return false;</a:t>
            </a:r>
            <a:endParaRPr lang="en-US" altLang="zh-CN" dirty="0"/>
          </a:p>
          <a:p>
            <a:pPr>
              <a:buNone/>
            </a:pPr>
            <a:endParaRPr lang="en-US" altLang="zh-CN" dirty="0"/>
          </a:p>
          <a:p>
            <a:pPr>
              <a:buNone/>
            </a:pPr>
            <a:r>
              <a:rPr lang="en-US" altLang="zh-CN" dirty="0"/>
              <a:t>      </a:t>
            </a:r>
            <a:r>
              <a:rPr lang="en-US" altLang="zh-CN" dirty="0">
                <a:solidFill>
                  <a:schemeClr val="accent3">
                    <a:lumMod val="50000"/>
                  </a:schemeClr>
                </a:solidFill>
              </a:rPr>
              <a:t>// if the classes don't match, they can't be equal</a:t>
            </a:r>
            <a:endParaRPr lang="en-US" altLang="zh-CN" dirty="0">
              <a:solidFill>
                <a:schemeClr val="accent3">
                  <a:lumMod val="50000"/>
                </a:schemeClr>
              </a:solidFill>
            </a:endParaRPr>
          </a:p>
          <a:p>
            <a:pPr>
              <a:buNone/>
            </a:pPr>
            <a:r>
              <a:rPr lang="en-US" altLang="zh-CN" dirty="0"/>
              <a:t>      if (</a:t>
            </a:r>
            <a:r>
              <a:rPr lang="en-US" altLang="zh-CN" dirty="0" err="1">
                <a:solidFill>
                  <a:srgbClr val="FF0000"/>
                </a:solidFill>
              </a:rPr>
              <a:t>getClass</a:t>
            </a:r>
            <a:r>
              <a:rPr lang="en-US" altLang="zh-CN" dirty="0">
                <a:solidFill>
                  <a:srgbClr val="FF0000"/>
                </a:solidFill>
              </a:rPr>
              <a:t>() </a:t>
            </a:r>
            <a:r>
              <a:rPr lang="en-US" altLang="zh-CN" dirty="0"/>
              <a:t>!= </a:t>
            </a:r>
            <a:r>
              <a:rPr lang="en-US" altLang="zh-CN" dirty="0" err="1"/>
              <a:t>otherObject.</a:t>
            </a:r>
            <a:r>
              <a:rPr lang="en-US" altLang="zh-CN" dirty="0" err="1">
                <a:solidFill>
                  <a:srgbClr val="FF0000"/>
                </a:solidFill>
              </a:rPr>
              <a:t>getClass</a:t>
            </a:r>
            <a:r>
              <a:rPr lang="en-US" altLang="zh-CN" dirty="0">
                <a:solidFill>
                  <a:srgbClr val="FF0000"/>
                </a:solidFill>
              </a:rPr>
              <a:t>()</a:t>
            </a:r>
            <a:r>
              <a:rPr lang="en-US" altLang="zh-CN" dirty="0"/>
              <a:t>) return false;</a:t>
            </a:r>
            <a:endParaRPr lang="en-US" altLang="zh-CN" dirty="0"/>
          </a:p>
          <a:p>
            <a:pPr>
              <a:buNone/>
            </a:pPr>
            <a:r>
              <a:rPr lang="en-US" altLang="zh-CN" dirty="0"/>
              <a:t>      </a:t>
            </a:r>
            <a:r>
              <a:rPr lang="en-US" altLang="zh-CN" dirty="0">
                <a:solidFill>
                  <a:schemeClr val="accent3">
                    <a:lumMod val="50000"/>
                  </a:schemeClr>
                </a:solidFill>
              </a:rPr>
              <a:t>//Object</a:t>
            </a:r>
            <a:r>
              <a:rPr lang="zh-CN" altLang="en-US" dirty="0">
                <a:solidFill>
                  <a:schemeClr val="accent3">
                    <a:lumMod val="50000"/>
                  </a:schemeClr>
                </a:solidFill>
              </a:rPr>
              <a:t>中定义的方法，返回调用者的类型</a:t>
            </a:r>
            <a:endParaRPr lang="en-US" altLang="zh-CN" dirty="0">
              <a:solidFill>
                <a:schemeClr val="accent3">
                  <a:lumMod val="50000"/>
                </a:schemeClr>
              </a:solidFill>
            </a:endParaRPr>
          </a:p>
          <a:p>
            <a:pPr>
              <a:buNone/>
            </a:pPr>
            <a:r>
              <a:rPr lang="en-US" altLang="zh-CN" dirty="0"/>
              <a:t>      </a:t>
            </a:r>
            <a:r>
              <a:rPr lang="en-US" altLang="zh-CN" dirty="0">
                <a:solidFill>
                  <a:schemeClr val="accent3">
                    <a:lumMod val="50000"/>
                  </a:schemeClr>
                </a:solidFill>
              </a:rPr>
              <a:t>// now we know </a:t>
            </a:r>
            <a:r>
              <a:rPr lang="en-US" altLang="zh-CN" dirty="0" err="1">
                <a:solidFill>
                  <a:schemeClr val="accent3">
                    <a:lumMod val="50000"/>
                  </a:schemeClr>
                </a:solidFill>
              </a:rPr>
              <a:t>otherObject</a:t>
            </a:r>
            <a:r>
              <a:rPr lang="en-US" altLang="zh-CN" dirty="0">
                <a:solidFill>
                  <a:schemeClr val="accent3">
                    <a:lumMod val="50000"/>
                  </a:schemeClr>
                </a:solidFill>
              </a:rPr>
              <a:t> is a non-null Employee</a:t>
            </a:r>
            <a:endParaRPr lang="en-US" altLang="zh-CN" dirty="0">
              <a:solidFill>
                <a:schemeClr val="accent3">
                  <a:lumMod val="50000"/>
                </a:schemeClr>
              </a:solidFill>
            </a:endParaRPr>
          </a:p>
          <a:p>
            <a:pPr>
              <a:buNone/>
            </a:pPr>
            <a:r>
              <a:rPr lang="en-US" altLang="zh-CN" dirty="0"/>
              <a:t>      Employee other = (Employee) </a:t>
            </a:r>
            <a:r>
              <a:rPr lang="en-US" altLang="zh-CN" dirty="0" err="1"/>
              <a:t>otherObject</a:t>
            </a:r>
            <a:r>
              <a:rPr lang="en-US" altLang="zh-CN" dirty="0"/>
              <a:t>;</a:t>
            </a:r>
            <a:endParaRPr lang="en-US" altLang="zh-CN" dirty="0"/>
          </a:p>
          <a:p>
            <a:pPr>
              <a:buNone/>
            </a:pPr>
            <a:endParaRPr lang="en-US" altLang="zh-CN" dirty="0"/>
          </a:p>
          <a:p>
            <a:pPr>
              <a:buNone/>
            </a:pPr>
            <a:r>
              <a:rPr lang="en-US" altLang="zh-CN" dirty="0"/>
              <a:t>      </a:t>
            </a:r>
            <a:r>
              <a:rPr lang="en-US" altLang="zh-CN" dirty="0">
                <a:solidFill>
                  <a:schemeClr val="accent3">
                    <a:lumMod val="50000"/>
                  </a:schemeClr>
                </a:solidFill>
              </a:rPr>
              <a:t>// test whether the fields have identical values</a:t>
            </a:r>
            <a:endParaRPr lang="en-US" altLang="zh-CN" dirty="0">
              <a:solidFill>
                <a:schemeClr val="accent3">
                  <a:lumMod val="50000"/>
                </a:schemeClr>
              </a:solidFill>
            </a:endParaRPr>
          </a:p>
          <a:p>
            <a:pPr>
              <a:buNone/>
            </a:pPr>
            <a:r>
              <a:rPr lang="en-US" altLang="zh-CN" dirty="0"/>
              <a:t>      return </a:t>
            </a:r>
            <a:r>
              <a:rPr lang="en-US" altLang="zh-CN" dirty="0" err="1"/>
              <a:t>name.equals</a:t>
            </a:r>
            <a:r>
              <a:rPr lang="en-US" altLang="zh-CN" dirty="0"/>
              <a:t>(other.name) &amp;&amp; salary == </a:t>
            </a:r>
            <a:r>
              <a:rPr lang="en-US" altLang="zh-CN" dirty="0" err="1"/>
              <a:t>other.salary</a:t>
            </a:r>
            <a:r>
              <a:rPr lang="en-US" altLang="zh-CN" dirty="0"/>
              <a:t> &amp;&amp; </a:t>
            </a:r>
            <a:r>
              <a:rPr lang="en-US" altLang="zh-CN" dirty="0" err="1"/>
              <a:t>hireDay.equals</a:t>
            </a:r>
            <a:r>
              <a:rPr lang="en-US" altLang="zh-CN" dirty="0"/>
              <a:t>(</a:t>
            </a:r>
            <a:r>
              <a:rPr lang="en-US" altLang="zh-CN" dirty="0" err="1"/>
              <a:t>other.hireDay</a:t>
            </a:r>
            <a:r>
              <a:rPr lang="en-US" altLang="zh-CN" dirty="0"/>
              <a:t>);</a:t>
            </a:r>
            <a:endParaRPr lang="en-US" altLang="zh-CN" dirty="0"/>
          </a:p>
          <a:p>
            <a:pPr>
              <a:buNone/>
            </a:pPr>
            <a:r>
              <a:rPr lang="en-US" altLang="zh-CN" dirty="0"/>
              <a:t>   }</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6632"/>
            <a:ext cx="8280920" cy="6624736"/>
          </a:xfrm>
        </p:spPr>
        <p:txBody>
          <a:bodyPr>
            <a:normAutofit/>
          </a:bodyPr>
          <a:lstStyle/>
          <a:p>
            <a:pPr lvl="1"/>
            <a:r>
              <a:rPr lang="zh-CN" altLang="en-US" dirty="0"/>
              <a:t>其中的</a:t>
            </a:r>
            <a:r>
              <a:rPr lang="en-US" altLang="zh-CN" dirty="0" err="1"/>
              <a:t>getClass</a:t>
            </a:r>
            <a:r>
              <a:rPr lang="zh-CN" altLang="en-US" dirty="0"/>
              <a:t>是</a:t>
            </a:r>
            <a:r>
              <a:rPr lang="en-US" altLang="zh-CN" dirty="0" err="1"/>
              <a:t>Objest</a:t>
            </a:r>
            <a:r>
              <a:rPr lang="zh-CN" altLang="en-US" dirty="0"/>
              <a:t>中定义的方法，返回调用者的实际类型，两个对象类型不同自然不相等。</a:t>
            </a:r>
            <a:endParaRPr lang="en-US" altLang="zh-CN" dirty="0"/>
          </a:p>
          <a:p>
            <a:pPr lvl="1">
              <a:buNone/>
            </a:pPr>
            <a:r>
              <a:rPr lang="zh-CN" altLang="en-US" dirty="0"/>
              <a:t>其中的</a:t>
            </a:r>
            <a:r>
              <a:rPr lang="en-US" altLang="zh-CN" dirty="0" err="1"/>
              <a:t>name.equals</a:t>
            </a:r>
            <a:r>
              <a:rPr lang="en-US" altLang="zh-CN" dirty="0"/>
              <a:t>(other.name) </a:t>
            </a:r>
            <a:r>
              <a:rPr lang="zh-CN" altLang="en-US" dirty="0"/>
              <a:t>如果比较的两个</a:t>
            </a:r>
            <a:r>
              <a:rPr lang="en-US" altLang="zh-CN" dirty="0"/>
              <a:t>String</a:t>
            </a:r>
            <a:r>
              <a:rPr lang="zh-CN" altLang="en-US" dirty="0"/>
              <a:t>对象都是</a:t>
            </a:r>
            <a:r>
              <a:rPr lang="en-US" altLang="zh-CN" dirty="0"/>
              <a:t>null</a:t>
            </a:r>
            <a:r>
              <a:rPr lang="zh-CN" altLang="en-US" dirty="0"/>
              <a:t>会产生异常（调用者不允许是</a:t>
            </a:r>
            <a:r>
              <a:rPr lang="en-US" altLang="zh-CN" dirty="0"/>
              <a:t>null</a:t>
            </a:r>
            <a:r>
              <a:rPr lang="zh-CN" altLang="en-US" dirty="0"/>
              <a:t>），</a:t>
            </a:r>
            <a:r>
              <a:rPr lang="en-US" altLang="zh-CN" dirty="0" err="1"/>
              <a:t>LocalDate</a:t>
            </a:r>
            <a:r>
              <a:rPr lang="zh-CN" altLang="en-US" dirty="0"/>
              <a:t>有同样的问题。可以用</a:t>
            </a:r>
            <a:r>
              <a:rPr lang="en-US" altLang="zh-CN" dirty="0" err="1">
                <a:solidFill>
                  <a:srgbClr val="FF0000"/>
                </a:solidFill>
              </a:rPr>
              <a:t>java.util.Objects.equals</a:t>
            </a:r>
            <a:r>
              <a:rPr lang="zh-CN" altLang="en-US" dirty="0"/>
              <a:t>方法替代：</a:t>
            </a:r>
            <a:br>
              <a:rPr lang="en-US" altLang="zh-CN" dirty="0"/>
            </a:br>
            <a:r>
              <a:rPr lang="en-US" altLang="zh-CN" dirty="0">
                <a:solidFill>
                  <a:srgbClr val="FF0000"/>
                </a:solidFill>
              </a:rPr>
              <a:t>public static </a:t>
            </a:r>
            <a:r>
              <a:rPr lang="en-US" altLang="zh-CN" dirty="0" err="1">
                <a:solidFill>
                  <a:srgbClr val="FF0000"/>
                </a:solidFill>
              </a:rPr>
              <a:t>boolean</a:t>
            </a:r>
            <a:r>
              <a:rPr lang="en-US" altLang="zh-CN" dirty="0">
                <a:solidFill>
                  <a:srgbClr val="FF0000"/>
                </a:solidFill>
              </a:rPr>
              <a:t> equals(Object a, Object b)</a:t>
            </a:r>
            <a:endParaRPr lang="en-US" altLang="zh-CN" dirty="0">
              <a:solidFill>
                <a:srgbClr val="FF0000"/>
              </a:solidFill>
            </a:endParaRPr>
          </a:p>
          <a:p>
            <a:pPr lvl="1">
              <a:buNone/>
            </a:pPr>
            <a:r>
              <a:rPr lang="en-US" altLang="zh-CN" dirty="0">
                <a:solidFill>
                  <a:srgbClr val="FF0000"/>
                </a:solidFill>
              </a:rPr>
              <a:t>      {  return (a == b) || (a != null &amp;&amp; </a:t>
            </a:r>
            <a:r>
              <a:rPr lang="en-US" altLang="zh-CN" dirty="0" err="1">
                <a:solidFill>
                  <a:srgbClr val="FF0000"/>
                </a:solidFill>
              </a:rPr>
              <a:t>a.equals</a:t>
            </a:r>
            <a:r>
              <a:rPr lang="en-US" altLang="zh-CN" dirty="0">
                <a:solidFill>
                  <a:srgbClr val="FF0000"/>
                </a:solidFill>
              </a:rPr>
              <a:t>(b)); }</a:t>
            </a:r>
            <a:endParaRPr lang="en-US" altLang="zh-CN" dirty="0">
              <a:solidFill>
                <a:srgbClr val="FF0000"/>
              </a:solidFill>
            </a:endParaRPr>
          </a:p>
          <a:p>
            <a:pPr lvl="2"/>
            <a:r>
              <a:rPr lang="zh-CN" altLang="en-US" dirty="0"/>
              <a:t>如果两个参数都是</a:t>
            </a:r>
            <a:r>
              <a:rPr lang="en-US" altLang="zh-CN" dirty="0"/>
              <a:t>null</a:t>
            </a:r>
            <a:r>
              <a:rPr lang="zh-CN" altLang="en-US" dirty="0"/>
              <a:t>，</a:t>
            </a:r>
            <a:r>
              <a:rPr lang="en-US" altLang="zh-CN" dirty="0" err="1"/>
              <a:t>Objects.equals</a:t>
            </a:r>
            <a:r>
              <a:rPr lang="en-US" altLang="zh-CN" dirty="0"/>
              <a:t>(a, b)</a:t>
            </a:r>
            <a:r>
              <a:rPr lang="zh-CN" altLang="en-US" dirty="0"/>
              <a:t>返回</a:t>
            </a:r>
            <a:r>
              <a:rPr lang="en-US" altLang="zh-CN" dirty="0"/>
              <a:t>true</a:t>
            </a:r>
            <a:endParaRPr lang="en-US" altLang="zh-CN" dirty="0"/>
          </a:p>
          <a:p>
            <a:pPr lvl="2"/>
            <a:r>
              <a:rPr lang="zh-CN" altLang="en-US" dirty="0"/>
              <a:t>如果其中一个参数是</a:t>
            </a:r>
            <a:r>
              <a:rPr lang="en-US" altLang="zh-CN" dirty="0"/>
              <a:t>null</a:t>
            </a:r>
            <a:r>
              <a:rPr lang="zh-CN" altLang="en-US" dirty="0"/>
              <a:t>，返回</a:t>
            </a:r>
            <a:r>
              <a:rPr lang="en-US" altLang="zh-CN" dirty="0"/>
              <a:t>false</a:t>
            </a:r>
            <a:endParaRPr lang="en-US" altLang="zh-CN" dirty="0"/>
          </a:p>
          <a:p>
            <a:pPr lvl="2"/>
            <a:r>
              <a:rPr lang="zh-CN" altLang="en-US" dirty="0"/>
              <a:t>如果两个参数都不是</a:t>
            </a:r>
            <a:r>
              <a:rPr lang="en-US" altLang="zh-CN" dirty="0"/>
              <a:t>null</a:t>
            </a:r>
            <a:r>
              <a:rPr lang="zh-CN" altLang="en-US" dirty="0"/>
              <a:t>，则调用</a:t>
            </a:r>
            <a:r>
              <a:rPr lang="en-US" altLang="zh-CN" dirty="0" err="1"/>
              <a:t>a.equals</a:t>
            </a:r>
            <a:r>
              <a:rPr lang="en-US" altLang="zh-CN" dirty="0"/>
              <a:t>(b)</a:t>
            </a:r>
            <a:endParaRPr lang="en-US" altLang="zh-CN" dirty="0"/>
          </a:p>
          <a:p>
            <a:pPr lvl="1"/>
            <a:r>
              <a:rPr lang="zh-CN" altLang="en-US" dirty="0"/>
              <a:t>上面例子中的最后一句应该改为：</a:t>
            </a:r>
            <a:br>
              <a:rPr lang="en-US" altLang="zh-CN" dirty="0"/>
            </a:br>
            <a:r>
              <a:rPr lang="en-US" altLang="zh-CN" dirty="0"/>
              <a:t>return </a:t>
            </a:r>
            <a:r>
              <a:rPr lang="en-US" altLang="zh-CN" dirty="0" err="1"/>
              <a:t>Objects.equals</a:t>
            </a:r>
            <a:r>
              <a:rPr lang="en-US" altLang="zh-CN" dirty="0"/>
              <a:t>(name, other.name) &amp;&amp; </a:t>
            </a:r>
            <a:br>
              <a:rPr lang="en-US" altLang="zh-CN" dirty="0"/>
            </a:br>
            <a:r>
              <a:rPr lang="en-US" altLang="zh-CN" dirty="0"/>
              <a:t>           salary == </a:t>
            </a:r>
            <a:r>
              <a:rPr lang="en-US" altLang="zh-CN" dirty="0" err="1"/>
              <a:t>other.salary</a:t>
            </a:r>
            <a:r>
              <a:rPr lang="en-US" altLang="zh-CN" dirty="0"/>
              <a:t> &amp;&amp; </a:t>
            </a:r>
            <a:br>
              <a:rPr lang="en-US" altLang="zh-CN" dirty="0"/>
            </a:br>
            <a:r>
              <a:rPr lang="en-US" altLang="zh-CN" dirty="0"/>
              <a:t>           </a:t>
            </a:r>
            <a:r>
              <a:rPr lang="en-US" altLang="zh-CN" dirty="0" err="1"/>
              <a:t>Objects.equals</a:t>
            </a:r>
            <a:r>
              <a:rPr lang="en-US" altLang="zh-CN" dirty="0"/>
              <a:t>(</a:t>
            </a:r>
            <a:r>
              <a:rPr lang="en-US" altLang="zh-CN" dirty="0" err="1"/>
              <a:t>hireDay</a:t>
            </a:r>
            <a:r>
              <a:rPr lang="en-US" altLang="zh-CN" dirty="0"/>
              <a:t>, </a:t>
            </a:r>
            <a:r>
              <a:rPr lang="en-US" altLang="zh-CN" dirty="0" err="1"/>
              <a:t>other.hireDay</a:t>
            </a:r>
            <a:r>
              <a:rPr lang="en-US" altLang="zh-CN" dirty="0"/>
              <a:t>);</a:t>
            </a:r>
            <a:endParaRPr lang="en-US" altLang="zh-CN" dirty="0"/>
          </a:p>
          <a:p>
            <a:pPr lvl="1"/>
            <a:endParaRPr lang="en-US" altLang="zh-CN" dirty="0"/>
          </a:p>
          <a:p>
            <a:pPr lvl="1"/>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075240" cy="6336704"/>
          </a:xfrm>
        </p:spPr>
        <p:txBody>
          <a:bodyPr>
            <a:normAutofit lnSpcReduction="10000"/>
          </a:bodyPr>
          <a:lstStyle/>
          <a:p>
            <a:r>
              <a:rPr lang="en-US" altLang="zh-CN" dirty="0"/>
              <a:t>Manager</a:t>
            </a:r>
            <a:r>
              <a:rPr lang="zh-CN" altLang="en-US" dirty="0"/>
              <a:t>的子类中的</a:t>
            </a:r>
            <a:r>
              <a:rPr lang="en-US" altLang="zh-CN" dirty="0"/>
              <a:t>equals</a:t>
            </a:r>
            <a:r>
              <a:rPr lang="zh-CN" altLang="en-US" dirty="0"/>
              <a:t>方法需要再次处理：</a:t>
            </a:r>
            <a:endParaRPr lang="en-US" altLang="zh-CN" dirty="0"/>
          </a:p>
          <a:p>
            <a:pPr lvl="1"/>
            <a:r>
              <a:rPr lang="zh-CN" altLang="en-US" dirty="0"/>
              <a:t>首先调用超类的</a:t>
            </a:r>
            <a:r>
              <a:rPr lang="en-US" altLang="zh-CN" dirty="0"/>
              <a:t>equals</a:t>
            </a:r>
            <a:r>
              <a:rPr lang="zh-CN" altLang="en-US" dirty="0"/>
              <a:t>，如果是</a:t>
            </a:r>
            <a:r>
              <a:rPr lang="en-US" altLang="zh-CN" dirty="0"/>
              <a:t>false</a:t>
            </a:r>
            <a:r>
              <a:rPr lang="zh-CN" altLang="en-US" dirty="0"/>
              <a:t>则对象必不相等；</a:t>
            </a:r>
            <a:endParaRPr lang="en-US" altLang="zh-CN" dirty="0"/>
          </a:p>
          <a:p>
            <a:pPr lvl="1"/>
            <a:r>
              <a:rPr lang="zh-CN" altLang="en-US" dirty="0"/>
              <a:t>如果是</a:t>
            </a:r>
            <a:r>
              <a:rPr lang="en-US" altLang="zh-CN" dirty="0"/>
              <a:t>true</a:t>
            </a:r>
            <a:r>
              <a:rPr lang="zh-CN" altLang="en-US" dirty="0"/>
              <a:t>（超类中的域均相等），再比较子类中的实例域：</a:t>
            </a:r>
            <a:br>
              <a:rPr lang="en-US" altLang="zh-CN" dirty="0"/>
            </a:br>
            <a:r>
              <a:rPr lang="en-US" altLang="zh-CN" dirty="0"/>
              <a:t>public class Manager extends Employee</a:t>
            </a:r>
            <a:br>
              <a:rPr lang="en-US" altLang="zh-CN" dirty="0"/>
            </a:br>
            <a:r>
              <a:rPr lang="en-US" altLang="zh-CN" dirty="0"/>
              <a:t>{</a:t>
            </a:r>
            <a:br>
              <a:rPr lang="en-US" altLang="zh-CN" dirty="0"/>
            </a:br>
            <a:r>
              <a:rPr lang="en-US" altLang="zh-CN" dirty="0"/>
              <a:t>	…</a:t>
            </a:r>
            <a:br>
              <a:rPr lang="en-US" altLang="zh-CN" dirty="0"/>
            </a:br>
            <a:r>
              <a:rPr lang="en-US" altLang="zh-CN" dirty="0"/>
              <a:t>	public </a:t>
            </a:r>
            <a:r>
              <a:rPr lang="en-US" altLang="zh-CN" dirty="0" err="1"/>
              <a:t>boolean</a:t>
            </a:r>
            <a:r>
              <a:rPr lang="en-US" altLang="zh-CN" dirty="0"/>
              <a:t> equals(Object </a:t>
            </a:r>
            <a:r>
              <a:rPr lang="en-US" altLang="zh-CN" dirty="0" err="1"/>
              <a:t>otherObject</a:t>
            </a:r>
            <a:r>
              <a:rPr lang="en-US" altLang="zh-CN" dirty="0"/>
              <a:t>)</a:t>
            </a:r>
            <a:br>
              <a:rPr lang="en-US" altLang="zh-CN" dirty="0"/>
            </a:br>
            <a:r>
              <a:rPr lang="en-US" altLang="zh-CN" dirty="0"/>
              <a:t>	{</a:t>
            </a:r>
            <a:br>
              <a:rPr lang="en-US" altLang="zh-CN" dirty="0"/>
            </a:br>
            <a:r>
              <a:rPr lang="en-US" altLang="zh-CN" dirty="0"/>
              <a:t>	     if(! </a:t>
            </a:r>
            <a:r>
              <a:rPr lang="en-US" altLang="zh-CN" dirty="0" err="1"/>
              <a:t>super.equals</a:t>
            </a:r>
            <a:r>
              <a:rPr lang="en-US" altLang="zh-CN" dirty="0"/>
              <a:t>(</a:t>
            </a:r>
            <a:r>
              <a:rPr lang="en-US" altLang="zh-CN" dirty="0" err="1"/>
              <a:t>otherObject</a:t>
            </a:r>
            <a:r>
              <a:rPr lang="en-US" altLang="zh-CN" dirty="0"/>
              <a:t>))</a:t>
            </a:r>
            <a:br>
              <a:rPr lang="en-US" altLang="zh-CN" dirty="0"/>
            </a:br>
            <a:r>
              <a:rPr lang="en-US" altLang="zh-CN" dirty="0"/>
              <a:t>		return false;</a:t>
            </a:r>
            <a:br>
              <a:rPr lang="en-US" altLang="zh-CN" dirty="0"/>
            </a:br>
            <a:r>
              <a:rPr lang="en-US" altLang="zh-CN" dirty="0"/>
              <a:t>	     else  </a:t>
            </a:r>
            <a:r>
              <a:rPr lang="en-US" altLang="zh-CN" dirty="0">
                <a:solidFill>
                  <a:schemeClr val="accent3">
                    <a:lumMod val="50000"/>
                  </a:schemeClr>
                </a:solidFill>
              </a:rPr>
              <a:t>//</a:t>
            </a:r>
            <a:r>
              <a:rPr lang="zh-CN" altLang="en-US" dirty="0">
                <a:solidFill>
                  <a:schemeClr val="accent3">
                    <a:lumMod val="50000"/>
                  </a:schemeClr>
                </a:solidFill>
              </a:rPr>
              <a:t>两个对象一定是同类型：</a:t>
            </a:r>
            <a:r>
              <a:rPr lang="en-US" altLang="zh-CN" dirty="0">
                <a:solidFill>
                  <a:schemeClr val="accent3">
                    <a:lumMod val="50000"/>
                  </a:schemeClr>
                </a:solidFill>
              </a:rPr>
              <a:t>Manager</a:t>
            </a:r>
            <a:br>
              <a:rPr lang="en-US" altLang="zh-CN" dirty="0"/>
            </a:br>
            <a:r>
              <a:rPr lang="en-US" altLang="zh-CN" dirty="0"/>
              <a:t>	     {</a:t>
            </a:r>
            <a:br>
              <a:rPr lang="en-US" altLang="zh-CN" dirty="0"/>
            </a:br>
            <a:r>
              <a:rPr lang="en-US" altLang="zh-CN" dirty="0"/>
              <a:t>		 Manager other=(Manager)</a:t>
            </a:r>
            <a:r>
              <a:rPr lang="en-US" altLang="zh-CN" dirty="0" err="1"/>
              <a:t>otherObject</a:t>
            </a:r>
            <a:r>
              <a:rPr lang="en-US" altLang="zh-CN" dirty="0"/>
              <a:t>;    </a:t>
            </a:r>
            <a:br>
              <a:rPr lang="en-US" altLang="zh-CN" dirty="0"/>
            </a:br>
            <a:r>
              <a:rPr lang="en-US" altLang="zh-CN" dirty="0"/>
              <a:t>		 return  bonus==</a:t>
            </a:r>
            <a:r>
              <a:rPr lang="en-US" altLang="zh-CN" dirty="0" err="1"/>
              <a:t>other.bonus</a:t>
            </a:r>
            <a:r>
              <a:rPr lang="en-US" altLang="zh-CN" dirty="0"/>
              <a:t>;</a:t>
            </a:r>
            <a:br>
              <a:rPr lang="en-US" altLang="zh-CN" dirty="0"/>
            </a:br>
            <a:r>
              <a:rPr lang="en-US" altLang="zh-CN" dirty="0"/>
              <a:t>	     }</a:t>
            </a:r>
            <a:br>
              <a:rPr lang="en-US" altLang="zh-CN" dirty="0"/>
            </a:br>
            <a:r>
              <a:rPr lang="en-US" altLang="zh-CN" dirty="0"/>
              <a:t>	}</a:t>
            </a:r>
            <a:br>
              <a:rPr lang="en-US" altLang="zh-CN" dirty="0"/>
            </a:br>
            <a:r>
              <a:rPr lang="en-US" altLang="zh-CN" dirty="0"/>
              <a:t>}</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5.2.2  </a:t>
            </a:r>
            <a:r>
              <a:rPr lang="zh-CN" altLang="en-US" dirty="0"/>
              <a:t>相等测试与继承</a:t>
            </a:r>
            <a:endParaRPr lang="zh-CN" altLang="en-US" dirty="0"/>
          </a:p>
        </p:txBody>
      </p:sp>
      <p:sp>
        <p:nvSpPr>
          <p:cNvPr id="3" name="内容占位符 2"/>
          <p:cNvSpPr>
            <a:spLocks noGrp="1"/>
          </p:cNvSpPr>
          <p:nvPr>
            <p:ph idx="1"/>
          </p:nvPr>
        </p:nvSpPr>
        <p:spPr>
          <a:xfrm>
            <a:off x="457200" y="980728"/>
            <a:ext cx="8363272" cy="5256584"/>
          </a:xfrm>
        </p:spPr>
        <p:txBody>
          <a:bodyPr/>
          <a:lstStyle/>
          <a:p>
            <a:r>
              <a:rPr lang="zh-CN" altLang="en-US" dirty="0"/>
              <a:t>前面例子用 </a:t>
            </a:r>
            <a:endParaRPr lang="en-US" altLang="zh-CN" dirty="0"/>
          </a:p>
          <a:p>
            <a:pPr marL="274320" lvl="1" indent="0">
              <a:buNone/>
            </a:pPr>
            <a:r>
              <a:rPr lang="en-US" altLang="zh-CN" dirty="0"/>
              <a:t>if (</a:t>
            </a:r>
            <a:r>
              <a:rPr lang="en-US" altLang="zh-CN" dirty="0" err="1"/>
              <a:t>getClass</a:t>
            </a:r>
            <a:r>
              <a:rPr lang="en-US" altLang="zh-CN" dirty="0"/>
              <a:t>() != </a:t>
            </a:r>
            <a:r>
              <a:rPr lang="en-US" altLang="zh-CN" dirty="0" err="1"/>
              <a:t>otherObject.getClass</a:t>
            </a:r>
            <a:r>
              <a:rPr lang="en-US" altLang="zh-CN" dirty="0"/>
              <a:t>()) return false;  </a:t>
            </a:r>
            <a:endParaRPr lang="en-US" altLang="zh-CN" dirty="0"/>
          </a:p>
          <a:p>
            <a:pPr>
              <a:buNone/>
            </a:pPr>
            <a:r>
              <a:rPr lang="zh-CN" altLang="en-US" dirty="0"/>
              <a:t> 检测类的匹配。是否可以用如下语句替代？</a:t>
            </a:r>
            <a:endParaRPr lang="en-US" altLang="zh-CN" dirty="0"/>
          </a:p>
          <a:p>
            <a:pPr marL="0" lvl="1" indent="0" defTabSz="1080135">
              <a:buClrTx/>
              <a:buNone/>
            </a:pPr>
            <a:r>
              <a:rPr lang="zh-CN" altLang="en-US" dirty="0"/>
              <a:t>   </a:t>
            </a:r>
            <a:r>
              <a:rPr lang="en-US" altLang="zh-CN" dirty="0"/>
              <a:t>if (! (</a:t>
            </a:r>
            <a:r>
              <a:rPr lang="en-US" altLang="zh-CN" dirty="0" err="1"/>
              <a:t>otherObject</a:t>
            </a:r>
            <a:r>
              <a:rPr lang="en-US" altLang="zh-CN" dirty="0"/>
              <a:t> </a:t>
            </a:r>
            <a:r>
              <a:rPr lang="en-US" altLang="zh-CN" dirty="0" err="1">
                <a:solidFill>
                  <a:srgbClr val="FF0000"/>
                </a:solidFill>
              </a:rPr>
              <a:t>instanceof</a:t>
            </a:r>
            <a:r>
              <a:rPr lang="en-US" altLang="zh-CN" dirty="0"/>
              <a:t> Employee)) return false;  </a:t>
            </a:r>
            <a:endParaRPr lang="en-US" altLang="zh-CN" dirty="0"/>
          </a:p>
          <a:p>
            <a:pPr>
              <a:buNone/>
            </a:pPr>
            <a:r>
              <a:rPr lang="zh-CN" altLang="en-US" dirty="0"/>
              <a:t>注意：此时如果</a:t>
            </a:r>
            <a:r>
              <a:rPr lang="en-US" altLang="zh-CN" dirty="0" err="1"/>
              <a:t>otherObject</a:t>
            </a:r>
            <a:r>
              <a:rPr lang="zh-CN" altLang="en-US" dirty="0"/>
              <a:t>是</a:t>
            </a:r>
            <a:r>
              <a:rPr lang="en-US" altLang="zh-CN" dirty="0"/>
              <a:t>Employee</a:t>
            </a:r>
            <a:r>
              <a:rPr lang="zh-CN" altLang="en-US" dirty="0"/>
              <a:t>的子类，</a:t>
            </a:r>
            <a:r>
              <a:rPr lang="en-US" altLang="zh-CN" dirty="0" err="1"/>
              <a:t>instanceof</a:t>
            </a:r>
            <a:r>
              <a:rPr lang="zh-CN" altLang="en-US" dirty="0"/>
              <a:t>判断为</a:t>
            </a:r>
            <a:r>
              <a:rPr lang="en-US" altLang="zh-CN" dirty="0"/>
              <a:t>true</a:t>
            </a:r>
            <a:r>
              <a:rPr lang="zh-CN" altLang="en-US" dirty="0"/>
              <a:t>，即两个对象不是同一种类型（而是继承关系）时，也不会排除其相等。</a:t>
            </a:r>
            <a:endParaRPr lang="en-US" altLang="zh-CN" dirty="0"/>
          </a:p>
          <a:p>
            <a:pPr>
              <a:buNone/>
            </a:pP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Java</a:t>
            </a:r>
            <a:r>
              <a:rPr lang="zh-CN" altLang="en-US" dirty="0"/>
              <a:t>规范中对</a:t>
            </a:r>
            <a:r>
              <a:rPr lang="en-US" altLang="zh-CN" dirty="0"/>
              <a:t>equals</a:t>
            </a:r>
            <a:r>
              <a:rPr lang="zh-CN" altLang="en-US" dirty="0"/>
              <a:t>的要求</a:t>
            </a:r>
            <a:endParaRPr lang="zh-CN" altLang="en-US" dirty="0"/>
          </a:p>
        </p:txBody>
      </p:sp>
      <p:sp>
        <p:nvSpPr>
          <p:cNvPr id="3" name="内容占位符 2"/>
          <p:cNvSpPr>
            <a:spLocks noGrp="1"/>
          </p:cNvSpPr>
          <p:nvPr>
            <p:ph idx="1"/>
          </p:nvPr>
        </p:nvSpPr>
        <p:spPr>
          <a:xfrm>
            <a:off x="323528" y="980728"/>
            <a:ext cx="8435280" cy="5256584"/>
          </a:xfrm>
        </p:spPr>
        <p:txBody>
          <a:bodyPr/>
          <a:lstStyle/>
          <a:p>
            <a:r>
              <a:rPr lang="zh-CN" altLang="en-US" dirty="0"/>
              <a:t>自反性：对于任意非空引用</a:t>
            </a:r>
            <a:r>
              <a:rPr lang="en-US" altLang="zh-CN" dirty="0"/>
              <a:t>x</a:t>
            </a:r>
            <a:r>
              <a:rPr lang="zh-CN" altLang="en-US" dirty="0"/>
              <a:t>，</a:t>
            </a:r>
            <a:r>
              <a:rPr lang="en-US" altLang="zh-CN" dirty="0" err="1"/>
              <a:t>x.equals</a:t>
            </a:r>
            <a:r>
              <a:rPr lang="en-US" altLang="zh-CN" dirty="0"/>
              <a:t>(x)</a:t>
            </a:r>
            <a:r>
              <a:rPr lang="zh-CN" altLang="en-US" dirty="0"/>
              <a:t>返回</a:t>
            </a:r>
            <a:r>
              <a:rPr lang="en-US" altLang="zh-CN" dirty="0"/>
              <a:t>true</a:t>
            </a:r>
            <a:r>
              <a:rPr lang="zh-CN" altLang="en-US" dirty="0"/>
              <a:t>。</a:t>
            </a:r>
            <a:endParaRPr lang="en-US" altLang="zh-CN" dirty="0"/>
          </a:p>
          <a:p>
            <a:r>
              <a:rPr lang="zh-CN" altLang="en-US" dirty="0"/>
              <a:t>对称性：对于任意引用</a:t>
            </a:r>
            <a:r>
              <a:rPr lang="en-US" altLang="zh-CN" dirty="0"/>
              <a:t>x</a:t>
            </a:r>
            <a:r>
              <a:rPr lang="zh-CN" altLang="en-US" dirty="0"/>
              <a:t>，</a:t>
            </a:r>
            <a:r>
              <a:rPr lang="en-US" altLang="zh-CN" dirty="0"/>
              <a:t>y</a:t>
            </a:r>
            <a:r>
              <a:rPr lang="zh-CN" altLang="en-US" dirty="0"/>
              <a:t>，若</a:t>
            </a:r>
            <a:r>
              <a:rPr lang="en-US" altLang="zh-CN" dirty="0" err="1"/>
              <a:t>x.equals</a:t>
            </a:r>
            <a:r>
              <a:rPr lang="en-US" altLang="zh-CN" dirty="0"/>
              <a:t>(y)</a:t>
            </a:r>
            <a:r>
              <a:rPr lang="zh-CN" altLang="en-US" dirty="0"/>
              <a:t>返回</a:t>
            </a:r>
            <a:r>
              <a:rPr lang="en-US" altLang="zh-CN" dirty="0"/>
              <a:t>true</a:t>
            </a:r>
            <a:r>
              <a:rPr lang="zh-CN" altLang="en-US" dirty="0"/>
              <a:t>则</a:t>
            </a:r>
            <a:r>
              <a:rPr lang="en-US" altLang="zh-CN" dirty="0" err="1"/>
              <a:t>y.equals</a:t>
            </a:r>
            <a:r>
              <a:rPr lang="en-US" altLang="zh-CN" dirty="0"/>
              <a:t>(x)</a:t>
            </a:r>
            <a:r>
              <a:rPr lang="zh-CN" altLang="en-US" dirty="0"/>
              <a:t>也必返回</a:t>
            </a:r>
            <a:r>
              <a:rPr lang="en-US" altLang="zh-CN" dirty="0"/>
              <a:t>true</a:t>
            </a:r>
            <a:r>
              <a:rPr lang="zh-CN" altLang="en-US" dirty="0"/>
              <a:t>。</a:t>
            </a:r>
            <a:endParaRPr lang="en-US" altLang="zh-CN" dirty="0"/>
          </a:p>
          <a:p>
            <a:r>
              <a:rPr lang="zh-CN" altLang="en-US" dirty="0"/>
              <a:t>传递性：对于任意引用</a:t>
            </a:r>
            <a:r>
              <a:rPr lang="en-US" altLang="zh-CN" dirty="0"/>
              <a:t>x</a:t>
            </a:r>
            <a:r>
              <a:rPr lang="zh-CN" altLang="en-US" dirty="0"/>
              <a:t>，</a:t>
            </a:r>
            <a:r>
              <a:rPr lang="en-US" altLang="zh-CN" dirty="0"/>
              <a:t>y</a:t>
            </a:r>
            <a:r>
              <a:rPr lang="zh-CN" altLang="en-US" dirty="0"/>
              <a:t>，</a:t>
            </a:r>
            <a:r>
              <a:rPr lang="en-US" altLang="zh-CN" dirty="0"/>
              <a:t>z</a:t>
            </a:r>
            <a:r>
              <a:rPr lang="zh-CN" altLang="en-US" dirty="0"/>
              <a:t>，若</a:t>
            </a:r>
            <a:r>
              <a:rPr lang="en-US" altLang="zh-CN" dirty="0" err="1"/>
              <a:t>x.equals</a:t>
            </a:r>
            <a:r>
              <a:rPr lang="en-US" altLang="zh-CN" dirty="0"/>
              <a:t>(y)</a:t>
            </a:r>
            <a:r>
              <a:rPr lang="zh-CN" altLang="en-US" dirty="0"/>
              <a:t>返回</a:t>
            </a:r>
            <a:r>
              <a:rPr lang="en-US" altLang="zh-CN" dirty="0"/>
              <a:t>true</a:t>
            </a:r>
            <a:r>
              <a:rPr lang="zh-CN" altLang="en-US" dirty="0"/>
              <a:t>并且</a:t>
            </a:r>
            <a:r>
              <a:rPr lang="en-US" altLang="zh-CN" dirty="0" err="1"/>
              <a:t>y.equals</a:t>
            </a:r>
            <a:r>
              <a:rPr lang="en-US" altLang="zh-CN" dirty="0"/>
              <a:t>(z)</a:t>
            </a:r>
            <a:r>
              <a:rPr lang="zh-CN" altLang="en-US" dirty="0"/>
              <a:t>返回</a:t>
            </a:r>
            <a:r>
              <a:rPr lang="en-US" altLang="zh-CN" dirty="0"/>
              <a:t>true</a:t>
            </a:r>
            <a:r>
              <a:rPr lang="zh-CN" altLang="en-US" dirty="0"/>
              <a:t>，则</a:t>
            </a:r>
            <a:r>
              <a:rPr lang="en-US" altLang="zh-CN" dirty="0" err="1"/>
              <a:t>x.equals</a:t>
            </a:r>
            <a:r>
              <a:rPr lang="en-US" altLang="zh-CN" dirty="0"/>
              <a:t>(z)</a:t>
            </a:r>
            <a:r>
              <a:rPr lang="zh-CN" altLang="en-US" dirty="0"/>
              <a:t>也必返回</a:t>
            </a:r>
            <a:r>
              <a:rPr lang="en-US" altLang="zh-CN" dirty="0"/>
              <a:t>true</a:t>
            </a:r>
            <a:r>
              <a:rPr lang="zh-CN" altLang="en-US" dirty="0"/>
              <a:t>。</a:t>
            </a:r>
            <a:endParaRPr lang="en-US" altLang="zh-CN" dirty="0"/>
          </a:p>
          <a:p>
            <a:r>
              <a:rPr lang="zh-CN" altLang="en-US" dirty="0"/>
              <a:t>一致性：若</a:t>
            </a:r>
            <a:r>
              <a:rPr lang="en-US" altLang="zh-CN" dirty="0"/>
              <a:t>x</a:t>
            </a:r>
            <a:r>
              <a:rPr lang="zh-CN" altLang="en-US" dirty="0"/>
              <a:t>，</a:t>
            </a:r>
            <a:r>
              <a:rPr lang="en-US" altLang="zh-CN" dirty="0"/>
              <a:t>y</a:t>
            </a:r>
            <a:r>
              <a:rPr lang="zh-CN" altLang="en-US" dirty="0"/>
              <a:t>引用的对象未发生变化，反复调用</a:t>
            </a:r>
            <a:r>
              <a:rPr lang="en-US" altLang="zh-CN" dirty="0" err="1"/>
              <a:t>x.equals</a:t>
            </a:r>
            <a:r>
              <a:rPr lang="en-US" altLang="zh-CN" dirty="0"/>
              <a:t>(y)</a:t>
            </a:r>
            <a:r>
              <a:rPr lang="zh-CN" altLang="en-US" dirty="0"/>
              <a:t>应该返回同样的结果。</a:t>
            </a:r>
            <a:endParaRPr lang="en-US" altLang="zh-CN" dirty="0"/>
          </a:p>
          <a:p>
            <a:r>
              <a:rPr lang="zh-CN" altLang="en-US" dirty="0"/>
              <a:t>对于任意非空引用</a:t>
            </a:r>
            <a:r>
              <a:rPr lang="en-US" altLang="zh-CN" dirty="0"/>
              <a:t>x</a:t>
            </a:r>
            <a:r>
              <a:rPr lang="zh-CN" altLang="en-US" dirty="0"/>
              <a:t>，</a:t>
            </a:r>
            <a:r>
              <a:rPr lang="en-US" altLang="zh-CN" dirty="0" err="1"/>
              <a:t>x.equals</a:t>
            </a:r>
            <a:r>
              <a:rPr lang="en-US" altLang="zh-CN" dirty="0"/>
              <a:t>(null)</a:t>
            </a:r>
            <a:r>
              <a:rPr lang="zh-CN" altLang="en-US" dirty="0"/>
              <a:t>返回</a:t>
            </a:r>
            <a:r>
              <a:rPr lang="en-US" altLang="zh-CN" dirty="0"/>
              <a:t>false</a:t>
            </a:r>
            <a:r>
              <a:rPr lang="zh-CN" altLang="en-US" dirty="0"/>
              <a:t>。</a:t>
            </a:r>
            <a:endParaRPr lang="en-US" altLang="zh-CN" dirty="0"/>
          </a:p>
          <a:p>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476672"/>
            <a:ext cx="8640960" cy="5904656"/>
          </a:xfrm>
        </p:spPr>
        <p:txBody>
          <a:bodyPr>
            <a:normAutofit/>
          </a:bodyPr>
          <a:lstStyle/>
          <a:p>
            <a:r>
              <a:rPr lang="zh-CN" altLang="en-US" dirty="0"/>
              <a:t>假如父类中使用了</a:t>
            </a:r>
            <a:br>
              <a:rPr lang="en-US" altLang="zh-CN" dirty="0"/>
            </a:br>
            <a:r>
              <a:rPr lang="zh-CN" altLang="en-US" dirty="0"/>
              <a:t> </a:t>
            </a:r>
            <a:r>
              <a:rPr lang="en-US" altLang="zh-CN" dirty="0"/>
              <a:t>if (! (</a:t>
            </a:r>
            <a:r>
              <a:rPr lang="en-US" altLang="zh-CN" dirty="0" err="1"/>
              <a:t>otherObject</a:t>
            </a:r>
            <a:r>
              <a:rPr lang="en-US" altLang="zh-CN" dirty="0"/>
              <a:t> </a:t>
            </a:r>
            <a:r>
              <a:rPr lang="en-US" altLang="zh-CN" dirty="0" err="1">
                <a:solidFill>
                  <a:srgbClr val="FF0000"/>
                </a:solidFill>
              </a:rPr>
              <a:t>instanceof</a:t>
            </a:r>
            <a:r>
              <a:rPr lang="en-US" altLang="zh-CN" dirty="0"/>
              <a:t> Employee)) return false;  </a:t>
            </a:r>
            <a:br>
              <a:rPr lang="en-US" altLang="zh-CN" dirty="0"/>
            </a:br>
            <a:r>
              <a:rPr lang="zh-CN" altLang="en-US" dirty="0"/>
              <a:t>考虑如下的调用：</a:t>
            </a:r>
            <a:endParaRPr lang="en-US" altLang="zh-CN" dirty="0"/>
          </a:p>
          <a:p>
            <a:pPr lvl="1"/>
            <a:r>
              <a:rPr lang="en-US" altLang="zh-CN" dirty="0" err="1"/>
              <a:t>e.equals</a:t>
            </a:r>
            <a:r>
              <a:rPr lang="en-US" altLang="zh-CN" dirty="0"/>
              <a:t>(m);  </a:t>
            </a:r>
            <a:r>
              <a:rPr lang="en-US" altLang="zh-CN" dirty="0">
                <a:solidFill>
                  <a:schemeClr val="accent3">
                    <a:lumMod val="50000"/>
                  </a:schemeClr>
                </a:solidFill>
              </a:rPr>
              <a:t>//e</a:t>
            </a:r>
            <a:r>
              <a:rPr lang="zh-CN" altLang="en-US" dirty="0">
                <a:solidFill>
                  <a:schemeClr val="accent3">
                    <a:lumMod val="50000"/>
                  </a:schemeClr>
                </a:solidFill>
              </a:rPr>
              <a:t>是</a:t>
            </a:r>
            <a:r>
              <a:rPr lang="en-US" altLang="zh-CN" dirty="0">
                <a:solidFill>
                  <a:schemeClr val="accent3">
                    <a:lumMod val="50000"/>
                  </a:schemeClr>
                </a:solidFill>
              </a:rPr>
              <a:t>Employee</a:t>
            </a:r>
            <a:r>
              <a:rPr lang="zh-CN" altLang="en-US" dirty="0">
                <a:solidFill>
                  <a:schemeClr val="accent3">
                    <a:lumMod val="50000"/>
                  </a:schemeClr>
                </a:solidFill>
              </a:rPr>
              <a:t>对象，</a:t>
            </a:r>
            <a:r>
              <a:rPr lang="en-US" altLang="zh-CN" dirty="0">
                <a:solidFill>
                  <a:schemeClr val="accent3">
                    <a:lumMod val="50000"/>
                  </a:schemeClr>
                </a:solidFill>
              </a:rPr>
              <a:t>m</a:t>
            </a:r>
            <a:r>
              <a:rPr lang="zh-CN" altLang="en-US" dirty="0">
                <a:solidFill>
                  <a:schemeClr val="accent3">
                    <a:lumMod val="50000"/>
                  </a:schemeClr>
                </a:solidFill>
              </a:rPr>
              <a:t>是</a:t>
            </a:r>
            <a:r>
              <a:rPr lang="en-US" altLang="zh-CN" dirty="0">
                <a:solidFill>
                  <a:schemeClr val="accent3">
                    <a:lumMod val="50000"/>
                  </a:schemeClr>
                </a:solidFill>
              </a:rPr>
              <a:t>Manager</a:t>
            </a:r>
            <a:r>
              <a:rPr lang="zh-CN" altLang="en-US" dirty="0">
                <a:solidFill>
                  <a:schemeClr val="accent3">
                    <a:lumMod val="50000"/>
                  </a:schemeClr>
                </a:solidFill>
              </a:rPr>
              <a:t>对象</a:t>
            </a:r>
            <a:endParaRPr lang="en-US" altLang="zh-CN" dirty="0">
              <a:solidFill>
                <a:schemeClr val="accent3">
                  <a:lumMod val="50000"/>
                </a:schemeClr>
              </a:solidFill>
            </a:endParaRPr>
          </a:p>
          <a:p>
            <a:pPr lvl="1"/>
            <a:r>
              <a:rPr lang="zh-CN" altLang="en-US" dirty="0"/>
              <a:t>这里</a:t>
            </a:r>
            <a:r>
              <a:rPr lang="en-US" altLang="zh-CN" dirty="0"/>
              <a:t>e</a:t>
            </a:r>
            <a:r>
              <a:rPr lang="zh-CN" altLang="en-US" dirty="0"/>
              <a:t>，</a:t>
            </a:r>
            <a:r>
              <a:rPr lang="en-US" altLang="zh-CN" dirty="0"/>
              <a:t>m</a:t>
            </a:r>
            <a:r>
              <a:rPr lang="zh-CN" altLang="en-US" dirty="0"/>
              <a:t>具有相同的姓名，工资，入职日期，超类中用</a:t>
            </a:r>
            <a:r>
              <a:rPr lang="en-US" altLang="zh-CN" dirty="0" err="1"/>
              <a:t>instanceof</a:t>
            </a:r>
            <a:r>
              <a:rPr lang="zh-CN" altLang="en-US" dirty="0"/>
              <a:t>检测则会返回</a:t>
            </a:r>
            <a:r>
              <a:rPr lang="en-US" altLang="zh-CN" dirty="0"/>
              <a:t>true</a:t>
            </a:r>
            <a:r>
              <a:rPr lang="zh-CN" altLang="en-US" dirty="0"/>
              <a:t>；根据对称性则调用</a:t>
            </a:r>
            <a:br>
              <a:rPr lang="en-US" altLang="zh-CN" dirty="0"/>
            </a:br>
            <a:r>
              <a:rPr lang="en-US" altLang="zh-CN" dirty="0" err="1"/>
              <a:t>m.equals</a:t>
            </a:r>
            <a:r>
              <a:rPr lang="en-US" altLang="zh-CN" dirty="0"/>
              <a:t>(e) </a:t>
            </a:r>
            <a:r>
              <a:rPr lang="zh-CN" altLang="en-US" dirty="0"/>
              <a:t>也要返回</a:t>
            </a:r>
            <a:r>
              <a:rPr lang="en-US" altLang="zh-CN" dirty="0"/>
              <a:t>true</a:t>
            </a:r>
            <a:r>
              <a:rPr lang="zh-CN" altLang="en-US" dirty="0"/>
              <a:t>，</a:t>
            </a:r>
            <a:r>
              <a:rPr lang="en-US" altLang="zh-CN" dirty="0"/>
              <a:t>Manager</a:t>
            </a:r>
            <a:r>
              <a:rPr lang="zh-CN" altLang="en-US" dirty="0"/>
              <a:t>是否需要重写</a:t>
            </a:r>
            <a:r>
              <a:rPr lang="en-US" altLang="zh-CN" dirty="0"/>
              <a:t>equals</a:t>
            </a:r>
            <a:r>
              <a:rPr lang="zh-CN" altLang="en-US" dirty="0"/>
              <a:t>方法呢？</a:t>
            </a:r>
            <a:endParaRPr lang="en-US" altLang="zh-CN" dirty="0"/>
          </a:p>
          <a:p>
            <a:pPr lvl="2"/>
            <a:r>
              <a:rPr lang="zh-CN" altLang="en-US" dirty="0">
                <a:solidFill>
                  <a:srgbClr val="FF0000"/>
                </a:solidFill>
              </a:rPr>
              <a:t>如果不重写</a:t>
            </a:r>
            <a:r>
              <a:rPr lang="zh-CN" altLang="en-US" dirty="0"/>
              <a:t>，</a:t>
            </a:r>
            <a:r>
              <a:rPr lang="en-US" altLang="zh-CN" dirty="0"/>
              <a:t> </a:t>
            </a:r>
            <a:r>
              <a:rPr lang="en-US" altLang="zh-CN" dirty="0" err="1"/>
              <a:t>m.equals</a:t>
            </a:r>
            <a:r>
              <a:rPr lang="en-US" altLang="zh-CN" dirty="0"/>
              <a:t>(e) </a:t>
            </a:r>
            <a:r>
              <a:rPr lang="zh-CN" altLang="en-US" dirty="0"/>
              <a:t>返回</a:t>
            </a:r>
            <a:r>
              <a:rPr lang="en-US" altLang="zh-CN" dirty="0"/>
              <a:t>true</a:t>
            </a:r>
            <a:r>
              <a:rPr lang="zh-CN" altLang="en-US" dirty="0"/>
              <a:t>，貌似符合对称性。但如下调用呢：</a:t>
            </a:r>
            <a:br>
              <a:rPr lang="en-US" altLang="zh-CN" dirty="0"/>
            </a:br>
            <a:r>
              <a:rPr lang="en-US" altLang="zh-CN" dirty="0"/>
              <a:t>m1.equals(m2);  </a:t>
            </a:r>
            <a:r>
              <a:rPr lang="en-US" altLang="zh-CN" dirty="0">
                <a:solidFill>
                  <a:schemeClr val="accent3">
                    <a:lumMod val="50000"/>
                  </a:schemeClr>
                </a:solidFill>
              </a:rPr>
              <a:t>//m1, m2</a:t>
            </a:r>
            <a:r>
              <a:rPr lang="zh-CN" altLang="en-US" dirty="0">
                <a:solidFill>
                  <a:schemeClr val="accent3">
                    <a:lumMod val="50000"/>
                  </a:schemeClr>
                </a:solidFill>
              </a:rPr>
              <a:t>具有相同的姓名，工资，    </a:t>
            </a:r>
            <a:r>
              <a:rPr lang="en-US" altLang="zh-CN" dirty="0">
                <a:solidFill>
                  <a:schemeClr val="accent3">
                    <a:lumMod val="50000"/>
                  </a:schemeClr>
                </a:solidFill>
              </a:rPr>
              <a:t>//</a:t>
            </a:r>
            <a:r>
              <a:rPr lang="zh-CN" altLang="en-US" dirty="0">
                <a:solidFill>
                  <a:schemeClr val="accent3">
                    <a:lumMod val="50000"/>
                  </a:schemeClr>
                </a:solidFill>
              </a:rPr>
              <a:t>入 职日期，但是</a:t>
            </a:r>
            <a:r>
              <a:rPr lang="en-US" altLang="zh-CN" dirty="0">
                <a:solidFill>
                  <a:schemeClr val="accent3">
                    <a:lumMod val="50000"/>
                  </a:schemeClr>
                </a:solidFill>
              </a:rPr>
              <a:t>bonus</a:t>
            </a:r>
            <a:r>
              <a:rPr lang="zh-CN" altLang="en-US" dirty="0">
                <a:solidFill>
                  <a:schemeClr val="accent3">
                    <a:lumMod val="50000"/>
                  </a:schemeClr>
                </a:solidFill>
              </a:rPr>
              <a:t>不同</a:t>
            </a:r>
            <a:endParaRPr lang="en-US" altLang="zh-CN" dirty="0">
              <a:solidFill>
                <a:schemeClr val="accent3">
                  <a:lumMod val="50000"/>
                </a:schemeClr>
              </a:solidFill>
            </a:endParaRPr>
          </a:p>
          <a:p>
            <a:pPr lvl="2"/>
            <a:r>
              <a:rPr lang="zh-CN" altLang="en-US" dirty="0"/>
              <a:t>所以不但要重写考虑</a:t>
            </a:r>
            <a:r>
              <a:rPr lang="en-US" altLang="zh-CN" dirty="0"/>
              <a:t>bonus</a:t>
            </a:r>
            <a:r>
              <a:rPr lang="zh-CN" altLang="en-US" dirty="0"/>
              <a:t>，还要考虑</a:t>
            </a:r>
            <a:r>
              <a:rPr lang="en-US" altLang="zh-CN" dirty="0"/>
              <a:t>Manager</a:t>
            </a:r>
            <a:r>
              <a:rPr lang="zh-CN" altLang="en-US" dirty="0"/>
              <a:t>对象和</a:t>
            </a:r>
            <a:r>
              <a:rPr lang="en-US" altLang="zh-CN" dirty="0"/>
              <a:t>Employee</a:t>
            </a:r>
            <a:r>
              <a:rPr lang="zh-CN" altLang="en-US" dirty="0"/>
              <a:t>对象进行比较的对称性问题。</a:t>
            </a:r>
            <a:endParaRPr lang="zh-CN" altLang="en-US" dirty="0">
              <a:solidFill>
                <a:schemeClr val="accent3">
                  <a:lumMod val="5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19256" cy="5760640"/>
          </a:xfrm>
        </p:spPr>
        <p:txBody>
          <a:bodyPr/>
          <a:lstStyle/>
          <a:p>
            <a:r>
              <a:rPr lang="zh-CN" altLang="en-US" dirty="0"/>
              <a:t>关于</a:t>
            </a:r>
            <a:r>
              <a:rPr lang="en-US" altLang="zh-CN" dirty="0"/>
              <a:t>equals</a:t>
            </a:r>
            <a:r>
              <a:rPr lang="zh-CN" altLang="en-US" dirty="0"/>
              <a:t>方法中类型检测的建议：</a:t>
            </a:r>
            <a:endParaRPr lang="en-US" altLang="zh-CN" dirty="0"/>
          </a:p>
          <a:p>
            <a:pPr lvl="1"/>
            <a:r>
              <a:rPr lang="zh-CN" altLang="en-US" dirty="0"/>
              <a:t>如果子类中拥有</a:t>
            </a:r>
            <a:r>
              <a:rPr lang="zh-CN" altLang="en-US" dirty="0">
                <a:solidFill>
                  <a:srgbClr val="FF0000"/>
                </a:solidFill>
              </a:rPr>
              <a:t>自己的相等</a:t>
            </a:r>
            <a:r>
              <a:rPr lang="zh-CN" altLang="en-US" dirty="0"/>
              <a:t>概念，则父类中要强制采用</a:t>
            </a:r>
            <a:r>
              <a:rPr lang="en-US" altLang="zh-CN" dirty="0" err="1"/>
              <a:t>getClass</a:t>
            </a:r>
            <a:r>
              <a:rPr lang="zh-CN" altLang="en-US" dirty="0"/>
              <a:t>进行检测，如前面例子所示；</a:t>
            </a:r>
            <a:endParaRPr lang="en-US" altLang="zh-CN" dirty="0"/>
          </a:p>
          <a:p>
            <a:pPr lvl="1"/>
            <a:r>
              <a:rPr lang="zh-CN" altLang="en-US" dirty="0"/>
              <a:t>如果由</a:t>
            </a:r>
            <a:r>
              <a:rPr lang="zh-CN" altLang="en-US" dirty="0">
                <a:solidFill>
                  <a:srgbClr val="FF0000"/>
                </a:solidFill>
              </a:rPr>
              <a:t>父类决定相等</a:t>
            </a:r>
            <a:r>
              <a:rPr lang="zh-CN" altLang="en-US" dirty="0"/>
              <a:t>的概念，则可用</a:t>
            </a:r>
            <a:r>
              <a:rPr lang="en-US" altLang="zh-CN" dirty="0" err="1"/>
              <a:t>instanceof</a:t>
            </a:r>
            <a:r>
              <a:rPr lang="zh-CN" altLang="en-US" dirty="0"/>
              <a:t>进行检测，这样不同子类对象间可以做相等比较，此时应将父类的</a:t>
            </a:r>
            <a:r>
              <a:rPr lang="en-US" altLang="zh-CN" dirty="0"/>
              <a:t>equals</a:t>
            </a:r>
            <a:r>
              <a:rPr lang="zh-CN" altLang="en-US" dirty="0"/>
              <a:t>定义为</a:t>
            </a:r>
            <a:r>
              <a:rPr lang="en-US" altLang="zh-CN" dirty="0"/>
              <a:t>final</a:t>
            </a:r>
            <a:r>
              <a:rPr lang="zh-CN" altLang="en-US" dirty="0"/>
              <a:t>。例如只用员工的</a:t>
            </a:r>
            <a:r>
              <a:rPr lang="en-US" altLang="zh-CN" dirty="0"/>
              <a:t>ID</a:t>
            </a:r>
            <a:r>
              <a:rPr lang="zh-CN" altLang="en-US" dirty="0"/>
              <a:t>作为比较相同的依据，可将程序按此修改。</a:t>
            </a:r>
            <a:endParaRPr lang="en-US" altLang="zh-CN" dirty="0"/>
          </a:p>
          <a:p>
            <a:r>
              <a:rPr lang="zh-CN" altLang="en-US" dirty="0"/>
              <a:t>写出完美</a:t>
            </a:r>
            <a:r>
              <a:rPr lang="en-US" altLang="zh-CN" dirty="0"/>
              <a:t>equals</a:t>
            </a:r>
            <a:r>
              <a:rPr lang="zh-CN" altLang="en-US" dirty="0"/>
              <a:t>方法的建议步骤：</a:t>
            </a:r>
            <a:endParaRPr lang="en-US" altLang="zh-CN" dirty="0"/>
          </a:p>
          <a:p>
            <a:pPr marL="731520" lvl="1" indent="-457200">
              <a:buFont typeface="+mj-lt"/>
              <a:buAutoNum type="arabicPeriod"/>
            </a:pPr>
            <a:r>
              <a:rPr lang="zh-CN" altLang="en-US" dirty="0"/>
              <a:t>方法声明：</a:t>
            </a:r>
            <a:r>
              <a:rPr lang="en-US" altLang="zh-CN" dirty="0"/>
              <a:t>public </a:t>
            </a:r>
            <a:r>
              <a:rPr lang="en-US" altLang="zh-CN" dirty="0" err="1"/>
              <a:t>boolean</a:t>
            </a:r>
            <a:r>
              <a:rPr lang="en-US" altLang="zh-CN" dirty="0"/>
              <a:t> equals(Object </a:t>
            </a:r>
            <a:r>
              <a:rPr lang="en-US" altLang="zh-CN" dirty="0" err="1"/>
              <a:t>otherObject</a:t>
            </a:r>
            <a:r>
              <a:rPr lang="en-US" altLang="zh-CN" dirty="0"/>
              <a:t>)</a:t>
            </a:r>
            <a:endParaRPr lang="en-US" altLang="zh-CN" dirty="0"/>
          </a:p>
          <a:p>
            <a:pPr marL="731520" lvl="1" indent="-457200">
              <a:buFont typeface="+mj-lt"/>
              <a:buAutoNum type="arabicPeriod"/>
            </a:pPr>
            <a:r>
              <a:rPr lang="zh-CN" altLang="en-US" dirty="0"/>
              <a:t>检测</a:t>
            </a:r>
            <a:r>
              <a:rPr lang="en-US" altLang="zh-CN" dirty="0"/>
              <a:t>this</a:t>
            </a:r>
            <a:r>
              <a:rPr lang="zh-CN" altLang="en-US" dirty="0"/>
              <a:t>与</a:t>
            </a:r>
            <a:r>
              <a:rPr lang="en-US" altLang="zh-CN" dirty="0" err="1"/>
              <a:t>otherObject</a:t>
            </a:r>
            <a:r>
              <a:rPr lang="zh-CN" altLang="en-US" dirty="0"/>
              <a:t>是否同一个对象，是则返回</a:t>
            </a:r>
            <a:r>
              <a:rPr lang="en-US" altLang="zh-CN" dirty="0"/>
              <a:t>true</a:t>
            </a:r>
            <a:r>
              <a:rPr lang="zh-CN" altLang="en-US" dirty="0"/>
              <a:t>（这一项是个优化）</a:t>
            </a:r>
            <a:endParaRPr lang="en-US" altLang="zh-CN" dirty="0"/>
          </a:p>
          <a:p>
            <a:pPr marL="731520" lvl="1" indent="-457200">
              <a:buFont typeface="+mj-lt"/>
              <a:buAutoNum type="arabicPeriod"/>
            </a:pPr>
            <a:r>
              <a:rPr lang="zh-CN" altLang="en-US" dirty="0"/>
              <a:t>检测</a:t>
            </a:r>
            <a:r>
              <a:rPr lang="en-US" altLang="zh-CN" dirty="0" err="1"/>
              <a:t>otherObject</a:t>
            </a:r>
            <a:r>
              <a:rPr lang="zh-CN" altLang="en-US" dirty="0"/>
              <a:t>是否为</a:t>
            </a:r>
            <a:r>
              <a:rPr lang="en-US" altLang="zh-CN" dirty="0"/>
              <a:t>null</a:t>
            </a:r>
            <a:r>
              <a:rPr lang="zh-CN" altLang="en-US" dirty="0"/>
              <a:t>，是则返回</a:t>
            </a:r>
            <a:r>
              <a:rPr lang="en-US" altLang="zh-CN" dirty="0"/>
              <a:t>false</a:t>
            </a:r>
            <a:r>
              <a:rPr lang="zh-CN" altLang="en-US" dirty="0"/>
              <a:t>（必须，否则后面的调用会产生异常）</a:t>
            </a:r>
            <a:endParaRPr lang="en-US" altLang="zh-CN" dirty="0"/>
          </a:p>
          <a:p>
            <a:pPr marL="731520" lvl="1" indent="-457200">
              <a:buFont typeface="+mj-lt"/>
              <a:buAutoNum type="arabicPeriod"/>
            </a:pP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5832648"/>
          </a:xfrm>
        </p:spPr>
        <p:txBody>
          <a:bodyPr>
            <a:normAutofit lnSpcReduction="10000"/>
          </a:bodyPr>
          <a:lstStyle/>
          <a:p>
            <a:pPr marL="731520" lvl="1" indent="-457200">
              <a:buFont typeface="+mj-lt"/>
              <a:buAutoNum type="arabicPeriod" startAt="4"/>
            </a:pPr>
            <a:r>
              <a:rPr lang="zh-CN" altLang="en-US" dirty="0"/>
              <a:t>比较</a:t>
            </a:r>
            <a:r>
              <a:rPr lang="en-US" altLang="zh-CN" dirty="0"/>
              <a:t>this</a:t>
            </a:r>
            <a:r>
              <a:rPr lang="zh-CN" altLang="en-US" dirty="0"/>
              <a:t>与</a:t>
            </a:r>
            <a:r>
              <a:rPr lang="en-US" altLang="zh-CN" dirty="0" err="1"/>
              <a:t>otherObject</a:t>
            </a:r>
            <a:r>
              <a:rPr lang="zh-CN" altLang="en-US" dirty="0"/>
              <a:t>是否同一个类，使用</a:t>
            </a:r>
            <a:r>
              <a:rPr lang="en-US" altLang="zh-CN" dirty="0" err="1"/>
              <a:t>getClass</a:t>
            </a:r>
            <a:r>
              <a:rPr lang="zh-CN" altLang="en-US" dirty="0"/>
              <a:t>或</a:t>
            </a:r>
            <a:r>
              <a:rPr lang="en-US" altLang="zh-CN" dirty="0" err="1"/>
              <a:t>instanceof</a:t>
            </a:r>
            <a:endParaRPr lang="en-US" altLang="zh-CN" dirty="0"/>
          </a:p>
          <a:p>
            <a:pPr marL="731520" lvl="1" indent="-457200">
              <a:buFont typeface="+mj-lt"/>
              <a:buAutoNum type="arabicPeriod" startAt="4"/>
            </a:pPr>
            <a:r>
              <a:rPr lang="zh-CN" altLang="en-US" dirty="0"/>
              <a:t>将</a:t>
            </a:r>
            <a:r>
              <a:rPr lang="en-US" altLang="zh-CN" dirty="0" err="1"/>
              <a:t>otherObject</a:t>
            </a:r>
            <a:r>
              <a:rPr lang="zh-CN" altLang="en-US" dirty="0"/>
              <a:t>转换为相应类型：</a:t>
            </a:r>
            <a:br>
              <a:rPr lang="en-US" altLang="zh-CN" dirty="0"/>
            </a:br>
            <a:r>
              <a:rPr lang="en-US" altLang="zh-CN" dirty="0" err="1"/>
              <a:t>ClassName</a:t>
            </a:r>
            <a:r>
              <a:rPr lang="en-US" altLang="zh-CN" dirty="0"/>
              <a:t> other = (</a:t>
            </a:r>
            <a:r>
              <a:rPr lang="en-US" altLang="zh-CN" dirty="0" err="1"/>
              <a:t>ClassName</a:t>
            </a:r>
            <a:r>
              <a:rPr lang="en-US" altLang="zh-CN" dirty="0"/>
              <a:t>) </a:t>
            </a:r>
            <a:r>
              <a:rPr lang="en-US" altLang="zh-CN" dirty="0" err="1"/>
              <a:t>otherObject</a:t>
            </a:r>
            <a:r>
              <a:rPr lang="en-US" altLang="zh-CN" dirty="0"/>
              <a:t>;</a:t>
            </a:r>
            <a:endParaRPr lang="en-US" altLang="zh-CN" dirty="0"/>
          </a:p>
          <a:p>
            <a:pPr marL="731520" lvl="1" indent="-457200">
              <a:buFont typeface="+mj-lt"/>
              <a:buAutoNum type="arabicPeriod" startAt="4"/>
            </a:pPr>
            <a:r>
              <a:rPr lang="zh-CN" altLang="en-US" dirty="0"/>
              <a:t>比较所有需要比较的域，基本类型域用</a:t>
            </a:r>
            <a:r>
              <a:rPr lang="en-US" altLang="zh-CN" dirty="0"/>
              <a:t>==</a:t>
            </a:r>
            <a:r>
              <a:rPr lang="zh-CN" altLang="en-US" dirty="0"/>
              <a:t>，对象域用</a:t>
            </a:r>
            <a:r>
              <a:rPr lang="en-US" altLang="zh-CN" dirty="0"/>
              <a:t>equals</a:t>
            </a:r>
            <a:r>
              <a:rPr lang="zh-CN" altLang="en-US" dirty="0"/>
              <a:t>，数组类型的域，用</a:t>
            </a:r>
            <a:r>
              <a:rPr lang="en-US" altLang="zh-CN" dirty="0" err="1"/>
              <a:t>Arrays.equals</a:t>
            </a:r>
            <a:r>
              <a:rPr lang="zh-CN" altLang="en-US" dirty="0"/>
              <a:t>，所有的都匹配返回</a:t>
            </a:r>
            <a:r>
              <a:rPr lang="en-US" altLang="zh-CN" dirty="0"/>
              <a:t>true</a:t>
            </a:r>
            <a:r>
              <a:rPr lang="zh-CN" altLang="en-US" dirty="0"/>
              <a:t>，否则</a:t>
            </a:r>
            <a:r>
              <a:rPr lang="en-US" altLang="zh-CN" dirty="0"/>
              <a:t>false</a:t>
            </a:r>
            <a:endParaRPr lang="en-US" altLang="zh-CN" dirty="0"/>
          </a:p>
          <a:p>
            <a:endParaRPr lang="en-US" altLang="zh-CN" dirty="0"/>
          </a:p>
          <a:p>
            <a:r>
              <a:rPr lang="zh-CN" altLang="en-US" dirty="0"/>
              <a:t>如果作如下方法声明会怎么样：</a:t>
            </a:r>
            <a:endParaRPr lang="en-US" altLang="zh-CN" dirty="0"/>
          </a:p>
          <a:p>
            <a:pPr lvl="1"/>
            <a:r>
              <a:rPr lang="en-US" altLang="zh-CN" dirty="0"/>
              <a:t>public </a:t>
            </a:r>
            <a:r>
              <a:rPr lang="en-US" altLang="zh-CN" dirty="0" err="1"/>
              <a:t>boolean</a:t>
            </a:r>
            <a:r>
              <a:rPr lang="en-US" altLang="zh-CN" dirty="0"/>
              <a:t> equals(Employee </a:t>
            </a:r>
            <a:r>
              <a:rPr lang="en-US" altLang="zh-CN" dirty="0" err="1"/>
              <a:t>otherObject</a:t>
            </a:r>
            <a:r>
              <a:rPr lang="en-US" altLang="zh-CN" dirty="0"/>
              <a:t>)</a:t>
            </a:r>
            <a:br>
              <a:rPr lang="en-US" altLang="zh-CN" dirty="0"/>
            </a:br>
            <a:r>
              <a:rPr lang="en-US" altLang="zh-CN" dirty="0"/>
              <a:t>{…}</a:t>
            </a:r>
            <a:endParaRPr lang="en-US" altLang="zh-CN" dirty="0"/>
          </a:p>
          <a:p>
            <a:pPr lvl="1"/>
            <a:r>
              <a:rPr lang="zh-CN" altLang="en-US" dirty="0"/>
              <a:t>注意：这个方法没有覆盖</a:t>
            </a:r>
            <a:r>
              <a:rPr lang="en-US" altLang="zh-CN" dirty="0" err="1"/>
              <a:t>Object.equals</a:t>
            </a:r>
            <a:r>
              <a:rPr lang="zh-CN" altLang="en-US" dirty="0"/>
              <a:t>，而是定义了一个完全无关的方法。为避免这种情况，重写方法前可以加上 </a:t>
            </a:r>
            <a:r>
              <a:rPr lang="en-US" altLang="zh-CN" dirty="0"/>
              <a:t>@Override</a:t>
            </a:r>
            <a:r>
              <a:rPr lang="zh-CN" altLang="en-US" dirty="0"/>
              <a:t>，表明下面的方法必须是父类中的方法的覆盖。</a:t>
            </a:r>
            <a:r>
              <a:rPr lang="en-US" altLang="zh-CN" dirty="0"/>
              <a:t> </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5.2.3  </a:t>
            </a:r>
            <a:r>
              <a:rPr lang="en-US" altLang="zh-CN" dirty="0" err="1"/>
              <a:t>hashCode</a:t>
            </a:r>
            <a:r>
              <a:rPr lang="zh-CN" altLang="en-US" dirty="0"/>
              <a:t>方法</a:t>
            </a:r>
            <a:endParaRPr lang="zh-CN" altLang="en-US" dirty="0"/>
          </a:p>
        </p:txBody>
      </p:sp>
      <p:sp>
        <p:nvSpPr>
          <p:cNvPr id="3" name="内容占位符 2"/>
          <p:cNvSpPr>
            <a:spLocks noGrp="1"/>
          </p:cNvSpPr>
          <p:nvPr>
            <p:ph idx="1"/>
          </p:nvPr>
        </p:nvSpPr>
        <p:spPr>
          <a:xfrm>
            <a:off x="107504" y="836712"/>
            <a:ext cx="8424936" cy="6021288"/>
          </a:xfrm>
        </p:spPr>
        <p:txBody>
          <a:bodyPr>
            <a:normAutofit fontScale="92500" lnSpcReduction="10000"/>
          </a:bodyPr>
          <a:lstStyle/>
          <a:p>
            <a:pPr lvl="1"/>
            <a:r>
              <a:rPr lang="en-US" altLang="zh-CN" dirty="0"/>
              <a:t>Java</a:t>
            </a:r>
            <a:r>
              <a:rPr lang="zh-CN" altLang="en-US" dirty="0"/>
              <a:t>中的集合（</a:t>
            </a:r>
            <a:r>
              <a:rPr lang="en-US" altLang="zh-CN" dirty="0"/>
              <a:t>Collection</a:t>
            </a:r>
            <a:r>
              <a:rPr lang="zh-CN" altLang="en-US" dirty="0"/>
              <a:t>）有两类，一类是</a:t>
            </a:r>
            <a:r>
              <a:rPr lang="en-US" altLang="zh-CN" dirty="0"/>
              <a:t>List</a:t>
            </a:r>
            <a:r>
              <a:rPr lang="zh-CN" altLang="en-US" dirty="0"/>
              <a:t>，再有一类是</a:t>
            </a:r>
            <a:r>
              <a:rPr lang="en-US" altLang="zh-CN" dirty="0"/>
              <a:t>Set</a:t>
            </a:r>
            <a:r>
              <a:rPr lang="zh-CN" altLang="en-US" dirty="0"/>
              <a:t>。前者集合内的元素是有序的，元素可以重复；后者元素无序，但元素不可重复。</a:t>
            </a:r>
            <a:endParaRPr lang="en-US" altLang="zh-CN" dirty="0"/>
          </a:p>
          <a:p>
            <a:pPr lvl="1"/>
            <a:r>
              <a:rPr lang="zh-CN" altLang="en-US" dirty="0"/>
              <a:t> </a:t>
            </a:r>
            <a:r>
              <a:rPr lang="en-US" altLang="zh-CN" dirty="0"/>
              <a:t>equals</a:t>
            </a:r>
            <a:r>
              <a:rPr lang="zh-CN" altLang="en-US" dirty="0"/>
              <a:t>方法可用于保证元素不重复，但是，如果每增加一个元素就检查一次，这显然会大大降低效率。于是，</a:t>
            </a:r>
            <a:r>
              <a:rPr lang="en-US" altLang="zh-CN" dirty="0"/>
              <a:t>Java</a:t>
            </a:r>
            <a:r>
              <a:rPr lang="zh-CN" altLang="en-US" dirty="0"/>
              <a:t>采用了哈希表的原理。</a:t>
            </a:r>
            <a:endParaRPr lang="en-US" altLang="zh-CN" dirty="0"/>
          </a:p>
          <a:p>
            <a:pPr lvl="1"/>
            <a:r>
              <a:rPr lang="zh-CN" altLang="en-US" dirty="0"/>
              <a:t>哈希算法也称为散列算法，是将数据依特定算法直接指定到一个地址上。这样一来，当集合要添加新的元素时，先调用这个元素的</a:t>
            </a:r>
            <a:r>
              <a:rPr lang="en-US" altLang="zh-CN" dirty="0" err="1"/>
              <a:t>HashCode</a:t>
            </a:r>
            <a:r>
              <a:rPr lang="zh-CN" altLang="en-US" dirty="0"/>
              <a:t>方法，就一下子能定位到它应该放置的物理位置上。</a:t>
            </a:r>
            <a:endParaRPr lang="en-US" altLang="zh-CN" dirty="0"/>
          </a:p>
          <a:p>
            <a:pPr lvl="2"/>
            <a:r>
              <a:rPr lang="zh-CN" altLang="en-US" dirty="0"/>
              <a:t>（</a:t>
            </a:r>
            <a:r>
              <a:rPr lang="en-US" altLang="zh-CN" dirty="0"/>
              <a:t>1</a:t>
            </a:r>
            <a:r>
              <a:rPr lang="zh-CN" altLang="en-US" dirty="0"/>
              <a:t>）如果这个位置上没有元素，它就可以直接存储在这个位置上，不用再进行任何比较了；</a:t>
            </a:r>
            <a:endParaRPr lang="en-US" altLang="zh-CN" dirty="0"/>
          </a:p>
          <a:p>
            <a:pPr lvl="2"/>
            <a:r>
              <a:rPr lang="zh-CN" altLang="en-US" dirty="0"/>
              <a:t>（</a:t>
            </a:r>
            <a:r>
              <a:rPr lang="en-US" altLang="zh-CN" dirty="0"/>
              <a:t>2</a:t>
            </a:r>
            <a:r>
              <a:rPr lang="zh-CN" altLang="en-US" dirty="0"/>
              <a:t>）如果这个位置上已经有元素了，就调用它的</a:t>
            </a:r>
            <a:r>
              <a:rPr lang="en-US" altLang="zh-CN" dirty="0"/>
              <a:t>equals</a:t>
            </a:r>
            <a:r>
              <a:rPr lang="zh-CN" altLang="en-US" dirty="0"/>
              <a:t>方法与新元素进行比较，相同的话就不存了；</a:t>
            </a:r>
            <a:endParaRPr lang="en-US" altLang="zh-CN" dirty="0"/>
          </a:p>
          <a:p>
            <a:pPr lvl="2"/>
            <a:r>
              <a:rPr lang="zh-CN" altLang="en-US" dirty="0"/>
              <a:t>（</a:t>
            </a:r>
            <a:r>
              <a:rPr lang="en-US" altLang="zh-CN" dirty="0"/>
              <a:t>3</a:t>
            </a:r>
            <a:r>
              <a:rPr lang="zh-CN" altLang="en-US" dirty="0"/>
              <a:t>）不相同的话，也就是发生了</a:t>
            </a:r>
            <a:r>
              <a:rPr lang="en-US" altLang="zh-CN" dirty="0"/>
              <a:t>Hash key</a:t>
            </a:r>
            <a:r>
              <a:rPr lang="zh-CN" altLang="en-US" dirty="0"/>
              <a:t>相同导致冲突的情况，那么就在这个</a:t>
            </a:r>
            <a:r>
              <a:rPr lang="en-US" altLang="zh-CN" dirty="0"/>
              <a:t>Hash key</a:t>
            </a:r>
            <a:r>
              <a:rPr lang="zh-CN" altLang="en-US" dirty="0"/>
              <a:t>的地方产生一个链表，将所有产生相同</a:t>
            </a:r>
            <a:r>
              <a:rPr lang="en-US" altLang="zh-CN" dirty="0" err="1"/>
              <a:t>HashCode</a:t>
            </a:r>
            <a:r>
              <a:rPr lang="zh-CN" altLang="en-US" dirty="0"/>
              <a:t>的对象放到这个单链表上去，串在一起。</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5.2.3  </a:t>
            </a:r>
            <a:r>
              <a:rPr lang="en-US" altLang="zh-CN" dirty="0" err="1"/>
              <a:t>hashCode</a:t>
            </a:r>
            <a:r>
              <a:rPr lang="zh-CN" altLang="en-US" dirty="0"/>
              <a:t>方法</a:t>
            </a:r>
            <a:endParaRPr lang="zh-CN" altLang="en-US" dirty="0"/>
          </a:p>
        </p:txBody>
      </p:sp>
      <p:sp>
        <p:nvSpPr>
          <p:cNvPr id="3" name="内容占位符 2"/>
          <p:cNvSpPr>
            <a:spLocks noGrp="1"/>
          </p:cNvSpPr>
          <p:nvPr>
            <p:ph idx="1"/>
          </p:nvPr>
        </p:nvSpPr>
        <p:spPr>
          <a:xfrm>
            <a:off x="457200" y="980728"/>
            <a:ext cx="8075240" cy="5760640"/>
          </a:xfrm>
        </p:spPr>
        <p:txBody>
          <a:bodyPr>
            <a:normAutofit/>
          </a:bodyPr>
          <a:lstStyle/>
          <a:p>
            <a:r>
              <a:rPr lang="en-US" altLang="zh-CN" dirty="0"/>
              <a:t>Object</a:t>
            </a:r>
            <a:r>
              <a:rPr lang="zh-CN" altLang="en-US" dirty="0"/>
              <a:t>类中的</a:t>
            </a:r>
            <a:r>
              <a:rPr lang="en-US" altLang="zh-CN" dirty="0" err="1"/>
              <a:t>hashCode</a:t>
            </a:r>
            <a:r>
              <a:rPr lang="zh-CN" altLang="en-US" dirty="0"/>
              <a:t>方法是个内部方法，是由</a:t>
            </a:r>
            <a:r>
              <a:rPr lang="en-US" altLang="zh-CN" dirty="0"/>
              <a:t>C++</a:t>
            </a:r>
            <a:r>
              <a:rPr lang="zh-CN" altLang="en-US" dirty="0"/>
              <a:t>实现的。不同的虚拟机在运行时产生的对象的散列码可能不同：</a:t>
            </a:r>
            <a:endParaRPr lang="en-US" altLang="zh-CN" dirty="0"/>
          </a:p>
          <a:p>
            <a:pPr lvl="1"/>
            <a:r>
              <a:rPr lang="zh-CN" altLang="en-US" dirty="0"/>
              <a:t>有的是返回对象的地址，大部分是返回特定方法计算出的</a:t>
            </a:r>
            <a:r>
              <a:rPr lang="zh-CN" altLang="en-US" dirty="0">
                <a:solidFill>
                  <a:srgbClr val="FF0000"/>
                </a:solidFill>
              </a:rPr>
              <a:t>与地址相关</a:t>
            </a:r>
            <a:r>
              <a:rPr lang="zh-CN" altLang="en-US" dirty="0"/>
              <a:t>的一个整数。</a:t>
            </a:r>
            <a:endParaRPr lang="en-US" altLang="zh-CN" dirty="0"/>
          </a:p>
          <a:p>
            <a:pPr lvl="1"/>
            <a:r>
              <a:rPr lang="zh-CN" altLang="en-US" dirty="0"/>
              <a:t>同一个对象一定返回同一个散列码，不同对象</a:t>
            </a:r>
            <a:r>
              <a:rPr lang="zh-CN" altLang="en-US" dirty="0">
                <a:solidFill>
                  <a:srgbClr val="FF0000"/>
                </a:solidFill>
              </a:rPr>
              <a:t>基本上不会</a:t>
            </a:r>
            <a:r>
              <a:rPr lang="zh-CN" altLang="en-US" dirty="0"/>
              <a:t>返回相同的散列码。（不能用它判断两个对象相等）</a:t>
            </a:r>
            <a:endParaRPr lang="en-US" altLang="zh-CN" dirty="0"/>
          </a:p>
          <a:p>
            <a:pPr marL="274320" lvl="1" indent="0">
              <a:buNone/>
            </a:pPr>
            <a:r>
              <a:rPr lang="en-US" altLang="zh-CN" dirty="0"/>
              <a:t>Object e1=new Employee("John",70000,2010,9,10);</a:t>
            </a:r>
            <a:endParaRPr lang="en-US" altLang="zh-CN" dirty="0"/>
          </a:p>
          <a:p>
            <a:pPr marL="274320" lvl="1" indent="0">
              <a:buNone/>
            </a:pPr>
            <a:r>
              <a:rPr lang="en-US" altLang="zh-CN" dirty="0"/>
              <a:t>Object e2=new Employee("John",70000,2010,9,10);</a:t>
            </a:r>
            <a:endParaRPr lang="en-US" altLang="zh-CN" dirty="0"/>
          </a:p>
          <a:p>
            <a:pPr marL="274320" lvl="1" indent="0">
              <a:buNone/>
            </a:pPr>
            <a:r>
              <a:rPr lang="en-US" altLang="zh-CN" dirty="0"/>
              <a:t>Object e3=e2;</a:t>
            </a:r>
            <a:endParaRPr lang="en-US" altLang="zh-CN" dirty="0"/>
          </a:p>
          <a:p>
            <a:pPr marL="274320" lvl="1" indent="0">
              <a:buNone/>
            </a:pPr>
            <a:r>
              <a:rPr lang="en-US" altLang="zh-CN" dirty="0" err="1"/>
              <a:t>System.out.println</a:t>
            </a:r>
            <a:r>
              <a:rPr lang="en-US" altLang="zh-CN" dirty="0"/>
              <a:t>(e1.hashCode());  </a:t>
            </a:r>
            <a:r>
              <a:rPr lang="en-US" altLang="zh-CN" dirty="0">
                <a:solidFill>
                  <a:schemeClr val="accent3">
                    <a:lumMod val="50000"/>
                  </a:schemeClr>
                </a:solidFill>
              </a:rPr>
              <a:t>//2054881392</a:t>
            </a:r>
            <a:endParaRPr lang="en-US" altLang="zh-CN" dirty="0">
              <a:solidFill>
                <a:schemeClr val="accent3">
                  <a:lumMod val="50000"/>
                </a:schemeClr>
              </a:solidFill>
            </a:endParaRPr>
          </a:p>
          <a:p>
            <a:pPr marL="274320" lvl="1" indent="0">
              <a:buNone/>
            </a:pPr>
            <a:r>
              <a:rPr lang="en-US" altLang="zh-CN" dirty="0" err="1"/>
              <a:t>System.out.println</a:t>
            </a:r>
            <a:r>
              <a:rPr lang="en-US" altLang="zh-CN" dirty="0"/>
              <a:t>(e2.hashCode());  </a:t>
            </a:r>
            <a:r>
              <a:rPr lang="en-US" altLang="zh-CN" dirty="0">
                <a:solidFill>
                  <a:schemeClr val="accent3">
                    <a:lumMod val="50000"/>
                  </a:schemeClr>
                </a:solidFill>
              </a:rPr>
              <a:t>//966808741</a:t>
            </a:r>
            <a:endParaRPr lang="en-US" altLang="zh-CN" dirty="0">
              <a:solidFill>
                <a:schemeClr val="accent3">
                  <a:lumMod val="50000"/>
                </a:schemeClr>
              </a:solidFill>
            </a:endParaRPr>
          </a:p>
          <a:p>
            <a:pPr marL="274320" lvl="1" indent="0">
              <a:buNone/>
            </a:pPr>
            <a:r>
              <a:rPr lang="en-US" altLang="zh-CN" dirty="0" err="1"/>
              <a:t>System.out.println</a:t>
            </a:r>
            <a:r>
              <a:rPr lang="en-US" altLang="zh-CN" dirty="0"/>
              <a:t>(e3.hashCode());  </a:t>
            </a:r>
            <a:r>
              <a:rPr lang="en-US" altLang="zh-CN" dirty="0">
                <a:solidFill>
                  <a:schemeClr val="accent3">
                    <a:lumMod val="50000"/>
                  </a:schemeClr>
                </a:solidFill>
              </a:rPr>
              <a:t>//966808741</a:t>
            </a:r>
            <a:endParaRPr lang="zh-CN" altLang="en-US" dirty="0">
              <a:solidFill>
                <a:schemeClr val="accent3">
                  <a:lumMod val="50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5832648"/>
          </a:xfrm>
        </p:spPr>
        <p:txBody>
          <a:bodyPr/>
          <a:lstStyle/>
          <a:p>
            <a:r>
              <a:rPr lang="zh-CN" altLang="en-US" dirty="0"/>
              <a:t>在</a:t>
            </a:r>
            <a:r>
              <a:rPr lang="en-US" altLang="zh-CN" dirty="0"/>
              <a:t>Object</a:t>
            </a:r>
            <a:r>
              <a:rPr lang="zh-CN" altLang="en-US" dirty="0"/>
              <a:t>中，不能用</a:t>
            </a:r>
            <a:r>
              <a:rPr lang="en-US" altLang="zh-CN" dirty="0" err="1"/>
              <a:t>hashCode</a:t>
            </a:r>
            <a:r>
              <a:rPr lang="zh-CN" altLang="en-US" dirty="0"/>
              <a:t>判断两个对象是否相等，但是散列码不同的两个对象必定不等。</a:t>
            </a:r>
            <a:endParaRPr lang="en-US" altLang="zh-CN" dirty="0"/>
          </a:p>
          <a:p>
            <a:pPr lvl="1"/>
            <a:r>
              <a:rPr lang="zh-CN" altLang="en-US" dirty="0"/>
              <a:t>故判断对象相等必须使用</a:t>
            </a:r>
            <a:r>
              <a:rPr lang="en-US" altLang="zh-CN" dirty="0"/>
              <a:t>equals</a:t>
            </a:r>
            <a:r>
              <a:rPr lang="zh-CN" altLang="en-US" dirty="0"/>
              <a:t>方法，</a:t>
            </a:r>
            <a:r>
              <a:rPr lang="en-US" altLang="zh-CN" dirty="0"/>
              <a:t>equals</a:t>
            </a:r>
            <a:r>
              <a:rPr lang="zh-CN" altLang="en-US" dirty="0"/>
              <a:t>检测相等的是同一个对象，那么其</a:t>
            </a:r>
            <a:r>
              <a:rPr lang="en-US" altLang="zh-CN" dirty="0" err="1"/>
              <a:t>hashCode</a:t>
            </a:r>
            <a:r>
              <a:rPr lang="zh-CN" altLang="en-US" dirty="0"/>
              <a:t>也必定相等。</a:t>
            </a:r>
            <a:endParaRPr lang="en-US" altLang="zh-CN" dirty="0"/>
          </a:p>
          <a:p>
            <a:r>
              <a:rPr lang="zh-CN" altLang="en-US" dirty="0"/>
              <a:t>故，当自定义的类中修改了</a:t>
            </a:r>
            <a:r>
              <a:rPr lang="en-US" altLang="zh-CN" dirty="0"/>
              <a:t>equals</a:t>
            </a:r>
            <a:r>
              <a:rPr lang="zh-CN" altLang="en-US" dirty="0"/>
              <a:t>方法，即重新定义类相等的概念，那么相等的对象也必须返回相同的</a:t>
            </a:r>
            <a:r>
              <a:rPr lang="en-US" altLang="zh-CN" dirty="0" err="1"/>
              <a:t>hashCode</a:t>
            </a:r>
            <a:r>
              <a:rPr lang="zh-CN" altLang="en-US" dirty="0"/>
              <a:t>，亦即要修改其</a:t>
            </a:r>
            <a:r>
              <a:rPr lang="en-US" altLang="zh-CN" dirty="0" err="1"/>
              <a:t>hashCode</a:t>
            </a:r>
            <a:r>
              <a:rPr lang="zh-CN" altLang="en-US" dirty="0"/>
              <a:t>方法。</a:t>
            </a:r>
            <a:endParaRPr lang="en-US" altLang="zh-CN" dirty="0"/>
          </a:p>
          <a:p>
            <a:pPr marL="274320" lvl="1" indent="0">
              <a:buNone/>
            </a:pPr>
            <a:r>
              <a:rPr lang="zh-CN" altLang="en-US" dirty="0"/>
              <a:t>例如</a:t>
            </a:r>
            <a:r>
              <a:rPr lang="en-US" altLang="zh-CN" dirty="0"/>
              <a:t>String</a:t>
            </a:r>
            <a:r>
              <a:rPr lang="zh-CN" altLang="en-US" dirty="0"/>
              <a:t>类中重定义了</a:t>
            </a:r>
            <a:r>
              <a:rPr lang="en-US" altLang="zh-CN" dirty="0"/>
              <a:t>equals</a:t>
            </a:r>
            <a:r>
              <a:rPr lang="zh-CN" altLang="en-US" dirty="0"/>
              <a:t>：</a:t>
            </a:r>
            <a:br>
              <a:rPr lang="en-US" altLang="zh-CN" dirty="0"/>
            </a:br>
            <a:r>
              <a:rPr lang="en-US" altLang="zh-CN" dirty="0"/>
              <a:t>	String s1=new String("Hello");</a:t>
            </a:r>
            <a:endParaRPr lang="en-US" altLang="zh-CN" dirty="0"/>
          </a:p>
          <a:p>
            <a:pPr marL="274320" lvl="1" indent="0">
              <a:buNone/>
            </a:pPr>
            <a:r>
              <a:rPr lang="en-US" altLang="zh-CN" dirty="0"/>
              <a:t>	String s2=new String("Hello");</a:t>
            </a:r>
            <a:endParaRPr lang="en-US" altLang="zh-CN" dirty="0"/>
          </a:p>
          <a:p>
            <a:pPr marL="274320" lvl="1" indent="0">
              <a:buNone/>
            </a:pPr>
            <a:r>
              <a:rPr lang="en-US" altLang="zh-CN" dirty="0"/>
              <a:t>	</a:t>
            </a:r>
            <a:r>
              <a:rPr lang="en-US" altLang="zh-CN" dirty="0" err="1"/>
              <a:t>System.out.println</a:t>
            </a:r>
            <a:r>
              <a:rPr lang="en-US" altLang="zh-CN" dirty="0"/>
              <a:t>(s1.equals(s2));  </a:t>
            </a:r>
            <a:r>
              <a:rPr lang="en-US" altLang="zh-CN" dirty="0">
                <a:solidFill>
                  <a:schemeClr val="accent3">
                    <a:lumMod val="50000"/>
                  </a:schemeClr>
                </a:solidFill>
              </a:rPr>
              <a:t>//true</a:t>
            </a:r>
            <a:endParaRPr lang="en-US" altLang="zh-CN" dirty="0">
              <a:solidFill>
                <a:schemeClr val="accent3">
                  <a:lumMod val="50000"/>
                </a:schemeClr>
              </a:solidFill>
            </a:endParaRPr>
          </a:p>
          <a:p>
            <a:pPr lvl="1"/>
            <a:r>
              <a:rPr lang="en-US" altLang="zh-CN" dirty="0"/>
              <a:t>s1</a:t>
            </a:r>
            <a:r>
              <a:rPr lang="zh-CN" altLang="en-US" dirty="0"/>
              <a:t>，</a:t>
            </a:r>
            <a:r>
              <a:rPr lang="en-US" altLang="zh-CN" dirty="0"/>
              <a:t>s2</a:t>
            </a:r>
            <a:r>
              <a:rPr lang="zh-CN" altLang="en-US" dirty="0"/>
              <a:t>显然并非同一个对象，</a:t>
            </a:r>
            <a:r>
              <a:rPr lang="en-US" altLang="zh-CN" dirty="0"/>
              <a:t>String</a:t>
            </a:r>
            <a:r>
              <a:rPr lang="zh-CN" altLang="en-US" dirty="0"/>
              <a:t>类中也必须重定义</a:t>
            </a:r>
            <a:r>
              <a:rPr lang="en-US" altLang="zh-CN" dirty="0" err="1"/>
              <a:t>hashCode</a:t>
            </a:r>
            <a:r>
              <a:rPr lang="zh-CN" altLang="en-US" dirty="0"/>
              <a:t>使</a:t>
            </a:r>
            <a:r>
              <a:rPr lang="en-US" altLang="zh-CN" dirty="0"/>
              <a:t>s1</a:t>
            </a:r>
            <a:r>
              <a:rPr lang="zh-CN" altLang="en-US" dirty="0"/>
              <a:t>，</a:t>
            </a:r>
            <a:r>
              <a:rPr lang="en-US" altLang="zh-CN" dirty="0"/>
              <a:t>s2</a:t>
            </a:r>
            <a:r>
              <a:rPr lang="zh-CN" altLang="en-US" dirty="0"/>
              <a:t>返回相等的散列码。</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075240" cy="6408712"/>
          </a:xfrm>
        </p:spPr>
        <p:txBody>
          <a:bodyPr>
            <a:normAutofit/>
          </a:bodyPr>
          <a:lstStyle/>
          <a:p>
            <a:pPr marL="274320" lvl="1" indent="0">
              <a:buNone/>
            </a:pPr>
            <a:r>
              <a:rPr lang="en-US" altLang="zh-CN" dirty="0" err="1"/>
              <a:t>System.out.println</a:t>
            </a:r>
            <a:r>
              <a:rPr lang="en-US" altLang="zh-CN" dirty="0"/>
              <a:t>(s1.hashCode());  </a:t>
            </a:r>
            <a:r>
              <a:rPr lang="en-US" altLang="zh-CN" dirty="0">
                <a:solidFill>
                  <a:schemeClr val="accent3">
                    <a:lumMod val="50000"/>
                  </a:schemeClr>
                </a:solidFill>
              </a:rPr>
              <a:t>//69609650</a:t>
            </a:r>
            <a:endParaRPr lang="en-US" altLang="zh-CN" dirty="0">
              <a:solidFill>
                <a:schemeClr val="accent3">
                  <a:lumMod val="50000"/>
                </a:schemeClr>
              </a:solidFill>
            </a:endParaRPr>
          </a:p>
          <a:p>
            <a:pPr marL="274320" lvl="1" indent="0">
              <a:buNone/>
            </a:pPr>
            <a:r>
              <a:rPr lang="en-US" altLang="zh-CN" dirty="0" err="1"/>
              <a:t>System.out.println</a:t>
            </a:r>
            <a:r>
              <a:rPr lang="en-US" altLang="zh-CN" dirty="0"/>
              <a:t>(s2.hashCode());  </a:t>
            </a:r>
            <a:r>
              <a:rPr lang="en-US" altLang="zh-CN" dirty="0">
                <a:solidFill>
                  <a:schemeClr val="accent3">
                    <a:lumMod val="50000"/>
                  </a:schemeClr>
                </a:solidFill>
              </a:rPr>
              <a:t>//69609650</a:t>
            </a:r>
            <a:endParaRPr lang="en-US" altLang="zh-CN" dirty="0">
              <a:solidFill>
                <a:schemeClr val="accent3">
                  <a:lumMod val="50000"/>
                </a:schemeClr>
              </a:solidFill>
            </a:endParaRPr>
          </a:p>
          <a:p>
            <a:r>
              <a:rPr lang="en-US" altLang="zh-CN" dirty="0"/>
              <a:t>equals</a:t>
            </a:r>
            <a:r>
              <a:rPr lang="zh-CN" altLang="en-US" dirty="0"/>
              <a:t>方法和</a:t>
            </a:r>
            <a:r>
              <a:rPr lang="en-US" altLang="zh-CN" dirty="0" err="1"/>
              <a:t>hashCode</a:t>
            </a:r>
            <a:r>
              <a:rPr lang="zh-CN" altLang="en-US" dirty="0"/>
              <a:t>方法的关系：</a:t>
            </a:r>
            <a:endParaRPr lang="en-US" altLang="zh-CN" dirty="0"/>
          </a:p>
          <a:p>
            <a:pPr lvl="1"/>
            <a:r>
              <a:rPr lang="zh-CN" altLang="en-US" dirty="0"/>
              <a:t>如果调用</a:t>
            </a:r>
            <a:r>
              <a:rPr lang="en-US" altLang="zh-CN" dirty="0"/>
              <a:t>equals</a:t>
            </a:r>
            <a:r>
              <a:rPr lang="zh-CN" altLang="en-US" dirty="0"/>
              <a:t>方法得到的结果为</a:t>
            </a:r>
            <a:r>
              <a:rPr lang="en-US" altLang="zh-CN" dirty="0"/>
              <a:t>true</a:t>
            </a:r>
            <a:r>
              <a:rPr lang="zh-CN" altLang="en-US" dirty="0"/>
              <a:t>，则两个对象的</a:t>
            </a:r>
            <a:r>
              <a:rPr lang="en-US" altLang="zh-CN" dirty="0" err="1"/>
              <a:t>hashcode</a:t>
            </a:r>
            <a:r>
              <a:rPr lang="zh-CN" altLang="en-US" dirty="0"/>
              <a:t>值必定相等；</a:t>
            </a:r>
            <a:endParaRPr lang="zh-CN" altLang="en-US" dirty="0"/>
          </a:p>
          <a:p>
            <a:pPr lvl="1"/>
            <a:r>
              <a:rPr lang="zh-CN" altLang="en-US" dirty="0"/>
              <a:t>如果</a:t>
            </a:r>
            <a:r>
              <a:rPr lang="en-US" altLang="zh-CN" dirty="0"/>
              <a:t>equals</a:t>
            </a:r>
            <a:r>
              <a:rPr lang="zh-CN" altLang="en-US" dirty="0"/>
              <a:t>方法得到的结果为</a:t>
            </a:r>
            <a:r>
              <a:rPr lang="en-US" altLang="zh-CN" dirty="0"/>
              <a:t>false</a:t>
            </a:r>
            <a:r>
              <a:rPr lang="zh-CN" altLang="en-US" dirty="0"/>
              <a:t>，则两个对象的</a:t>
            </a:r>
            <a:r>
              <a:rPr lang="en-US" altLang="zh-CN" dirty="0" err="1"/>
              <a:t>hashcode</a:t>
            </a:r>
            <a:r>
              <a:rPr lang="zh-CN" altLang="en-US" dirty="0"/>
              <a:t>值不一定不同；</a:t>
            </a:r>
            <a:endParaRPr lang="zh-CN" altLang="en-US" dirty="0"/>
          </a:p>
          <a:p>
            <a:pPr lvl="1"/>
            <a:r>
              <a:rPr lang="zh-CN" altLang="en-US" dirty="0"/>
              <a:t>如果两个对象的</a:t>
            </a:r>
            <a:r>
              <a:rPr lang="en-US" altLang="zh-CN" dirty="0" err="1"/>
              <a:t>hashcode</a:t>
            </a:r>
            <a:r>
              <a:rPr lang="zh-CN" altLang="en-US" dirty="0"/>
              <a:t>值不等，则</a:t>
            </a:r>
            <a:r>
              <a:rPr lang="en-US" altLang="zh-CN" dirty="0"/>
              <a:t>equals</a:t>
            </a:r>
            <a:r>
              <a:rPr lang="zh-CN" altLang="en-US" dirty="0"/>
              <a:t>方法得到的结果必定为</a:t>
            </a:r>
            <a:r>
              <a:rPr lang="en-US" altLang="zh-CN" dirty="0"/>
              <a:t>false</a:t>
            </a:r>
            <a:r>
              <a:rPr lang="zh-CN" altLang="en-US" dirty="0"/>
              <a:t>；</a:t>
            </a:r>
            <a:endParaRPr lang="zh-CN" altLang="en-US" dirty="0"/>
          </a:p>
          <a:p>
            <a:pPr lvl="1"/>
            <a:r>
              <a:rPr lang="zh-CN" altLang="en-US" dirty="0"/>
              <a:t>如果两个对象的</a:t>
            </a:r>
            <a:r>
              <a:rPr lang="en-US" altLang="zh-CN" dirty="0" err="1"/>
              <a:t>hashcode</a:t>
            </a:r>
            <a:r>
              <a:rPr lang="zh-CN" altLang="en-US" dirty="0"/>
              <a:t>值相等，则</a:t>
            </a:r>
            <a:r>
              <a:rPr lang="en-US" altLang="zh-CN" dirty="0"/>
              <a:t>equals</a:t>
            </a:r>
            <a:r>
              <a:rPr lang="zh-CN" altLang="en-US" dirty="0"/>
              <a:t>方法得到的结果未知。</a:t>
            </a:r>
            <a:endParaRPr lang="en-US" altLang="zh-CN" dirty="0"/>
          </a:p>
          <a:p>
            <a:r>
              <a:rPr lang="en-US" altLang="zh-CN" dirty="0"/>
              <a:t>String</a:t>
            </a:r>
            <a:r>
              <a:rPr lang="zh-CN" altLang="en-US" dirty="0"/>
              <a:t>的</a:t>
            </a:r>
            <a:r>
              <a:rPr lang="en-US" altLang="zh-CN" dirty="0" err="1"/>
              <a:t>hashCode</a:t>
            </a:r>
            <a:r>
              <a:rPr lang="zh-CN" altLang="en-US" dirty="0"/>
              <a:t>计算散列码的算法：</a:t>
            </a:r>
            <a:endParaRPr lang="en-US" altLang="zh-CN" dirty="0"/>
          </a:p>
          <a:p>
            <a:pPr lvl="1"/>
            <a:r>
              <a:rPr lang="en-US" altLang="zh-CN" dirty="0" err="1"/>
              <a:t>int</a:t>
            </a:r>
            <a:r>
              <a:rPr lang="en-US" altLang="zh-CN" dirty="0"/>
              <a:t> hash=0;</a:t>
            </a:r>
            <a:br>
              <a:rPr lang="en-US" altLang="zh-CN" dirty="0"/>
            </a:br>
            <a:r>
              <a:rPr lang="en-US" altLang="zh-CN" dirty="0"/>
              <a:t>for(</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&lt;length(); </a:t>
            </a:r>
            <a:r>
              <a:rPr lang="en-US" altLang="zh-CN" dirty="0" err="1"/>
              <a:t>i</a:t>
            </a:r>
            <a:r>
              <a:rPr lang="en-US" altLang="zh-CN" dirty="0"/>
              <a:t>++)</a:t>
            </a:r>
            <a:br>
              <a:rPr lang="en-US" altLang="zh-CN" dirty="0"/>
            </a:br>
            <a:r>
              <a:rPr lang="en-US" altLang="zh-CN" dirty="0"/>
              <a:t>     hash=31*</a:t>
            </a:r>
            <a:r>
              <a:rPr lang="en-US" altLang="zh-CN" dirty="0" err="1"/>
              <a:t>hash+charAt</a:t>
            </a:r>
            <a:r>
              <a:rPr lang="en-US" altLang="zh-CN" dirty="0"/>
              <a:t>(</a:t>
            </a:r>
            <a:r>
              <a:rPr lang="en-US" altLang="zh-CN" dirty="0" err="1"/>
              <a:t>i</a:t>
            </a:r>
            <a:r>
              <a:rPr lang="en-US" altLang="zh-CN" dirty="0"/>
              <a:t>);</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91264" cy="6264696"/>
          </a:xfrm>
        </p:spPr>
        <p:txBody>
          <a:bodyPr>
            <a:normAutofit fontScale="92500" lnSpcReduction="10000"/>
          </a:bodyPr>
          <a:lstStyle/>
          <a:p>
            <a:r>
              <a:rPr lang="zh-CN" altLang="en-US" dirty="0"/>
              <a:t>回到</a:t>
            </a:r>
            <a:r>
              <a:rPr lang="en-US" altLang="zh-CN" dirty="0"/>
              <a:t>e1</a:t>
            </a:r>
            <a:r>
              <a:rPr lang="zh-CN" altLang="en-US" dirty="0"/>
              <a:t>和</a:t>
            </a:r>
            <a:r>
              <a:rPr lang="en-US" altLang="zh-CN" dirty="0"/>
              <a:t>e2</a:t>
            </a:r>
            <a:r>
              <a:rPr lang="zh-CN" altLang="en-US" dirty="0"/>
              <a:t>的例子中，两个对象的散列码不同，由于重定义了</a:t>
            </a:r>
            <a:r>
              <a:rPr lang="en-US" altLang="zh-CN" dirty="0"/>
              <a:t>equals</a:t>
            </a:r>
            <a:r>
              <a:rPr lang="zh-CN" altLang="en-US" dirty="0"/>
              <a:t>，故</a:t>
            </a:r>
            <a:endParaRPr lang="en-US" altLang="zh-CN" dirty="0"/>
          </a:p>
          <a:p>
            <a:pPr marL="274320" lvl="1" indent="0">
              <a:buNone/>
            </a:pPr>
            <a:r>
              <a:rPr lang="en-US" altLang="zh-CN" dirty="0"/>
              <a:t>e1.equals(e2) </a:t>
            </a:r>
            <a:r>
              <a:rPr lang="zh-CN" altLang="en-US" dirty="0"/>
              <a:t>返回</a:t>
            </a:r>
            <a:r>
              <a:rPr lang="en-US" altLang="zh-CN" dirty="0"/>
              <a:t>true</a:t>
            </a:r>
            <a:r>
              <a:rPr lang="zh-CN" altLang="en-US" dirty="0"/>
              <a:t>，与前面的规则矛盾了，必须重新定义</a:t>
            </a:r>
            <a:r>
              <a:rPr lang="en-US" altLang="zh-CN" dirty="0" err="1"/>
              <a:t>hashCode</a:t>
            </a:r>
            <a:r>
              <a:rPr lang="zh-CN" altLang="en-US" dirty="0"/>
              <a:t>方法。</a:t>
            </a:r>
            <a:endParaRPr lang="en-US" altLang="zh-CN" dirty="0"/>
          </a:p>
          <a:p>
            <a:r>
              <a:rPr lang="zh-CN" altLang="en-US" dirty="0"/>
              <a:t>下面为</a:t>
            </a:r>
            <a:r>
              <a:rPr lang="en-US" altLang="zh-CN" dirty="0"/>
              <a:t>Employee</a:t>
            </a:r>
            <a:r>
              <a:rPr lang="zh-CN" altLang="en-US" dirty="0"/>
              <a:t>类添加</a:t>
            </a:r>
            <a:r>
              <a:rPr lang="en-US" altLang="zh-CN" dirty="0" err="1"/>
              <a:t>hashCode</a:t>
            </a:r>
            <a:r>
              <a:rPr lang="zh-CN" altLang="en-US" dirty="0"/>
              <a:t>方法：</a:t>
            </a:r>
            <a:endParaRPr lang="en-US" altLang="zh-CN" dirty="0"/>
          </a:p>
          <a:p>
            <a:pPr lvl="1"/>
            <a:r>
              <a:rPr lang="en-US" altLang="zh-CN" dirty="0"/>
              <a:t>public </a:t>
            </a:r>
            <a:r>
              <a:rPr lang="en-US" altLang="zh-CN" dirty="0" err="1"/>
              <a:t>int</a:t>
            </a:r>
            <a:r>
              <a:rPr lang="en-US" altLang="zh-CN" dirty="0"/>
              <a:t> </a:t>
            </a:r>
            <a:r>
              <a:rPr lang="en-US" altLang="zh-CN" dirty="0" err="1"/>
              <a:t>hashCode</a:t>
            </a:r>
            <a:r>
              <a:rPr lang="en-US" altLang="zh-CN" dirty="0"/>
              <a:t>()  </a:t>
            </a:r>
            <a:r>
              <a:rPr lang="en-US" altLang="zh-CN" dirty="0">
                <a:solidFill>
                  <a:schemeClr val="accent3">
                    <a:lumMod val="50000"/>
                  </a:schemeClr>
                </a:solidFill>
              </a:rPr>
              <a:t>// return a integer</a:t>
            </a:r>
            <a:br>
              <a:rPr lang="en-US" altLang="zh-CN" dirty="0"/>
            </a:br>
            <a:r>
              <a:rPr lang="en-US" altLang="zh-CN" dirty="0"/>
              <a:t>{</a:t>
            </a:r>
            <a:br>
              <a:rPr lang="en-US" altLang="zh-CN" dirty="0"/>
            </a:br>
            <a:r>
              <a:rPr lang="en-US" altLang="zh-CN" dirty="0"/>
              <a:t>     return 7*</a:t>
            </a:r>
            <a:r>
              <a:rPr lang="en-US" altLang="zh-CN" dirty="0" err="1"/>
              <a:t>name.hashCode</a:t>
            </a:r>
            <a:r>
              <a:rPr lang="en-US" altLang="zh-CN" dirty="0"/>
              <a:t>() </a:t>
            </a:r>
            <a:r>
              <a:rPr lang="en-US" altLang="zh-CN" dirty="0">
                <a:solidFill>
                  <a:schemeClr val="accent3">
                    <a:lumMod val="50000"/>
                  </a:schemeClr>
                </a:solidFill>
              </a:rPr>
              <a:t>//name</a:t>
            </a:r>
            <a:r>
              <a:rPr lang="zh-CN" altLang="en-US" dirty="0">
                <a:solidFill>
                  <a:schemeClr val="accent3">
                    <a:lumMod val="50000"/>
                  </a:schemeClr>
                </a:solidFill>
              </a:rPr>
              <a:t>为</a:t>
            </a:r>
            <a:r>
              <a:rPr lang="en-US" altLang="zh-CN" dirty="0">
                <a:solidFill>
                  <a:schemeClr val="accent3">
                    <a:lumMod val="50000"/>
                  </a:schemeClr>
                </a:solidFill>
              </a:rPr>
              <a:t>null</a:t>
            </a:r>
            <a:r>
              <a:rPr lang="zh-CN" altLang="en-US" dirty="0">
                <a:solidFill>
                  <a:schemeClr val="accent3">
                    <a:lumMod val="50000"/>
                  </a:schemeClr>
                </a:solidFill>
              </a:rPr>
              <a:t>会产生异常</a:t>
            </a:r>
            <a:br>
              <a:rPr lang="en-US" altLang="zh-CN" dirty="0"/>
            </a:br>
            <a:r>
              <a:rPr lang="en-US" altLang="zh-CN" dirty="0"/>
              <a:t>     + 11* new Double(salary).</a:t>
            </a:r>
            <a:r>
              <a:rPr lang="en-US" altLang="zh-CN" dirty="0" err="1"/>
              <a:t>hashCode</a:t>
            </a:r>
            <a:r>
              <a:rPr lang="en-US" altLang="zh-CN" dirty="0"/>
              <a:t>() </a:t>
            </a:r>
            <a:r>
              <a:rPr lang="en-US" altLang="zh-CN" dirty="0">
                <a:solidFill>
                  <a:schemeClr val="accent3">
                    <a:lumMod val="50000"/>
                  </a:schemeClr>
                </a:solidFill>
              </a:rPr>
              <a:t>//</a:t>
            </a:r>
            <a:r>
              <a:rPr lang="zh-CN" altLang="en-US" dirty="0">
                <a:solidFill>
                  <a:schemeClr val="accent3">
                    <a:lumMod val="50000"/>
                  </a:schemeClr>
                </a:solidFill>
              </a:rPr>
              <a:t>对基本类型要  </a:t>
            </a:r>
            <a:r>
              <a:rPr lang="en-US" altLang="zh-CN" dirty="0">
                <a:solidFill>
                  <a:schemeClr val="accent3">
                    <a:lumMod val="50000"/>
                  </a:schemeClr>
                </a:solidFill>
              </a:rPr>
              <a:t>//</a:t>
            </a:r>
            <a:r>
              <a:rPr lang="zh-CN" altLang="en-US" dirty="0">
                <a:solidFill>
                  <a:schemeClr val="accent3">
                    <a:lumMod val="50000"/>
                  </a:schemeClr>
                </a:solidFill>
              </a:rPr>
              <a:t>创建相应的包装类对象</a:t>
            </a:r>
            <a:br>
              <a:rPr lang="en-US" altLang="zh-CN" dirty="0">
                <a:solidFill>
                  <a:schemeClr val="accent3">
                    <a:lumMod val="50000"/>
                  </a:schemeClr>
                </a:solidFill>
              </a:rPr>
            </a:br>
            <a:r>
              <a:rPr lang="en-US" altLang="zh-CN" dirty="0"/>
              <a:t>     + 13* </a:t>
            </a:r>
            <a:r>
              <a:rPr lang="en-US" altLang="zh-CN" dirty="0" err="1"/>
              <a:t>hireDay.hashCode</a:t>
            </a:r>
            <a:r>
              <a:rPr lang="en-US" altLang="zh-CN" dirty="0"/>
              <a:t>(); </a:t>
            </a:r>
            <a:br>
              <a:rPr lang="en-US" altLang="zh-CN" dirty="0"/>
            </a:br>
            <a:r>
              <a:rPr lang="en-US" altLang="zh-CN" dirty="0"/>
              <a:t>}</a:t>
            </a:r>
            <a:endParaRPr lang="en-US" altLang="zh-CN" dirty="0"/>
          </a:p>
          <a:p>
            <a:r>
              <a:rPr lang="zh-CN" altLang="en-US" dirty="0"/>
              <a:t>在</a:t>
            </a:r>
            <a:r>
              <a:rPr lang="en-US" altLang="zh-CN" dirty="0" err="1"/>
              <a:t>java.unil.Objects</a:t>
            </a:r>
            <a:r>
              <a:rPr lang="zh-CN" altLang="en-US" dirty="0"/>
              <a:t>类中定义了一个</a:t>
            </a:r>
            <a:r>
              <a:rPr lang="en-US" altLang="zh-CN" dirty="0" err="1"/>
              <a:t>hashCode</a:t>
            </a:r>
            <a:r>
              <a:rPr lang="zh-CN" altLang="en-US" dirty="0"/>
              <a:t>方法：</a:t>
            </a:r>
            <a:endParaRPr lang="en-US" altLang="zh-CN" dirty="0"/>
          </a:p>
          <a:p>
            <a:pPr lvl="1"/>
            <a:r>
              <a:rPr lang="zh-CN" altLang="en-US" dirty="0"/>
              <a:t>参数为</a:t>
            </a:r>
            <a:r>
              <a:rPr lang="en-US" altLang="zh-CN" dirty="0"/>
              <a:t>null</a:t>
            </a:r>
            <a:r>
              <a:rPr lang="zh-CN" altLang="en-US" dirty="0"/>
              <a:t>时返回</a:t>
            </a:r>
            <a:r>
              <a:rPr lang="en-US" altLang="zh-CN" dirty="0"/>
              <a:t>0</a:t>
            </a:r>
            <a:r>
              <a:rPr lang="zh-CN" altLang="en-US" dirty="0"/>
              <a:t>，为对象时调用相关类的</a:t>
            </a:r>
            <a:r>
              <a:rPr lang="en-US" altLang="zh-CN" dirty="0" err="1"/>
              <a:t>hashCode</a:t>
            </a:r>
            <a:r>
              <a:rPr lang="en-US" altLang="zh-CN" dirty="0"/>
              <a:t>:</a:t>
            </a:r>
            <a:endParaRPr lang="en-US" altLang="zh-CN" dirty="0"/>
          </a:p>
          <a:p>
            <a:pPr marL="274320" lvl="1" indent="0">
              <a:buNone/>
            </a:pPr>
            <a:r>
              <a:rPr lang="en-US" altLang="zh-CN" dirty="0"/>
              <a:t>    public static </a:t>
            </a:r>
            <a:r>
              <a:rPr lang="en-US" altLang="zh-CN" dirty="0" err="1"/>
              <a:t>int</a:t>
            </a:r>
            <a:r>
              <a:rPr lang="en-US" altLang="zh-CN" dirty="0"/>
              <a:t> </a:t>
            </a:r>
            <a:r>
              <a:rPr lang="en-US" altLang="zh-CN" dirty="0" err="1"/>
              <a:t>hashCode</a:t>
            </a:r>
            <a:r>
              <a:rPr lang="en-US" altLang="zh-CN" dirty="0"/>
              <a:t>(Object o) {</a:t>
            </a:r>
            <a:endParaRPr lang="en-US" altLang="zh-CN" dirty="0"/>
          </a:p>
          <a:p>
            <a:pPr marL="274320" lvl="1" indent="0">
              <a:buNone/>
            </a:pPr>
            <a:r>
              <a:rPr lang="en-US" altLang="zh-CN" dirty="0"/>
              <a:t>        return o != null ? </a:t>
            </a:r>
            <a:r>
              <a:rPr lang="en-US" altLang="zh-CN" dirty="0" err="1"/>
              <a:t>o.hashCode</a:t>
            </a:r>
            <a:r>
              <a:rPr lang="en-US" altLang="zh-CN" dirty="0"/>
              <a:t>() : 0;</a:t>
            </a:r>
            <a:endParaRPr lang="en-US" altLang="zh-CN" dirty="0"/>
          </a:p>
          <a:p>
            <a:pPr marL="274320" lvl="1" indent="0">
              <a:buNone/>
            </a:pPr>
            <a:r>
              <a:rPr lang="zh-CN" altLang="en-US" dirty="0"/>
              <a:t>    </a:t>
            </a:r>
            <a:r>
              <a:rPr lang="en-US" altLang="zh-CN" dirty="0"/>
              <a:t>}</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91264" cy="6336704"/>
          </a:xfrm>
        </p:spPr>
        <p:txBody>
          <a:bodyPr>
            <a:normAutofit/>
          </a:bodyPr>
          <a:lstStyle/>
          <a:p>
            <a:r>
              <a:rPr lang="zh-CN" altLang="en-US" dirty="0"/>
              <a:t>修改如下：</a:t>
            </a:r>
            <a:endParaRPr lang="en-US" altLang="zh-CN" dirty="0"/>
          </a:p>
          <a:p>
            <a:pPr lvl="1"/>
            <a:r>
              <a:rPr lang="en-US" altLang="zh-CN" dirty="0"/>
              <a:t>public </a:t>
            </a:r>
            <a:r>
              <a:rPr lang="en-US" altLang="zh-CN" dirty="0" err="1"/>
              <a:t>int</a:t>
            </a:r>
            <a:r>
              <a:rPr lang="en-US" altLang="zh-CN" dirty="0"/>
              <a:t> </a:t>
            </a:r>
            <a:r>
              <a:rPr lang="en-US" altLang="zh-CN" dirty="0" err="1"/>
              <a:t>hashCode</a:t>
            </a:r>
            <a:r>
              <a:rPr lang="en-US" altLang="zh-CN" dirty="0"/>
              <a:t>()  </a:t>
            </a:r>
            <a:r>
              <a:rPr lang="en-US" altLang="zh-CN" dirty="0">
                <a:solidFill>
                  <a:schemeClr val="accent3">
                    <a:lumMod val="50000"/>
                  </a:schemeClr>
                </a:solidFill>
              </a:rPr>
              <a:t>// return a integer</a:t>
            </a:r>
            <a:br>
              <a:rPr lang="en-US" altLang="zh-CN" dirty="0"/>
            </a:br>
            <a:r>
              <a:rPr lang="en-US" altLang="zh-CN" dirty="0"/>
              <a:t>{</a:t>
            </a:r>
            <a:br>
              <a:rPr lang="en-US" altLang="zh-CN" dirty="0"/>
            </a:br>
            <a:r>
              <a:rPr lang="en-US" altLang="zh-CN" dirty="0"/>
              <a:t>     return 7*</a:t>
            </a:r>
            <a:r>
              <a:rPr lang="en-US" altLang="zh-CN" dirty="0" err="1"/>
              <a:t>Objects.hashCode</a:t>
            </a:r>
            <a:r>
              <a:rPr lang="en-US" altLang="zh-CN" dirty="0"/>
              <a:t>(name)</a:t>
            </a:r>
            <a:br>
              <a:rPr lang="en-US" altLang="zh-CN" dirty="0"/>
            </a:br>
            <a:r>
              <a:rPr lang="en-US" altLang="zh-CN" dirty="0"/>
              <a:t>     + 11* </a:t>
            </a:r>
            <a:r>
              <a:rPr lang="en-US" altLang="zh-CN" dirty="0" err="1"/>
              <a:t>Double.hashCode</a:t>
            </a:r>
            <a:r>
              <a:rPr lang="en-US" altLang="zh-CN" dirty="0"/>
              <a:t>(salary) </a:t>
            </a:r>
            <a:r>
              <a:rPr lang="en-US" altLang="zh-CN" dirty="0">
                <a:solidFill>
                  <a:schemeClr val="accent3">
                    <a:lumMod val="50000"/>
                  </a:schemeClr>
                </a:solidFill>
              </a:rPr>
              <a:t>//Double</a:t>
            </a:r>
            <a:r>
              <a:rPr lang="zh-CN" altLang="en-US" dirty="0">
                <a:solidFill>
                  <a:schemeClr val="accent3">
                    <a:lumMod val="50000"/>
                  </a:schemeClr>
                </a:solidFill>
              </a:rPr>
              <a:t>的</a:t>
            </a:r>
            <a:r>
              <a:rPr lang="en-US" altLang="zh-CN" dirty="0">
                <a:solidFill>
                  <a:schemeClr val="accent3">
                    <a:lumMod val="50000"/>
                  </a:schemeClr>
                </a:solidFill>
              </a:rPr>
              <a:t>static</a:t>
            </a:r>
            <a:r>
              <a:rPr lang="zh-CN" altLang="en-US" dirty="0">
                <a:solidFill>
                  <a:schemeClr val="accent3">
                    <a:lumMod val="50000"/>
                  </a:schemeClr>
                </a:solidFill>
              </a:rPr>
              <a:t>方法</a:t>
            </a:r>
            <a:br>
              <a:rPr lang="en-US" altLang="zh-CN" dirty="0">
                <a:solidFill>
                  <a:schemeClr val="accent3">
                    <a:lumMod val="50000"/>
                  </a:schemeClr>
                </a:solidFill>
              </a:rPr>
            </a:br>
            <a:r>
              <a:rPr lang="en-US" altLang="zh-CN" dirty="0"/>
              <a:t>     + 13* </a:t>
            </a:r>
            <a:r>
              <a:rPr lang="en-US" altLang="zh-CN" dirty="0" err="1"/>
              <a:t>Objects.hashCode</a:t>
            </a:r>
            <a:r>
              <a:rPr lang="en-US" altLang="zh-CN" dirty="0"/>
              <a:t>(</a:t>
            </a:r>
            <a:r>
              <a:rPr lang="en-US" altLang="zh-CN" dirty="0" err="1"/>
              <a:t>hireDay</a:t>
            </a:r>
            <a:r>
              <a:rPr lang="en-US" altLang="zh-CN" dirty="0"/>
              <a:t>); </a:t>
            </a:r>
            <a:br>
              <a:rPr lang="en-US" altLang="zh-CN" dirty="0"/>
            </a:br>
            <a:r>
              <a:rPr lang="en-US" altLang="zh-CN" dirty="0"/>
              <a:t>}</a:t>
            </a:r>
            <a:endParaRPr lang="en-US" altLang="zh-CN" dirty="0"/>
          </a:p>
          <a:p>
            <a:pPr marL="274320" lvl="1" indent="0">
              <a:buNone/>
            </a:pPr>
            <a:r>
              <a:rPr lang="zh-CN" altLang="en-US" dirty="0"/>
              <a:t>还可以更省事一些，调用</a:t>
            </a:r>
            <a:r>
              <a:rPr lang="en-US" altLang="zh-CN" dirty="0"/>
              <a:t>hash</a:t>
            </a:r>
            <a:r>
              <a:rPr lang="zh-CN" altLang="en-US" dirty="0"/>
              <a:t>方法：</a:t>
            </a:r>
            <a:br>
              <a:rPr lang="en-US" altLang="zh-CN" dirty="0"/>
            </a:br>
            <a:r>
              <a:rPr lang="en-US" altLang="zh-CN" dirty="0"/>
              <a:t>public </a:t>
            </a:r>
            <a:r>
              <a:rPr lang="en-US" altLang="zh-CN" dirty="0" err="1"/>
              <a:t>int</a:t>
            </a:r>
            <a:r>
              <a:rPr lang="en-US" altLang="zh-CN" dirty="0"/>
              <a:t> </a:t>
            </a:r>
            <a:r>
              <a:rPr lang="en-US" altLang="zh-CN" dirty="0" err="1"/>
              <a:t>hashCode</a:t>
            </a:r>
            <a:r>
              <a:rPr lang="en-US" altLang="zh-CN" dirty="0"/>
              <a:t>()</a:t>
            </a:r>
            <a:endParaRPr lang="en-US" altLang="zh-CN" dirty="0"/>
          </a:p>
          <a:p>
            <a:pPr marL="274320" lvl="1" indent="0">
              <a:buNone/>
            </a:pPr>
            <a:r>
              <a:rPr lang="zh-CN" altLang="en-US" dirty="0"/>
              <a:t>   </a:t>
            </a:r>
            <a:r>
              <a:rPr lang="en-US" altLang="zh-CN" dirty="0"/>
              <a:t>{</a:t>
            </a:r>
            <a:endParaRPr lang="en-US" altLang="zh-CN" dirty="0"/>
          </a:p>
          <a:p>
            <a:pPr marL="274320" lvl="1" indent="0">
              <a:buNone/>
            </a:pPr>
            <a:r>
              <a:rPr lang="en-US" altLang="zh-CN" dirty="0"/>
              <a:t>      return </a:t>
            </a:r>
            <a:r>
              <a:rPr lang="en-US" altLang="zh-CN" dirty="0" err="1"/>
              <a:t>Objects.</a:t>
            </a:r>
            <a:r>
              <a:rPr lang="en-US" altLang="zh-CN" i="1" dirty="0" err="1"/>
              <a:t>hash</a:t>
            </a:r>
            <a:r>
              <a:rPr lang="en-US" altLang="zh-CN" i="1" dirty="0"/>
              <a:t>(name, salary, </a:t>
            </a:r>
            <a:r>
              <a:rPr lang="en-US" altLang="zh-CN" i="1" dirty="0" err="1"/>
              <a:t>hireDay</a:t>
            </a:r>
            <a:r>
              <a:rPr lang="en-US" altLang="zh-CN" i="1" dirty="0"/>
              <a:t>); </a:t>
            </a:r>
            <a:endParaRPr lang="en-US" altLang="zh-CN" i="1" dirty="0"/>
          </a:p>
          <a:p>
            <a:pPr marL="274320" lvl="1" indent="0">
              <a:buNone/>
            </a:pPr>
            <a:r>
              <a:rPr lang="zh-CN" altLang="en-US" dirty="0"/>
              <a:t>   </a:t>
            </a:r>
            <a:r>
              <a:rPr lang="en-US" altLang="zh-CN" dirty="0"/>
              <a:t>}</a:t>
            </a:r>
            <a:endParaRPr lang="en-US" altLang="zh-CN" dirty="0"/>
          </a:p>
          <a:p>
            <a:pPr marL="274320" lvl="1" indent="0">
              <a:buNone/>
            </a:pPr>
            <a:r>
              <a:rPr lang="en-US" altLang="zh-CN" dirty="0"/>
              <a:t>hash</a:t>
            </a:r>
            <a:r>
              <a:rPr lang="zh-CN" altLang="en-US" dirty="0"/>
              <a:t>方法调用各参数的</a:t>
            </a:r>
            <a:r>
              <a:rPr lang="en-US" altLang="zh-CN" dirty="0" err="1"/>
              <a:t>hashCode</a:t>
            </a:r>
            <a:r>
              <a:rPr lang="zh-CN" altLang="en-US" dirty="0"/>
              <a:t>方法，再将结果组合起来</a:t>
            </a:r>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075240" cy="5976664"/>
          </a:xfrm>
        </p:spPr>
        <p:txBody>
          <a:bodyPr>
            <a:normAutofit lnSpcReduction="10000"/>
          </a:bodyPr>
          <a:lstStyle/>
          <a:p>
            <a:pPr lvl="1"/>
            <a:r>
              <a:rPr lang="en-US" altLang="zh-CN" dirty="0" err="1">
                <a:solidFill>
                  <a:schemeClr val="accent3">
                    <a:lumMod val="50000"/>
                  </a:schemeClr>
                </a:solidFill>
              </a:rPr>
              <a:t>java.unil.Objects.hash</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public static </a:t>
            </a:r>
            <a:r>
              <a:rPr lang="en-US" altLang="zh-CN" dirty="0" err="1"/>
              <a:t>int</a:t>
            </a:r>
            <a:r>
              <a:rPr lang="en-US" altLang="zh-CN" dirty="0"/>
              <a:t> hash(Object... values) {</a:t>
            </a:r>
            <a:endParaRPr lang="en-US" altLang="zh-CN" dirty="0"/>
          </a:p>
          <a:p>
            <a:pPr marL="274320" lvl="1" indent="0">
              <a:buNone/>
            </a:pPr>
            <a:r>
              <a:rPr lang="en-US" altLang="zh-CN" dirty="0"/>
              <a:t>        return </a:t>
            </a:r>
            <a:r>
              <a:rPr lang="en-US" altLang="zh-CN" dirty="0" err="1"/>
              <a:t>Arrays.hashCode</a:t>
            </a:r>
            <a:r>
              <a:rPr lang="en-US" altLang="zh-CN" dirty="0"/>
              <a:t>(values);</a:t>
            </a:r>
            <a:endParaRPr lang="en-US" altLang="zh-CN" dirty="0"/>
          </a:p>
          <a:p>
            <a:pPr marL="274320" lvl="1" indent="0">
              <a:buNone/>
            </a:pPr>
            <a:r>
              <a:rPr lang="en-US" altLang="zh-CN" dirty="0"/>
              <a:t> }</a:t>
            </a:r>
            <a:endParaRPr lang="en-US" altLang="zh-CN" dirty="0"/>
          </a:p>
          <a:p>
            <a:pPr lvl="1"/>
            <a:r>
              <a:rPr lang="en-US" altLang="zh-CN" dirty="0" err="1">
                <a:solidFill>
                  <a:schemeClr val="accent3">
                    <a:lumMod val="50000"/>
                  </a:schemeClr>
                </a:solidFill>
              </a:rPr>
              <a:t>java.unil.Arrays.hashCode</a:t>
            </a:r>
            <a:r>
              <a:rPr lang="en-US" altLang="zh-CN" dirty="0">
                <a:solidFill>
                  <a:schemeClr val="accent3">
                    <a:lumMod val="50000"/>
                  </a:schemeClr>
                </a:solidFill>
              </a:rPr>
              <a:t>:</a:t>
            </a:r>
            <a:endParaRPr lang="en-US" altLang="zh-CN" dirty="0">
              <a:solidFill>
                <a:schemeClr val="accent3">
                  <a:lumMod val="50000"/>
                </a:schemeClr>
              </a:solidFill>
            </a:endParaRPr>
          </a:p>
          <a:p>
            <a:pPr marL="274320" lvl="1" indent="0">
              <a:buNone/>
            </a:pPr>
            <a:r>
              <a:rPr lang="en-US" altLang="zh-CN" dirty="0"/>
              <a:t>public static </a:t>
            </a:r>
            <a:r>
              <a:rPr lang="en-US" altLang="zh-CN" dirty="0" err="1"/>
              <a:t>int</a:t>
            </a:r>
            <a:r>
              <a:rPr lang="en-US" altLang="zh-CN" dirty="0"/>
              <a:t> </a:t>
            </a:r>
            <a:r>
              <a:rPr lang="en-US" altLang="zh-CN" dirty="0" err="1"/>
              <a:t>hashCode</a:t>
            </a:r>
            <a:r>
              <a:rPr lang="en-US" altLang="zh-CN" dirty="0"/>
              <a:t>(Object a[]) {</a:t>
            </a:r>
            <a:endParaRPr lang="en-US" altLang="zh-CN" dirty="0"/>
          </a:p>
          <a:p>
            <a:pPr marL="274320" lvl="1" indent="0">
              <a:buNone/>
            </a:pPr>
            <a:r>
              <a:rPr lang="en-US" altLang="zh-CN" dirty="0"/>
              <a:t>        if (a == null)</a:t>
            </a:r>
            <a:endParaRPr lang="en-US" altLang="zh-CN" dirty="0"/>
          </a:p>
          <a:p>
            <a:pPr marL="274320" lvl="1" indent="0">
              <a:buNone/>
            </a:pPr>
            <a:r>
              <a:rPr lang="en-US" altLang="zh-CN" dirty="0"/>
              <a:t>            return 0;</a:t>
            </a:r>
            <a:endParaRPr lang="en-US" altLang="zh-CN" dirty="0"/>
          </a:p>
          <a:p>
            <a:pPr marL="274320" lvl="1" indent="0">
              <a:buNone/>
            </a:pPr>
            <a:r>
              <a:rPr lang="en-US" altLang="zh-CN" dirty="0"/>
              <a:t>        </a:t>
            </a:r>
            <a:r>
              <a:rPr lang="en-US" altLang="zh-CN" dirty="0" err="1"/>
              <a:t>int</a:t>
            </a:r>
            <a:r>
              <a:rPr lang="en-US" altLang="zh-CN" dirty="0"/>
              <a:t> result = 1;</a:t>
            </a:r>
            <a:endParaRPr lang="en-US" altLang="zh-CN" dirty="0"/>
          </a:p>
          <a:p>
            <a:pPr marL="274320" lvl="1" indent="0">
              <a:buNone/>
            </a:pPr>
            <a:r>
              <a:rPr lang="en-US" altLang="zh-CN" dirty="0"/>
              <a:t>        for (Object element : a)</a:t>
            </a:r>
            <a:endParaRPr lang="en-US" altLang="zh-CN" dirty="0"/>
          </a:p>
          <a:p>
            <a:pPr marL="274320" lvl="1" indent="0">
              <a:buNone/>
            </a:pPr>
            <a:r>
              <a:rPr lang="en-US" altLang="zh-CN" dirty="0"/>
              <a:t>            result = 31 * result + (element == null ? 0 :    			</a:t>
            </a:r>
            <a:r>
              <a:rPr lang="en-US" altLang="zh-CN" dirty="0" err="1"/>
              <a:t>element.hashCode</a:t>
            </a:r>
            <a:r>
              <a:rPr lang="en-US" altLang="zh-CN" dirty="0"/>
              <a:t>());</a:t>
            </a:r>
            <a:endParaRPr lang="en-US" altLang="zh-CN" dirty="0"/>
          </a:p>
          <a:p>
            <a:pPr marL="274320" lvl="1" indent="0">
              <a:buNone/>
            </a:pPr>
            <a:r>
              <a:rPr lang="en-US" altLang="zh-CN" dirty="0"/>
              <a:t>        return result;</a:t>
            </a:r>
            <a:endParaRPr lang="en-US" altLang="zh-CN" dirty="0"/>
          </a:p>
          <a:p>
            <a:pPr marL="274320" lvl="1" indent="0">
              <a:buNone/>
            </a:pPr>
            <a:r>
              <a:rPr lang="en-US" altLang="zh-CN" dirty="0"/>
              <a:t>}</a:t>
            </a:r>
            <a:endParaRPr lang="en-US" altLang="zh-CN" dirty="0"/>
          </a:p>
          <a:p>
            <a:pPr lvl="1"/>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476672"/>
            <a:ext cx="8496944" cy="5760640"/>
          </a:xfrm>
        </p:spPr>
        <p:txBody>
          <a:bodyPr/>
          <a:lstStyle/>
          <a:p>
            <a:r>
              <a:rPr lang="en-US" altLang="zh-CN" dirty="0"/>
              <a:t>Manager</a:t>
            </a:r>
            <a:r>
              <a:rPr lang="zh-CN" altLang="en-US" dirty="0"/>
              <a:t>中同样需要重新定义：</a:t>
            </a:r>
            <a:endParaRPr lang="en-US" altLang="zh-CN" dirty="0"/>
          </a:p>
          <a:p>
            <a:pPr marL="274320" lvl="1" indent="0">
              <a:buNone/>
            </a:pPr>
            <a:r>
              <a:rPr lang="en-US" altLang="zh-CN" dirty="0"/>
              <a:t> public </a:t>
            </a:r>
            <a:r>
              <a:rPr lang="en-US" altLang="zh-CN" dirty="0" err="1"/>
              <a:t>int</a:t>
            </a:r>
            <a:r>
              <a:rPr lang="en-US" altLang="zh-CN" dirty="0"/>
              <a:t> </a:t>
            </a:r>
            <a:r>
              <a:rPr lang="en-US" altLang="zh-CN" dirty="0" err="1"/>
              <a:t>hashCode</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return  </a:t>
            </a:r>
            <a:r>
              <a:rPr lang="en-US" altLang="zh-CN" dirty="0" err="1"/>
              <a:t>Objects.hash</a:t>
            </a:r>
            <a:r>
              <a:rPr lang="en-US" altLang="zh-CN" dirty="0"/>
              <a:t>(</a:t>
            </a:r>
            <a:r>
              <a:rPr lang="en-US" altLang="zh-CN" dirty="0" err="1"/>
              <a:t>super.hashCode</a:t>
            </a:r>
            <a:r>
              <a:rPr lang="en-US" altLang="zh-CN" dirty="0"/>
              <a:t>(), bonus);</a:t>
            </a:r>
            <a:endParaRPr lang="en-US" altLang="zh-CN" dirty="0"/>
          </a:p>
          <a:p>
            <a:pPr marL="274320" lvl="1" indent="0">
              <a:buNone/>
            </a:pPr>
            <a:r>
              <a:rPr lang="en-US" altLang="zh-CN" dirty="0"/>
              <a:t>   }</a:t>
            </a:r>
            <a:br>
              <a:rPr lang="en-US" altLang="zh-CN" dirty="0"/>
            </a:br>
            <a:r>
              <a:rPr lang="zh-CN" altLang="en-US" dirty="0"/>
              <a:t>这里需要先调用父类中的</a:t>
            </a:r>
            <a:r>
              <a:rPr lang="en-US" altLang="zh-CN" dirty="0" err="1"/>
              <a:t>hashCode</a:t>
            </a:r>
            <a:r>
              <a:rPr lang="zh-CN" altLang="en-US" dirty="0"/>
              <a:t>，再把子类中要比较的域散列组合。</a:t>
            </a:r>
            <a:endParaRPr lang="en-US" altLang="zh-CN" dirty="0"/>
          </a:p>
          <a:p>
            <a:r>
              <a:rPr lang="zh-CN" altLang="en-US" dirty="0"/>
              <a:t>注意：</a:t>
            </a:r>
            <a:r>
              <a:rPr lang="en-US" altLang="zh-CN" dirty="0" err="1"/>
              <a:t>hashCode</a:t>
            </a:r>
            <a:r>
              <a:rPr lang="zh-CN" altLang="en-US" dirty="0"/>
              <a:t>计算散列码的域，一定和</a:t>
            </a:r>
            <a:r>
              <a:rPr lang="en-US" altLang="zh-CN" dirty="0"/>
              <a:t>equals</a:t>
            </a:r>
            <a:r>
              <a:rPr lang="zh-CN" altLang="en-US" dirty="0"/>
              <a:t>中做相等比较的域是一致的。</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5.2.4  </a:t>
            </a:r>
            <a:r>
              <a:rPr lang="en-US" altLang="zh-CN" dirty="0" err="1"/>
              <a:t>toString</a:t>
            </a:r>
            <a:r>
              <a:rPr lang="zh-CN" altLang="en-US" dirty="0"/>
              <a:t>方法</a:t>
            </a:r>
            <a:endParaRPr lang="zh-CN" altLang="en-US" dirty="0"/>
          </a:p>
        </p:txBody>
      </p:sp>
      <p:sp>
        <p:nvSpPr>
          <p:cNvPr id="3" name="内容占位符 2"/>
          <p:cNvSpPr>
            <a:spLocks noGrp="1"/>
          </p:cNvSpPr>
          <p:nvPr>
            <p:ph idx="1"/>
          </p:nvPr>
        </p:nvSpPr>
        <p:spPr>
          <a:xfrm>
            <a:off x="179512" y="980728"/>
            <a:ext cx="8424936" cy="5256584"/>
          </a:xfrm>
        </p:spPr>
        <p:txBody>
          <a:bodyPr>
            <a:normAutofit lnSpcReduction="10000"/>
          </a:bodyPr>
          <a:lstStyle/>
          <a:p>
            <a:r>
              <a:rPr lang="en-US" altLang="zh-CN" dirty="0"/>
              <a:t>Object</a:t>
            </a:r>
            <a:r>
              <a:rPr lang="zh-CN" altLang="en-US" dirty="0"/>
              <a:t>中定义了</a:t>
            </a:r>
            <a:r>
              <a:rPr lang="en-US" altLang="zh-CN" dirty="0" err="1"/>
              <a:t>toString</a:t>
            </a:r>
            <a:r>
              <a:rPr lang="en-US" altLang="zh-CN" dirty="0"/>
              <a:t>()</a:t>
            </a:r>
            <a:r>
              <a:rPr lang="zh-CN" altLang="en-US" dirty="0"/>
              <a:t>：</a:t>
            </a:r>
            <a:endParaRPr lang="en-US" altLang="zh-CN" dirty="0"/>
          </a:p>
          <a:p>
            <a:pPr lvl="1">
              <a:buNone/>
            </a:pPr>
            <a:r>
              <a:rPr lang="en-US" altLang="zh-CN" b="1" dirty="0"/>
              <a:t>public String </a:t>
            </a:r>
            <a:r>
              <a:rPr lang="en-US" altLang="zh-CN" b="1" dirty="0" err="1"/>
              <a:t>toString</a:t>
            </a:r>
            <a:r>
              <a:rPr lang="en-US" altLang="zh-CN" b="1" dirty="0"/>
              <a:t>() {</a:t>
            </a:r>
            <a:endParaRPr lang="en-US" altLang="zh-CN" b="1" dirty="0"/>
          </a:p>
          <a:p>
            <a:pPr lvl="1">
              <a:buNone/>
            </a:pPr>
            <a:r>
              <a:rPr lang="en-US" altLang="zh-CN" dirty="0"/>
              <a:t>        </a:t>
            </a:r>
            <a:r>
              <a:rPr lang="en-US" altLang="zh-CN" b="1" dirty="0"/>
              <a:t>return </a:t>
            </a:r>
            <a:r>
              <a:rPr lang="en-US" altLang="zh-CN" b="1" dirty="0" err="1"/>
              <a:t>getClass</a:t>
            </a:r>
            <a:r>
              <a:rPr lang="en-US" altLang="zh-CN" b="1" dirty="0"/>
              <a:t>().</a:t>
            </a:r>
            <a:r>
              <a:rPr lang="en-US" altLang="zh-CN" b="1" dirty="0" err="1"/>
              <a:t>getName</a:t>
            </a:r>
            <a:r>
              <a:rPr lang="en-US" altLang="zh-CN" b="1" dirty="0"/>
              <a:t>() + "@" +  </a:t>
            </a:r>
            <a:r>
              <a:rPr lang="en-US" altLang="zh-CN" b="1" dirty="0" err="1"/>
              <a:t>Integer.</a:t>
            </a:r>
            <a:r>
              <a:rPr lang="en-US" altLang="zh-CN" b="1" i="1" dirty="0" err="1"/>
              <a:t>toHexString</a:t>
            </a:r>
            <a:r>
              <a:rPr lang="en-US" altLang="zh-CN" b="1" i="1" dirty="0"/>
              <a:t>(</a:t>
            </a:r>
            <a:r>
              <a:rPr lang="en-US" altLang="zh-CN" b="1" i="1" dirty="0" err="1"/>
              <a:t>hashCode</a:t>
            </a:r>
            <a:r>
              <a:rPr lang="en-US" altLang="zh-CN" b="1" i="1" dirty="0"/>
              <a:t>());</a:t>
            </a:r>
            <a:endParaRPr lang="en-US" altLang="zh-CN" b="1" i="1" dirty="0"/>
          </a:p>
          <a:p>
            <a:pPr lvl="1">
              <a:buNone/>
            </a:pPr>
            <a:r>
              <a:rPr lang="zh-CN" altLang="en-US" dirty="0"/>
              <a:t> </a:t>
            </a:r>
            <a:r>
              <a:rPr lang="en-US" altLang="zh-CN" dirty="0"/>
              <a:t>}</a:t>
            </a:r>
            <a:endParaRPr lang="en-US" altLang="zh-CN" dirty="0"/>
          </a:p>
          <a:p>
            <a:pPr lvl="1"/>
            <a:r>
              <a:rPr lang="en-US" altLang="zh-CN" dirty="0" err="1"/>
              <a:t>System.</a:t>
            </a:r>
            <a:r>
              <a:rPr lang="en-US" altLang="zh-CN" b="1" i="1" dirty="0" err="1"/>
              <a:t>out.println</a:t>
            </a:r>
            <a:r>
              <a:rPr lang="en-US" altLang="zh-CN" b="1" i="1" dirty="0"/>
              <a:t>(e1.hashCode());   </a:t>
            </a:r>
            <a:r>
              <a:rPr lang="en-US" altLang="zh-CN" b="1" dirty="0">
                <a:solidFill>
                  <a:schemeClr val="accent3">
                    <a:lumMod val="50000"/>
                  </a:schemeClr>
                </a:solidFill>
              </a:rPr>
              <a:t>//</a:t>
            </a:r>
            <a:r>
              <a:rPr lang="en-US" altLang="zh-CN" dirty="0">
                <a:solidFill>
                  <a:schemeClr val="accent3">
                    <a:lumMod val="50000"/>
                  </a:schemeClr>
                </a:solidFill>
              </a:rPr>
              <a:t>2054881392</a:t>
            </a:r>
            <a:endParaRPr lang="en-US" altLang="zh-CN" b="1" i="1" dirty="0">
              <a:solidFill>
                <a:schemeClr val="accent3">
                  <a:lumMod val="50000"/>
                </a:schemeClr>
              </a:solidFill>
            </a:endParaRPr>
          </a:p>
          <a:p>
            <a:pPr lvl="1"/>
            <a:r>
              <a:rPr lang="en-US" altLang="zh-CN" dirty="0" err="1"/>
              <a:t>System.</a:t>
            </a:r>
            <a:r>
              <a:rPr lang="en-US" altLang="zh-CN" b="1" i="1" dirty="0" err="1"/>
              <a:t>out.println</a:t>
            </a:r>
            <a:r>
              <a:rPr lang="en-US" altLang="zh-CN" b="1" i="1" dirty="0"/>
              <a:t>(e1.toString());</a:t>
            </a:r>
            <a:br>
              <a:rPr lang="en-US" altLang="zh-CN" b="1" i="1" dirty="0"/>
            </a:br>
            <a:r>
              <a:rPr lang="en-US" altLang="zh-CN" b="1" i="1" dirty="0">
                <a:solidFill>
                  <a:schemeClr val="accent3">
                    <a:lumMod val="50000"/>
                  </a:schemeClr>
                </a:solidFill>
              </a:rPr>
              <a:t>   </a:t>
            </a:r>
            <a:r>
              <a:rPr lang="en-US" altLang="zh-CN" dirty="0">
                <a:solidFill>
                  <a:schemeClr val="accent3">
                    <a:lumMod val="50000"/>
                  </a:schemeClr>
                </a:solidFill>
              </a:rPr>
              <a:t>//inheritance.Employee@7a7b0070</a:t>
            </a:r>
            <a:endParaRPr lang="en-US" altLang="zh-CN" dirty="0">
              <a:solidFill>
                <a:schemeClr val="accent3">
                  <a:lumMod val="50000"/>
                </a:schemeClr>
              </a:solidFill>
            </a:endParaRPr>
          </a:p>
          <a:p>
            <a:r>
              <a:rPr lang="zh-CN" altLang="en-US" dirty="0"/>
              <a:t>定义的类中应该对</a:t>
            </a:r>
            <a:r>
              <a:rPr lang="en-US" altLang="zh-CN" dirty="0" err="1"/>
              <a:t>toSting</a:t>
            </a:r>
            <a:r>
              <a:rPr lang="zh-CN" altLang="en-US" dirty="0"/>
              <a:t>覆盖，如</a:t>
            </a:r>
            <a:r>
              <a:rPr lang="en-US" altLang="zh-CN" dirty="0"/>
              <a:t>String</a:t>
            </a:r>
            <a:r>
              <a:rPr lang="zh-CN" altLang="en-US" dirty="0"/>
              <a:t>中：</a:t>
            </a:r>
            <a:endParaRPr lang="en-US" altLang="zh-CN" dirty="0"/>
          </a:p>
          <a:p>
            <a:pPr marL="274320" lvl="1" indent="0">
              <a:buNone/>
            </a:pPr>
            <a:r>
              <a:rPr lang="en-US" altLang="zh-CN" dirty="0"/>
              <a:t>public String </a:t>
            </a:r>
            <a:r>
              <a:rPr lang="en-US" altLang="zh-CN" dirty="0" err="1"/>
              <a:t>toString</a:t>
            </a:r>
            <a:r>
              <a:rPr lang="en-US" altLang="zh-CN" dirty="0"/>
              <a:t>() {</a:t>
            </a:r>
            <a:endParaRPr lang="en-US" altLang="zh-CN" dirty="0"/>
          </a:p>
          <a:p>
            <a:pPr marL="274320" lvl="1" indent="0">
              <a:buNone/>
            </a:pPr>
            <a:r>
              <a:rPr lang="en-US" altLang="zh-CN" dirty="0"/>
              <a:t>        return this;</a:t>
            </a:r>
            <a:endParaRPr lang="en-US" altLang="zh-CN" dirty="0"/>
          </a:p>
          <a:p>
            <a:pPr marL="274320" lvl="1" indent="0">
              <a:buNone/>
            </a:pPr>
            <a:r>
              <a:rPr lang="en-US" altLang="zh-CN" dirty="0"/>
              <a:t>}</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075240" cy="5832648"/>
          </a:xfrm>
        </p:spPr>
        <p:txBody>
          <a:bodyPr/>
          <a:lstStyle/>
          <a:p>
            <a:r>
              <a:rPr lang="zh-CN" altLang="en-US" dirty="0"/>
              <a:t>另一个例子：</a:t>
            </a:r>
            <a:endParaRPr lang="en-US" altLang="zh-CN" dirty="0"/>
          </a:p>
          <a:p>
            <a:pPr marL="274320" lvl="1" indent="0">
              <a:buNone/>
            </a:pPr>
            <a:r>
              <a:rPr lang="en-US" altLang="zh-CN" dirty="0"/>
              <a:t>Point p1=new Point(10,20);</a:t>
            </a:r>
            <a:endParaRPr lang="en-US" altLang="zh-CN" dirty="0"/>
          </a:p>
          <a:p>
            <a:pPr marL="274320" lvl="1" indent="0">
              <a:buNone/>
            </a:pPr>
            <a:r>
              <a:rPr lang="en-US" altLang="zh-CN" dirty="0" err="1"/>
              <a:t>System.out.println</a:t>
            </a:r>
            <a:r>
              <a:rPr lang="en-US" altLang="zh-CN" dirty="0"/>
              <a:t>(p1);  </a:t>
            </a:r>
            <a:r>
              <a:rPr lang="en-US" altLang="zh-CN" dirty="0">
                <a:solidFill>
                  <a:schemeClr val="accent3">
                    <a:lumMod val="50000"/>
                  </a:schemeClr>
                </a:solidFill>
              </a:rPr>
              <a:t>//</a:t>
            </a:r>
            <a:r>
              <a:rPr lang="en-US" altLang="zh-CN" dirty="0" err="1">
                <a:solidFill>
                  <a:schemeClr val="accent3">
                    <a:lumMod val="50000"/>
                  </a:schemeClr>
                </a:solidFill>
              </a:rPr>
              <a:t>java.awt.Point</a:t>
            </a:r>
            <a:r>
              <a:rPr lang="en-US" altLang="zh-CN" dirty="0">
                <a:solidFill>
                  <a:schemeClr val="accent3">
                    <a:lumMod val="50000"/>
                  </a:schemeClr>
                </a:solidFill>
              </a:rPr>
              <a:t>[x=10,y=20]</a:t>
            </a:r>
            <a:endParaRPr lang="en-US" altLang="zh-CN" dirty="0">
              <a:solidFill>
                <a:schemeClr val="accent3">
                  <a:lumMod val="50000"/>
                </a:schemeClr>
              </a:solidFill>
            </a:endParaRPr>
          </a:p>
          <a:p>
            <a:r>
              <a:rPr lang="zh-CN" altLang="en-US" dirty="0"/>
              <a:t>一般来说，每个类都应该重写自己的</a:t>
            </a:r>
            <a:r>
              <a:rPr lang="en-US" altLang="zh-CN" dirty="0" err="1"/>
              <a:t>toString</a:t>
            </a:r>
            <a:r>
              <a:rPr lang="zh-CN" altLang="en-US" dirty="0"/>
              <a:t>方法，返回的字符串可以遵循如下格式：</a:t>
            </a:r>
            <a:endParaRPr lang="en-US" altLang="zh-CN" dirty="0"/>
          </a:p>
          <a:p>
            <a:pPr lvl="1"/>
            <a:r>
              <a:rPr lang="zh-CN" altLang="en-US" dirty="0"/>
              <a:t>类名 </a:t>
            </a:r>
            <a:r>
              <a:rPr lang="en-US" altLang="zh-CN" dirty="0"/>
              <a:t>[</a:t>
            </a:r>
            <a:r>
              <a:rPr lang="zh-CN" altLang="en-US" dirty="0"/>
              <a:t>域值</a:t>
            </a:r>
            <a:r>
              <a:rPr lang="en-US" altLang="zh-CN" dirty="0"/>
              <a:t>1</a:t>
            </a:r>
            <a:r>
              <a:rPr lang="zh-CN" altLang="en-US" dirty="0"/>
              <a:t>，域值</a:t>
            </a:r>
            <a:r>
              <a:rPr lang="en-US" altLang="zh-CN" dirty="0"/>
              <a:t>2</a:t>
            </a:r>
            <a:r>
              <a:rPr lang="zh-CN" altLang="en-US" dirty="0"/>
              <a:t>，</a:t>
            </a:r>
            <a:r>
              <a:rPr lang="en-US" altLang="zh-CN" dirty="0"/>
              <a:t>…]</a:t>
            </a:r>
            <a:endParaRPr lang="en-US" altLang="zh-CN" dirty="0"/>
          </a:p>
          <a:p>
            <a:pPr lvl="1"/>
            <a:r>
              <a:rPr lang="en-US" altLang="zh-CN" dirty="0"/>
              <a:t>Employee</a:t>
            </a:r>
            <a:r>
              <a:rPr lang="zh-CN" altLang="en-US" dirty="0"/>
              <a:t>的</a:t>
            </a:r>
            <a:r>
              <a:rPr lang="en-US" altLang="zh-CN" dirty="0" err="1"/>
              <a:t>toString</a:t>
            </a:r>
            <a:r>
              <a:rPr lang="zh-CN" altLang="en-US" dirty="0"/>
              <a:t>可以写为：</a:t>
            </a:r>
            <a:br>
              <a:rPr lang="en-US" altLang="zh-CN" dirty="0"/>
            </a:br>
            <a:r>
              <a:rPr lang="en-US" altLang="zh-CN" dirty="0"/>
              <a:t>public String </a:t>
            </a:r>
            <a:r>
              <a:rPr lang="en-US" altLang="zh-CN" dirty="0" err="1"/>
              <a:t>toString</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return </a:t>
            </a:r>
            <a:r>
              <a:rPr lang="en-US" altLang="zh-CN" dirty="0" err="1"/>
              <a:t>getClass</a:t>
            </a:r>
            <a:r>
              <a:rPr lang="en-US" altLang="zh-CN" dirty="0"/>
              <a:t>().</a:t>
            </a:r>
            <a:r>
              <a:rPr lang="en-US" altLang="zh-CN" dirty="0" err="1"/>
              <a:t>getName</a:t>
            </a:r>
            <a:r>
              <a:rPr lang="en-US" altLang="zh-CN" dirty="0"/>
              <a:t>() + "[name=" + name + 	",salary=" + salary + ",</a:t>
            </a:r>
            <a:r>
              <a:rPr lang="en-US" altLang="zh-CN" dirty="0" err="1"/>
              <a:t>hireDay</a:t>
            </a:r>
            <a:r>
              <a:rPr lang="en-US" altLang="zh-CN" dirty="0"/>
              <a:t>=" + </a:t>
            </a:r>
            <a:r>
              <a:rPr lang="en-US" altLang="zh-CN" dirty="0" err="1"/>
              <a:t>hireDay</a:t>
            </a:r>
            <a:endParaRPr lang="en-US" altLang="zh-CN" dirty="0"/>
          </a:p>
          <a:p>
            <a:pPr marL="274320" lvl="1" indent="0">
              <a:buNone/>
            </a:pPr>
            <a:r>
              <a:rPr lang="en-US" altLang="zh-CN" dirty="0"/>
              <a:t>        + "]";</a:t>
            </a:r>
            <a:endParaRPr lang="en-US" altLang="zh-CN" dirty="0"/>
          </a:p>
          <a:p>
            <a:pPr marL="274320" lvl="1" indent="0">
              <a:buNone/>
            </a:pPr>
            <a:r>
              <a:rPr lang="en-US" altLang="zh-CN" dirty="0"/>
              <a:t>  }</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075240" cy="5904656"/>
          </a:xfrm>
        </p:spPr>
        <p:txBody>
          <a:bodyPr/>
          <a:lstStyle/>
          <a:p>
            <a:pPr lvl="1"/>
            <a:r>
              <a:rPr lang="en-US" altLang="zh-CN" dirty="0"/>
              <a:t>Manager</a:t>
            </a:r>
            <a:r>
              <a:rPr lang="zh-CN" altLang="en-US" dirty="0"/>
              <a:t>的</a:t>
            </a:r>
            <a:r>
              <a:rPr lang="en-US" altLang="zh-CN" dirty="0" err="1"/>
              <a:t>toString</a:t>
            </a:r>
            <a:r>
              <a:rPr lang="zh-CN" altLang="en-US" dirty="0"/>
              <a:t>可以写为：</a:t>
            </a:r>
            <a:br>
              <a:rPr lang="en-US" altLang="zh-CN" dirty="0"/>
            </a:br>
            <a:r>
              <a:rPr lang="en-US" altLang="zh-CN" dirty="0"/>
              <a:t>public String </a:t>
            </a:r>
            <a:r>
              <a:rPr lang="en-US" altLang="zh-CN" dirty="0" err="1"/>
              <a:t>toString</a:t>
            </a:r>
            <a:r>
              <a:rPr lang="en-US" altLang="zh-CN" dirty="0"/>
              <a:t>()</a:t>
            </a:r>
            <a:endParaRPr lang="en-US" altLang="zh-CN" dirty="0"/>
          </a:p>
          <a:p>
            <a:pPr marL="274320" lvl="1" indent="0">
              <a:buNone/>
            </a:pPr>
            <a:r>
              <a:rPr lang="en-US" altLang="zh-CN" dirty="0"/>
              <a:t>   {</a:t>
            </a:r>
            <a:endParaRPr lang="en-US" altLang="zh-CN" dirty="0"/>
          </a:p>
          <a:p>
            <a:pPr marL="274320" lvl="1" indent="0">
              <a:buNone/>
            </a:pPr>
            <a:r>
              <a:rPr lang="en-US" altLang="zh-CN" dirty="0"/>
              <a:t>      return </a:t>
            </a:r>
            <a:r>
              <a:rPr lang="en-US" altLang="zh-CN" dirty="0" err="1"/>
              <a:t>super.toString</a:t>
            </a:r>
            <a:r>
              <a:rPr lang="en-US" altLang="zh-CN" dirty="0"/>
              <a:t>() + "[bonus=" + bonus + "]";</a:t>
            </a:r>
            <a:endParaRPr lang="en-US" altLang="zh-CN" dirty="0"/>
          </a:p>
          <a:p>
            <a:pPr marL="274320" lvl="1" indent="0">
              <a:buNone/>
            </a:pPr>
            <a:r>
              <a:rPr lang="en-US" altLang="zh-CN" dirty="0"/>
              <a:t>   }</a:t>
            </a:r>
            <a:endParaRPr lang="en-US" altLang="zh-CN" dirty="0"/>
          </a:p>
          <a:p>
            <a:pPr marL="274320" lvl="1" indent="0">
              <a:buNone/>
            </a:pPr>
            <a:endParaRPr lang="en-US" altLang="zh-CN" dirty="0"/>
          </a:p>
          <a:p>
            <a:r>
              <a:rPr lang="zh-CN" altLang="en-US" dirty="0"/>
              <a:t>再给出一个综合例子，见</a:t>
            </a:r>
            <a:r>
              <a:rPr lang="en-US" altLang="zh-CN" dirty="0"/>
              <a:t>code5\equals\Person, Student, Athlete</a:t>
            </a:r>
            <a:endParaRPr lang="en-US" altLang="zh-CN" dirty="0"/>
          </a:p>
          <a:p>
            <a:r>
              <a:rPr lang="zh-CN" altLang="en-US" dirty="0">
                <a:solidFill>
                  <a:srgbClr val="FF0000"/>
                </a:solidFill>
              </a:rPr>
              <a:t>作业</a:t>
            </a:r>
            <a:r>
              <a:rPr lang="en-US" altLang="zh-CN" dirty="0">
                <a:solidFill>
                  <a:srgbClr val="FF0000"/>
                </a:solidFill>
              </a:rPr>
              <a:t>1</a:t>
            </a:r>
            <a:r>
              <a:rPr lang="zh-CN" altLang="en-US" dirty="0">
                <a:solidFill>
                  <a:srgbClr val="FF0000"/>
                </a:solidFill>
              </a:rPr>
              <a:t>：</a:t>
            </a:r>
            <a:endParaRPr lang="en-US" altLang="zh-CN" dirty="0">
              <a:solidFill>
                <a:srgbClr val="FF0000"/>
              </a:solidFill>
            </a:endParaRPr>
          </a:p>
          <a:p>
            <a:pPr lvl="1"/>
            <a:r>
              <a:rPr lang="zh-CN" altLang="en-US" dirty="0">
                <a:solidFill>
                  <a:srgbClr val="FF0000"/>
                </a:solidFill>
              </a:rPr>
              <a:t>补充</a:t>
            </a:r>
            <a:r>
              <a:rPr lang="en-US" altLang="zh-CN" dirty="0">
                <a:solidFill>
                  <a:srgbClr val="FF0000"/>
                </a:solidFill>
              </a:rPr>
              <a:t>Dog</a:t>
            </a:r>
            <a:r>
              <a:rPr lang="zh-CN" altLang="en-US" dirty="0">
                <a:solidFill>
                  <a:srgbClr val="FF0000"/>
                </a:solidFill>
              </a:rPr>
              <a:t>，</a:t>
            </a:r>
            <a:r>
              <a:rPr lang="en-US" altLang="zh-CN" dirty="0" err="1">
                <a:solidFill>
                  <a:srgbClr val="FF0000"/>
                </a:solidFill>
              </a:rPr>
              <a:t>LargeDog</a:t>
            </a:r>
            <a:r>
              <a:rPr lang="zh-CN" altLang="en-US" dirty="0">
                <a:solidFill>
                  <a:srgbClr val="FF0000"/>
                </a:solidFill>
              </a:rPr>
              <a:t>类中的</a:t>
            </a:r>
            <a:r>
              <a:rPr lang="en-US" altLang="zh-CN" dirty="0">
                <a:solidFill>
                  <a:srgbClr val="FF0000"/>
                </a:solidFill>
              </a:rPr>
              <a:t>equals</a:t>
            </a:r>
            <a:r>
              <a:rPr lang="zh-CN" altLang="en-US" dirty="0">
                <a:solidFill>
                  <a:srgbClr val="FF0000"/>
                </a:solidFill>
              </a:rPr>
              <a:t>，</a:t>
            </a:r>
            <a:r>
              <a:rPr lang="en-US" altLang="zh-CN" dirty="0" err="1">
                <a:solidFill>
                  <a:srgbClr val="FF0000"/>
                </a:solidFill>
              </a:rPr>
              <a:t>hashCode</a:t>
            </a:r>
            <a:r>
              <a:rPr lang="zh-CN" altLang="en-US" dirty="0">
                <a:solidFill>
                  <a:srgbClr val="FF0000"/>
                </a:solidFill>
              </a:rPr>
              <a:t>，</a:t>
            </a:r>
            <a:r>
              <a:rPr lang="en-US" altLang="zh-CN" dirty="0" err="1">
                <a:solidFill>
                  <a:srgbClr val="FF0000"/>
                </a:solidFill>
              </a:rPr>
              <a:t>toString</a:t>
            </a:r>
            <a:r>
              <a:rPr lang="zh-CN" altLang="en-US" dirty="0">
                <a:solidFill>
                  <a:srgbClr val="FF0000"/>
                </a:solidFill>
              </a:rPr>
              <a:t>方法，并在</a:t>
            </a:r>
            <a:r>
              <a:rPr lang="en-US" altLang="zh-CN" dirty="0" err="1">
                <a:solidFill>
                  <a:srgbClr val="FF0000"/>
                </a:solidFill>
              </a:rPr>
              <a:t>DogTest</a:t>
            </a:r>
            <a:r>
              <a:rPr lang="zh-CN" altLang="en-US" dirty="0">
                <a:solidFill>
                  <a:srgbClr val="FF0000"/>
                </a:solidFill>
              </a:rPr>
              <a:t>中测试这些方法（代码见</a:t>
            </a:r>
            <a:r>
              <a:rPr lang="en-US" altLang="zh-CN" dirty="0">
                <a:solidFill>
                  <a:srgbClr val="FF0000"/>
                </a:solidFill>
              </a:rPr>
              <a:t>code5\inheritance</a:t>
            </a:r>
            <a:r>
              <a:rPr lang="zh-CN" altLang="en-US" dirty="0">
                <a:solidFill>
                  <a:srgbClr val="FF0000"/>
                </a:solidFill>
              </a:rPr>
              <a:t>）。</a:t>
            </a:r>
            <a:endParaRPr lang="en-US" altLang="zh-CN" dirty="0">
              <a:solidFill>
                <a:srgbClr val="FF0000"/>
              </a:solidFill>
            </a:endParaRPr>
          </a:p>
          <a:p>
            <a:r>
              <a:rPr lang="zh-CN" altLang="en-US" dirty="0">
                <a:solidFill>
                  <a:srgbClr val="FF0000"/>
                </a:solidFill>
              </a:rPr>
              <a:t>作业</a:t>
            </a:r>
            <a:r>
              <a:rPr lang="en-US" altLang="zh-CN" dirty="0">
                <a:solidFill>
                  <a:srgbClr val="FF0000"/>
                </a:solidFill>
              </a:rPr>
              <a:t>2</a:t>
            </a:r>
            <a:r>
              <a:rPr lang="zh-CN" altLang="en-US" dirty="0">
                <a:solidFill>
                  <a:srgbClr val="FF0000"/>
                </a:solidFill>
              </a:rPr>
              <a:t>：见</a:t>
            </a:r>
            <a:r>
              <a:rPr lang="en-US" altLang="zh-CN" dirty="0">
                <a:solidFill>
                  <a:srgbClr val="FF0000"/>
                </a:solidFill>
              </a:rPr>
              <a:t>code5\</a:t>
            </a:r>
            <a:r>
              <a:rPr lang="zh-CN" altLang="en-US" dirty="0">
                <a:solidFill>
                  <a:srgbClr val="FF0000"/>
                </a:solidFill>
              </a:rPr>
              <a:t>作业</a:t>
            </a:r>
            <a:r>
              <a:rPr lang="en-US" altLang="zh-CN" dirty="0">
                <a:solidFill>
                  <a:srgbClr val="FF0000"/>
                </a:solidFill>
              </a:rPr>
              <a:t>2.txt</a:t>
            </a:r>
            <a:endParaRPr lang="en-US" altLang="zh-CN" dirty="0">
              <a:solidFill>
                <a:srgbClr val="FF0000"/>
              </a:solidFill>
            </a:endParaRPr>
          </a:p>
          <a:p>
            <a:pPr lvl="1"/>
            <a:endParaRPr lang="zh-CN" alt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基本">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基本">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Essential</Template>
  <TotalTime>0</TotalTime>
  <Words>15080</Words>
  <Application>WPS 演示</Application>
  <PresentationFormat>全屏显示(4:3)</PresentationFormat>
  <Paragraphs>523</Paragraphs>
  <Slides>53</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53</vt:i4>
      </vt:variant>
    </vt:vector>
  </HeadingPairs>
  <TitlesOfParts>
    <vt:vector size="69" baseType="lpstr">
      <vt:lpstr>Arial</vt:lpstr>
      <vt:lpstr>宋体</vt:lpstr>
      <vt:lpstr>Wingdings</vt:lpstr>
      <vt:lpstr>华文宋体</vt:lpstr>
      <vt:lpstr>Arial Black</vt:lpstr>
      <vt:lpstr>微软雅黑</vt:lpstr>
      <vt:lpstr>汉仪旗黑</vt:lpstr>
      <vt:lpstr>黑体</vt:lpstr>
      <vt:lpstr>汉仪中黑KW</vt:lpstr>
      <vt:lpstr>微软雅黑</vt:lpstr>
      <vt:lpstr>宋体</vt:lpstr>
      <vt:lpstr>Arial Unicode MS</vt:lpstr>
      <vt:lpstr>Calibri</vt:lpstr>
      <vt:lpstr>Helvetica Neue</vt:lpstr>
      <vt:lpstr>汉仪书宋二KW</vt:lpstr>
      <vt:lpstr>基本</vt:lpstr>
      <vt:lpstr>Java 程序设计</vt:lpstr>
      <vt:lpstr>5  继承</vt:lpstr>
      <vt:lpstr>5.1 类，超类和子类</vt:lpstr>
      <vt:lpstr>PowerPoint 演示文稿</vt:lpstr>
      <vt:lpstr>5.1.1  覆盖超类的方法</vt:lpstr>
      <vt:lpstr>PowerPoint 演示文稿</vt:lpstr>
      <vt:lpstr>5.1.2  子类的构造器</vt:lpstr>
      <vt:lpstr>PowerPoint 演示文稿</vt:lpstr>
      <vt:lpstr>PowerPoint 演示文稿</vt:lpstr>
      <vt:lpstr>PowerPoint 演示文稿</vt:lpstr>
      <vt:lpstr>PowerPoint 演示文稿</vt:lpstr>
      <vt:lpstr>5.1.3  引用和对象</vt:lpstr>
      <vt:lpstr>PowerPoint 演示文稿</vt:lpstr>
      <vt:lpstr>5.1.4  多态</vt:lpstr>
      <vt:lpstr>PowerPoint 演示文稿</vt:lpstr>
      <vt:lpstr>5.1.5  理解方法调用</vt:lpstr>
      <vt:lpstr>PowerPoint 演示文稿</vt:lpstr>
      <vt:lpstr>PowerPoint 演示文稿</vt:lpstr>
      <vt:lpstr>PowerPoint 演示文稿</vt:lpstr>
      <vt:lpstr>5.1.6  阻止继承: final</vt:lpstr>
      <vt:lpstr>PowerPoint 演示文稿</vt:lpstr>
      <vt:lpstr>5.1.7  强制类型转换</vt:lpstr>
      <vt:lpstr>PowerPoint 演示文稿</vt:lpstr>
      <vt:lpstr>PowerPoint 演示文稿</vt:lpstr>
      <vt:lpstr>5.1.8  抽象类</vt:lpstr>
      <vt:lpstr>抽象方法和抽象类规则</vt:lpstr>
      <vt:lpstr>PowerPoint 演示文稿</vt:lpstr>
      <vt:lpstr>PowerPoint 演示文稿</vt:lpstr>
      <vt:lpstr>PowerPoint 演示文稿</vt:lpstr>
      <vt:lpstr>PowerPoint 演示文稿</vt:lpstr>
      <vt:lpstr>5.1.9  protected成员</vt:lpstr>
      <vt:lpstr>5.2  Object：所有类的超类</vt:lpstr>
      <vt:lpstr>5.2.1  再谈equals方法</vt:lpstr>
      <vt:lpstr>PowerPoint 演示文稿</vt:lpstr>
      <vt:lpstr>PowerPoint 演示文稿</vt:lpstr>
      <vt:lpstr>PowerPoint 演示文稿</vt:lpstr>
      <vt:lpstr>PowerPoint 演示文稿</vt:lpstr>
      <vt:lpstr>5.2.2  相等测试与继承</vt:lpstr>
      <vt:lpstr>Java规范中对equals的要求</vt:lpstr>
      <vt:lpstr>PowerPoint 演示文稿</vt:lpstr>
      <vt:lpstr>PowerPoint 演示文稿</vt:lpstr>
      <vt:lpstr>PowerPoint 演示文稿</vt:lpstr>
      <vt:lpstr>5.2.3  hashCode方法</vt:lpstr>
      <vt:lpstr>5.2.3  hashCode方法</vt:lpstr>
      <vt:lpstr>PowerPoint 演示文稿</vt:lpstr>
      <vt:lpstr>PowerPoint 演示文稿</vt:lpstr>
      <vt:lpstr>PowerPoint 演示文稿</vt:lpstr>
      <vt:lpstr>PowerPoint 演示文稿</vt:lpstr>
      <vt:lpstr>PowerPoint 演示文稿</vt:lpstr>
      <vt:lpstr>PowerPoint 演示文稿</vt:lpstr>
      <vt:lpstr>5.2.4  toString方法</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面向对象程序设计----Java</dc:title>
  <dc:creator>hyq</dc:creator>
  <cp:lastModifiedBy>WPS_1667213079</cp:lastModifiedBy>
  <cp:revision>237</cp:revision>
  <dcterms:created xsi:type="dcterms:W3CDTF">2024-05-21T15:05:27Z</dcterms:created>
  <dcterms:modified xsi:type="dcterms:W3CDTF">2024-05-21T15:05:27Z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2052-6.5.1.8687</vt:lpwstr>
  </property>
  <property fmtid="{D5CDD505-2E9C-101B-9397-08002B2CF9AE}" pid="3" name="ICV">
    <vt:lpwstr>0612AC6F1ED2E0E736B84C669A287388_43</vt:lpwstr>
  </property>
</Properties>
</file>