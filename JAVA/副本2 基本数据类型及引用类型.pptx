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1"/>
  </p:notesMasterIdLst>
  <p:sldIdLst>
    <p:sldId id="332" r:id="rId3"/>
    <p:sldId id="257" r:id="rId4"/>
    <p:sldId id="258" r:id="rId5"/>
    <p:sldId id="259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70" r:id="rId16"/>
    <p:sldId id="271" r:id="rId17"/>
    <p:sldId id="272" r:id="rId18"/>
    <p:sldId id="267" r:id="rId19"/>
    <p:sldId id="300" r:id="rId20"/>
    <p:sldId id="269" r:id="rId21"/>
    <p:sldId id="273" r:id="rId22"/>
    <p:sldId id="301" r:id="rId23"/>
    <p:sldId id="302" r:id="rId24"/>
    <p:sldId id="331" r:id="rId25"/>
    <p:sldId id="275" r:id="rId26"/>
    <p:sldId id="276" r:id="rId27"/>
    <p:sldId id="277" r:id="rId28"/>
    <p:sldId id="278" r:id="rId29"/>
    <p:sldId id="279" r:id="rId30"/>
    <p:sldId id="280" r:id="rId31"/>
    <p:sldId id="303" r:id="rId32"/>
    <p:sldId id="281" r:id="rId33"/>
    <p:sldId id="296" r:id="rId34"/>
    <p:sldId id="297" r:id="rId35"/>
    <p:sldId id="298" r:id="rId36"/>
    <p:sldId id="282" r:id="rId37"/>
    <p:sldId id="283" r:id="rId38"/>
    <p:sldId id="284" r:id="rId39"/>
    <p:sldId id="285" r:id="rId40"/>
    <p:sldId id="287" r:id="rId41"/>
    <p:sldId id="288" r:id="rId42"/>
    <p:sldId id="286" r:id="rId43"/>
    <p:sldId id="289" r:id="rId44"/>
    <p:sldId id="290" r:id="rId45"/>
    <p:sldId id="291" r:id="rId46"/>
    <p:sldId id="292" r:id="rId47"/>
    <p:sldId id="293" r:id="rId48"/>
    <p:sldId id="294" r:id="rId49"/>
    <p:sldId id="295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java</a:t>
            </a:r>
            <a:r>
              <a:rPr lang="zh-CN" altLang="en-US" dirty="0"/>
              <a:t>的数据类型和运算符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程序由类组成，其中有一系列的成分：</a:t>
            </a:r>
            <a:endParaRPr lang="en-US" altLang="zh-CN" dirty="0"/>
          </a:p>
          <a:p>
            <a:pPr lvl="1"/>
            <a:r>
              <a:rPr lang="zh-CN" altLang="en-US" dirty="0"/>
              <a:t>类，对象，变量，方法</a:t>
            </a:r>
            <a:endParaRPr lang="en-US" altLang="zh-CN" dirty="0"/>
          </a:p>
          <a:p>
            <a:r>
              <a:rPr lang="zh-CN" altLang="en-US" dirty="0"/>
              <a:t>对这些成分定义、使用时需要用名字加以区分，即</a:t>
            </a:r>
            <a:r>
              <a:rPr lang="zh-CN" altLang="en-US" dirty="0">
                <a:solidFill>
                  <a:srgbClr val="FF0000"/>
                </a:solidFill>
              </a:rPr>
              <a:t>标识符，</a:t>
            </a:r>
            <a:r>
              <a:rPr lang="en-US" altLang="zh-CN" dirty="0"/>
              <a:t>java</a:t>
            </a:r>
            <a:r>
              <a:rPr lang="zh-CN" altLang="en-US" dirty="0"/>
              <a:t>中的标识符规则：</a:t>
            </a:r>
            <a:endParaRPr lang="en-US" altLang="zh-CN" dirty="0"/>
          </a:p>
          <a:p>
            <a:pPr lvl="1"/>
            <a:r>
              <a:rPr lang="zh-CN" altLang="en-US" dirty="0"/>
              <a:t>标识符可以由字母，数字，下划线，美元符组成，但是不能包含</a:t>
            </a:r>
            <a:r>
              <a:rPr lang="en-US" altLang="zh-CN" dirty="0"/>
              <a:t>@</a:t>
            </a:r>
            <a:r>
              <a:rPr lang="zh-CN" altLang="en-US" dirty="0"/>
              <a:t>，</a:t>
            </a:r>
            <a:r>
              <a:rPr lang="en-US" altLang="zh-CN" dirty="0"/>
              <a:t>%</a:t>
            </a:r>
            <a:r>
              <a:rPr lang="zh-CN" altLang="en-US" dirty="0"/>
              <a:t>，空格等其他的特殊符号，不能以数字开头。</a:t>
            </a:r>
            <a:endParaRPr lang="en-US" altLang="zh-CN" dirty="0"/>
          </a:p>
          <a:p>
            <a:pPr lvl="1"/>
            <a:r>
              <a:rPr lang="zh-CN" altLang="en-US" dirty="0"/>
              <a:t>标识符不能是</a:t>
            </a:r>
            <a:r>
              <a:rPr lang="en-US" altLang="zh-CN" dirty="0"/>
              <a:t>Java</a:t>
            </a:r>
            <a:r>
              <a:rPr lang="zh-CN" altLang="en-US" dirty="0"/>
              <a:t>关键字（</a:t>
            </a:r>
            <a:r>
              <a:rPr lang="en-US" altLang="zh-CN" dirty="0"/>
              <a:t>48</a:t>
            </a:r>
            <a:r>
              <a:rPr lang="zh-CN" altLang="en-US" dirty="0"/>
              <a:t>个）和保留字</a:t>
            </a:r>
            <a:r>
              <a:rPr lang="en-US" altLang="zh-CN" dirty="0"/>
              <a:t>(</a:t>
            </a:r>
            <a:r>
              <a:rPr lang="en-US" altLang="zh-CN" dirty="0" err="1"/>
              <a:t>goto</a:t>
            </a:r>
            <a:r>
              <a:rPr lang="en-US" altLang="zh-CN" dirty="0"/>
              <a:t>, </a:t>
            </a:r>
            <a:r>
              <a:rPr lang="en-US" altLang="zh-CN" dirty="0" err="1"/>
              <a:t>const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zh-CN" dirty="0"/>
              <a:t>个直接量</a:t>
            </a:r>
            <a:r>
              <a:rPr lang="en-US" altLang="zh-CN" dirty="0"/>
              <a:t> true</a:t>
            </a:r>
            <a:r>
              <a:rPr lang="zh-CN" altLang="zh-CN" dirty="0"/>
              <a:t>、</a:t>
            </a:r>
            <a:r>
              <a:rPr lang="en-US" altLang="zh-CN" dirty="0"/>
              <a:t>false</a:t>
            </a:r>
            <a:r>
              <a:rPr lang="zh-CN" altLang="zh-CN" dirty="0"/>
              <a:t>、</a:t>
            </a:r>
            <a:r>
              <a:rPr lang="en-US" altLang="zh-CN" dirty="0"/>
              <a:t>null</a:t>
            </a:r>
            <a:r>
              <a:rPr lang="zh-CN" altLang="en-US" dirty="0"/>
              <a:t>，但可以包含之。</a:t>
            </a:r>
            <a:endParaRPr lang="en-US" altLang="zh-CN" dirty="0"/>
          </a:p>
          <a:p>
            <a:pPr lvl="1"/>
            <a:r>
              <a:rPr lang="zh-CN" altLang="en-US" dirty="0"/>
              <a:t>标识符区分大小写</a:t>
            </a:r>
            <a:endParaRPr lang="en-US" altLang="zh-CN" dirty="0"/>
          </a:p>
          <a:p>
            <a:pPr lvl="1"/>
            <a:r>
              <a:rPr lang="zh-CN" altLang="en-US" dirty="0"/>
              <a:t>标识符的命名最好能反应出其作用，做到见名知意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不同成分命名时可遵循以下惯例：</a:t>
            </a:r>
            <a:endParaRPr lang="en-US" altLang="zh-CN" dirty="0"/>
          </a:p>
          <a:p>
            <a:pPr lvl="1"/>
            <a:r>
              <a:rPr lang="zh-CN" altLang="en-US" dirty="0"/>
              <a:t>包的名字用小写：</a:t>
            </a:r>
            <a:r>
              <a:rPr lang="en-US" altLang="zh-CN" dirty="0"/>
              <a:t> </a:t>
            </a:r>
            <a:r>
              <a:rPr lang="en-US" altLang="zh-CN" dirty="0" err="1"/>
              <a:t>java.lang</a:t>
            </a:r>
            <a:endParaRPr lang="en-US" altLang="zh-CN" dirty="0"/>
          </a:p>
          <a:p>
            <a:pPr lvl="1"/>
            <a:r>
              <a:rPr lang="zh-CN" altLang="en-US" dirty="0"/>
              <a:t>类的名字每个单词的首字母大写：</a:t>
            </a:r>
            <a:r>
              <a:rPr lang="en-US" altLang="zh-CN" dirty="0" err="1"/>
              <a:t>MyTest</a:t>
            </a:r>
            <a:endParaRPr lang="en-US" altLang="zh-CN" dirty="0"/>
          </a:p>
          <a:p>
            <a:pPr lvl="1"/>
            <a:r>
              <a:rPr lang="zh-CN" altLang="en-US" dirty="0"/>
              <a:t>变量或方法的名字首单词小写，之后的单词首字母大写：</a:t>
            </a:r>
            <a:r>
              <a:rPr lang="en-US" altLang="zh-CN" dirty="0" err="1"/>
              <a:t>maxValueOfSalary</a:t>
            </a:r>
            <a:r>
              <a:rPr lang="en-US" altLang="zh-CN" dirty="0"/>
              <a:t>, </a:t>
            </a:r>
            <a:r>
              <a:rPr lang="en-US" altLang="zh-CN" dirty="0" err="1"/>
              <a:t>toString</a:t>
            </a:r>
            <a:r>
              <a:rPr lang="en-US" altLang="zh-CN" dirty="0"/>
              <a:t>(), </a:t>
            </a:r>
            <a:r>
              <a:rPr lang="en-US" altLang="zh-CN" dirty="0" err="1"/>
              <a:t>highestOneBit</a:t>
            </a:r>
            <a:r>
              <a:rPr lang="en-US" altLang="zh-CN" dirty="0"/>
              <a:t>​(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常量的名字全部大写，单词之间以下划线分隔：</a:t>
            </a:r>
            <a:r>
              <a:rPr lang="en-US" altLang="zh-CN" dirty="0"/>
              <a:t>MIN_VALUE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基本数据类型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是强类型语言，所有的变量要先定义类型才能使用。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的数据类型有两类：</a:t>
            </a:r>
            <a:endParaRPr lang="en-US" altLang="zh-CN" dirty="0"/>
          </a:p>
          <a:p>
            <a:pPr lvl="1"/>
            <a:r>
              <a:rPr lang="zh-CN" altLang="en-US" dirty="0"/>
              <a:t>基本类型（</a:t>
            </a:r>
            <a:r>
              <a:rPr lang="en-US" altLang="zh-CN" dirty="0"/>
              <a:t>primitive type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引用类型（</a:t>
            </a:r>
            <a:r>
              <a:rPr lang="en-US" altLang="zh-CN" dirty="0"/>
              <a:t>reference type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基本类型局部变量存储在</a:t>
            </a:r>
            <a:r>
              <a:rPr lang="zh-CN" altLang="en-US" dirty="0">
                <a:solidFill>
                  <a:srgbClr val="FF0000"/>
                </a:solidFill>
              </a:rPr>
              <a:t>栈</a:t>
            </a:r>
            <a:r>
              <a:rPr lang="zh-CN" altLang="en-US" dirty="0"/>
              <a:t>内存，存储的是变量的值；引用类型局部变量存储在</a:t>
            </a:r>
            <a:r>
              <a:rPr lang="zh-CN" altLang="en-US" dirty="0">
                <a:solidFill>
                  <a:srgbClr val="FF0000"/>
                </a:solidFill>
              </a:rPr>
              <a:t>栈</a:t>
            </a:r>
            <a:r>
              <a:rPr lang="zh-CN" altLang="en-US" dirty="0"/>
              <a:t>内存，存储的是它所指向对象的引用（类似于</a:t>
            </a:r>
            <a:r>
              <a:rPr lang="en-US" altLang="zh-CN" dirty="0"/>
              <a:t>C++</a:t>
            </a:r>
            <a:r>
              <a:rPr lang="zh-CN" altLang="en-US" dirty="0"/>
              <a:t>的指针），而它所指向的对象本身存储在</a:t>
            </a:r>
            <a:r>
              <a:rPr lang="zh-CN" altLang="en-US" dirty="0">
                <a:solidFill>
                  <a:srgbClr val="FF0000"/>
                </a:solidFill>
              </a:rPr>
              <a:t>堆</a:t>
            </a:r>
            <a:r>
              <a:rPr lang="zh-CN" altLang="en-US" dirty="0"/>
              <a:t>内存中。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24" y="332656"/>
            <a:ext cx="7623068" cy="6315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基本类型（</a:t>
            </a:r>
            <a:r>
              <a:rPr lang="en-US" altLang="zh-CN" dirty="0"/>
              <a:t>8</a:t>
            </a:r>
            <a:r>
              <a:rPr lang="zh-CN" altLang="en-US" dirty="0"/>
              <a:t>种）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80728"/>
            <a:ext cx="8280920" cy="525658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整型（</a:t>
            </a:r>
            <a:r>
              <a:rPr lang="en-US" altLang="zh-CN" dirty="0"/>
              <a:t>4</a:t>
            </a:r>
            <a:r>
              <a:rPr lang="zh-CN" altLang="en-US" dirty="0"/>
              <a:t>种）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/>
              <a:t>  4</a:t>
            </a:r>
            <a:r>
              <a:rPr lang="zh-CN" altLang="en-US" dirty="0"/>
              <a:t>字节  </a:t>
            </a:r>
            <a:r>
              <a:rPr lang="en-US" altLang="zh-CN" dirty="0"/>
              <a:t>-2147483648~2147483647</a:t>
            </a:r>
            <a:r>
              <a:rPr lang="zh-CN" altLang="en-US" dirty="0"/>
              <a:t>（超过</a:t>
            </a:r>
            <a:r>
              <a:rPr lang="en-US" altLang="zh-CN" dirty="0"/>
              <a:t>20</a:t>
            </a:r>
            <a:r>
              <a:rPr lang="zh-CN" altLang="en-US" dirty="0"/>
              <a:t>亿）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short</a:t>
            </a:r>
            <a:r>
              <a:rPr lang="en-US" altLang="zh-CN" dirty="0"/>
              <a:t>  2</a:t>
            </a:r>
            <a:r>
              <a:rPr lang="zh-CN" altLang="en-US" dirty="0"/>
              <a:t>字节  </a:t>
            </a:r>
            <a:r>
              <a:rPr lang="en-US" altLang="zh-CN" dirty="0"/>
              <a:t>-32768~32767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long</a:t>
            </a:r>
            <a:r>
              <a:rPr lang="en-US" altLang="zh-CN" dirty="0"/>
              <a:t>  8</a:t>
            </a:r>
            <a:r>
              <a:rPr lang="zh-CN" altLang="en-US" dirty="0"/>
              <a:t>字节 （超过</a:t>
            </a:r>
            <a:r>
              <a:rPr lang="en-US" altLang="zh-CN" dirty="0"/>
              <a:t>900</a:t>
            </a:r>
            <a:r>
              <a:rPr lang="zh-CN" altLang="en-US" dirty="0"/>
              <a:t>亿亿）                                                                       </a:t>
            </a:r>
            <a:r>
              <a:rPr lang="en-US" altLang="zh-CN" dirty="0"/>
              <a:t>-9223372036854775808~9223372036854775808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byte</a:t>
            </a:r>
            <a:r>
              <a:rPr lang="en-US" altLang="zh-CN" dirty="0"/>
              <a:t> 1</a:t>
            </a:r>
            <a:r>
              <a:rPr lang="zh-CN" altLang="en-US" dirty="0"/>
              <a:t>字节  </a:t>
            </a:r>
            <a:r>
              <a:rPr lang="en-US" altLang="zh-CN" dirty="0"/>
              <a:t>-128~127</a:t>
            </a:r>
            <a:endParaRPr lang="en-US" altLang="zh-CN" dirty="0"/>
          </a:p>
          <a:p>
            <a:pPr lvl="1"/>
            <a:r>
              <a:rPr lang="zh-CN" altLang="en-US" dirty="0"/>
              <a:t>字面值可以用</a:t>
            </a:r>
            <a:endParaRPr lang="en-US" altLang="zh-CN" dirty="0"/>
          </a:p>
          <a:p>
            <a:pPr lvl="2"/>
            <a:r>
              <a:rPr lang="zh-CN" altLang="en-US" dirty="0"/>
              <a:t>十进制  </a:t>
            </a:r>
            <a:r>
              <a:rPr lang="en-US" altLang="zh-CN" dirty="0"/>
              <a:t>1_230_000</a:t>
            </a:r>
            <a:endParaRPr lang="en-US" altLang="zh-CN" dirty="0"/>
          </a:p>
          <a:p>
            <a:pPr lvl="2"/>
            <a:r>
              <a:rPr lang="zh-CN" altLang="en-US" dirty="0"/>
              <a:t>十六进制  </a:t>
            </a:r>
            <a:r>
              <a:rPr lang="en-US" altLang="zh-CN" dirty="0"/>
              <a:t>0xA12</a:t>
            </a:r>
            <a:endParaRPr lang="en-US" altLang="zh-CN" dirty="0"/>
          </a:p>
          <a:p>
            <a:pPr lvl="2"/>
            <a:r>
              <a:rPr lang="zh-CN" altLang="en-US" dirty="0"/>
              <a:t>八进制  </a:t>
            </a:r>
            <a:r>
              <a:rPr lang="en-US" altLang="zh-CN" dirty="0"/>
              <a:t>0123</a:t>
            </a:r>
            <a:endParaRPr lang="en-US" altLang="zh-CN" dirty="0"/>
          </a:p>
          <a:p>
            <a:pPr lvl="2"/>
            <a:r>
              <a:rPr lang="zh-CN" altLang="en-US" dirty="0"/>
              <a:t>二进制  </a:t>
            </a:r>
            <a:r>
              <a:rPr lang="en-US" altLang="zh-CN" dirty="0"/>
              <a:t>0b1000_1000 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2060"/>
                </a:solidFill>
              </a:rPr>
              <a:t>Java</a:t>
            </a:r>
            <a:r>
              <a:rPr lang="zh-CN" altLang="en-US" dirty="0">
                <a:solidFill>
                  <a:srgbClr val="002060"/>
                </a:solidFill>
              </a:rPr>
              <a:t>没有无符号数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数字字面值默认为</a:t>
            </a:r>
            <a:r>
              <a:rPr lang="en-US" altLang="zh-CN" dirty="0" err="1"/>
              <a:t>int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2"/>
            <a:r>
              <a:rPr lang="zh-CN" altLang="en-US" dirty="0"/>
              <a:t>把一个在</a:t>
            </a:r>
            <a:r>
              <a:rPr lang="en-US" altLang="zh-CN" dirty="0"/>
              <a:t>short</a:t>
            </a:r>
            <a:r>
              <a:rPr lang="zh-CN" altLang="en-US" dirty="0"/>
              <a:t>或</a:t>
            </a:r>
            <a:r>
              <a:rPr lang="en-US" altLang="zh-CN" dirty="0"/>
              <a:t>byte</a:t>
            </a:r>
            <a:r>
              <a:rPr lang="zh-CN" altLang="en-US" dirty="0"/>
              <a:t>范围以内的数赋值给</a:t>
            </a:r>
            <a:r>
              <a:rPr lang="en-US" altLang="zh-CN" dirty="0"/>
              <a:t>short</a:t>
            </a:r>
            <a:r>
              <a:rPr lang="zh-CN" altLang="en-US" dirty="0"/>
              <a:t>或</a:t>
            </a:r>
            <a:r>
              <a:rPr lang="en-US" altLang="zh-CN" dirty="0"/>
              <a:t>byte</a:t>
            </a:r>
            <a:r>
              <a:rPr lang="zh-CN" altLang="en-US" dirty="0"/>
              <a:t>，系统可以自动转换类型：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19850000;</a:t>
            </a:r>
            <a:br>
              <a:rPr lang="en-US" altLang="zh-CN" dirty="0">
                <a:solidFill>
                  <a:srgbClr val="0070C0"/>
                </a:solidFill>
              </a:rPr>
            </a:br>
            <a:r>
              <a:rPr lang="en-US" altLang="zh-CN" dirty="0">
                <a:solidFill>
                  <a:srgbClr val="0070C0"/>
                </a:solidFill>
              </a:rPr>
              <a:t>short s = 23000;</a:t>
            </a:r>
            <a:br>
              <a:rPr lang="en-US" altLang="zh-CN" dirty="0">
                <a:solidFill>
                  <a:srgbClr val="0070C0"/>
                </a:solidFill>
              </a:rPr>
            </a:br>
            <a:r>
              <a:rPr lang="en-US" altLang="zh-CN" dirty="0">
                <a:solidFill>
                  <a:srgbClr val="0070C0"/>
                </a:solidFill>
              </a:rPr>
              <a:t>byte b = -100;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r>
              <a:rPr lang="zh-CN" altLang="en-US" dirty="0"/>
              <a:t>把一个超过</a:t>
            </a:r>
            <a:r>
              <a:rPr lang="en-US" altLang="zh-CN" dirty="0" err="1"/>
              <a:t>int</a:t>
            </a:r>
            <a:r>
              <a:rPr lang="zh-CN" altLang="en-US" dirty="0"/>
              <a:t>的大数赋值给</a:t>
            </a:r>
            <a:r>
              <a:rPr lang="en-US" altLang="zh-CN" dirty="0"/>
              <a:t>long</a:t>
            </a:r>
            <a:r>
              <a:rPr lang="zh-CN" altLang="en-US" dirty="0"/>
              <a:t>要做处理：</a:t>
            </a:r>
            <a:br>
              <a:rPr lang="en-US" altLang="zh-CN" dirty="0"/>
            </a:br>
            <a:r>
              <a:rPr lang="en-US" altLang="zh-CN" dirty="0">
                <a:solidFill>
                  <a:srgbClr val="0070C0"/>
                </a:solidFill>
              </a:rPr>
              <a:t>long </a:t>
            </a:r>
            <a:r>
              <a:rPr lang="en-US" altLang="zh-CN" dirty="0" err="1">
                <a:solidFill>
                  <a:srgbClr val="0070C0"/>
                </a:solidFill>
              </a:rPr>
              <a:t>bigValue</a:t>
            </a:r>
            <a:r>
              <a:rPr lang="en-US" altLang="zh-CN" dirty="0">
                <a:solidFill>
                  <a:srgbClr val="0070C0"/>
                </a:solidFill>
              </a:rPr>
              <a:t> = 199_999_999_999L;</a:t>
            </a:r>
            <a:endParaRPr lang="en-US" altLang="zh-CN" dirty="0">
              <a:solidFill>
                <a:srgbClr val="0070C0"/>
              </a:solidFill>
            </a:endParaRPr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整型数在内存中以补码的形式存储，最高位是符号位。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字符型  </a:t>
            </a:r>
            <a:r>
              <a:rPr lang="en-US" altLang="zh-CN" dirty="0">
                <a:solidFill>
                  <a:srgbClr val="FF0000"/>
                </a:solidFill>
              </a:rPr>
              <a:t>char</a:t>
            </a:r>
            <a:r>
              <a:rPr lang="en-US" altLang="zh-CN" dirty="0"/>
              <a:t>  2</a:t>
            </a:r>
            <a:r>
              <a:rPr lang="zh-CN" altLang="en-US" dirty="0"/>
              <a:t>个字节，存储</a:t>
            </a:r>
            <a:r>
              <a:rPr lang="en-US" altLang="zh-CN" dirty="0" err="1"/>
              <a:t>unicode</a:t>
            </a:r>
            <a:r>
              <a:rPr lang="zh-CN" altLang="en-US" dirty="0"/>
              <a:t>字符</a:t>
            </a:r>
            <a:endParaRPr lang="en-US" altLang="zh-CN" dirty="0"/>
          </a:p>
          <a:p>
            <a:r>
              <a:rPr lang="zh-CN" altLang="en-US" dirty="0"/>
              <a:t>字符值的表示形式：</a:t>
            </a:r>
            <a:endParaRPr lang="en-US" altLang="zh-CN" dirty="0"/>
          </a:p>
          <a:p>
            <a:pPr lvl="1"/>
            <a:r>
              <a:rPr lang="zh-CN" altLang="en-US" dirty="0"/>
              <a:t>直接通过单个字符：</a:t>
            </a:r>
            <a:r>
              <a:rPr lang="en-US" altLang="zh-CN" dirty="0"/>
              <a:t>’A’</a:t>
            </a:r>
            <a:r>
              <a:rPr lang="zh-CN" altLang="en-US" dirty="0"/>
              <a:t>，</a:t>
            </a:r>
            <a:r>
              <a:rPr lang="en-US" altLang="zh-CN" dirty="0"/>
              <a:t>’5’</a:t>
            </a:r>
            <a:r>
              <a:rPr lang="zh-CN" altLang="en-US" dirty="0"/>
              <a:t>，</a:t>
            </a:r>
            <a:r>
              <a:rPr lang="en-US" altLang="zh-CN" dirty="0"/>
              <a:t>’</a:t>
            </a:r>
            <a:r>
              <a:rPr lang="zh-CN" altLang="en-US" dirty="0"/>
              <a:t>汉</a:t>
            </a:r>
            <a:r>
              <a:rPr lang="en-US" altLang="zh-CN" dirty="0"/>
              <a:t>’</a:t>
            </a:r>
            <a:endParaRPr lang="en-US" altLang="zh-CN" dirty="0"/>
          </a:p>
          <a:p>
            <a:pPr lvl="1"/>
            <a:r>
              <a:rPr lang="zh-CN" altLang="en-US" dirty="0"/>
              <a:t> 转义字符：</a:t>
            </a:r>
            <a:r>
              <a:rPr lang="en-US" altLang="zh-CN" dirty="0"/>
              <a:t>’\n’</a:t>
            </a:r>
            <a:r>
              <a:rPr lang="zh-CN" altLang="en-US" dirty="0"/>
              <a:t>，</a:t>
            </a:r>
            <a:r>
              <a:rPr lang="en-US" altLang="zh-CN" dirty="0"/>
              <a:t>’\r’</a:t>
            </a:r>
            <a:r>
              <a:rPr lang="zh-CN" altLang="en-US" dirty="0"/>
              <a:t>，</a:t>
            </a:r>
            <a:r>
              <a:rPr lang="en-US" altLang="zh-CN" dirty="0"/>
              <a:t> ’\b’</a:t>
            </a:r>
            <a:r>
              <a:rPr lang="zh-CN" altLang="en-US" dirty="0"/>
              <a:t>，</a:t>
            </a:r>
            <a:r>
              <a:rPr lang="en-US" altLang="zh-CN" dirty="0"/>
              <a:t> ’\t’</a:t>
            </a:r>
            <a:r>
              <a:rPr lang="zh-CN" altLang="en-US" dirty="0"/>
              <a:t>，</a:t>
            </a:r>
            <a:r>
              <a:rPr lang="en-US" altLang="zh-CN" dirty="0"/>
              <a:t>’\\’</a:t>
            </a:r>
            <a:r>
              <a:rPr lang="zh-CN" altLang="en-US" dirty="0"/>
              <a:t>，</a:t>
            </a:r>
            <a:r>
              <a:rPr lang="en-US" altLang="zh-CN" dirty="0"/>
              <a:t>’ \’ ’</a:t>
            </a:r>
            <a:r>
              <a:rPr lang="zh-CN" altLang="en-US" dirty="0"/>
              <a:t>，</a:t>
            </a:r>
            <a:r>
              <a:rPr lang="en-US" altLang="zh-CN" dirty="0"/>
              <a:t> ’ \” ’</a:t>
            </a:r>
            <a:r>
              <a:rPr lang="zh-CN" altLang="en-US" dirty="0"/>
              <a:t>，</a:t>
            </a:r>
            <a:r>
              <a:rPr lang="en-US" altLang="zh-CN" dirty="0"/>
              <a:t> ’\f’ </a:t>
            </a:r>
            <a:r>
              <a:rPr lang="zh-CN" altLang="en-US" dirty="0"/>
              <a:t>（换页）</a:t>
            </a:r>
            <a:br>
              <a:rPr lang="en-US" altLang="zh-CN" dirty="0"/>
            </a:b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>
                <a:solidFill>
                  <a:srgbClr val="0070C0"/>
                </a:solidFill>
              </a:rPr>
              <a:t>(“D:</a:t>
            </a:r>
            <a:r>
              <a:rPr lang="en-US" altLang="zh-CN" b="1" i="1" dirty="0">
                <a:solidFill>
                  <a:srgbClr val="FF0000"/>
                </a:solidFill>
              </a:rPr>
              <a:t>\\</a:t>
            </a:r>
            <a:r>
              <a:rPr lang="en-US" altLang="zh-CN" b="1" i="1" dirty="0">
                <a:solidFill>
                  <a:srgbClr val="0070C0"/>
                </a:solidFill>
              </a:rPr>
              <a:t>core java</a:t>
            </a:r>
            <a:r>
              <a:rPr lang="en-US" altLang="zh-CN" b="1" i="1" dirty="0">
                <a:solidFill>
                  <a:srgbClr val="FF0000"/>
                </a:solidFill>
              </a:rPr>
              <a:t>\\</a:t>
            </a:r>
            <a:r>
              <a:rPr lang="en-US" altLang="zh-CN" b="1" i="1" dirty="0" err="1">
                <a:solidFill>
                  <a:srgbClr val="0070C0"/>
                </a:solidFill>
              </a:rPr>
              <a:t>usercode</a:t>
            </a:r>
            <a:r>
              <a:rPr lang="en-US" altLang="zh-CN" b="1" i="1" dirty="0">
                <a:solidFill>
                  <a:srgbClr val="FF0000"/>
                </a:solidFill>
              </a:rPr>
              <a:t>\\</a:t>
            </a:r>
            <a:r>
              <a:rPr lang="en-US" altLang="zh-CN" b="1" i="1" dirty="0">
                <a:solidFill>
                  <a:srgbClr val="0070C0"/>
                </a:solidFill>
              </a:rPr>
              <a:t>hello.java”);      </a:t>
            </a:r>
            <a:r>
              <a:rPr lang="zh-CN" altLang="en-US" b="1" i="1" dirty="0"/>
              <a:t>输出为</a:t>
            </a:r>
            <a:br>
              <a:rPr lang="en-US" altLang="zh-CN" b="1" i="1" dirty="0"/>
            </a:br>
            <a:r>
              <a:rPr lang="en-US" altLang="zh-CN" dirty="0">
                <a:solidFill>
                  <a:srgbClr val="002060"/>
                </a:solidFill>
              </a:rPr>
              <a:t>D:\core java\</a:t>
            </a:r>
            <a:r>
              <a:rPr lang="en-US" altLang="zh-CN" dirty="0" err="1">
                <a:solidFill>
                  <a:srgbClr val="002060"/>
                </a:solidFill>
              </a:rPr>
              <a:t>usercode</a:t>
            </a:r>
            <a:r>
              <a:rPr lang="en-US" altLang="zh-CN" dirty="0">
                <a:solidFill>
                  <a:srgbClr val="002060"/>
                </a:solidFill>
              </a:rPr>
              <a:t>\hello.java</a:t>
            </a:r>
            <a:endParaRPr lang="en-US" altLang="zh-CN" dirty="0">
              <a:solidFill>
                <a:srgbClr val="002060"/>
              </a:solidFill>
            </a:endParaRPr>
          </a:p>
          <a:p>
            <a:pPr lvl="1"/>
            <a:r>
              <a:rPr lang="en-US" altLang="zh-CN" dirty="0">
                <a:solidFill>
                  <a:srgbClr val="002060"/>
                </a:solidFill>
              </a:rPr>
              <a:t>Unicode</a:t>
            </a:r>
            <a:r>
              <a:rPr lang="zh-CN" altLang="en-US" dirty="0">
                <a:solidFill>
                  <a:srgbClr val="002060"/>
                </a:solidFill>
              </a:rPr>
              <a:t>方式：</a:t>
            </a:r>
            <a:r>
              <a:rPr lang="en-US" altLang="zh-CN" dirty="0">
                <a:solidFill>
                  <a:srgbClr val="002060"/>
                </a:solidFill>
              </a:rPr>
              <a:t>’\</a:t>
            </a:r>
            <a:r>
              <a:rPr lang="en-US" altLang="zh-CN" dirty="0" err="1">
                <a:solidFill>
                  <a:srgbClr val="002060"/>
                </a:solidFill>
              </a:rPr>
              <a:t>uxxxx</a:t>
            </a:r>
            <a:r>
              <a:rPr lang="en-US" altLang="zh-CN" dirty="0">
                <a:solidFill>
                  <a:srgbClr val="002060"/>
                </a:solidFill>
              </a:rPr>
              <a:t>’</a:t>
            </a:r>
            <a:r>
              <a:rPr lang="zh-CN" altLang="en-US" dirty="0">
                <a:solidFill>
                  <a:srgbClr val="002060"/>
                </a:solidFill>
              </a:rPr>
              <a:t>，例如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‘\u0041’  (A) , </a:t>
            </a:r>
            <a:r>
              <a:rPr lang="en-US" altLang="zh-CN" dirty="0"/>
              <a:t>‘\u2660‘  (</a:t>
            </a:r>
            <a:r>
              <a:rPr lang="zh-CN" altLang="en-US" dirty="0"/>
              <a:t>♠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字符型其实存储的是无符号整数，可以用整数赋值，并且可以进行整数运算。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62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/>
              <a:t>      </a:t>
            </a:r>
            <a:r>
              <a:rPr lang="pl-PL" altLang="zh-CN" dirty="0"/>
              <a:t>char a='\u2660';</a:t>
            </a:r>
            <a:endParaRPr lang="pl-PL" altLang="zh-CN" dirty="0"/>
          </a:p>
          <a:p>
            <a:pPr>
              <a:buNone/>
            </a:pPr>
            <a:r>
              <a:rPr lang="pl-PL" altLang="zh-CN" dirty="0"/>
              <a:t>      char b='\u2665';</a:t>
            </a:r>
            <a:endParaRPr lang="pl-PL" altLang="zh-CN" dirty="0"/>
          </a:p>
          <a:p>
            <a:pPr>
              <a:buNone/>
            </a:pPr>
            <a:r>
              <a:rPr lang="pl-PL" altLang="zh-CN" dirty="0"/>
              <a:t>      System.out.println(</a:t>
            </a:r>
            <a:r>
              <a:rPr lang="en-US" altLang="zh-CN" dirty="0"/>
              <a:t>"a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的和为</a:t>
            </a:r>
            <a:r>
              <a:rPr lang="en-US" altLang="zh-CN" dirty="0"/>
              <a:t>"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a+b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pl-PL" altLang="zh-CN" dirty="0"/>
              <a:t>);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dirty="0"/>
              <a:t>输出：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zh-CN" altLang="en-US" dirty="0">
                <a:solidFill>
                  <a:srgbClr val="0070C0"/>
                </a:solidFill>
              </a:rPr>
              <a:t>与</a:t>
            </a:r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zh-CN" altLang="en-US" dirty="0">
                <a:solidFill>
                  <a:srgbClr val="0070C0"/>
                </a:solidFill>
              </a:rPr>
              <a:t>的和为</a:t>
            </a:r>
            <a:r>
              <a:rPr lang="en-US" altLang="zh-CN" dirty="0">
                <a:solidFill>
                  <a:srgbClr val="0070C0"/>
                </a:solidFill>
              </a:rPr>
              <a:t>19653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altLang="zh-CN" dirty="0"/>
              <a:t>      </a:t>
            </a:r>
            <a:r>
              <a:rPr lang="pl-PL" altLang="zh-CN" dirty="0"/>
              <a:t>char a='\u2660';</a:t>
            </a:r>
            <a:endParaRPr lang="pl-PL" altLang="zh-CN" dirty="0"/>
          </a:p>
          <a:p>
            <a:pPr>
              <a:buNone/>
            </a:pPr>
            <a:r>
              <a:rPr lang="pl-PL" altLang="zh-CN" dirty="0"/>
              <a:t>      char b='\u2665';</a:t>
            </a:r>
            <a:endParaRPr lang="pl-PL" altLang="zh-CN" dirty="0"/>
          </a:p>
          <a:p>
            <a:pPr>
              <a:buNone/>
            </a:pPr>
            <a:r>
              <a:rPr lang="pl-PL" altLang="zh-CN" dirty="0"/>
              <a:t>      System.out.println(</a:t>
            </a:r>
            <a:r>
              <a:rPr lang="en-US" altLang="zh-CN" dirty="0"/>
              <a:t>“a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的连接</a:t>
            </a:r>
            <a:r>
              <a:rPr lang="en-US" altLang="zh-CN" dirty="0"/>
              <a:t>"</a:t>
            </a:r>
            <a:r>
              <a:rPr lang="zh-CN" altLang="en-US" dirty="0"/>
              <a:t> </a:t>
            </a:r>
            <a:r>
              <a:rPr lang="en-US" altLang="zh-CN" dirty="0"/>
              <a:t>+ </a:t>
            </a:r>
            <a:r>
              <a:rPr lang="en-US" altLang="zh-CN" dirty="0" err="1">
                <a:solidFill>
                  <a:srgbClr val="FF0000"/>
                </a:solidFill>
              </a:rPr>
              <a:t>a+b</a:t>
            </a:r>
            <a:r>
              <a:rPr lang="pl-PL" altLang="zh-CN" dirty="0"/>
              <a:t>);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zh-CN" altLang="en-US" dirty="0"/>
              <a:t>输出：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zh-CN" altLang="en-US" dirty="0">
                <a:solidFill>
                  <a:srgbClr val="0070C0"/>
                </a:solidFill>
              </a:rPr>
              <a:t>与</a:t>
            </a:r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zh-CN" altLang="en-US" dirty="0">
                <a:solidFill>
                  <a:srgbClr val="0070C0"/>
                </a:solidFill>
              </a:rPr>
              <a:t>的连接♠♥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/>
              <a:t>字符也可以做算数运算：</a:t>
            </a:r>
            <a:endParaRPr lang="en-US" altLang="zh-CN" dirty="0"/>
          </a:p>
          <a:p>
            <a:pPr lvl="1"/>
            <a:r>
              <a:rPr lang="pl-PL" altLang="zh-CN" dirty="0"/>
              <a:t>System.out.println(</a:t>
            </a:r>
            <a:r>
              <a:rPr lang="en-US" altLang="zh-CN" dirty="0"/>
              <a:t>100+</a:t>
            </a:r>
            <a:r>
              <a:rPr lang="zh-CN" altLang="en-US" dirty="0"/>
              <a:t>‘</a:t>
            </a:r>
            <a:r>
              <a:rPr lang="en-US" altLang="zh-CN" dirty="0"/>
              <a:t>\n</a:t>
            </a:r>
            <a:r>
              <a:rPr lang="zh-CN" altLang="en-US" dirty="0"/>
              <a:t>’</a:t>
            </a:r>
            <a:r>
              <a:rPr lang="en-US" altLang="zh-CN" dirty="0"/>
              <a:t>+100</a:t>
            </a:r>
            <a:r>
              <a:rPr lang="pl-PL" altLang="zh-CN" dirty="0"/>
              <a:t>);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210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pl-PL" altLang="zh-CN" dirty="0"/>
              <a:t>System.out.println(</a:t>
            </a:r>
            <a:r>
              <a:rPr lang="en-US" altLang="zh-CN" dirty="0"/>
              <a:t>100+</a:t>
            </a:r>
            <a:r>
              <a:rPr lang="zh-CN" altLang="en-US" dirty="0"/>
              <a:t>“</a:t>
            </a:r>
            <a:r>
              <a:rPr lang="en-US" altLang="zh-CN" dirty="0"/>
              <a:t>\n</a:t>
            </a:r>
            <a:r>
              <a:rPr lang="zh-CN" altLang="en-US" dirty="0"/>
              <a:t>” </a:t>
            </a:r>
            <a:r>
              <a:rPr lang="en-US" altLang="zh-CN" dirty="0"/>
              <a:t>+100</a:t>
            </a:r>
            <a:r>
              <a:rPr lang="pl-PL" altLang="zh-CN" dirty="0"/>
              <a:t>);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                                                               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浮点型：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float</a:t>
            </a:r>
            <a:r>
              <a:rPr lang="en-US" altLang="zh-CN" dirty="0"/>
              <a:t>  4</a:t>
            </a:r>
            <a:r>
              <a:rPr lang="zh-CN" altLang="en-US" dirty="0"/>
              <a:t>字节，</a:t>
            </a:r>
            <a:r>
              <a:rPr lang="en-US" altLang="zh-CN" dirty="0"/>
              <a:t>±3.40282347E38,6~7</a:t>
            </a:r>
            <a:r>
              <a:rPr lang="zh-CN" altLang="en-US" dirty="0"/>
              <a:t>位有效数字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double</a:t>
            </a:r>
            <a:r>
              <a:rPr lang="en-US" altLang="zh-CN" dirty="0"/>
              <a:t>  8</a:t>
            </a:r>
            <a:r>
              <a:rPr lang="zh-CN" altLang="en-US" dirty="0"/>
              <a:t>字节，</a:t>
            </a:r>
            <a:r>
              <a:rPr lang="en-US" altLang="zh-CN" dirty="0"/>
              <a:t>±1.7976931348623157E308,15</a:t>
            </a:r>
            <a:r>
              <a:rPr lang="zh-CN" altLang="en-US" dirty="0"/>
              <a:t>位有效数字</a:t>
            </a:r>
            <a:endParaRPr lang="en-US" altLang="zh-CN" dirty="0"/>
          </a:p>
          <a:p>
            <a:pPr lvl="1"/>
            <a:r>
              <a:rPr lang="zh-CN" altLang="en-US" dirty="0"/>
              <a:t>带小数点的数字字面值默认为</a:t>
            </a:r>
            <a:r>
              <a:rPr lang="en-US" altLang="zh-CN" dirty="0"/>
              <a:t>double</a:t>
            </a:r>
            <a:r>
              <a:rPr lang="zh-CN" altLang="en-US" dirty="0"/>
              <a:t>型，加后缀</a:t>
            </a:r>
            <a:r>
              <a:rPr lang="en-US" altLang="zh-CN" dirty="0"/>
              <a:t>F</a:t>
            </a:r>
            <a:r>
              <a:rPr lang="zh-CN" altLang="en-US" dirty="0"/>
              <a:t>则为</a:t>
            </a:r>
            <a:r>
              <a:rPr lang="en-US" altLang="zh-CN" dirty="0"/>
              <a:t>float</a:t>
            </a:r>
            <a:r>
              <a:rPr lang="zh-CN" altLang="en-US" dirty="0"/>
              <a:t>型。下面的</a:t>
            </a:r>
            <a:r>
              <a:rPr lang="en-US" altLang="zh-CN" dirty="0"/>
              <a:t>float</a:t>
            </a:r>
            <a:r>
              <a:rPr lang="zh-CN" altLang="en-US" dirty="0"/>
              <a:t>赋值必须加后缀：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float </a:t>
            </a:r>
            <a:r>
              <a:rPr lang="en-US" altLang="zh-CN" dirty="0" err="1"/>
              <a:t>fValue</a:t>
            </a:r>
            <a:r>
              <a:rPr lang="en-US" altLang="zh-CN" dirty="0"/>
              <a:t> = 1.56F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double </a:t>
            </a:r>
            <a:r>
              <a:rPr lang="en-US" altLang="zh-CN" dirty="0" err="1"/>
              <a:t>dValue</a:t>
            </a:r>
            <a:r>
              <a:rPr lang="en-US" altLang="zh-CN" dirty="0"/>
              <a:t> = 1.56</a:t>
            </a:r>
            <a:r>
              <a:rPr lang="zh-CN" altLang="en-US" dirty="0"/>
              <a:t>；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或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1.56D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Double</a:t>
            </a:r>
            <a:r>
              <a:rPr lang="zh-CN" altLang="en-US" dirty="0"/>
              <a:t>类中定义了三个常量</a:t>
            </a:r>
            <a:br>
              <a:rPr lang="en-US" altLang="zh-CN" dirty="0"/>
            </a:br>
            <a:r>
              <a:rPr lang="en-US" altLang="zh-CN" b="1" i="1" dirty="0"/>
              <a:t>POSITIVE_INFINITY </a:t>
            </a:r>
            <a:r>
              <a:rPr lang="en-US" altLang="zh-CN" dirty="0"/>
              <a:t>= 1.0 / 0.0;</a:t>
            </a:r>
            <a:br>
              <a:rPr lang="en-US" altLang="zh-CN" b="1" i="1" dirty="0"/>
            </a:br>
            <a:r>
              <a:rPr lang="en-US" altLang="zh-CN" b="1" i="1" dirty="0"/>
              <a:t>NEGATIVE_INFINITY </a:t>
            </a:r>
            <a:r>
              <a:rPr lang="en-US" altLang="zh-CN" dirty="0"/>
              <a:t>= -1.0 / 0.0;</a:t>
            </a:r>
            <a:br>
              <a:rPr lang="en-US" altLang="zh-CN" b="1" i="1" dirty="0"/>
            </a:br>
            <a:r>
              <a:rPr lang="en-US" altLang="zh-CN" b="1" i="1" dirty="0" err="1"/>
              <a:t>NaN</a:t>
            </a:r>
            <a:r>
              <a:rPr lang="en-US" altLang="zh-CN" dirty="0"/>
              <a:t> = 0.0d / 0.0;</a:t>
            </a:r>
            <a:endParaRPr lang="en-US" altLang="zh-CN" b="1" i="1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624"/>
          </a:xfrm>
        </p:spPr>
        <p:txBody>
          <a:bodyPr>
            <a:normAutofit lnSpcReduction="10000"/>
          </a:bodyPr>
          <a:lstStyle/>
          <a:p>
            <a:pPr lvl="1"/>
            <a:r>
              <a:rPr lang="zh-CN" altLang="en-US" dirty="0"/>
              <a:t>所有的正无穷或负无穷都相等，所有的</a:t>
            </a:r>
            <a:r>
              <a:rPr lang="en-US" altLang="zh-CN" dirty="0" err="1"/>
              <a:t>NaN</a:t>
            </a:r>
            <a:r>
              <a:rPr lang="zh-CN" altLang="en-US" dirty="0"/>
              <a:t>都不相等：</a:t>
            </a:r>
            <a:br>
              <a:rPr lang="en-US" altLang="zh-CN" dirty="0"/>
            </a:br>
            <a:r>
              <a:rPr lang="zh-CN" altLang="en-US" dirty="0"/>
              <a:t>下面的语句返回</a:t>
            </a:r>
            <a:r>
              <a:rPr lang="en-US" altLang="zh-CN" dirty="0"/>
              <a:t>true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(5.0/0.0==2.0/0.0);	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(-5.0/0.0==-2.0/0.0);</a:t>
            </a:r>
            <a:br>
              <a:rPr lang="en-US" altLang="zh-CN" dirty="0"/>
            </a:br>
            <a:r>
              <a:rPr lang="zh-CN" altLang="en-US" dirty="0"/>
              <a:t>下面的语句返回</a:t>
            </a:r>
            <a:r>
              <a:rPr lang="en-US" altLang="zh-CN" dirty="0"/>
              <a:t>false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(0.0/0.0==0.0/0.0);</a:t>
            </a:r>
            <a:endParaRPr lang="en-US" altLang="zh-CN" dirty="0"/>
          </a:p>
          <a:p>
            <a:pPr lvl="1"/>
            <a:r>
              <a:rPr lang="zh-CN" altLang="en-US" dirty="0"/>
              <a:t>浮点数运算会产生精度丢失问题：</a:t>
            </a:r>
            <a:br>
              <a:rPr lang="en-US" altLang="zh-CN" dirty="0"/>
            </a:br>
            <a:r>
              <a:rPr lang="en-US" altLang="zh-CN" dirty="0"/>
              <a:t>    double a=0.01;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b=0.05;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c=</a:t>
            </a:r>
            <a:r>
              <a:rPr lang="en-US" altLang="zh-CN" dirty="0" err="1"/>
              <a:t>a+b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("c=" + c);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</a:t>
            </a:r>
            <a:r>
              <a:rPr lang="en-US" altLang="zh-CN" sz="2400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System.out.println</a:t>
            </a: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ea typeface="+mn-ea"/>
              </a:rPr>
              <a:t>(0.06 == 0.01+0.05); //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ea typeface="+mn-ea"/>
              </a:rPr>
              <a:t>输出为：</a:t>
            </a:r>
            <a:br>
              <a:rPr lang="en-US" altLang="zh-CN" sz="2400" dirty="0">
                <a:solidFill>
                  <a:schemeClr val="tx2">
                    <a:lumMod val="75000"/>
                  </a:schemeClr>
                </a:solidFill>
                <a:ea typeface="+mn-ea"/>
              </a:rPr>
            </a:br>
            <a:r>
              <a:rPr lang="en-US" altLang="zh-CN" sz="2400" dirty="0">
                <a:solidFill>
                  <a:schemeClr val="tx2">
                    <a:lumMod val="75000"/>
                  </a:schemeClr>
                </a:solidFill>
                <a:ea typeface="+mn-ea"/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c=0.060000000000000005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	false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布尔类型  </a:t>
            </a:r>
            <a:r>
              <a:rPr lang="en-US" altLang="zh-CN" dirty="0" err="1"/>
              <a:t>boolean</a:t>
            </a:r>
            <a:r>
              <a:rPr lang="en-US" altLang="zh-CN" dirty="0"/>
              <a:t>  </a:t>
            </a:r>
            <a:r>
              <a:rPr lang="zh-CN" altLang="en-US" dirty="0"/>
              <a:t>取值为</a:t>
            </a:r>
            <a:r>
              <a:rPr lang="en-US" altLang="zh-CN" dirty="0"/>
              <a:t>true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  <a:endParaRPr lang="en-US" altLang="zh-CN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C++</a:t>
            </a:r>
            <a:r>
              <a:rPr lang="zh-CN" altLang="en-US" dirty="0"/>
              <a:t>不同，</a:t>
            </a:r>
            <a:r>
              <a:rPr lang="en-US" altLang="zh-CN" dirty="0"/>
              <a:t>java</a:t>
            </a:r>
            <a:r>
              <a:rPr lang="zh-CN" altLang="en-US" dirty="0"/>
              <a:t>中的数值不能转换成</a:t>
            </a:r>
            <a:r>
              <a:rPr lang="en-US" altLang="zh-CN" dirty="0" err="1"/>
              <a:t>boolean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100;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j = </a:t>
            </a:r>
            <a:r>
              <a:rPr lang="en-US" altLang="zh-CN" dirty="0" err="1"/>
              <a:t>i</a:t>
            </a:r>
            <a:r>
              <a:rPr lang="en-US" altLang="zh-CN" dirty="0"/>
              <a:t>++;</a:t>
            </a:r>
            <a:br>
              <a:rPr lang="en-US" altLang="zh-CN" dirty="0"/>
            </a:br>
            <a:r>
              <a:rPr lang="en-US" altLang="zh-CN" dirty="0" err="1"/>
              <a:t>boolean</a:t>
            </a:r>
            <a:r>
              <a:rPr lang="en-US" altLang="zh-CN" dirty="0"/>
              <a:t> bool = </a:t>
            </a:r>
            <a:r>
              <a:rPr lang="en-US" altLang="zh-CN" dirty="0" err="1"/>
              <a:t>i</a:t>
            </a:r>
            <a:r>
              <a:rPr lang="en-US" altLang="zh-CN" dirty="0"/>
              <a:t>==j;</a:t>
            </a:r>
            <a:br>
              <a:rPr lang="en-US" altLang="zh-CN" dirty="0"/>
            </a:b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(bool);    </a:t>
            </a:r>
            <a:r>
              <a:rPr lang="en-US" altLang="zh-CN" b="1" i="1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b="1" i="1" dirty="0">
                <a:solidFill>
                  <a:schemeClr val="accent3">
                    <a:lumMod val="75000"/>
                  </a:schemeClr>
                </a:solidFill>
              </a:rPr>
              <a:t>返回</a:t>
            </a:r>
            <a:r>
              <a:rPr lang="en-US" altLang="zh-CN" b="1" i="1" dirty="0">
                <a:solidFill>
                  <a:schemeClr val="accent3">
                    <a:lumMod val="75000"/>
                  </a:schemeClr>
                </a:solidFill>
              </a:rPr>
              <a:t>false</a:t>
            </a:r>
            <a:br>
              <a:rPr lang="en-US" altLang="zh-CN" dirty="0"/>
            </a:br>
            <a:r>
              <a:rPr lang="en-US" altLang="zh-CN" dirty="0"/>
              <a:t>if(</a:t>
            </a:r>
            <a:r>
              <a:rPr lang="en-US" altLang="zh-CN" dirty="0">
                <a:solidFill>
                  <a:srgbClr val="FF0000"/>
                </a:solidFill>
              </a:rPr>
              <a:t>j=100</a:t>
            </a:r>
            <a:r>
              <a:rPr lang="en-US" altLang="zh-CN" dirty="0"/>
              <a:t>)   </a:t>
            </a: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(“OK!”);   </a:t>
            </a:r>
            <a:r>
              <a:rPr lang="en-US" altLang="zh-CN" b="1" i="1" dirty="0">
                <a:solidFill>
                  <a:schemeClr val="accent3">
                    <a:lumMod val="75000"/>
                  </a:schemeClr>
                </a:solidFill>
              </a:rPr>
              <a:t>//?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除上述</a:t>
            </a:r>
            <a:r>
              <a:rPr lang="en-US" altLang="zh-CN" dirty="0"/>
              <a:t>8</a:t>
            </a:r>
            <a:r>
              <a:rPr lang="zh-CN" altLang="en-US" dirty="0"/>
              <a:t>中基本类型之外，在声明</a:t>
            </a:r>
            <a:r>
              <a:rPr lang="en-US" altLang="zh-CN" dirty="0"/>
              <a:t>java</a:t>
            </a:r>
            <a:r>
              <a:rPr lang="zh-CN" altLang="en-US" dirty="0"/>
              <a:t>的方法时可以使用</a:t>
            </a:r>
            <a:r>
              <a:rPr lang="en-US" altLang="zh-CN" dirty="0"/>
              <a:t>void</a:t>
            </a:r>
            <a:r>
              <a:rPr lang="zh-CN" altLang="en-US" dirty="0"/>
              <a:t>作为返回类型，表示该方法没有返回值。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类型之间的转换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02668"/>
            <a:ext cx="8075240" cy="5256584"/>
          </a:xfrm>
        </p:spPr>
        <p:txBody>
          <a:bodyPr/>
          <a:lstStyle/>
          <a:p>
            <a:r>
              <a:rPr lang="zh-CN" altLang="en-US" dirty="0"/>
              <a:t>自动转换：把一个表数范围小的类型赋值给一个表数范围大的类型时，可以自动转换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</a:t>
            </a:r>
            <a:r>
              <a:rPr lang="en-US" altLang="zh-CN" b="1" dirty="0"/>
              <a:t> =1000;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b="1" dirty="0"/>
              <a:t>double d=</a:t>
            </a:r>
            <a:r>
              <a:rPr lang="en-US" altLang="zh-CN" b="1" dirty="0" err="1"/>
              <a:t>i</a:t>
            </a:r>
            <a:r>
              <a:rPr lang="en-US" altLang="zh-CN" b="1" dirty="0"/>
              <a:t>; 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允许</a:t>
            </a:r>
            <a:endParaRPr lang="en-US" altLang="zh-CN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b="1" dirty="0"/>
              <a:t>short s = </a:t>
            </a:r>
            <a:r>
              <a:rPr lang="en-US" altLang="zh-CN" b="1" dirty="0" err="1"/>
              <a:t>i</a:t>
            </a:r>
            <a:r>
              <a:rPr lang="en-US" altLang="zh-CN" b="1" dirty="0"/>
              <a:t>;  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不允许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,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可以用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(short)</a:t>
            </a:r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</a:rPr>
              <a:t>i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834580" y="2174032"/>
            <a:ext cx="6530205" cy="2983160"/>
            <a:chOff x="1834580" y="2174032"/>
            <a:chExt cx="6530205" cy="2983160"/>
          </a:xfrm>
        </p:grpSpPr>
        <p:sp>
          <p:nvSpPr>
            <p:cNvPr id="5" name="椭圆 4"/>
            <p:cNvSpPr/>
            <p:nvPr/>
          </p:nvSpPr>
          <p:spPr>
            <a:xfrm>
              <a:off x="5274196" y="2174032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char</a:t>
              </a:r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1834580" y="3348261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byte</a:t>
              </a:r>
              <a:endParaRPr lang="zh-CN" altLang="en-US" dirty="0"/>
            </a:p>
          </p:txBody>
        </p:sp>
        <p:sp>
          <p:nvSpPr>
            <p:cNvPr id="7" name="椭圆 6"/>
            <p:cNvSpPr/>
            <p:nvPr/>
          </p:nvSpPr>
          <p:spPr>
            <a:xfrm>
              <a:off x="3554388" y="3359324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short</a:t>
              </a:r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5276453" y="3342928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int</a:t>
              </a:r>
              <a:endParaRPr lang="zh-CN" altLang="en-US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7025580" y="3352453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long</a:t>
              </a:r>
              <a:endParaRPr lang="zh-CN" altLang="en-US" dirty="0"/>
            </a:p>
          </p:txBody>
        </p:sp>
        <p:sp>
          <p:nvSpPr>
            <p:cNvPr id="10" name="椭圆 9"/>
            <p:cNvSpPr/>
            <p:nvPr/>
          </p:nvSpPr>
          <p:spPr>
            <a:xfrm>
              <a:off x="5336257" y="4581128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float</a:t>
              </a:r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068641" y="4579243"/>
              <a:ext cx="1296144" cy="576064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double</a:t>
              </a:r>
              <a:endParaRPr lang="zh-CN" altLang="en-US" dirty="0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4850532" y="3644702"/>
              <a:ext cx="423664" cy="26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5" name="直接箭头连接符 14"/>
            <p:cNvCxnSpPr>
              <a:stCxn id="5" idx="4"/>
              <a:endCxn id="8" idx="0"/>
            </p:cNvCxnSpPr>
            <p:nvPr/>
          </p:nvCxnSpPr>
          <p:spPr>
            <a:xfrm>
              <a:off x="5922268" y="2750096"/>
              <a:ext cx="2257" cy="5928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V="1">
              <a:off x="6564585" y="3630960"/>
              <a:ext cx="460995" cy="26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6636593" y="4850879"/>
              <a:ext cx="423664" cy="26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3130724" y="3651573"/>
              <a:ext cx="423664" cy="26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5922268" y="3928517"/>
              <a:ext cx="1674068" cy="65261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7668344" y="3935388"/>
              <a:ext cx="0" cy="64385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endCxn id="10" idx="0"/>
            </p:cNvCxnSpPr>
            <p:nvPr/>
          </p:nvCxnSpPr>
          <p:spPr>
            <a:xfrm flipH="1">
              <a:off x="5984329" y="3937273"/>
              <a:ext cx="1689323" cy="64385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5924525" y="3935388"/>
              <a:ext cx="0" cy="64574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zh-CN" altLang="en-US" dirty="0"/>
              <a:t>两个操作数如果有一个是</a:t>
            </a:r>
            <a:r>
              <a:rPr lang="en-US" altLang="zh-CN" dirty="0"/>
              <a:t>double</a:t>
            </a:r>
            <a:r>
              <a:rPr lang="zh-CN" altLang="en-US" dirty="0"/>
              <a:t>，则都转换为</a:t>
            </a:r>
            <a:r>
              <a:rPr lang="en-US" altLang="zh-CN" dirty="0"/>
              <a:t>double</a:t>
            </a:r>
            <a:endParaRPr lang="en-US" altLang="zh-CN" dirty="0"/>
          </a:p>
          <a:p>
            <a:pPr lvl="1"/>
            <a:r>
              <a:rPr lang="zh-CN" altLang="en-US" dirty="0"/>
              <a:t>否则，如果有一个是</a:t>
            </a:r>
            <a:r>
              <a:rPr lang="en-US" altLang="zh-CN" dirty="0"/>
              <a:t>float</a:t>
            </a:r>
            <a:r>
              <a:rPr lang="zh-CN" altLang="en-US" dirty="0"/>
              <a:t>，则都转换为</a:t>
            </a:r>
            <a:r>
              <a:rPr lang="en-US" altLang="zh-CN" dirty="0"/>
              <a:t>float</a:t>
            </a:r>
            <a:endParaRPr lang="en-US" altLang="zh-CN" dirty="0"/>
          </a:p>
          <a:p>
            <a:pPr lvl="1"/>
            <a:r>
              <a:rPr lang="zh-CN" altLang="en-US" dirty="0"/>
              <a:t>否则，如果有一个是</a:t>
            </a:r>
            <a:r>
              <a:rPr lang="en-US" altLang="zh-CN" dirty="0"/>
              <a:t>long</a:t>
            </a:r>
            <a:r>
              <a:rPr lang="zh-CN" altLang="en-US" dirty="0"/>
              <a:t>，则都转换为</a:t>
            </a:r>
            <a:r>
              <a:rPr lang="en-US" altLang="zh-CN" dirty="0"/>
              <a:t>long</a:t>
            </a:r>
            <a:endParaRPr lang="en-US" altLang="zh-CN" dirty="0"/>
          </a:p>
          <a:p>
            <a:pPr lvl="1"/>
            <a:r>
              <a:rPr lang="zh-CN" altLang="en-US" dirty="0"/>
              <a:t>否则，两个操作数都转换为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zh-CN" altLang="en-US" dirty="0"/>
              <a:t>基本类型的值和字符串连接时，自动转换为字符串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i="1" dirty="0" err="1"/>
              <a:t>out.println</a:t>
            </a:r>
            <a:r>
              <a:rPr lang="en-US" altLang="zh-CN" dirty="0"/>
              <a:t>( 9 + 9 + "Hello");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i="1" dirty="0" err="1"/>
              <a:t>out.println</a:t>
            </a:r>
            <a:r>
              <a:rPr lang="en-US" altLang="zh-CN" dirty="0"/>
              <a:t>("Hello" + 9 + 9);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i="1" dirty="0" err="1"/>
              <a:t>out.println</a:t>
            </a:r>
            <a:r>
              <a:rPr lang="en-US" altLang="zh-CN" dirty="0"/>
              <a:t>("Hello"+ 9*9);</a:t>
            </a:r>
            <a:endParaRPr lang="en-US" altLang="zh-CN" dirty="0"/>
          </a:p>
          <a:p>
            <a:pPr lvl="1"/>
            <a:r>
              <a:rPr lang="zh-CN" altLang="en-US" dirty="0"/>
              <a:t>下面的第二种写法是正确的：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s=100;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s=100+“”;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等同于“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”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强制转换：从大的类型向小的类型转换：</a:t>
            </a:r>
            <a:endParaRPr lang="en-US" altLang="zh-CN" dirty="0"/>
          </a:p>
          <a:p>
            <a:pPr lvl="1"/>
            <a:r>
              <a:rPr lang="zh-CN" altLang="en-US" dirty="0"/>
              <a:t>语法（</a:t>
            </a:r>
            <a:r>
              <a:rPr lang="en-US" altLang="zh-CN" dirty="0" err="1"/>
              <a:t>tagType</a:t>
            </a:r>
            <a:r>
              <a:rPr lang="zh-CN" altLang="en-US" dirty="0"/>
              <a:t>）</a:t>
            </a:r>
            <a:r>
              <a:rPr lang="en-US" altLang="zh-CN" dirty="0"/>
              <a:t>value</a:t>
            </a:r>
            <a:endParaRPr lang="en-US" altLang="zh-CN" dirty="0"/>
          </a:p>
          <a:p>
            <a:pPr marL="274320" lvl="1" indent="0">
              <a:buNone/>
            </a:pPr>
            <a:r>
              <a:rPr lang="sv-SE" altLang="zh-CN" dirty="0"/>
              <a:t>      int i = 65;</a:t>
            </a:r>
            <a:endParaRPr lang="sv-SE" altLang="zh-CN" dirty="0"/>
          </a:p>
          <a:p>
            <a:pPr marL="274320" lvl="1" indent="0">
              <a:buNone/>
            </a:pPr>
            <a:r>
              <a:rPr lang="sv-SE" altLang="zh-CN" dirty="0"/>
              <a:t>      char ch = (char) i;</a:t>
            </a:r>
            <a:endParaRPr lang="sv-SE" altLang="zh-CN" dirty="0"/>
          </a:p>
          <a:p>
            <a:pPr marL="274320" lvl="1" indent="0">
              <a:buNone/>
            </a:pPr>
            <a:r>
              <a:rPr lang="sv-SE" altLang="zh-CN" dirty="0"/>
              <a:t>      System.out.println(ch);   </a:t>
            </a:r>
            <a:r>
              <a:rPr lang="sv-SE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A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zh-CN" altLang="en-US" dirty="0"/>
              <a:t>强制转换有可能将数据“截断”或溢出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</a:t>
            </a:r>
            <a:r>
              <a:rPr lang="pl-PL" altLang="zh-CN" dirty="0"/>
              <a:t> </a:t>
            </a:r>
            <a:r>
              <a:rPr lang="fr-FR" altLang="zh-CN" dirty="0"/>
              <a:t>double dx=10.85;</a:t>
            </a:r>
            <a:endParaRPr lang="fr-FR" altLang="zh-CN" dirty="0"/>
          </a:p>
          <a:p>
            <a:pPr marL="274320" lvl="1" indent="0">
              <a:buNone/>
            </a:pPr>
            <a:r>
              <a:rPr lang="fr-FR" altLang="zh-CN" dirty="0"/>
              <a:t>      int ix = (int)dx;  </a:t>
            </a:r>
            <a:r>
              <a:rPr lang="sv-SE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ix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的值为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10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pl-PL" altLang="zh-CN" dirty="0"/>
              <a:t>int i =1</a:t>
            </a:r>
            <a:r>
              <a:rPr lang="en-US" altLang="zh-CN" dirty="0"/>
              <a:t>30</a:t>
            </a:r>
            <a:r>
              <a:rPr lang="pl-PL" altLang="zh-CN" dirty="0"/>
              <a:t>;</a:t>
            </a:r>
            <a:endParaRPr lang="pl-PL" altLang="zh-CN" dirty="0"/>
          </a:p>
          <a:p>
            <a:pPr marL="274320" lvl="1" indent="0">
              <a:buNone/>
            </a:pPr>
            <a:r>
              <a:rPr lang="pl-PL" altLang="zh-CN" dirty="0"/>
              <a:t>      byte by = (byte)i;</a:t>
            </a:r>
            <a:endParaRPr lang="pl-PL" altLang="zh-CN" dirty="0"/>
          </a:p>
          <a:p>
            <a:pPr marL="274320" lvl="1" indent="0">
              <a:buNone/>
            </a:pPr>
            <a:r>
              <a:rPr lang="pl-PL" altLang="zh-CN" dirty="0"/>
              <a:t>      System.out.println(by);</a:t>
            </a:r>
            <a:r>
              <a:rPr lang="en-US" altLang="zh-CN" dirty="0"/>
              <a:t>  </a:t>
            </a:r>
            <a:r>
              <a:rPr lang="sv-SE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 -126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表达式中多个整数类型运算时，</a:t>
            </a:r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，</a:t>
            </a:r>
            <a:r>
              <a:rPr lang="en-US" altLang="zh-CN" dirty="0"/>
              <a:t>char</a:t>
            </a:r>
            <a:r>
              <a:rPr lang="zh-CN" altLang="en-US" dirty="0"/>
              <a:t>会提升为</a:t>
            </a:r>
            <a:r>
              <a:rPr lang="en-US" altLang="zh-CN" dirty="0" err="1"/>
              <a:t>int</a:t>
            </a:r>
            <a:r>
              <a:rPr lang="zh-CN" altLang="en-US" dirty="0"/>
              <a:t>类型。</a:t>
            </a:r>
            <a:endParaRPr lang="en-US" altLang="zh-CN" dirty="0"/>
          </a:p>
          <a:p>
            <a:r>
              <a:rPr lang="zh-CN" altLang="en-US" dirty="0"/>
              <a:t>算数表达式中自动提升到式子中的最大类型。</a:t>
            </a:r>
            <a:endParaRPr lang="en-US" altLang="zh-CN" dirty="0"/>
          </a:p>
          <a:p>
            <a:pPr lvl="1"/>
            <a:r>
              <a:rPr lang="en-US" altLang="zh-CN" dirty="0"/>
              <a:t>short </a:t>
            </a:r>
            <a:r>
              <a:rPr lang="en-US" altLang="zh-CN" dirty="0" err="1"/>
              <a:t>sx</a:t>
            </a:r>
            <a:r>
              <a:rPr lang="en-US" altLang="zh-CN" dirty="0"/>
              <a:t> = 100</a:t>
            </a:r>
            <a:r>
              <a:rPr lang="zh-CN" altLang="en-US" dirty="0"/>
              <a:t>；</a:t>
            </a:r>
            <a:br>
              <a:rPr lang="en-US" altLang="zh-CN" dirty="0"/>
            </a:br>
            <a:r>
              <a:rPr lang="en-US" altLang="zh-CN" dirty="0" err="1"/>
              <a:t>sx</a:t>
            </a:r>
            <a:r>
              <a:rPr lang="en-US" altLang="zh-CN" dirty="0"/>
              <a:t>=sx-1</a:t>
            </a:r>
            <a:r>
              <a:rPr lang="zh-CN" altLang="en-US" dirty="0"/>
              <a:t>；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错误，但是可以写成 </a:t>
            </a:r>
            <a:r>
              <a:rPr lang="en-US" altLang="zh-CN" dirty="0" err="1">
                <a:solidFill>
                  <a:srgbClr val="00B050"/>
                </a:solidFill>
              </a:rPr>
              <a:t>sx</a:t>
            </a:r>
            <a:r>
              <a:rPr lang="en-US" altLang="zh-CN" dirty="0">
                <a:solidFill>
                  <a:srgbClr val="00B050"/>
                </a:solidFill>
              </a:rPr>
              <a:t> -=1 </a:t>
            </a:r>
            <a:br>
              <a:rPr lang="en-US" altLang="zh-CN" dirty="0">
                <a:solidFill>
                  <a:srgbClr val="00B050"/>
                </a:solidFill>
              </a:rPr>
            </a:br>
            <a:r>
              <a:rPr lang="en-US" altLang="zh-CN" dirty="0">
                <a:solidFill>
                  <a:srgbClr val="00B050"/>
                </a:solidFill>
              </a:rPr>
              <a:t>                //</a:t>
            </a:r>
            <a:r>
              <a:rPr lang="zh-CN" altLang="en-US" dirty="0">
                <a:solidFill>
                  <a:srgbClr val="00B050"/>
                </a:solidFill>
              </a:rPr>
              <a:t>或</a:t>
            </a:r>
            <a:r>
              <a:rPr lang="en-US" altLang="zh-CN" dirty="0" err="1">
                <a:solidFill>
                  <a:srgbClr val="00B050"/>
                </a:solidFill>
              </a:rPr>
              <a:t>sx</a:t>
            </a:r>
            <a:r>
              <a:rPr lang="en-US" altLang="zh-CN" dirty="0">
                <a:solidFill>
                  <a:srgbClr val="00B050"/>
                </a:solidFill>
              </a:rPr>
              <a:t>=</a:t>
            </a:r>
            <a:r>
              <a:rPr lang="zh-CN" altLang="en-US" dirty="0">
                <a:solidFill>
                  <a:srgbClr val="00B050"/>
                </a:solidFill>
              </a:rPr>
              <a:t>（</a:t>
            </a:r>
            <a:r>
              <a:rPr lang="en-US" altLang="zh-CN" dirty="0">
                <a:solidFill>
                  <a:srgbClr val="00B050"/>
                </a:solidFill>
              </a:rPr>
              <a:t>short</a:t>
            </a:r>
            <a:r>
              <a:rPr lang="zh-CN" altLang="en-US" dirty="0">
                <a:solidFill>
                  <a:srgbClr val="00B050"/>
                </a:solidFill>
              </a:rPr>
              <a:t>）（</a:t>
            </a:r>
            <a:r>
              <a:rPr lang="en-US" altLang="zh-CN" dirty="0">
                <a:solidFill>
                  <a:srgbClr val="00B050"/>
                </a:solidFill>
              </a:rPr>
              <a:t>sx-1</a:t>
            </a:r>
            <a:r>
              <a:rPr lang="zh-CN" altLang="en-US" dirty="0">
                <a:solidFill>
                  <a:srgbClr val="00B050"/>
                </a:solidFill>
              </a:rPr>
              <a:t>）</a:t>
            </a:r>
            <a:br>
              <a:rPr lang="en-US" altLang="zh-CN" dirty="0">
                <a:solidFill>
                  <a:srgbClr val="00B050"/>
                </a:solidFill>
              </a:rPr>
            </a:br>
            <a:r>
              <a:rPr lang="en-US" altLang="zh-CN" dirty="0"/>
              <a:t>byte b =10;</a:t>
            </a:r>
            <a:br>
              <a:rPr lang="en-US" altLang="zh-CN" dirty="0"/>
            </a:br>
            <a:r>
              <a:rPr lang="en-US" altLang="zh-CN" dirty="0"/>
              <a:t>char c = ‘A’;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20;</a:t>
            </a:r>
            <a:br>
              <a:rPr lang="en-US" altLang="zh-CN" dirty="0"/>
            </a:br>
            <a:r>
              <a:rPr lang="en-US" altLang="zh-CN" dirty="0"/>
              <a:t>double d =12.33;</a:t>
            </a:r>
            <a:br>
              <a:rPr lang="en-US" altLang="zh-CN" dirty="0"/>
            </a:br>
            <a:r>
              <a:rPr lang="en-US" altLang="zh-CN" dirty="0"/>
              <a:t>double result = b *d –c +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基本类型的包装类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5256584"/>
          </a:xfrm>
        </p:spPr>
        <p:txBody>
          <a:bodyPr>
            <a:norm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中为基本类型提供了对应的包装类：</a:t>
            </a:r>
            <a:endParaRPr lang="en-US" altLang="zh-CN" dirty="0"/>
          </a:p>
          <a:p>
            <a:pPr lvl="1"/>
            <a:r>
              <a:rPr lang="en-US" altLang="zh-CN" dirty="0"/>
              <a:t>Integer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，</a:t>
            </a:r>
            <a:r>
              <a:rPr lang="en-US" altLang="zh-CN" dirty="0"/>
              <a:t>Long</a:t>
            </a:r>
            <a:r>
              <a:rPr lang="zh-CN" altLang="en-US" dirty="0"/>
              <a:t>，</a:t>
            </a:r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/>
              <a:t>Character</a:t>
            </a:r>
            <a:r>
              <a:rPr lang="zh-CN" altLang="en-US" dirty="0"/>
              <a:t>，</a:t>
            </a:r>
            <a:r>
              <a:rPr lang="en-US" altLang="zh-CN" dirty="0"/>
              <a:t>Float</a:t>
            </a:r>
            <a:r>
              <a:rPr lang="zh-CN" altLang="en-US" dirty="0"/>
              <a:t>，</a:t>
            </a:r>
            <a:r>
              <a:rPr lang="en-US" altLang="zh-CN" dirty="0"/>
              <a:t>Double</a:t>
            </a:r>
            <a:r>
              <a:rPr lang="zh-CN" altLang="en-US" dirty="0"/>
              <a:t>，</a:t>
            </a:r>
            <a:r>
              <a:rPr lang="en-US" altLang="zh-CN" dirty="0"/>
              <a:t>Boolean</a:t>
            </a:r>
            <a:endParaRPr lang="en-US" altLang="zh-CN" dirty="0"/>
          </a:p>
          <a:p>
            <a:pPr lvl="1"/>
            <a:r>
              <a:rPr lang="zh-CN" altLang="en-US" dirty="0"/>
              <a:t>对应于</a:t>
            </a:r>
            <a:r>
              <a:rPr lang="en-US" altLang="zh-CN" dirty="0"/>
              <a:t>void</a:t>
            </a:r>
            <a:r>
              <a:rPr lang="zh-CN" altLang="en-US" dirty="0"/>
              <a:t>也有一个</a:t>
            </a:r>
            <a:r>
              <a:rPr lang="en-US" altLang="zh-CN" dirty="0"/>
              <a:t>Void</a:t>
            </a:r>
            <a:r>
              <a:rPr lang="zh-CN" altLang="en-US" dirty="0"/>
              <a:t>类。 </a:t>
            </a:r>
            <a:endParaRPr lang="en-US" altLang="zh-CN" dirty="0"/>
          </a:p>
          <a:p>
            <a:r>
              <a:rPr lang="zh-CN" altLang="en-US" dirty="0"/>
              <a:t>自动装箱和自动拆箱：包装类与对应的基本类型之间可以相互赋值：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Integer </a:t>
            </a:r>
            <a:r>
              <a:rPr lang="en-US" altLang="zh-CN" dirty="0" err="1"/>
              <a:t>intObj</a:t>
            </a:r>
            <a:r>
              <a:rPr lang="en-US" altLang="zh-CN" dirty="0"/>
              <a:t> =10;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Integer 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intObj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= new Integer(10);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系统自动调用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Integer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 err="1">
                <a:solidFill>
                  <a:srgbClr val="FF0000"/>
                </a:solidFill>
              </a:rPr>
              <a:t>Integer.valueOf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intObj</a:t>
            </a:r>
            <a:r>
              <a:rPr lang="en-US" altLang="zh-CN" dirty="0"/>
              <a:t>; </a:t>
            </a:r>
            <a:br>
              <a:rPr lang="en-US" altLang="zh-CN" dirty="0"/>
            </a:br>
            <a:r>
              <a:rPr lang="en-US" altLang="zh-CN" dirty="0"/>
              <a:t>      Double </a:t>
            </a:r>
            <a:r>
              <a:rPr lang="en-US" altLang="zh-CN" dirty="0" err="1"/>
              <a:t>dObj</a:t>
            </a:r>
            <a:r>
              <a:rPr lang="en-US" altLang="zh-CN" dirty="0"/>
              <a:t> =1.56;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result = </a:t>
            </a:r>
            <a:r>
              <a:rPr lang="en-US" altLang="zh-CN" dirty="0" err="1"/>
              <a:t>intObj</a:t>
            </a:r>
            <a:r>
              <a:rPr lang="en-US" altLang="zh-CN" dirty="0"/>
              <a:t> * </a:t>
            </a:r>
            <a:r>
              <a:rPr lang="en-US" altLang="zh-CN" dirty="0" err="1"/>
              <a:t>dObj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(result);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//15.600000000000001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7792182" cy="3359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包装类提供了两种</a:t>
            </a:r>
            <a:r>
              <a:rPr lang="en-US" altLang="zh-CN" dirty="0" err="1"/>
              <a:t>valueOf</a:t>
            </a:r>
            <a:r>
              <a:rPr lang="zh-CN" altLang="en-US" dirty="0"/>
              <a:t>（）类方法，</a:t>
            </a:r>
            <a:endParaRPr lang="en-US" altLang="zh-CN" dirty="0"/>
          </a:p>
          <a:p>
            <a:pPr lvl="1"/>
            <a:r>
              <a:rPr lang="en-US" altLang="zh-CN" dirty="0" err="1"/>
              <a:t>valueOf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0070C0"/>
                </a:solidFill>
              </a:rPr>
              <a:t>String s</a:t>
            </a:r>
            <a:r>
              <a:rPr lang="zh-CN" altLang="en-US" dirty="0"/>
              <a:t>）把字符串转换成数值类：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String s1 = "1200";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String s2 = "3.33";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Integer i1 = </a:t>
            </a:r>
            <a:r>
              <a:rPr lang="en-US" altLang="zh-CN" dirty="0" err="1"/>
              <a:t>Integer.valueOf</a:t>
            </a:r>
            <a:r>
              <a:rPr lang="en-US" altLang="zh-CN" dirty="0"/>
              <a:t>(s1);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d1 = </a:t>
            </a:r>
            <a:r>
              <a:rPr lang="en-US" altLang="zh-CN" dirty="0" err="1"/>
              <a:t>Double.valueOf</a:t>
            </a:r>
            <a:r>
              <a:rPr lang="en-US" altLang="zh-CN" dirty="0"/>
              <a:t>(s2);</a:t>
            </a:r>
            <a:endParaRPr lang="en-US" altLang="zh-CN" dirty="0"/>
          </a:p>
          <a:p>
            <a:pPr lvl="1"/>
            <a:r>
              <a:rPr lang="en-US" altLang="zh-CN" dirty="0" err="1"/>
              <a:t>valueOf</a:t>
            </a:r>
            <a:r>
              <a:rPr lang="zh-CN" altLang="en-US" dirty="0"/>
              <a:t>（参数为</a:t>
            </a:r>
            <a:r>
              <a:rPr lang="zh-CN" altLang="en-US" dirty="0">
                <a:solidFill>
                  <a:srgbClr val="0070C0"/>
                </a:solidFill>
              </a:rPr>
              <a:t>所包装的基本类型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Integer i2 = </a:t>
            </a:r>
            <a:r>
              <a:rPr lang="en-US" altLang="zh-CN" dirty="0" err="1"/>
              <a:t>Integer.valueOf</a:t>
            </a:r>
            <a:r>
              <a:rPr lang="en-US" altLang="zh-CN" dirty="0"/>
              <a:t>(1200);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Double d2 = </a:t>
            </a:r>
            <a:r>
              <a:rPr lang="en-US" altLang="zh-CN" dirty="0" err="1"/>
              <a:t>Double.valueOf</a:t>
            </a:r>
            <a:r>
              <a:rPr lang="en-US" altLang="zh-CN" dirty="0"/>
              <a:t>(3.33);</a:t>
            </a:r>
            <a:endParaRPr lang="en-US" altLang="zh-CN" dirty="0"/>
          </a:p>
          <a:p>
            <a:pPr lvl="1"/>
            <a:r>
              <a:rPr lang="zh-CN" altLang="en-US" dirty="0"/>
              <a:t>另外，</a:t>
            </a:r>
            <a:r>
              <a:rPr lang="en-US" altLang="zh-CN" dirty="0">
                <a:solidFill>
                  <a:srgbClr val="FF0000"/>
                </a:solidFill>
              </a:rPr>
              <a:t>Integer</a:t>
            </a:r>
            <a:r>
              <a:rPr lang="en-US" altLang="zh-CN" dirty="0"/>
              <a:t>. </a:t>
            </a:r>
            <a:r>
              <a:rPr lang="en-US" altLang="zh-CN" dirty="0" err="1"/>
              <a:t>valueOf</a:t>
            </a:r>
            <a:r>
              <a:rPr lang="en-US" altLang="zh-CN" dirty="0"/>
              <a:t>(String s, </a:t>
            </a:r>
            <a:r>
              <a:rPr lang="en-US" altLang="zh-CN" dirty="0" err="1"/>
              <a:t>int</a:t>
            </a:r>
            <a:r>
              <a:rPr lang="en-US" altLang="zh-CN" dirty="0"/>
              <a:t>  radix):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Integer i3 = </a:t>
            </a:r>
            <a:r>
              <a:rPr lang="en-US" altLang="zh-CN" dirty="0" err="1"/>
              <a:t>Integer.valueOf</a:t>
            </a:r>
            <a:r>
              <a:rPr lang="en-US" altLang="zh-CN" dirty="0"/>
              <a:t>(“</a:t>
            </a:r>
            <a:r>
              <a:rPr lang="en-US" altLang="zh-CN" dirty="0" err="1"/>
              <a:t>ffff</a:t>
            </a:r>
            <a:r>
              <a:rPr lang="en-US" altLang="zh-CN" dirty="0"/>
              <a:t>”, 16); </a:t>
            </a:r>
            <a:r>
              <a:rPr lang="en-US" altLang="zh-CN" dirty="0">
                <a:solidFill>
                  <a:srgbClr val="00B050"/>
                </a:solidFill>
              </a:rPr>
              <a:t>//25535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BigDecimal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前面说过浮点数运算的精度丢失问题。为了精确表示和计算浮点数，</a:t>
            </a:r>
            <a:r>
              <a:rPr lang="en-US" altLang="zh-CN" dirty="0"/>
              <a:t>Java</a:t>
            </a:r>
            <a:r>
              <a:rPr lang="zh-CN" altLang="en-US" dirty="0"/>
              <a:t>提供了</a:t>
            </a:r>
            <a:r>
              <a:rPr lang="en-US" altLang="zh-CN" dirty="0" err="1">
                <a:solidFill>
                  <a:srgbClr val="FF0000"/>
                </a:solidFill>
              </a:rPr>
              <a:t>BigDecimal</a:t>
            </a:r>
            <a:endParaRPr lang="en-US" altLang="zh-CN" dirty="0"/>
          </a:p>
          <a:p>
            <a:pPr lvl="1"/>
            <a:r>
              <a:rPr lang="zh-CN" altLang="en-US" dirty="0"/>
              <a:t>该类定义在</a:t>
            </a:r>
            <a:r>
              <a:rPr lang="en-US" altLang="zh-CN" dirty="0" err="1"/>
              <a:t>java.math</a:t>
            </a:r>
            <a:r>
              <a:rPr lang="zh-CN" altLang="en-US" dirty="0"/>
              <a:t>包中，使用时需在</a:t>
            </a:r>
            <a:r>
              <a:rPr lang="en-US" altLang="zh-CN" dirty="0"/>
              <a:t>java</a:t>
            </a:r>
            <a:r>
              <a:rPr lang="zh-CN" altLang="en-US" dirty="0"/>
              <a:t>文件开头位置加上如下语句：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import </a:t>
            </a:r>
            <a:r>
              <a:rPr lang="en-US" altLang="zh-CN" dirty="0" err="1"/>
              <a:t>java.math.</a:t>
            </a:r>
            <a:r>
              <a:rPr lang="en-US" altLang="zh-CN" dirty="0" err="1">
                <a:solidFill>
                  <a:srgbClr val="FF0000"/>
                </a:solidFill>
              </a:rPr>
              <a:t>BigDecimal</a:t>
            </a:r>
            <a:r>
              <a:rPr lang="en-US" altLang="zh-CN" dirty="0"/>
              <a:t>; </a:t>
            </a:r>
            <a:endParaRPr lang="en-US" altLang="zh-CN" dirty="0"/>
          </a:p>
          <a:p>
            <a:pPr lvl="1"/>
            <a:r>
              <a:rPr lang="zh-CN" altLang="en-US" dirty="0"/>
              <a:t>两种构造方法，建议使用第一种：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BigDecimal</a:t>
            </a:r>
            <a:r>
              <a:rPr lang="en-US" altLang="zh-CN" dirty="0"/>
              <a:t> f1 = new </a:t>
            </a:r>
            <a:r>
              <a:rPr lang="en-US" altLang="zh-CN" dirty="0" err="1"/>
              <a:t>BigDecimal</a:t>
            </a:r>
            <a:r>
              <a:rPr lang="en-US" altLang="zh-CN" dirty="0"/>
              <a:t>("0.05");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BigDecimal</a:t>
            </a:r>
            <a:r>
              <a:rPr lang="en-US" altLang="zh-CN" dirty="0"/>
              <a:t> f3 = new </a:t>
            </a:r>
            <a:r>
              <a:rPr lang="en-US" altLang="zh-CN" dirty="0" err="1"/>
              <a:t>BigDecimal</a:t>
            </a:r>
            <a:r>
              <a:rPr lang="en-US" altLang="zh-CN" dirty="0"/>
              <a:t>(0.05); </a:t>
            </a:r>
            <a:endParaRPr lang="en-US" altLang="zh-CN" dirty="0"/>
          </a:p>
          <a:p>
            <a:pPr lvl="1"/>
            <a:r>
              <a:rPr lang="zh-CN" altLang="en-US" dirty="0"/>
              <a:t>还有一种常用方法建议使用：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/>
              <a:t>BigDecimal</a:t>
            </a:r>
            <a:r>
              <a:rPr lang="en-US" altLang="zh-CN" dirty="0"/>
              <a:t> f2 = </a:t>
            </a:r>
            <a:r>
              <a:rPr lang="en-US" altLang="zh-CN" dirty="0" err="1"/>
              <a:t>BigDecimal.valueOf</a:t>
            </a:r>
            <a:r>
              <a:rPr lang="en-US" altLang="zh-CN" dirty="0"/>
              <a:t>(0.01);</a:t>
            </a:r>
            <a:endParaRPr lang="en-US" altLang="zh-CN" dirty="0"/>
          </a:p>
          <a:p>
            <a:pPr lvl="1"/>
            <a:r>
              <a:rPr lang="zh-CN" altLang="en-US" dirty="0"/>
              <a:t>使用示例：</a:t>
            </a:r>
            <a:r>
              <a:rPr lang="en-US" altLang="zh-CN" dirty="0"/>
              <a:t>code2\ </a:t>
            </a:r>
            <a:r>
              <a:rPr lang="en-US" altLang="zh-CN" dirty="0" err="1"/>
              <a:t>BigDecimalTest</a:t>
            </a:r>
            <a:r>
              <a:rPr lang="en-US" altLang="zh-CN" dirty="0"/>
              <a:t>. 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变量和常量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中的变量由类型和名称来定义：</a:t>
            </a:r>
            <a:endParaRPr lang="en-US" altLang="zh-CN" dirty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a;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定义一个整型变量</a:t>
            </a:r>
            <a:br>
              <a:rPr lang="en-US" altLang="zh-CN" dirty="0"/>
            </a:br>
            <a:r>
              <a:rPr lang="en-US" altLang="zh-CN" dirty="0"/>
              <a:t>double salary;</a:t>
            </a:r>
            <a:br>
              <a:rPr lang="en-US" altLang="zh-CN" dirty="0"/>
            </a:br>
            <a:r>
              <a:rPr lang="en-US" altLang="zh-CN" dirty="0"/>
              <a:t>String name;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定义一个引用变量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变量名以字母（</a:t>
            </a:r>
            <a:r>
              <a:rPr lang="en-US" altLang="zh-CN" dirty="0" err="1"/>
              <a:t>unicode</a:t>
            </a:r>
            <a:r>
              <a:rPr lang="zh-CN" altLang="en-US" dirty="0"/>
              <a:t>）开头，由字母和数字序列组成，</a:t>
            </a:r>
            <a:r>
              <a:rPr lang="en-US" altLang="zh-CN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zh-CN" altLang="en-US" dirty="0"/>
              <a:t>，</a:t>
            </a:r>
            <a:r>
              <a:rPr lang="en-US" altLang="zh-CN" dirty="0"/>
              <a:t>@</a:t>
            </a:r>
            <a:r>
              <a:rPr lang="zh-CN" altLang="en-US" dirty="0"/>
              <a:t>，</a:t>
            </a:r>
            <a:r>
              <a:rPr lang="en-US" altLang="zh-CN" dirty="0"/>
              <a:t>&amp;</a:t>
            </a:r>
            <a:r>
              <a:rPr lang="zh-CN" altLang="en-US" dirty="0"/>
              <a:t>等特殊符号在</a:t>
            </a:r>
            <a:r>
              <a:rPr lang="en-US" altLang="zh-CN" dirty="0"/>
              <a:t>java</a:t>
            </a:r>
            <a:r>
              <a:rPr lang="zh-CN" altLang="en-US" dirty="0"/>
              <a:t>语言中有特定含义，不可用；</a:t>
            </a:r>
            <a:r>
              <a:rPr lang="en-US" altLang="zh-CN" dirty="0"/>
              <a:t>$</a:t>
            </a:r>
            <a:r>
              <a:rPr lang="zh-CN" altLang="en-US" dirty="0"/>
              <a:t>在编译器生成的变量中常用，不建议程序中使用。不能使用保留字，但可以包含之。</a:t>
            </a:r>
            <a:endParaRPr lang="en-US" altLang="zh-CN" dirty="0"/>
          </a:p>
          <a:p>
            <a:pPr lvl="1"/>
            <a:r>
              <a:rPr lang="zh-CN" altLang="en-US" dirty="0"/>
              <a:t>一个局部变量（方法中定义的变量）</a:t>
            </a:r>
            <a:r>
              <a:rPr lang="zh-CN" altLang="en-US" dirty="0">
                <a:solidFill>
                  <a:srgbClr val="FF0000"/>
                </a:solidFill>
              </a:rPr>
              <a:t>必须初始化</a:t>
            </a:r>
            <a:r>
              <a:rPr lang="zh-CN" altLang="en-US" dirty="0"/>
              <a:t>才能够使用。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a;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或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a = 10;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/>
              <a:t>a=10;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4664"/>
            <a:ext cx="8712968" cy="6264696"/>
          </a:xfrm>
        </p:spPr>
        <p:txBody>
          <a:bodyPr>
            <a:norm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中用</a:t>
            </a:r>
            <a:r>
              <a:rPr lang="en-US" altLang="zh-CN" dirty="0"/>
              <a:t>final</a:t>
            </a:r>
            <a:r>
              <a:rPr lang="zh-CN" altLang="en-US" dirty="0"/>
              <a:t>定义常量：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Constants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//</a:t>
            </a:r>
            <a:r>
              <a:rPr lang="en-US" altLang="zh-CN" dirty="0">
                <a:solidFill>
                  <a:srgbClr val="002060"/>
                </a:solidFill>
              </a:rPr>
              <a:t>public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en-US" altLang="zh-CN" dirty="0">
                <a:solidFill>
                  <a:srgbClr val="00B050"/>
                </a:solidFill>
              </a:rPr>
              <a:t> final double CM_PER_INCH=2.54;</a:t>
            </a:r>
            <a:endParaRPr lang="en-US" altLang="zh-CN" dirty="0">
              <a:solidFill>
                <a:srgbClr val="00B05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final double CM_PER_INCH=2.54;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	double </a:t>
            </a:r>
            <a:r>
              <a:rPr lang="en-US" altLang="zh-CN" dirty="0" err="1"/>
              <a:t>paperWidth</a:t>
            </a:r>
            <a:r>
              <a:rPr lang="en-US" altLang="zh-CN" dirty="0"/>
              <a:t>=8.5;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double </a:t>
            </a:r>
            <a:r>
              <a:rPr lang="en-US" altLang="zh-CN" dirty="0" err="1"/>
              <a:t>paperHeight</a:t>
            </a:r>
            <a:r>
              <a:rPr lang="en-US" altLang="zh-CN" dirty="0"/>
              <a:t>=11;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("Paper size in cm    				is:\n"+</a:t>
            </a:r>
            <a:r>
              <a:rPr lang="en-US" altLang="zh-CN" dirty="0" err="1"/>
              <a:t>paperWidth</a:t>
            </a:r>
            <a:r>
              <a:rPr lang="en-US" altLang="zh-CN" dirty="0"/>
              <a:t>*CM_PER_INCH 				+"*"+</a:t>
            </a:r>
            <a:r>
              <a:rPr lang="en-US" altLang="zh-CN" dirty="0" err="1"/>
              <a:t>paperHeight</a:t>
            </a:r>
            <a:r>
              <a:rPr lang="en-US" altLang="zh-CN" dirty="0"/>
              <a:t>*CM_PER_INCH);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注意：</a:t>
            </a:r>
            <a:endParaRPr lang="zh-CN" altLang="zh-CN" dirty="0"/>
          </a:p>
          <a:p>
            <a:pPr lvl="1"/>
            <a:r>
              <a:rPr lang="zh-CN" altLang="zh-CN" dirty="0"/>
              <a:t>用</a:t>
            </a:r>
            <a:r>
              <a:rPr lang="en-US" altLang="zh-CN" dirty="0"/>
              <a:t>final</a:t>
            </a:r>
            <a:r>
              <a:rPr lang="zh-CN" altLang="en-US" dirty="0"/>
              <a:t>定义的常量需赋初值，赋值后不能修改。</a:t>
            </a:r>
            <a:endParaRPr lang="zh-CN" altLang="en-US" dirty="0"/>
          </a:p>
          <a:p>
            <a:pPr lvl="1"/>
            <a:r>
              <a:rPr lang="zh-CN" altLang="en-US" dirty="0"/>
              <a:t>在方法中定义的常量，只能在该方法中使用，如果想在多个方法中使用某个常量，可以把它定义在方法之外，并且以</a:t>
            </a:r>
            <a:r>
              <a:rPr lang="en-US" altLang="zh-CN" dirty="0"/>
              <a:t>static</a:t>
            </a:r>
            <a:r>
              <a:rPr lang="zh-CN" altLang="en-US" dirty="0"/>
              <a:t>修饰（类常量）。</a:t>
            </a:r>
            <a:endParaRPr lang="zh-CN" altLang="en-US" dirty="0"/>
          </a:p>
          <a:p>
            <a:pPr lvl="1"/>
            <a:r>
              <a:rPr lang="zh-CN" altLang="en-US" dirty="0"/>
              <a:t>如果把类常量用</a:t>
            </a:r>
            <a:r>
              <a:rPr lang="en-US" altLang="zh-CN" dirty="0"/>
              <a:t>public</a:t>
            </a:r>
            <a:r>
              <a:rPr lang="zh-CN" altLang="en-US" dirty="0"/>
              <a:t>修饰，则它在定义它的类外可见。在类外使用时用 </a:t>
            </a:r>
            <a:r>
              <a:rPr lang="en-US" altLang="zh-CN" dirty="0"/>
              <a:t>“</a:t>
            </a:r>
            <a:r>
              <a:rPr lang="zh-CN" altLang="en-US" dirty="0"/>
              <a:t>类名</a:t>
            </a:r>
            <a:r>
              <a:rPr lang="en-US" altLang="zh-CN" dirty="0"/>
              <a:t>.</a:t>
            </a:r>
            <a:r>
              <a:rPr lang="zh-CN" altLang="en-US" dirty="0"/>
              <a:t>常量名</a:t>
            </a:r>
            <a:r>
              <a:rPr lang="en-US" altLang="zh-CN" dirty="0"/>
              <a:t>”</a:t>
            </a:r>
            <a:r>
              <a:rPr lang="zh-CN" altLang="en-US" dirty="0"/>
              <a:t>表示它。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表达式和运算符语法与</a:t>
            </a:r>
            <a:r>
              <a:rPr lang="en-US" altLang="zh-CN" dirty="0"/>
              <a:t>C++</a:t>
            </a:r>
            <a:r>
              <a:rPr lang="zh-CN" altLang="en-US" dirty="0"/>
              <a:t>中基本一致，本节简单提及并交代几个需注意的问题。</a:t>
            </a:r>
            <a:endParaRPr lang="en-US" altLang="zh-CN" dirty="0"/>
          </a:p>
          <a:p>
            <a:r>
              <a:rPr lang="en-US" altLang="zh-CN" dirty="0"/>
              <a:t>Math</a:t>
            </a:r>
            <a:r>
              <a:rPr lang="zh-CN" altLang="en-US" dirty="0"/>
              <a:t>类中的几个类方法（</a:t>
            </a:r>
            <a:r>
              <a:rPr lang="en-US" altLang="zh-CN" dirty="0"/>
              <a:t>static</a:t>
            </a:r>
            <a:r>
              <a:rPr lang="zh-CN" altLang="en-US" dirty="0"/>
              <a:t>方法）：</a:t>
            </a:r>
            <a:endParaRPr lang="en-US" altLang="zh-CN" dirty="0"/>
          </a:p>
          <a:p>
            <a:pPr lvl="1"/>
            <a:r>
              <a:rPr lang="zh-CN" altLang="en-US" dirty="0"/>
              <a:t>两个常量</a:t>
            </a:r>
            <a:r>
              <a:rPr lang="en-US" altLang="zh-CN" dirty="0" err="1"/>
              <a:t>Math.PI</a:t>
            </a:r>
            <a:r>
              <a:rPr lang="en-US" altLang="zh-CN" dirty="0"/>
              <a:t> , </a:t>
            </a:r>
            <a:r>
              <a:rPr lang="en-US" altLang="zh-CN" dirty="0" err="1"/>
              <a:t>Math.E</a:t>
            </a:r>
            <a:endParaRPr lang="en-US" altLang="zh-CN" dirty="0"/>
          </a:p>
          <a:p>
            <a:pPr lvl="1"/>
            <a:r>
              <a:rPr lang="en-US" altLang="zh-CN" dirty="0" err="1"/>
              <a:t>Math.sqrt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en-US" altLang="zh-CN" dirty="0" err="1"/>
              <a:t>Math.pow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en-US" altLang="zh-CN" dirty="0" err="1"/>
              <a:t>Math.abs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en-US" altLang="zh-CN" dirty="0" err="1"/>
              <a:t>Math.random</a:t>
            </a:r>
            <a:r>
              <a:rPr lang="en-US" altLang="zh-CN" dirty="0"/>
              <a:t>()</a:t>
            </a:r>
            <a:endParaRPr lang="en-US" altLang="zh-CN" dirty="0"/>
          </a:p>
          <a:p>
            <a:pPr lvl="1"/>
            <a:r>
              <a:rPr lang="zh-CN" altLang="en-US" dirty="0"/>
              <a:t>三角函数</a:t>
            </a:r>
            <a:endParaRPr lang="en-US" altLang="zh-CN" dirty="0"/>
          </a:p>
          <a:p>
            <a:pPr lvl="1"/>
            <a:r>
              <a:rPr lang="zh-CN" altLang="en-US" dirty="0"/>
              <a:t>舍入函数等等</a:t>
            </a:r>
            <a:endParaRPr lang="en-US" altLang="zh-CN" dirty="0"/>
          </a:p>
          <a:p>
            <a:pPr lvl="1"/>
            <a:r>
              <a:rPr lang="zh-CN" altLang="en-US" dirty="0"/>
              <a:t>使用方法示例见 </a:t>
            </a:r>
            <a:r>
              <a:rPr lang="en-US" altLang="zh-CN" dirty="0"/>
              <a:t>code2\DemoMath.java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算数运算：</a:t>
            </a:r>
            <a:r>
              <a:rPr lang="en-US" altLang="zh-CN" dirty="0"/>
              <a:t>+  -  *  /   %</a:t>
            </a:r>
            <a:endParaRPr lang="en-US" altLang="zh-CN" dirty="0"/>
          </a:p>
          <a:p>
            <a:pPr lvl="1"/>
            <a:r>
              <a:rPr lang="zh-CN" altLang="en-US" dirty="0"/>
              <a:t>除运算中如果两个数都是整型，则结果为截断取整数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x = 20/3;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//result is 6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整型运算如果</a:t>
            </a:r>
            <a:r>
              <a:rPr lang="en-US" altLang="zh-CN" dirty="0"/>
              <a:t>0</a:t>
            </a:r>
            <a:r>
              <a:rPr lang="zh-CN" altLang="en-US" dirty="0"/>
              <a:t>做除数会产生异常，浮点数运算允许</a:t>
            </a:r>
            <a:r>
              <a:rPr lang="en-US" altLang="zh-CN" dirty="0"/>
              <a:t>0</a:t>
            </a:r>
            <a:r>
              <a:rPr lang="zh-CN" altLang="en-US" dirty="0"/>
              <a:t>做除数，结果为无穷大或</a:t>
            </a:r>
            <a:r>
              <a:rPr lang="en-US" altLang="zh-CN" dirty="0" err="1"/>
              <a:t>NaN</a:t>
            </a:r>
            <a:br>
              <a:rPr lang="en-US" altLang="zh-CN" dirty="0"/>
            </a:br>
            <a:r>
              <a:rPr lang="en-US" altLang="zh-CN" dirty="0"/>
              <a:t>double da =10.5, </a:t>
            </a:r>
            <a:r>
              <a:rPr lang="en-US" altLang="zh-CN" dirty="0" err="1"/>
              <a:t>db</a:t>
            </a:r>
            <a:r>
              <a:rPr lang="en-US" altLang="zh-CN" dirty="0"/>
              <a:t> = 0.0, dc = 0.0;</a:t>
            </a:r>
            <a:br>
              <a:rPr lang="en-US" altLang="zh-CN" dirty="0"/>
            </a:br>
            <a:r>
              <a:rPr lang="en-US" altLang="zh-CN" dirty="0"/>
              <a:t>double dres1 = da / dc;  // Infinity</a:t>
            </a:r>
            <a:br>
              <a:rPr lang="en-US" altLang="zh-CN" dirty="0"/>
            </a:br>
            <a:r>
              <a:rPr lang="en-US" altLang="zh-CN" dirty="0"/>
              <a:t>double dres2 = </a:t>
            </a:r>
            <a:r>
              <a:rPr lang="en-US" altLang="zh-CN" dirty="0" err="1"/>
              <a:t>db</a:t>
            </a:r>
            <a:r>
              <a:rPr lang="en-US" altLang="zh-CN" dirty="0"/>
              <a:t> / dc;  //</a:t>
            </a:r>
            <a:r>
              <a:rPr lang="en-US" altLang="zh-CN" dirty="0" err="1"/>
              <a:t>NaN</a:t>
            </a:r>
            <a:endParaRPr lang="en-US" altLang="zh-CN" dirty="0"/>
          </a:p>
          <a:p>
            <a:pPr lvl="1"/>
            <a:r>
              <a:rPr lang="zh-CN" altLang="en-US" dirty="0"/>
              <a:t>求余数的运算中包含除法，故若两个数都是整型时除数不能是</a:t>
            </a:r>
            <a:r>
              <a:rPr lang="en-US" altLang="zh-CN" dirty="0"/>
              <a:t>0</a:t>
            </a:r>
            <a:r>
              <a:rPr lang="zh-CN" altLang="en-US" dirty="0"/>
              <a:t>；有浮点数时除数可以为</a:t>
            </a:r>
            <a:r>
              <a:rPr lang="en-US" altLang="zh-CN" dirty="0"/>
              <a:t>0</a:t>
            </a:r>
            <a:r>
              <a:rPr lang="zh-CN" altLang="en-US" dirty="0"/>
              <a:t>，求余结果为</a:t>
            </a:r>
            <a:r>
              <a:rPr lang="en-US" altLang="zh-CN" dirty="0" err="1"/>
              <a:t>NaN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位运算：只对</a:t>
            </a:r>
            <a:r>
              <a:rPr lang="en-US" altLang="zh-CN" dirty="0"/>
              <a:t>5</a:t>
            </a:r>
            <a:r>
              <a:rPr lang="zh-CN" altLang="en-US" dirty="0"/>
              <a:t>个整型进行操作</a:t>
            </a:r>
            <a:endParaRPr lang="en-US" altLang="zh-CN" dirty="0"/>
          </a:p>
          <a:p>
            <a:pPr lvl="1"/>
            <a:r>
              <a:rPr lang="en-US" altLang="zh-CN" dirty="0"/>
              <a:t>&amp;</a:t>
            </a:r>
            <a:r>
              <a:rPr lang="zh-CN" altLang="en-US" dirty="0"/>
              <a:t>按位与         </a:t>
            </a:r>
            <a:r>
              <a:rPr lang="en-US" altLang="zh-CN" dirty="0"/>
              <a:t> | </a:t>
            </a:r>
            <a:r>
              <a:rPr lang="zh-CN" altLang="en-US" dirty="0"/>
              <a:t>按位或</a:t>
            </a:r>
            <a:r>
              <a:rPr lang="en-US" altLang="zh-CN" dirty="0"/>
              <a:t>        ~ </a:t>
            </a:r>
            <a:r>
              <a:rPr lang="zh-CN" altLang="en-US" dirty="0"/>
              <a:t>按位非       </a:t>
            </a:r>
            <a:r>
              <a:rPr lang="en-US" altLang="zh-CN" dirty="0"/>
              <a:t> ^ </a:t>
            </a:r>
            <a:r>
              <a:rPr lang="zh-CN" altLang="en-US" dirty="0"/>
              <a:t>按位异或</a:t>
            </a:r>
            <a:r>
              <a:rPr lang="en-US" altLang="zh-CN" dirty="0"/>
              <a:t> &lt;&lt; </a:t>
            </a:r>
            <a:r>
              <a:rPr lang="zh-CN" altLang="en-US" dirty="0"/>
              <a:t>左移           </a:t>
            </a:r>
            <a:r>
              <a:rPr lang="en-US" altLang="zh-CN" dirty="0"/>
              <a:t>&gt;&gt; </a:t>
            </a:r>
            <a:r>
              <a:rPr lang="zh-CN" altLang="en-US" dirty="0"/>
              <a:t>右移</a:t>
            </a:r>
            <a:r>
              <a:rPr lang="en-US" altLang="zh-CN" dirty="0"/>
              <a:t>        &gt;&gt;&gt; </a:t>
            </a:r>
            <a:r>
              <a:rPr lang="zh-CN" altLang="en-US" dirty="0"/>
              <a:t>无符号右移</a:t>
            </a:r>
            <a:endParaRPr lang="en-US" altLang="zh-CN" dirty="0"/>
          </a:p>
          <a:p>
            <a:pPr lvl="1"/>
            <a:r>
              <a:rPr lang="zh-CN" altLang="en-US" dirty="0"/>
              <a:t>整数的存储方式：补码</a:t>
            </a:r>
            <a:endParaRPr lang="en-US" altLang="zh-CN" dirty="0"/>
          </a:p>
          <a:p>
            <a:pPr lvl="2"/>
            <a:r>
              <a:rPr lang="zh-CN" altLang="en-US" dirty="0"/>
              <a:t>正整数和零的补码与原码相同</a:t>
            </a:r>
            <a:endParaRPr lang="en-US" altLang="zh-CN" dirty="0"/>
          </a:p>
          <a:p>
            <a:pPr lvl="2"/>
            <a:r>
              <a:rPr lang="zh-CN" altLang="en-US" dirty="0"/>
              <a:t>负整数的补码是其原码按位取反加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用补码存储的原因：</a:t>
            </a:r>
            <a:endParaRPr lang="en-US" altLang="zh-CN" dirty="0"/>
          </a:p>
          <a:p>
            <a:pPr lvl="2"/>
            <a:r>
              <a:rPr lang="zh-CN" altLang="en-US" dirty="0"/>
              <a:t>零的问题</a:t>
            </a:r>
            <a:endParaRPr lang="en-US" altLang="zh-CN" dirty="0"/>
          </a:p>
          <a:p>
            <a:pPr lvl="2"/>
            <a:r>
              <a:rPr lang="zh-CN" altLang="en-US" dirty="0"/>
              <a:t>顺序计算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为了简单起见，假设用四位</a:t>
            </a:r>
            <a:br>
              <a:rPr lang="en-US" altLang="zh-CN" dirty="0"/>
            </a:br>
            <a:r>
              <a:rPr lang="zh-CN" altLang="en-US" dirty="0"/>
              <a:t>表示整数：</a:t>
            </a:r>
            <a:endParaRPr lang="en-US" altLang="zh-CN" dirty="0"/>
          </a:p>
          <a:p>
            <a:pPr lvl="1"/>
            <a:r>
              <a:rPr lang="zh-CN" altLang="en-US" dirty="0"/>
              <a:t>解决了正负零的问题</a:t>
            </a:r>
            <a:endParaRPr lang="en-US" altLang="zh-CN" dirty="0"/>
          </a:p>
          <a:p>
            <a:pPr lvl="1"/>
            <a:r>
              <a:rPr lang="zh-CN" altLang="en-US" dirty="0"/>
              <a:t>实现了顺序加法</a:t>
            </a:r>
            <a:endParaRPr lang="en-US" altLang="zh-CN" dirty="0"/>
          </a:p>
          <a:p>
            <a:pPr lvl="1"/>
            <a:r>
              <a:rPr lang="zh-CN" altLang="en-US" dirty="0"/>
              <a:t>假设</a:t>
            </a:r>
            <a:r>
              <a:rPr lang="en-US" altLang="zh-CN" dirty="0"/>
              <a:t>N</a:t>
            </a:r>
            <a:r>
              <a:rPr lang="zh-CN" altLang="en-US" dirty="0"/>
              <a:t>为正整数，则</a:t>
            </a:r>
            <a:br>
              <a:rPr lang="en-US" altLang="zh-CN" dirty="0"/>
            </a:br>
            <a:r>
              <a:rPr lang="en-US" altLang="zh-CN" dirty="0"/>
              <a:t>~N = -(N+1)</a:t>
            </a:r>
            <a:br>
              <a:rPr lang="en-US" altLang="zh-CN" dirty="0"/>
            </a:br>
            <a:r>
              <a:rPr lang="en-US" altLang="zh-CN" dirty="0"/>
              <a:t>~-N = N-1</a:t>
            </a:r>
            <a:endParaRPr lang="en-US" altLang="zh-CN" dirty="0"/>
          </a:p>
          <a:p>
            <a:pPr lvl="1"/>
            <a:r>
              <a:rPr lang="zh-CN" altLang="en-US" dirty="0"/>
              <a:t>除边界位置外，左移一位是乘以</a:t>
            </a:r>
            <a:br>
              <a:rPr lang="en-US" altLang="zh-CN" dirty="0"/>
            </a:br>
            <a:r>
              <a:rPr lang="en-US" altLang="zh-CN" dirty="0"/>
              <a:t>2</a:t>
            </a:r>
            <a:r>
              <a:rPr lang="zh-CN" altLang="en-US" dirty="0"/>
              <a:t>，右移一位是除以</a:t>
            </a:r>
            <a:r>
              <a:rPr lang="en-US" altLang="zh-CN" dirty="0"/>
              <a:t>2</a:t>
            </a:r>
            <a:endParaRPr lang="en-US" altLang="zh-CN" dirty="0"/>
          </a:p>
          <a:p>
            <a:pPr lvl="1"/>
            <a:r>
              <a:rPr lang="en-US" altLang="zh-CN" dirty="0"/>
              <a:t>&gt;&gt;&gt;</a:t>
            </a:r>
            <a:r>
              <a:rPr lang="zh-CN" altLang="en-US" dirty="0"/>
              <a:t>右移后左边总是补</a:t>
            </a:r>
            <a:r>
              <a:rPr lang="en-US" altLang="zh-CN" dirty="0"/>
              <a:t>0</a:t>
            </a:r>
            <a:endParaRPr lang="en-US" altLang="zh-CN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8104" y="548680"/>
          <a:ext cx="2471935" cy="585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387"/>
                <a:gridCol w="494387"/>
                <a:gridCol w="494387"/>
                <a:gridCol w="494387"/>
                <a:gridCol w="494387"/>
              </a:tblGrid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93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291264" cy="5256584"/>
          </a:xfrm>
        </p:spPr>
        <p:txBody>
          <a:bodyPr/>
          <a:lstStyle/>
          <a:p>
            <a:r>
              <a:rPr lang="zh-CN" altLang="en-US" dirty="0"/>
              <a:t>注意：位移计算只是得到一个结果，但不会改变操作数本身。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bit =10;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(bit&gt;&gt;1);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5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(bit);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zh-CN" altLang="en-US" dirty="0"/>
              <a:t>一个例子：一个老师教一个有</a:t>
            </a:r>
            <a:r>
              <a:rPr lang="en-US" altLang="zh-CN" dirty="0"/>
              <a:t>30 </a:t>
            </a:r>
            <a:r>
              <a:rPr lang="zh-CN" altLang="en-US" dirty="0"/>
              <a:t>名学生的班级，每周这个班都有一个通过</a:t>
            </a:r>
            <a:r>
              <a:rPr lang="en-US" altLang="zh-CN" dirty="0"/>
              <a:t>/</a:t>
            </a:r>
            <a:r>
              <a:rPr lang="zh-CN" altLang="en-US" dirty="0"/>
              <a:t>不通过的测试，用一个位向量来记录每次测试的结果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dirty="0" err="1"/>
              <a:t>int</a:t>
            </a:r>
            <a:r>
              <a:rPr lang="en-US" altLang="zh-CN" dirty="0"/>
              <a:t> student = 0</a:t>
            </a:r>
            <a:r>
              <a:rPr lang="zh-CN" altLang="en-US" dirty="0"/>
              <a:t>；</a:t>
            </a:r>
            <a:br>
              <a:rPr lang="en-US" altLang="zh-CN" dirty="0"/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//00000000_00000000_00000000_00000000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student=0;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student |= 1&lt;&lt;10;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//10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号位置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，其他位不变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student |= 1&lt;&lt;15;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//15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号位置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，其他位不变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student &amp;= ~(1&lt;&lt;10);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//10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号位置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，其他位不变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boolean</a:t>
            </a:r>
            <a:r>
              <a:rPr lang="en-US" altLang="zh-CN" dirty="0"/>
              <a:t> hasPassed10 = (student &amp; (1&lt;&lt;10))!=0;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boolean</a:t>
            </a:r>
            <a:r>
              <a:rPr lang="en-US" altLang="zh-CN" dirty="0"/>
              <a:t> hasPassed15 = (student &amp; (1&lt;&lt;15))!=0;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(hasPassed10);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//false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(hasPassed15);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04664"/>
            <a:ext cx="8640960" cy="5832648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00000000_00000000_00000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00_00000000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00000000_00000000_00000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00_0000000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0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1&lt;&lt;10              </a:t>
            </a:r>
            <a:r>
              <a:rPr lang="en-US" altLang="zh-CN" b="1" dirty="0"/>
              <a:t>00000000_00000000_00000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00_00000000     |=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00000000_00000000_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0000000_0000000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0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1&lt;&lt;15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/>
              <a:t>00000000_00000000_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0000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00_00000000     |=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1111  1111_1111 1111_1111 1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11_1111 111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~(1&lt;&lt;10)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/>
              <a:t>00000000_00000000_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0000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en-US" altLang="zh-CN" b="1" dirty="0"/>
              <a:t>00_00000000     &amp;=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395536" y="1412776"/>
            <a:ext cx="784887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95536" y="2348880"/>
            <a:ext cx="77768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3528" y="3356992"/>
            <a:ext cx="77768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逻辑运算：</a:t>
            </a:r>
            <a:endParaRPr lang="en-US" altLang="zh-CN" dirty="0"/>
          </a:p>
          <a:p>
            <a:pPr lvl="1"/>
            <a:r>
              <a:rPr lang="en-US" altLang="zh-CN" dirty="0"/>
              <a:t>&amp;&amp; </a:t>
            </a:r>
            <a:r>
              <a:rPr lang="zh-CN" altLang="en-US" dirty="0"/>
              <a:t>逻辑与，短路，左边计算结果为</a:t>
            </a:r>
            <a:r>
              <a:rPr lang="en-US" altLang="zh-CN" dirty="0"/>
              <a:t>false</a:t>
            </a:r>
            <a:r>
              <a:rPr lang="zh-CN" altLang="en-US" dirty="0"/>
              <a:t>则右边不计算</a:t>
            </a:r>
            <a:endParaRPr lang="en-US" altLang="zh-CN" dirty="0"/>
          </a:p>
          <a:p>
            <a:pPr lvl="1"/>
            <a:r>
              <a:rPr lang="en-US" altLang="zh-CN" dirty="0"/>
              <a:t>&amp; </a:t>
            </a:r>
            <a:r>
              <a:rPr lang="zh-CN" altLang="en-US" dirty="0"/>
              <a:t>逻辑与，不短路</a:t>
            </a:r>
            <a:endParaRPr lang="en-US" altLang="zh-CN" dirty="0"/>
          </a:p>
          <a:p>
            <a:pPr lvl="1"/>
            <a:r>
              <a:rPr lang="en-US" altLang="zh-CN" dirty="0"/>
              <a:t>|| </a:t>
            </a:r>
            <a:r>
              <a:rPr lang="zh-CN" altLang="en-US" dirty="0"/>
              <a:t>逻辑或，短路，左边计算结果为</a:t>
            </a:r>
            <a:r>
              <a:rPr lang="en-US" altLang="zh-CN" dirty="0"/>
              <a:t>true</a:t>
            </a:r>
            <a:r>
              <a:rPr lang="zh-CN" altLang="en-US" dirty="0"/>
              <a:t>则右边不计算</a:t>
            </a:r>
            <a:endParaRPr lang="en-US" altLang="zh-CN" dirty="0"/>
          </a:p>
          <a:p>
            <a:pPr lvl="1"/>
            <a:r>
              <a:rPr lang="en-US" altLang="zh-CN" dirty="0"/>
              <a:t>|  </a:t>
            </a:r>
            <a:r>
              <a:rPr lang="zh-CN" altLang="en-US" dirty="0"/>
              <a:t>逻辑或，不短路</a:t>
            </a:r>
            <a:endParaRPr lang="en-US" altLang="zh-CN" dirty="0"/>
          </a:p>
          <a:p>
            <a:pPr lvl="1"/>
            <a:r>
              <a:rPr lang="en-US" altLang="zh-CN" dirty="0"/>
              <a:t>!  </a:t>
            </a:r>
            <a:r>
              <a:rPr lang="zh-CN" altLang="en-US" dirty="0"/>
              <a:t>逻辑非</a:t>
            </a:r>
            <a:endParaRPr lang="en-US" altLang="zh-CN" dirty="0"/>
          </a:p>
          <a:p>
            <a:pPr lvl="1"/>
            <a:r>
              <a:rPr lang="en-US" altLang="zh-CN" dirty="0"/>
              <a:t>^ </a:t>
            </a:r>
            <a:r>
              <a:rPr lang="zh-CN" altLang="en-US" dirty="0"/>
              <a:t>逻辑异或</a:t>
            </a:r>
            <a:endParaRPr lang="en-US" altLang="zh-CN" dirty="0"/>
          </a:p>
          <a:p>
            <a:r>
              <a:rPr lang="zh-CN" altLang="en-US" dirty="0"/>
              <a:t>比较运算符，与</a:t>
            </a:r>
            <a:r>
              <a:rPr lang="en-US" altLang="zh-CN" dirty="0"/>
              <a:t>C++</a:t>
            </a:r>
            <a:r>
              <a:rPr lang="zh-CN" altLang="en-US" dirty="0"/>
              <a:t>相同</a:t>
            </a:r>
            <a:endParaRPr lang="en-US" altLang="zh-CN" dirty="0"/>
          </a:p>
          <a:p>
            <a:r>
              <a:rPr lang="zh-CN" altLang="en-US" dirty="0"/>
              <a:t>三目运算符，与</a:t>
            </a:r>
            <a:r>
              <a:rPr lang="en-US" altLang="zh-CN" dirty="0"/>
              <a:t>C++</a:t>
            </a:r>
            <a:r>
              <a:rPr lang="zh-CN" altLang="en-US" dirty="0"/>
              <a:t>相同</a:t>
            </a:r>
            <a:endParaRPr lang="en-US" altLang="zh-CN" dirty="0"/>
          </a:p>
          <a:p>
            <a:r>
              <a:rPr lang="zh-CN" altLang="en-US" dirty="0"/>
              <a:t>赋值运算符，与</a:t>
            </a:r>
            <a:r>
              <a:rPr lang="en-US" altLang="zh-CN" dirty="0"/>
              <a:t>C++</a:t>
            </a:r>
            <a:r>
              <a:rPr lang="zh-CN" altLang="en-US" dirty="0"/>
              <a:t>相同</a:t>
            </a:r>
            <a:br>
              <a:rPr lang="en-US" altLang="zh-CN" dirty="0"/>
            </a:br>
            <a:r>
              <a:rPr lang="zh-CN" altLang="en-US" dirty="0">
                <a:solidFill>
                  <a:srgbClr val="FF0000"/>
                </a:solidFill>
              </a:rPr>
              <a:t>作业：</a:t>
            </a:r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zh-CN" altLang="en-US" dirty="0">
                <a:solidFill>
                  <a:srgbClr val="FF0000"/>
                </a:solidFill>
              </a:rPr>
              <a:t>编程练习各种运算符的使用。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           2. </a:t>
            </a:r>
            <a:r>
              <a:rPr lang="zh-CN" altLang="en-US" dirty="0">
                <a:solidFill>
                  <a:srgbClr val="FF0000"/>
                </a:solidFill>
              </a:rPr>
              <a:t>读程序代码</a:t>
            </a:r>
            <a:r>
              <a:rPr lang="en-US" altLang="zh-CN" dirty="0">
                <a:solidFill>
                  <a:srgbClr val="FF0000"/>
                </a:solidFill>
              </a:rPr>
              <a:t>AllOps.java</a:t>
            </a:r>
            <a:r>
              <a:rPr lang="zh-CN" altLang="en-US" dirty="0">
                <a:solidFill>
                  <a:srgbClr val="FF0000"/>
                </a:solidFill>
              </a:rPr>
              <a:t>，程序展示了各种操作符的用法，导致错误的操作已经被用</a:t>
            </a:r>
            <a:r>
              <a:rPr lang="en-US" altLang="zh-CN" dirty="0">
                <a:solidFill>
                  <a:srgbClr val="FF0000"/>
                </a:solidFill>
              </a:rPr>
              <a:t>//!</a:t>
            </a:r>
            <a:r>
              <a:rPr lang="zh-CN" altLang="en-US" dirty="0">
                <a:solidFill>
                  <a:srgbClr val="FF0000"/>
                </a:solidFill>
              </a:rPr>
              <a:t>注释掉。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算数计算中的随机数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  <a:r>
              <a:rPr lang="zh-CN" altLang="en-US" dirty="0"/>
              <a:t>类里的</a:t>
            </a:r>
            <a:r>
              <a:rPr lang="en-US" altLang="zh-CN" dirty="0" err="1"/>
              <a:t>Math.random</a:t>
            </a:r>
            <a:r>
              <a:rPr lang="en-US" altLang="zh-CN" dirty="0"/>
              <a:t>()</a:t>
            </a:r>
            <a:r>
              <a:rPr lang="zh-CN" altLang="en-US" dirty="0"/>
              <a:t>方法，可以生成</a:t>
            </a:r>
            <a:r>
              <a:rPr lang="en-US" altLang="zh-CN" dirty="0"/>
              <a:t>[0, 1)</a:t>
            </a:r>
            <a:r>
              <a:rPr lang="zh-CN" altLang="en-US" dirty="0"/>
              <a:t>之间的伪随机数。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=0;i&lt;10;i++)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Math.random</a:t>
            </a:r>
            <a:r>
              <a:rPr lang="en-US" altLang="zh-CN" dirty="0"/>
              <a:t>()); </a:t>
            </a:r>
            <a:endParaRPr lang="en-US" altLang="zh-CN" dirty="0"/>
          </a:p>
          <a:p>
            <a:pPr lvl="1"/>
            <a:r>
              <a:rPr lang="zh-CN" altLang="en-US" dirty="0"/>
              <a:t>生成</a:t>
            </a:r>
            <a:r>
              <a:rPr lang="en-US" altLang="zh-CN" dirty="0"/>
              <a:t>[0, 10)</a:t>
            </a:r>
            <a:r>
              <a:rPr lang="zh-CN" altLang="en-US" dirty="0"/>
              <a:t>的随机数：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((</a:t>
            </a:r>
            <a:r>
              <a:rPr lang="en-US" altLang="zh-CN" dirty="0" err="1"/>
              <a:t>int</a:t>
            </a:r>
            <a:r>
              <a:rPr lang="en-US" altLang="zh-CN" dirty="0"/>
              <a:t>)(</a:t>
            </a:r>
            <a:r>
              <a:rPr lang="en-US" altLang="zh-CN" dirty="0" err="1"/>
              <a:t>Math.random</a:t>
            </a:r>
            <a:r>
              <a:rPr lang="en-US" altLang="zh-CN" dirty="0"/>
              <a:t>()*10));</a:t>
            </a:r>
            <a:endParaRPr lang="en-US" altLang="zh-CN" dirty="0"/>
          </a:p>
          <a:p>
            <a:pPr lvl="1"/>
            <a:r>
              <a:rPr lang="zh-CN" altLang="en-US" dirty="0"/>
              <a:t>随机生成大写字母：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((char)(</a:t>
            </a:r>
            <a:r>
              <a:rPr lang="en-US" altLang="zh-CN" dirty="0" err="1"/>
              <a:t>Math.random</a:t>
            </a:r>
            <a:r>
              <a:rPr lang="en-US" altLang="zh-CN" dirty="0"/>
              <a:t>()*26+65));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76064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java.util.Random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en-US" altLang="zh-CN" dirty="0"/>
              <a:t> Random()</a:t>
            </a:r>
            <a:r>
              <a:rPr lang="zh-CN" altLang="en-US" dirty="0"/>
              <a:t>：创建一个新的随机数生成器。</a:t>
            </a:r>
            <a:endParaRPr lang="zh-CN" altLang="en-US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Random(long seed)</a:t>
            </a:r>
            <a:r>
              <a:rPr lang="zh-CN" altLang="en-US" dirty="0"/>
              <a:t>：使用</a:t>
            </a:r>
            <a:r>
              <a:rPr lang="en-US" altLang="zh-CN" dirty="0"/>
              <a:t>long </a:t>
            </a:r>
            <a:r>
              <a:rPr lang="zh-CN" altLang="en-US" dirty="0"/>
              <a:t>种子创建一个新的随机数生成器。</a:t>
            </a:r>
            <a:br>
              <a:rPr lang="en-US" altLang="zh-CN" dirty="0"/>
            </a:br>
            <a:r>
              <a:rPr lang="en-US" altLang="zh-CN" dirty="0">
                <a:solidFill>
                  <a:srgbClr val="0070C0"/>
                </a:solidFill>
              </a:rPr>
              <a:t> Random ran1 = new Random(1024);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</a:t>
            </a:r>
            <a:r>
              <a:rPr lang="en-US" altLang="zh-CN" dirty="0" err="1">
                <a:solidFill>
                  <a:srgbClr val="0070C0"/>
                </a:solidFill>
              </a:rPr>
              <a:t>System.out.println</a:t>
            </a:r>
            <a:r>
              <a:rPr lang="en-US" altLang="zh-CN" dirty="0">
                <a:solidFill>
                  <a:srgbClr val="0070C0"/>
                </a:solidFill>
              </a:rPr>
              <a:t>("</a:t>
            </a:r>
            <a:r>
              <a:rPr lang="zh-CN" altLang="en-US" dirty="0">
                <a:solidFill>
                  <a:srgbClr val="0070C0"/>
                </a:solidFill>
              </a:rPr>
              <a:t>使用种子为</a:t>
            </a:r>
            <a:r>
              <a:rPr lang="en-US" altLang="zh-CN" dirty="0">
                <a:solidFill>
                  <a:srgbClr val="0070C0"/>
                </a:solidFill>
              </a:rPr>
              <a:t>1024</a:t>
            </a:r>
            <a:r>
              <a:rPr lang="zh-CN" altLang="en-US" dirty="0">
                <a:solidFill>
                  <a:srgbClr val="0070C0"/>
                </a:solidFill>
              </a:rPr>
              <a:t>的</a:t>
            </a:r>
            <a:r>
              <a:rPr lang="en-US" altLang="zh-CN" dirty="0">
                <a:solidFill>
                  <a:srgbClr val="0070C0"/>
                </a:solidFill>
              </a:rPr>
              <a:t>Random</a:t>
            </a:r>
            <a:r>
              <a:rPr lang="zh-CN" altLang="en-US" dirty="0">
                <a:solidFill>
                  <a:srgbClr val="0070C0"/>
                </a:solidFill>
              </a:rPr>
              <a:t>对象生成</a:t>
            </a:r>
            <a:r>
              <a:rPr lang="en-US" altLang="zh-CN" dirty="0">
                <a:solidFill>
                  <a:srgbClr val="0070C0"/>
                </a:solidFill>
              </a:rPr>
              <a:t>[0,100)</a:t>
            </a:r>
            <a:r>
              <a:rPr lang="zh-CN" altLang="en-US" dirty="0">
                <a:solidFill>
                  <a:srgbClr val="0070C0"/>
                </a:solidFill>
              </a:rPr>
              <a:t>内随机整数序列</a:t>
            </a:r>
            <a:r>
              <a:rPr lang="en-US" altLang="zh-CN" dirty="0">
                <a:solidFill>
                  <a:srgbClr val="0070C0"/>
                </a:solidFill>
              </a:rPr>
              <a:t>: ");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for (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0;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&lt; 10;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++) {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    </a:t>
            </a:r>
            <a:r>
              <a:rPr lang="en-US" altLang="zh-CN" dirty="0" err="1">
                <a:solidFill>
                  <a:srgbClr val="0070C0"/>
                </a:solidFill>
              </a:rPr>
              <a:t>System.out.print</a:t>
            </a:r>
            <a:r>
              <a:rPr lang="en-US" altLang="zh-CN" dirty="0">
                <a:solidFill>
                  <a:srgbClr val="0070C0"/>
                </a:solidFill>
              </a:rPr>
              <a:t>(ran1.nextInt(100) + " ");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}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</a:t>
            </a:r>
            <a:r>
              <a:rPr lang="en-US" altLang="zh-CN" dirty="0" err="1">
                <a:solidFill>
                  <a:srgbClr val="0070C0"/>
                </a:solidFill>
              </a:rPr>
              <a:t>System.out.println</a:t>
            </a:r>
            <a:r>
              <a:rPr lang="en-US" altLang="zh-CN" dirty="0">
                <a:solidFill>
                  <a:srgbClr val="0070C0"/>
                </a:solidFill>
              </a:rPr>
              <a:t>();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Random ran2 = new Random(1024);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</a:t>
            </a:r>
            <a:r>
              <a:rPr lang="en-US" altLang="zh-CN" dirty="0" err="1">
                <a:solidFill>
                  <a:srgbClr val="0070C0"/>
                </a:solidFill>
              </a:rPr>
              <a:t>System.out.println</a:t>
            </a:r>
            <a:r>
              <a:rPr lang="en-US" altLang="zh-CN" dirty="0">
                <a:solidFill>
                  <a:srgbClr val="0070C0"/>
                </a:solidFill>
              </a:rPr>
              <a:t>("</a:t>
            </a:r>
            <a:r>
              <a:rPr lang="zh-CN" altLang="en-US" dirty="0">
                <a:solidFill>
                  <a:srgbClr val="0070C0"/>
                </a:solidFill>
              </a:rPr>
              <a:t>使用另一个种子为</a:t>
            </a:r>
            <a:r>
              <a:rPr lang="en-US" altLang="zh-CN" dirty="0">
                <a:solidFill>
                  <a:srgbClr val="0070C0"/>
                </a:solidFill>
              </a:rPr>
              <a:t>1024</a:t>
            </a:r>
            <a:r>
              <a:rPr lang="zh-CN" altLang="en-US" dirty="0">
                <a:solidFill>
                  <a:srgbClr val="0070C0"/>
                </a:solidFill>
              </a:rPr>
              <a:t>的</a:t>
            </a:r>
            <a:r>
              <a:rPr lang="en-US" altLang="zh-CN" dirty="0">
                <a:solidFill>
                  <a:srgbClr val="0070C0"/>
                </a:solidFill>
              </a:rPr>
              <a:t>Random</a:t>
            </a:r>
            <a:r>
              <a:rPr lang="zh-CN" altLang="en-US" dirty="0">
                <a:solidFill>
                  <a:srgbClr val="0070C0"/>
                </a:solidFill>
              </a:rPr>
              <a:t>对象生成</a:t>
            </a:r>
            <a:r>
              <a:rPr lang="en-US" altLang="zh-CN" dirty="0">
                <a:solidFill>
                  <a:srgbClr val="0070C0"/>
                </a:solidFill>
              </a:rPr>
              <a:t>[0,100)</a:t>
            </a:r>
            <a:r>
              <a:rPr lang="zh-CN" altLang="en-US" dirty="0">
                <a:solidFill>
                  <a:srgbClr val="0070C0"/>
                </a:solidFill>
              </a:rPr>
              <a:t>内随机整数序列</a:t>
            </a:r>
            <a:r>
              <a:rPr lang="en-US" altLang="zh-CN" dirty="0">
                <a:solidFill>
                  <a:srgbClr val="0070C0"/>
                </a:solidFill>
              </a:rPr>
              <a:t>: ");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for (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= 0;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 &lt; 10; </a:t>
            </a:r>
            <a:r>
              <a:rPr lang="en-US" altLang="zh-CN" dirty="0" err="1">
                <a:solidFill>
                  <a:srgbClr val="0070C0"/>
                </a:solidFill>
              </a:rPr>
              <a:t>i</a:t>
            </a:r>
            <a:r>
              <a:rPr lang="en-US" altLang="zh-CN" dirty="0">
                <a:solidFill>
                  <a:srgbClr val="0070C0"/>
                </a:solidFill>
              </a:rPr>
              <a:t>++) {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    </a:t>
            </a:r>
            <a:r>
              <a:rPr lang="en-US" altLang="zh-CN" dirty="0" err="1">
                <a:solidFill>
                  <a:srgbClr val="0070C0"/>
                </a:solidFill>
              </a:rPr>
              <a:t>System.out.print</a:t>
            </a:r>
            <a:r>
              <a:rPr lang="en-US" altLang="zh-CN" dirty="0">
                <a:solidFill>
                  <a:srgbClr val="0070C0"/>
                </a:solidFill>
              </a:rPr>
              <a:t>(ran2.nextInt(100) + " ");</a:t>
            </a:r>
            <a:endParaRPr lang="en-US" altLang="zh-CN" dirty="0">
              <a:solidFill>
                <a:srgbClr val="0070C0"/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        }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/>
              <a:t>Random r3 = new Random();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使用种子缺省是当前系统时间的毫秒数的</a:t>
            </a:r>
            <a:r>
              <a:rPr lang="en-US" altLang="zh-CN" dirty="0"/>
              <a:t>Random</a:t>
            </a:r>
            <a:r>
              <a:rPr lang="zh-CN" altLang="en-US" dirty="0"/>
              <a:t>对象生成</a:t>
            </a:r>
            <a:r>
              <a:rPr lang="en-US" altLang="zh-CN" dirty="0"/>
              <a:t>[0,100)</a:t>
            </a:r>
            <a:r>
              <a:rPr lang="zh-CN" altLang="en-US" dirty="0"/>
              <a:t>内随机整数序列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10;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(r3.nextInt(100)+" 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引用类型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中除基本类型之外的都是引用类型，包括类，接口，数组。枚举是一种类，也是引用类型。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Java</a:t>
            </a:r>
            <a:r>
              <a:rPr lang="zh-CN" altLang="en-US" dirty="0"/>
              <a:t>来说，除了基本类型外，一切都是对象。</a:t>
            </a:r>
            <a:endParaRPr lang="en-US" altLang="zh-CN" dirty="0"/>
          </a:p>
          <a:p>
            <a:pPr lvl="1"/>
            <a:r>
              <a:rPr lang="zh-CN" altLang="en-US" dirty="0"/>
              <a:t>下面的语句创建一个引用变量</a:t>
            </a:r>
            <a:r>
              <a:rPr lang="en-US" altLang="zh-CN" dirty="0"/>
              <a:t>name</a:t>
            </a:r>
            <a:r>
              <a:rPr lang="zh-CN" altLang="en-US" dirty="0"/>
              <a:t>，并指向用</a:t>
            </a:r>
            <a:r>
              <a:rPr lang="en-US" altLang="zh-CN" dirty="0"/>
              <a:t>new</a:t>
            </a:r>
            <a:r>
              <a:rPr lang="zh-CN" altLang="en-US" dirty="0"/>
              <a:t>创建的字符串对象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String name = new String(“Johnson”);</a:t>
            </a:r>
            <a:endParaRPr lang="en-US" altLang="zh-CN" dirty="0"/>
          </a:p>
          <a:p>
            <a:r>
              <a:rPr lang="zh-CN" altLang="en-US" dirty="0"/>
              <a:t> 引用是一种数据类型（保存在</a:t>
            </a:r>
            <a:r>
              <a:rPr lang="en-US" altLang="zh-CN" dirty="0"/>
              <a:t>stack</a:t>
            </a:r>
            <a:r>
              <a:rPr lang="zh-CN" altLang="en-US" dirty="0"/>
              <a:t>中），保存了对象在内存（</a:t>
            </a:r>
            <a:r>
              <a:rPr lang="en-US" altLang="zh-CN" dirty="0"/>
              <a:t>heap</a:t>
            </a:r>
            <a:r>
              <a:rPr lang="zh-CN" altLang="en-US" dirty="0"/>
              <a:t>，堆空间）中的地址，这种类型既不是我们平时所说的简单数据类型也不是类实例</a:t>
            </a:r>
            <a:r>
              <a:rPr lang="en-US" altLang="zh-CN" dirty="0"/>
              <a:t>(</a:t>
            </a:r>
            <a:r>
              <a:rPr lang="zh-CN" altLang="en-US" dirty="0"/>
              <a:t>对象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不同的引用可能指向同一个对象，换句话说，一个对象可以有多个引用，即该类类型的变量。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Java </a:t>
            </a:r>
            <a:r>
              <a:rPr lang="zh-CN" altLang="en-US" dirty="0"/>
              <a:t>中的堆和栈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908720"/>
            <a:ext cx="8640960" cy="5616624"/>
          </a:xfrm>
        </p:spPr>
        <p:txBody>
          <a:bodyPr>
            <a:normAutofit/>
          </a:bodyPr>
          <a:lstStyle/>
          <a:p>
            <a:pPr lvl="1"/>
            <a:r>
              <a:rPr lang="en-US" altLang="zh-CN" dirty="0"/>
              <a:t>Java</a:t>
            </a:r>
            <a:r>
              <a:rPr lang="zh-CN" altLang="en-US" dirty="0"/>
              <a:t>把内存划分成两种：一种是</a:t>
            </a:r>
            <a:r>
              <a:rPr lang="zh-CN" altLang="en-US" dirty="0">
                <a:solidFill>
                  <a:srgbClr val="FF0000"/>
                </a:solidFill>
              </a:rPr>
              <a:t>栈内存</a:t>
            </a:r>
            <a:r>
              <a:rPr lang="zh-CN" altLang="en-US" dirty="0"/>
              <a:t>，一种是</a:t>
            </a:r>
            <a:r>
              <a:rPr lang="zh-CN" altLang="en-US" dirty="0">
                <a:solidFill>
                  <a:srgbClr val="FF0000"/>
                </a:solidFill>
              </a:rPr>
              <a:t>堆内存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在函数中定义的一些基本类型的变量和对象的引用变量都在</a:t>
            </a:r>
            <a:r>
              <a:rPr lang="zh-CN" altLang="en-US" dirty="0">
                <a:solidFill>
                  <a:srgbClr val="FF0000"/>
                </a:solidFill>
              </a:rPr>
              <a:t>函数的栈</a:t>
            </a:r>
            <a:r>
              <a:rPr lang="zh-CN" altLang="en-US" dirty="0"/>
              <a:t>内存中分配。当在一段代码块定义一个变量时，</a:t>
            </a:r>
            <a:r>
              <a:rPr lang="en-US" altLang="zh-CN" dirty="0"/>
              <a:t>Java</a:t>
            </a:r>
            <a:r>
              <a:rPr lang="zh-CN" altLang="en-US" dirty="0"/>
              <a:t>就在栈中为这个变量分配内存空间，当超过变量的作用域后，</a:t>
            </a:r>
            <a:r>
              <a:rPr lang="en-US" altLang="zh-CN" dirty="0"/>
              <a:t>Java</a:t>
            </a:r>
            <a:r>
              <a:rPr lang="zh-CN" altLang="en-US" dirty="0"/>
              <a:t>会自动释放掉为该变量所分配的内存空间，该内存空间可以立即被另作他用。</a:t>
            </a:r>
            <a:endParaRPr lang="zh-CN" altLang="en-US" dirty="0"/>
          </a:p>
          <a:p>
            <a:pPr lvl="1"/>
            <a:r>
              <a:rPr lang="zh-CN" altLang="en-US" dirty="0"/>
              <a:t>堆内存用来存放由</a:t>
            </a:r>
            <a:r>
              <a:rPr lang="en-US" altLang="zh-CN" dirty="0"/>
              <a:t>new</a:t>
            </a:r>
            <a:r>
              <a:rPr lang="zh-CN" altLang="en-US" dirty="0"/>
              <a:t>创建的对象和数组。在堆中分配的内存，由</a:t>
            </a:r>
            <a:r>
              <a:rPr lang="en-US" altLang="zh-CN" dirty="0"/>
              <a:t>Java</a:t>
            </a:r>
            <a:r>
              <a:rPr lang="zh-CN" altLang="en-US" dirty="0"/>
              <a:t>虚拟机的自动垃圾回收器来管理。</a:t>
            </a:r>
            <a:endParaRPr lang="zh-CN" altLang="en-US" dirty="0"/>
          </a:p>
          <a:p>
            <a:pPr lvl="1"/>
            <a:r>
              <a:rPr lang="zh-CN" altLang="en-US" dirty="0"/>
              <a:t>在堆中产生了一个数组或对象后，还可以在栈中定义一个特殊的变量，让栈中这个变量的取值等于数组或对象在堆内存中的首地址，栈中的这个变量就成了数组或对象的引用变量。</a:t>
            </a:r>
            <a:endParaRPr lang="zh-CN" altLang="en-US" dirty="0"/>
          </a:p>
          <a:p>
            <a:pPr lvl="1"/>
            <a:r>
              <a:rPr lang="zh-CN" altLang="en-US" dirty="0"/>
              <a:t>引用变量就相当于是为数组或对象起的一个名称，以后就可以在程序中使用栈中的引用变量来访问堆中的数组或对象。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1403648" y="4077072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0x0332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0x1228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0x86ac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椭圆 9"/>
          <p:cNvSpPr/>
          <p:nvPr/>
        </p:nvSpPr>
        <p:spPr>
          <a:xfrm>
            <a:off x="3347864" y="2241351"/>
            <a:ext cx="5328592" cy="40324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403648" y="616530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stack</a:t>
            </a:r>
            <a:endParaRPr lang="zh-CN" alt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256076" y="627074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heap</a:t>
            </a:r>
            <a:endParaRPr lang="zh-CN" alt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95536" y="1124744"/>
            <a:ext cx="496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int</a:t>
            </a:r>
            <a:r>
              <a:rPr lang="en-US" altLang="zh-CN" sz="2400" dirty="0"/>
              <a:t> ix = 100;</a:t>
            </a:r>
            <a:br>
              <a:rPr lang="en-US" altLang="zh-CN" sz="2400" dirty="0"/>
            </a:br>
            <a:r>
              <a:rPr lang="en-US" altLang="zh-CN" sz="2400" dirty="0"/>
              <a:t>String s = new String(“Hello”) ;</a:t>
            </a:r>
            <a:br>
              <a:rPr lang="en-US" altLang="zh-CN" sz="2400" dirty="0"/>
            </a:br>
            <a:r>
              <a:rPr lang="en-US" altLang="zh-CN" sz="2400" dirty="0"/>
              <a:t>String t = new String(“World”) ;</a:t>
            </a:r>
            <a:br>
              <a:rPr lang="en-US" altLang="zh-CN" sz="2400" dirty="0"/>
            </a:br>
            <a:r>
              <a:rPr lang="en-US" altLang="zh-CN" sz="2400" dirty="0"/>
              <a:t>Dog </a:t>
            </a:r>
            <a:r>
              <a:rPr lang="en-US" altLang="zh-CN" sz="2400" dirty="0" err="1"/>
              <a:t>myDog</a:t>
            </a:r>
            <a:r>
              <a:rPr lang="en-US" altLang="zh-CN" sz="2400" dirty="0"/>
              <a:t> = new Dog(“</a:t>
            </a:r>
            <a:r>
              <a:rPr lang="zh-CN" altLang="en-US" sz="2400" dirty="0"/>
              <a:t>大黑</a:t>
            </a:r>
            <a:r>
              <a:rPr lang="en-US" altLang="zh-CN" sz="2400" dirty="0"/>
              <a:t>”, 40 );</a:t>
            </a:r>
            <a:endParaRPr lang="zh-CN" altLang="en-US" sz="2400" dirty="0"/>
          </a:p>
        </p:txBody>
      </p:sp>
      <p:graphicFrame>
        <p:nvGraphicFramePr>
          <p:cNvPr id="14" name="内容占位符 8"/>
          <p:cNvGraphicFramePr/>
          <p:nvPr/>
        </p:nvGraphicFramePr>
        <p:xfrm>
          <a:off x="395536" y="4077072"/>
          <a:ext cx="97728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7280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 err="1"/>
                        <a:t>myDog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t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ix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716016" y="5378658"/>
            <a:ext cx="129614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Hello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04248" y="4808185"/>
            <a:ext cx="129614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World</a:t>
            </a:r>
            <a:endParaRPr lang="zh-CN" altLang="en-US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339752" y="5373216"/>
            <a:ext cx="2376264" cy="1901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2339752" y="4992851"/>
            <a:ext cx="446449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95378" y="3214717"/>
            <a:ext cx="1872208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name:    0xab45</a:t>
            </a:r>
            <a:endParaRPr lang="en-US" altLang="zh-CN" dirty="0"/>
          </a:p>
          <a:p>
            <a:r>
              <a:rPr lang="en-US" altLang="zh-CN" dirty="0"/>
              <a:t>Weight:  40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732240" y="3068960"/>
            <a:ext cx="129614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大黑</a:t>
            </a:r>
            <a:endParaRPr lang="zh-CN" altLang="en-US" dirty="0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2339752" y="3438292"/>
            <a:ext cx="1855626" cy="1179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5940152" y="3214717"/>
            <a:ext cx="792088" cy="142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String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544616"/>
          </a:xfrm>
        </p:spPr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的字符串就是</a:t>
            </a:r>
            <a:r>
              <a:rPr lang="en-US" altLang="zh-CN" dirty="0" err="1"/>
              <a:t>unicode</a:t>
            </a:r>
            <a:r>
              <a:rPr lang="zh-CN" altLang="en-US" dirty="0"/>
              <a:t>的字符序列。</a:t>
            </a:r>
            <a:r>
              <a:rPr lang="en-US" altLang="zh-CN" dirty="0"/>
              <a:t>Java</a:t>
            </a:r>
            <a:r>
              <a:rPr lang="zh-CN" altLang="en-US" dirty="0"/>
              <a:t>在类库中定义了一个</a:t>
            </a:r>
            <a:r>
              <a:rPr lang="en-US" altLang="zh-CN" dirty="0"/>
              <a:t>String</a:t>
            </a:r>
            <a:r>
              <a:rPr lang="zh-CN" altLang="en-US" dirty="0"/>
              <a:t>类来操作字符串。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name = new String(“Andrew Johnson”);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</a:t>
            </a:r>
            <a:r>
              <a:rPr lang="en-US" altLang="zh-CN" dirty="0" err="1"/>
              <a:t>otherName</a:t>
            </a:r>
            <a:r>
              <a:rPr lang="en-US" altLang="zh-CN" dirty="0"/>
              <a:t> = “Joyce”;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length = </a:t>
            </a:r>
            <a:r>
              <a:rPr lang="en-US" altLang="zh-CN" dirty="0" err="1"/>
              <a:t>name.length</a:t>
            </a:r>
            <a:r>
              <a:rPr lang="en-US" altLang="zh-CN" dirty="0"/>
              <a:t>();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返回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name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的长度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14</a:t>
            </a:r>
            <a:br>
              <a:rPr lang="en-US" altLang="zh-CN" dirty="0"/>
            </a:br>
            <a:r>
              <a:rPr lang="en-US" altLang="zh-CN" dirty="0"/>
              <a:t>char </a:t>
            </a:r>
            <a:r>
              <a:rPr lang="en-US" altLang="zh-CN" dirty="0" err="1"/>
              <a:t>ch</a:t>
            </a:r>
            <a:r>
              <a:rPr lang="en-US" altLang="zh-CN" dirty="0"/>
              <a:t> = </a:t>
            </a:r>
            <a:r>
              <a:rPr lang="en-US" altLang="zh-CN" dirty="0" err="1"/>
              <a:t>name.charAt</a:t>
            </a:r>
            <a:r>
              <a:rPr lang="en-US" altLang="zh-CN" dirty="0"/>
              <a:t>(4));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返回‘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’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可以截取字符串中的一个子串：</a:t>
            </a:r>
            <a:br>
              <a:rPr lang="en-US" altLang="zh-CN" dirty="0"/>
            </a:br>
            <a:r>
              <a:rPr lang="en-US" altLang="zh-CN" dirty="0"/>
              <a:t>String </a:t>
            </a:r>
            <a:r>
              <a:rPr lang="en-US" altLang="zh-CN" dirty="0" err="1"/>
              <a:t>firstName</a:t>
            </a:r>
            <a:r>
              <a:rPr lang="en-US" altLang="zh-CN" dirty="0"/>
              <a:t> = name. substring(0, 6);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Andrew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+</a:t>
            </a:r>
            <a:r>
              <a:rPr lang="zh-CN" altLang="en-US" dirty="0"/>
              <a:t>可以拼接字符串，任何</a:t>
            </a:r>
            <a:r>
              <a:rPr lang="en-US" altLang="zh-CN" dirty="0"/>
              <a:t>java</a:t>
            </a:r>
            <a:r>
              <a:rPr lang="zh-CN" altLang="en-US" dirty="0"/>
              <a:t>对象都可以转换为字符串做拼接</a:t>
            </a:r>
            <a:br>
              <a:rPr lang="en-US" altLang="zh-CN" dirty="0"/>
            </a:br>
            <a:r>
              <a:rPr lang="en-US" altLang="zh-CN" dirty="0"/>
              <a:t>String all =name + “and” +</a:t>
            </a:r>
            <a:r>
              <a:rPr lang="en-US" altLang="zh-CN" dirty="0" err="1"/>
              <a:t>otherName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Integer age =30;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(name + “, age is ” + age);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是常量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56584"/>
          </a:xfrm>
        </p:spPr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是常量，对象创建以后不能改变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String str1 = "Hello World";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(str1);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Hello World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    String str2 =(str1.toUpperCase());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(str2);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HELLO WORLD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(str1);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Hello World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下面的代码中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name = </a:t>
            </a:r>
            <a:r>
              <a:rPr lang="zh-CN" altLang="en-US" dirty="0"/>
              <a:t>“李明”；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name = </a:t>
            </a:r>
            <a:r>
              <a:rPr lang="zh-CN" altLang="en-US" dirty="0"/>
              <a:t>“王刚”；</a:t>
            </a:r>
            <a:endParaRPr lang="en-US" altLang="zh-CN" dirty="0"/>
          </a:p>
          <a:p>
            <a:pPr lvl="1"/>
            <a:r>
              <a:rPr lang="zh-CN" altLang="en-US" dirty="0"/>
              <a:t>第一行：栈内存中创建引用变量</a:t>
            </a:r>
            <a:r>
              <a:rPr lang="en-US" altLang="zh-CN" dirty="0"/>
              <a:t>name</a:t>
            </a:r>
            <a:r>
              <a:rPr lang="zh-CN" altLang="en-US" dirty="0"/>
              <a:t>，在常量池中创建字符串对象“李明”并在</a:t>
            </a:r>
            <a:r>
              <a:rPr lang="en-US" altLang="zh-CN" dirty="0"/>
              <a:t>name</a:t>
            </a:r>
            <a:r>
              <a:rPr lang="zh-CN" altLang="en-US" dirty="0"/>
              <a:t>中写入“李明”的地址；</a:t>
            </a:r>
            <a:endParaRPr lang="en-US" altLang="zh-CN" dirty="0"/>
          </a:p>
          <a:p>
            <a:pPr lvl="1"/>
            <a:r>
              <a:rPr lang="zh-CN" altLang="en-US" dirty="0"/>
              <a:t>第二行：在常量池中创建字符串对象“王刚”并在</a:t>
            </a:r>
            <a:r>
              <a:rPr lang="en-US" altLang="zh-CN" dirty="0"/>
              <a:t>name</a:t>
            </a:r>
            <a:r>
              <a:rPr lang="zh-CN" altLang="en-US" dirty="0"/>
              <a:t>中写入“王刚”的地址；</a:t>
            </a:r>
            <a:endParaRPr lang="en-US" altLang="zh-CN" dirty="0"/>
          </a:p>
          <a:p>
            <a:pPr lvl="1"/>
            <a:r>
              <a:rPr lang="zh-CN" altLang="en-US" dirty="0"/>
              <a:t>此时</a:t>
            </a:r>
            <a:r>
              <a:rPr lang="en-US" altLang="zh-CN" dirty="0"/>
              <a:t>name</a:t>
            </a:r>
            <a:r>
              <a:rPr lang="zh-CN" altLang="en-US" dirty="0"/>
              <a:t>引用指向了“王刚”，而并不是“李明”这个对象被改变了。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常量池是一块特殊的存储区，存储的是在编译期被确定，并被保存在已编译的</a:t>
            </a:r>
            <a:r>
              <a:rPr lang="en-US" altLang="zh-CN" dirty="0"/>
              <a:t>.class</a:t>
            </a:r>
            <a:r>
              <a:rPr lang="zh-CN" altLang="en-US" dirty="0"/>
              <a:t>文件中的一些数据。它包括了关于类、方法、接口等中的常量，也包括字符串常量。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为了提高性能，静态字符串（字面量</a:t>
            </a:r>
            <a:r>
              <a:rPr lang="en-US" altLang="zh-CN" dirty="0"/>
              <a:t>/</a:t>
            </a:r>
            <a:r>
              <a:rPr lang="zh-CN" altLang="en-US" dirty="0"/>
              <a:t>常量</a:t>
            </a:r>
            <a:r>
              <a:rPr lang="en-US" altLang="zh-CN" dirty="0"/>
              <a:t>/</a:t>
            </a:r>
            <a:r>
              <a:rPr lang="zh-CN" altLang="en-US" dirty="0"/>
              <a:t>常量连接的结果）在常量池中创建，并尽量使用同一个对象，重用静态字符串。对于重复出现的字符串直接量，</a:t>
            </a:r>
            <a:r>
              <a:rPr lang="en-US" altLang="zh-CN" dirty="0"/>
              <a:t>JVM</a:t>
            </a:r>
            <a:r>
              <a:rPr lang="zh-CN" altLang="en-US" dirty="0"/>
              <a:t>会首先在常量池中查找，如果常量池中存在即返回该对象。</a:t>
            </a:r>
            <a:endParaRPr lang="en-US" altLang="zh-CN" dirty="0"/>
          </a:p>
          <a:p>
            <a:r>
              <a:rPr lang="zh-CN" altLang="en-US" dirty="0"/>
              <a:t>看下面的例子：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075240" cy="5832648"/>
          </a:xfrm>
        </p:spPr>
        <p:txBody>
          <a:bodyPr>
            <a:normAutofit fontScale="92500"/>
          </a:bodyPr>
          <a:lstStyle/>
          <a:p>
            <a:pPr marL="274320" lvl="1" indent="0">
              <a:buNone/>
            </a:pPr>
            <a:r>
              <a:rPr lang="en-US" altLang="zh-CN" dirty="0"/>
              <a:t>        String str1 = "Hello";//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常量池中创建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String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对象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不创建新的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String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对象，而是使用常量池中已有的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//"Hello"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String str2 = "Hello";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(str1 == str2);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使用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new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关键字会在堆内存创建新的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String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对象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String str3 = new String("Hello");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String str4 = new String("Hello");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(str1 == str3);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//false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(str3 == str4);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//false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注意</a:t>
            </a:r>
            <a:r>
              <a:rPr lang="en-US" altLang="zh-CN" dirty="0"/>
              <a:t>java</a:t>
            </a:r>
            <a:r>
              <a:rPr lang="zh-CN" altLang="en-US" dirty="0"/>
              <a:t>中的两个变量 </a:t>
            </a:r>
            <a:r>
              <a:rPr lang="en-US" altLang="zh-CN" dirty="0"/>
              <a:t>== </a:t>
            </a:r>
            <a:r>
              <a:rPr lang="zh-CN" altLang="en-US" dirty="0"/>
              <a:t>操作，是比较栈中两个</a:t>
            </a:r>
            <a:r>
              <a:rPr lang="zh-CN" altLang="en-US" dirty="0">
                <a:solidFill>
                  <a:srgbClr val="FF0000"/>
                </a:solidFill>
              </a:rPr>
              <a:t>变量存储的值</a:t>
            </a:r>
            <a:r>
              <a:rPr lang="zh-CN" altLang="en-US" dirty="0"/>
              <a:t>是否相等：</a:t>
            </a:r>
            <a:endParaRPr lang="en-US" altLang="zh-CN" dirty="0"/>
          </a:p>
          <a:p>
            <a:pPr lvl="2"/>
            <a:r>
              <a:rPr lang="zh-CN" altLang="en-US" dirty="0"/>
              <a:t>对于引用变量，</a:t>
            </a:r>
            <a:r>
              <a:rPr lang="en-US" altLang="zh-CN" dirty="0"/>
              <a:t>== </a:t>
            </a:r>
            <a:r>
              <a:rPr lang="zh-CN" altLang="en-US" dirty="0"/>
              <a:t>比较的是变量存储的地址值是否相同，即是否指向了同一个对象。</a:t>
            </a:r>
            <a:endParaRPr lang="en-US" altLang="zh-CN" dirty="0"/>
          </a:p>
          <a:p>
            <a:pPr lvl="2"/>
            <a:r>
              <a:rPr lang="zh-CN" altLang="en-US" dirty="0"/>
              <a:t>而对于基本类型，</a:t>
            </a:r>
            <a:r>
              <a:rPr lang="en-US" altLang="zh-CN" dirty="0"/>
              <a:t>== </a:t>
            </a:r>
            <a:r>
              <a:rPr lang="zh-CN" altLang="en-US" dirty="0"/>
              <a:t>比较的是存储的数值是否相同。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创建几个对象？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1     String str1 = "</a:t>
            </a:r>
            <a:r>
              <a:rPr lang="en-US" altLang="zh-CN" dirty="0" err="1"/>
              <a:t>abc</a:t>
            </a:r>
            <a:r>
              <a:rPr lang="en-US" altLang="zh-CN" dirty="0"/>
              <a:t>"; </a:t>
            </a:r>
            <a:endParaRPr lang="en-US" altLang="zh-CN" dirty="0"/>
          </a:p>
          <a:p>
            <a:pPr lvl="1"/>
            <a:r>
              <a:rPr lang="en-US" altLang="zh-CN" dirty="0"/>
              <a:t>2     String str2 = new String("</a:t>
            </a:r>
            <a:r>
              <a:rPr lang="en-US" altLang="zh-CN" dirty="0" err="1"/>
              <a:t>abc</a:t>
            </a:r>
            <a:r>
              <a:rPr lang="en-US" altLang="zh-CN" dirty="0"/>
              <a:t>");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1</a:t>
            </a:r>
            <a:r>
              <a:rPr lang="zh-CN" altLang="en-US" dirty="0"/>
              <a:t>中的 </a:t>
            </a:r>
            <a:r>
              <a:rPr lang="en-US" altLang="zh-CN" dirty="0"/>
              <a:t>String str1 = "</a:t>
            </a:r>
            <a:r>
              <a:rPr lang="en-US" altLang="zh-CN" dirty="0" err="1"/>
              <a:t>abc</a:t>
            </a:r>
            <a:r>
              <a:rPr lang="en-US" altLang="zh-CN" dirty="0"/>
              <a:t>"</a:t>
            </a:r>
            <a:r>
              <a:rPr lang="zh-CN" altLang="en-US" dirty="0"/>
              <a:t>，首先会检查字符串常量池中是否含有字符串</a:t>
            </a:r>
            <a:r>
              <a:rPr lang="en-US" altLang="zh-CN" dirty="0" err="1"/>
              <a:t>abc</a:t>
            </a:r>
            <a:r>
              <a:rPr lang="zh-CN" altLang="en-US" dirty="0"/>
              <a:t>，如果有则直接指向，如果没有则在字符串常量池中添加</a:t>
            </a:r>
            <a:r>
              <a:rPr lang="en-US" altLang="zh-CN" dirty="0" err="1"/>
              <a:t>abc</a:t>
            </a:r>
            <a:r>
              <a:rPr lang="zh-CN" altLang="en-US" dirty="0"/>
              <a:t>字符串并指向它</a:t>
            </a:r>
            <a:r>
              <a:rPr lang="en-US" altLang="zh-CN" dirty="0"/>
              <a:t>.</a:t>
            </a:r>
            <a:r>
              <a:rPr lang="zh-CN" altLang="en-US" dirty="0"/>
              <a:t>所以这种方法最多创建一个对象，有可能不创建对象。</a:t>
            </a:r>
            <a:endParaRPr lang="zh-CN" altLang="en-US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2</a:t>
            </a:r>
            <a:r>
              <a:rPr lang="zh-CN" altLang="en-US" dirty="0"/>
              <a:t>中的</a:t>
            </a:r>
            <a:r>
              <a:rPr lang="en-US" altLang="zh-CN" dirty="0"/>
              <a:t>String str2 = new String</a:t>
            </a:r>
            <a:r>
              <a:rPr lang="zh-CN" altLang="en-US" dirty="0"/>
              <a:t>（</a:t>
            </a:r>
            <a:r>
              <a:rPr lang="en-US" altLang="zh-CN" dirty="0"/>
              <a:t>"</a:t>
            </a:r>
            <a:r>
              <a:rPr lang="en-US" altLang="zh-CN" dirty="0" err="1"/>
              <a:t>abc</a:t>
            </a:r>
            <a:r>
              <a:rPr lang="en-US" altLang="zh-CN" dirty="0"/>
              <a:t>"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首先会在堆内存中申请一块内存存储字符串</a:t>
            </a:r>
            <a:r>
              <a:rPr lang="en-US" altLang="zh-CN" dirty="0"/>
              <a:t>abc,str2</a:t>
            </a:r>
            <a:r>
              <a:rPr lang="zh-CN" altLang="en-US" dirty="0"/>
              <a:t>指向其内存块对象。同时还会检查字符串常量池中是否含有</a:t>
            </a:r>
            <a:r>
              <a:rPr lang="en-US" altLang="zh-CN" dirty="0" err="1"/>
              <a:t>abc</a:t>
            </a:r>
            <a:r>
              <a:rPr lang="zh-CN" altLang="en-US" dirty="0"/>
              <a:t>字符串</a:t>
            </a:r>
            <a:r>
              <a:rPr lang="en-US" altLang="zh-CN" dirty="0"/>
              <a:t>,</a:t>
            </a:r>
            <a:r>
              <a:rPr lang="zh-CN" altLang="en-US" dirty="0"/>
              <a:t>若没有则添加</a:t>
            </a:r>
            <a:r>
              <a:rPr lang="en-US" altLang="zh-CN" dirty="0" err="1"/>
              <a:t>abc</a:t>
            </a:r>
            <a:r>
              <a:rPr lang="zh-CN" altLang="en-US" dirty="0"/>
              <a:t>到字符串常量池中。所以 </a:t>
            </a:r>
            <a:r>
              <a:rPr lang="en-US" altLang="zh-CN" dirty="0"/>
              <a:t>new String()</a:t>
            </a:r>
            <a:r>
              <a:rPr lang="zh-CN" altLang="en-US" dirty="0"/>
              <a:t>可能会创建两个对象。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String</a:t>
            </a:r>
            <a:r>
              <a:rPr lang="zh-CN" altLang="en-US" b="1" dirty="0"/>
              <a:t>的匹配相等问题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经常需要对两个字符串进行对比，看是否相等。有</a:t>
            </a:r>
            <a:r>
              <a:rPr lang="en-US" altLang="zh-CN" dirty="0"/>
              <a:t>==</a:t>
            </a:r>
            <a:r>
              <a:rPr lang="zh-CN" altLang="en-US" dirty="0"/>
              <a:t>和</a:t>
            </a:r>
            <a:r>
              <a:rPr lang="en-US" altLang="zh-CN" dirty="0"/>
              <a:t>equals</a:t>
            </a:r>
            <a:r>
              <a:rPr lang="zh-CN" altLang="en-US" dirty="0"/>
              <a:t>两种选择</a:t>
            </a:r>
            <a:r>
              <a:rPr lang="en-US" altLang="zh-CN" dirty="0"/>
              <a:t>,</a:t>
            </a:r>
            <a:r>
              <a:rPr lang="zh-CN" altLang="en-US" dirty="0"/>
              <a:t>这两者方法区别很大：</a:t>
            </a:r>
            <a:endParaRPr lang="en-US" altLang="zh-CN" dirty="0"/>
          </a:p>
          <a:p>
            <a:pPr lvl="1"/>
            <a:r>
              <a:rPr lang="zh-CN" altLang="en-US" dirty="0"/>
              <a:t>比较对象的内容是否相等使用</a:t>
            </a:r>
            <a:r>
              <a:rPr lang="en-US" altLang="zh-CN" dirty="0"/>
              <a:t>equals()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比较两个引用是否指向同一个对象时用</a:t>
            </a:r>
            <a:r>
              <a:rPr lang="en-US" altLang="zh-CN" dirty="0"/>
              <a:t>==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ok="ok";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ok1=new String("ok");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(ok==ok1);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fasle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ok</a:t>
            </a:r>
            <a:r>
              <a:rPr lang="zh-CN" altLang="en-US" dirty="0"/>
              <a:t>指向字符串常量池，</a:t>
            </a:r>
            <a:r>
              <a:rPr lang="en-US" altLang="zh-CN" dirty="0"/>
              <a:t>ok1</a:t>
            </a:r>
            <a:r>
              <a:rPr lang="zh-CN" altLang="en-US" dirty="0"/>
              <a:t>指向</a:t>
            </a:r>
            <a:r>
              <a:rPr lang="en-US" altLang="zh-CN" dirty="0"/>
              <a:t>new</a:t>
            </a:r>
            <a:r>
              <a:rPr lang="zh-CN" altLang="en-US" dirty="0"/>
              <a:t>出来的堆内存块，</a:t>
            </a:r>
            <a:r>
              <a:rPr lang="en-US" altLang="zh-CN" dirty="0"/>
              <a:t>new</a:t>
            </a:r>
            <a:r>
              <a:rPr lang="zh-CN" altLang="en-US" dirty="0"/>
              <a:t>的字符串在编译期是无法确定的。所以输出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/>
              <a:t>String ok="apple1";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ok1="apple"+1;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(ok==ok1);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编译期</a:t>
            </a:r>
            <a:r>
              <a:rPr lang="en-US" altLang="zh-CN" dirty="0"/>
              <a:t>ok</a:t>
            </a:r>
            <a:r>
              <a:rPr lang="zh-CN" altLang="en-US" dirty="0"/>
              <a:t>和</a:t>
            </a:r>
            <a:r>
              <a:rPr lang="en-US" altLang="zh-CN" dirty="0"/>
              <a:t>ok1</a:t>
            </a:r>
            <a:r>
              <a:rPr lang="zh-CN" altLang="en-US" dirty="0"/>
              <a:t>都是确定的，字符串都为</a:t>
            </a:r>
            <a:r>
              <a:rPr lang="en-US" altLang="zh-CN" dirty="0"/>
              <a:t>apple1</a:t>
            </a:r>
            <a:r>
              <a:rPr lang="zh-CN" altLang="en-US" dirty="0"/>
              <a:t>，所以</a:t>
            </a:r>
            <a:r>
              <a:rPr lang="en-US" altLang="zh-CN" dirty="0"/>
              <a:t>ok</a:t>
            </a:r>
            <a:r>
              <a:rPr lang="zh-CN" altLang="en-US" dirty="0"/>
              <a:t>和</a:t>
            </a:r>
            <a:r>
              <a:rPr lang="en-US" altLang="zh-CN" dirty="0"/>
              <a:t>ok1</a:t>
            </a:r>
            <a:r>
              <a:rPr lang="zh-CN" altLang="en-US" dirty="0"/>
              <a:t>都指向字符串常量池里的字符串</a:t>
            </a:r>
            <a:r>
              <a:rPr lang="en-US" altLang="zh-CN" dirty="0"/>
              <a:t>apple1</a:t>
            </a:r>
            <a:r>
              <a:rPr lang="zh-CN" altLang="en-US" dirty="0"/>
              <a:t>。指向同一个对象，所以为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ok="apple1";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temp=1;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ok1="</a:t>
            </a:r>
            <a:r>
              <a:rPr lang="en-US" altLang="zh-CN" dirty="0" err="1"/>
              <a:t>apple"+temp</a:t>
            </a:r>
            <a:r>
              <a:rPr lang="en-US" altLang="zh-CN" dirty="0"/>
              <a:t>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(ok==ok1);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//false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看</a:t>
            </a:r>
            <a:r>
              <a:rPr lang="en-US" altLang="zh-CN" dirty="0"/>
              <a:t>ok</a:t>
            </a:r>
            <a:r>
              <a:rPr lang="zh-CN" altLang="en-US" dirty="0"/>
              <a:t>和</a:t>
            </a:r>
            <a:r>
              <a:rPr lang="en-US" altLang="zh-CN" dirty="0"/>
              <a:t>ok1</a:t>
            </a:r>
            <a:r>
              <a:rPr lang="zh-CN" altLang="en-US" dirty="0"/>
              <a:t>能否在编译期确定，</a:t>
            </a:r>
            <a:r>
              <a:rPr lang="en-US" altLang="zh-CN" dirty="0"/>
              <a:t>ok</a:t>
            </a:r>
            <a:r>
              <a:rPr lang="zh-CN" altLang="en-US" dirty="0"/>
              <a:t>是确定的，放进并指向常量池，而</a:t>
            </a:r>
            <a:r>
              <a:rPr lang="en-US" altLang="zh-CN" dirty="0"/>
              <a:t>ok1</a:t>
            </a:r>
            <a:r>
              <a:rPr lang="zh-CN" altLang="en-US" dirty="0"/>
              <a:t>含有变量导致不确定，所以不是同一个对象，输出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760640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CN" dirty="0"/>
              <a:t>String ok="apple1";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final </a:t>
            </a:r>
            <a:r>
              <a:rPr lang="en-US" altLang="zh-CN" dirty="0" err="1"/>
              <a:t>int</a:t>
            </a:r>
            <a:r>
              <a:rPr lang="en-US" altLang="zh-CN" dirty="0"/>
              <a:t> temp=1;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ok1="</a:t>
            </a:r>
            <a:r>
              <a:rPr lang="en-US" altLang="zh-CN" dirty="0" err="1"/>
              <a:t>apple"+temp</a:t>
            </a:r>
            <a:r>
              <a:rPr lang="en-US" altLang="zh-CN" dirty="0"/>
              <a:t>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(ok==ok1); 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/>
              <a:t>ok</a:t>
            </a:r>
            <a:r>
              <a:rPr lang="zh-CN" altLang="en-US" dirty="0"/>
              <a:t>确定，加上</a:t>
            </a:r>
            <a:r>
              <a:rPr lang="en-US" altLang="zh-CN" dirty="0"/>
              <a:t>final</a:t>
            </a:r>
            <a:r>
              <a:rPr lang="zh-CN" altLang="en-US" dirty="0"/>
              <a:t>后使得</a:t>
            </a:r>
            <a:r>
              <a:rPr lang="en-US" altLang="zh-CN" dirty="0"/>
              <a:t>ok1</a:t>
            </a:r>
            <a:r>
              <a:rPr lang="zh-CN" altLang="en-US" dirty="0"/>
              <a:t>也在编译期能确定，所以输出</a:t>
            </a:r>
            <a:r>
              <a:rPr lang="en-US" altLang="zh-CN" dirty="0"/>
              <a:t>true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如果两个</a:t>
            </a:r>
            <a:r>
              <a:rPr lang="en-US" altLang="zh-CN" dirty="0"/>
              <a:t>String</a:t>
            </a:r>
            <a:r>
              <a:rPr lang="zh-CN" altLang="en-US" dirty="0"/>
              <a:t>变量相等（</a:t>
            </a:r>
            <a:r>
              <a:rPr lang="en-US" altLang="zh-CN" dirty="0"/>
              <a:t>==</a:t>
            </a:r>
            <a:r>
              <a:rPr lang="zh-CN" altLang="en-US" dirty="0"/>
              <a:t>返回</a:t>
            </a:r>
            <a:r>
              <a:rPr lang="en-US" altLang="zh-CN" dirty="0"/>
              <a:t>true</a:t>
            </a:r>
            <a:r>
              <a:rPr lang="zh-CN" altLang="en-US" dirty="0"/>
              <a:t>），即它们指向了同一个对象，其内容当然是一样的。但是两个字符串相同，其引用不一定相等。所以在比较字符串内容是否相同时应该用</a:t>
            </a:r>
            <a:r>
              <a:rPr lang="en-US" altLang="zh-CN" dirty="0"/>
              <a:t>equals</a:t>
            </a:r>
            <a:r>
              <a:rPr lang="zh-CN" altLang="en-US" dirty="0"/>
              <a:t>方法。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ok="ok";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ok1=new String("ok");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ok.equals</a:t>
            </a:r>
            <a:r>
              <a:rPr lang="en-US" altLang="zh-CN" dirty="0"/>
              <a:t>(ok1));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 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空串和</a:t>
            </a:r>
            <a:r>
              <a:rPr lang="en-US" altLang="zh-CN" dirty="0"/>
              <a:t>null</a:t>
            </a:r>
            <a:r>
              <a:rPr lang="zh-CN" altLang="en-US" dirty="0"/>
              <a:t>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空串（</a:t>
            </a:r>
            <a:r>
              <a:rPr lang="en-US" altLang="zh-CN" dirty="0"/>
              <a:t>empty string</a:t>
            </a:r>
            <a:r>
              <a:rPr lang="zh-CN" altLang="en-US" dirty="0"/>
              <a:t>）是长度为</a:t>
            </a:r>
            <a:r>
              <a:rPr lang="en-US" altLang="zh-CN" dirty="0"/>
              <a:t>0</a:t>
            </a:r>
            <a:r>
              <a:rPr lang="zh-CN" altLang="en-US" dirty="0"/>
              <a:t>，内容为空的字符串；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变量可以存放一个特殊值</a:t>
            </a:r>
            <a:r>
              <a:rPr lang="en-US" altLang="zh-CN" dirty="0"/>
              <a:t>null </a:t>
            </a:r>
            <a:r>
              <a:rPr lang="zh-CN" altLang="en-US" dirty="0"/>
              <a:t>，表示没有指向任何对象。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str3 = "";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str4 = null;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if(str3.length()==0)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("str3</a:t>
            </a:r>
            <a:r>
              <a:rPr lang="zh-CN" altLang="en-US" dirty="0"/>
              <a:t>是一个空串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if(str3.equals(""))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("str3</a:t>
            </a:r>
            <a:r>
              <a:rPr lang="zh-CN" altLang="en-US" dirty="0"/>
              <a:t>是一个空串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if(str4==null)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("str4</a:t>
            </a:r>
            <a:r>
              <a:rPr lang="zh-CN" altLang="en-US" dirty="0"/>
              <a:t>是一个</a:t>
            </a:r>
            <a:r>
              <a:rPr lang="en-US" altLang="zh-CN" dirty="0"/>
              <a:t>null</a:t>
            </a:r>
            <a:r>
              <a:rPr lang="zh-CN" altLang="en-US" dirty="0"/>
              <a:t>串</a:t>
            </a:r>
            <a:r>
              <a:rPr lang="en-US" altLang="zh-CN" dirty="0"/>
              <a:t>");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219256" cy="5256584"/>
          </a:xfrm>
        </p:spPr>
        <p:txBody>
          <a:bodyPr/>
          <a:lstStyle/>
          <a:p>
            <a:r>
              <a:rPr lang="zh-CN" altLang="en-US" dirty="0"/>
              <a:t>注意：</a:t>
            </a:r>
            <a:r>
              <a:rPr lang="en-US" altLang="zh-CN" dirty="0"/>
              <a:t>null string</a:t>
            </a:r>
            <a:r>
              <a:rPr lang="zh-CN" altLang="en-US" dirty="0"/>
              <a:t>调用方法会产生异常，所以在使用字符串前应该先检测之，下面的语句确保不是</a:t>
            </a:r>
            <a:r>
              <a:rPr lang="en-US" altLang="zh-CN" dirty="0"/>
              <a:t>null</a:t>
            </a:r>
            <a:r>
              <a:rPr lang="zh-CN" altLang="en-US" dirty="0"/>
              <a:t>串也不是空串才执行：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b="1" dirty="0"/>
              <a:t>if(str2!=null &amp;&amp; str2.length()!=0)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(str2);</a:t>
            </a:r>
            <a:endParaRPr lang="en-US" altLang="zh-CN" b="1" i="1" dirty="0"/>
          </a:p>
          <a:p>
            <a:pPr lvl="1"/>
            <a:r>
              <a:rPr lang="zh-CN" altLang="en-US" dirty="0"/>
              <a:t>考虑：上面的逻辑运算可否用</a:t>
            </a:r>
            <a:r>
              <a:rPr lang="en-US" altLang="zh-CN" dirty="0"/>
              <a:t>&amp;</a:t>
            </a:r>
            <a:r>
              <a:rPr lang="zh-CN" altLang="en-US" dirty="0"/>
              <a:t>？</a:t>
            </a:r>
            <a:r>
              <a:rPr lang="en-US" altLang="zh-CN" dirty="0"/>
              <a:t>If</a:t>
            </a:r>
            <a:r>
              <a:rPr lang="zh-CN" altLang="en-US" dirty="0"/>
              <a:t>表达式中的前后两项可否交换位置？</a:t>
            </a:r>
            <a:endParaRPr lang="en-US" altLang="zh-CN" dirty="0"/>
          </a:p>
          <a:p>
            <a:r>
              <a:rPr lang="zh-CN" altLang="en-US" dirty="0"/>
              <a:t>有关</a:t>
            </a:r>
            <a:r>
              <a:rPr lang="en-US" altLang="zh-CN" dirty="0"/>
              <a:t>String</a:t>
            </a:r>
            <a:r>
              <a:rPr lang="zh-CN" altLang="en-US" dirty="0"/>
              <a:t>类方法的更多资料，参见联机文档</a:t>
            </a:r>
            <a:br>
              <a:rPr lang="en-US" altLang="zh-CN" dirty="0"/>
            </a:br>
            <a:r>
              <a:rPr lang="en-US" altLang="zh-CN" dirty="0"/>
              <a:t>https</a:t>
            </a:r>
            <a:r>
              <a:rPr lang="en-US" altLang="zh-CN"/>
              <a:t>://docs.oracle.com/en/java/javase/17/docs/api/index.html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51db6c15-de78-466e-b94f-cc7506fd3486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12130</Words>
  <Application>WPS 演示</Application>
  <PresentationFormat>全屏显示(4:3)</PresentationFormat>
  <Paragraphs>633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4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2 java的数据类型和运算符</vt:lpstr>
      <vt:lpstr>PowerPoint 演示文稿</vt:lpstr>
      <vt:lpstr>2.1 基本数据类型</vt:lpstr>
      <vt:lpstr>PowerPoint 演示文稿</vt:lpstr>
      <vt:lpstr>基本类型（8种）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类型之间的转换</vt:lpstr>
      <vt:lpstr>PowerPoint 演示文稿</vt:lpstr>
      <vt:lpstr>PowerPoint 演示文稿</vt:lpstr>
      <vt:lpstr>PowerPoint 演示文稿</vt:lpstr>
      <vt:lpstr>2.3 基本类型的包装类</vt:lpstr>
      <vt:lpstr>PowerPoint 演示文稿</vt:lpstr>
      <vt:lpstr>PowerPoint 演示文稿</vt:lpstr>
      <vt:lpstr>BigDecimal类型</vt:lpstr>
      <vt:lpstr>变量和常量</vt:lpstr>
      <vt:lpstr>PowerPoint 演示文稿</vt:lpstr>
      <vt:lpstr>PowerPoint 演示文稿</vt:lpstr>
      <vt:lpstr>2.4 运算符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算数计算中的随机数</vt:lpstr>
      <vt:lpstr>PowerPoint 演示文稿</vt:lpstr>
      <vt:lpstr>PowerPoint 演示文稿</vt:lpstr>
      <vt:lpstr>2.5 引用类型</vt:lpstr>
      <vt:lpstr>Java 中的堆和栈</vt:lpstr>
      <vt:lpstr>PowerPoint 演示文稿</vt:lpstr>
      <vt:lpstr>2.6 String</vt:lpstr>
      <vt:lpstr>String是常量</vt:lpstr>
      <vt:lpstr>PowerPoint 演示文稿</vt:lpstr>
      <vt:lpstr>常量池</vt:lpstr>
      <vt:lpstr>PowerPoint 演示文稿</vt:lpstr>
      <vt:lpstr>创建几个对象？</vt:lpstr>
      <vt:lpstr>String的匹配相等问题</vt:lpstr>
      <vt:lpstr>PowerPoint 演示文稿</vt:lpstr>
      <vt:lpstr>PowerPoint 演示文稿</vt:lpstr>
      <vt:lpstr>空串和null串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200</cp:revision>
  <dcterms:created xsi:type="dcterms:W3CDTF">2024-05-21T15:05:43Z</dcterms:created>
  <dcterms:modified xsi:type="dcterms:W3CDTF">2024-05-21T15:05:43Z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751353FACCAFC39B47B84C664EAF37B3_43</vt:lpwstr>
  </property>
</Properties>
</file>