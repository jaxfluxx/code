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7"/>
  </p:notesMasterIdLst>
  <p:sldIdLst>
    <p:sldId id="295" r:id="rId3"/>
    <p:sldId id="257" r:id="rId4"/>
    <p:sldId id="258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67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92" r:id="rId24"/>
    <p:sldId id="293" r:id="rId25"/>
    <p:sldId id="294" r:id="rId26"/>
    <p:sldId id="277" r:id="rId27"/>
    <p:sldId id="278" r:id="rId28"/>
    <p:sldId id="279" r:id="rId29"/>
    <p:sldId id="280" r:id="rId30"/>
    <p:sldId id="281" r:id="rId31"/>
    <p:sldId id="286" r:id="rId32"/>
    <p:sldId id="282" r:id="rId33"/>
    <p:sldId id="283" r:id="rId34"/>
    <p:sldId id="284" r:id="rId35"/>
    <p:sldId id="291" r:id="rId3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176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E825A-9DAF-477B-AC5C-4050AFD6B1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47105-71C5-4BF5-AD58-12C73EDD56E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cap="none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none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17537"/>
            <a:ext cx="1242239" cy="103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75240" cy="683994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256584"/>
          </a:xfrm>
        </p:spPr>
        <p:txBody>
          <a:bodyPr/>
          <a:lstStyle>
            <a:lvl1pPr marL="0" indent="0" defTabSz="1080135">
              <a:spcBef>
                <a:spcPts val="600"/>
              </a:spcBef>
              <a:spcAft>
                <a:spcPts val="0"/>
              </a:spcAft>
              <a:buFont typeface="Arial" panose="020B0704020202020204" pitchFamily="34" charset="0"/>
              <a:buChar char="•"/>
              <a:defRPr sz="2800" b="0" i="0" baseline="0">
                <a:solidFill>
                  <a:schemeClr val="tx1"/>
                </a:solidFill>
                <a:ea typeface="华文宋体" panose="02010600040101010101" pitchFamily="2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400" baseline="0">
                <a:solidFill>
                  <a:schemeClr val="tx2">
                    <a:lumMod val="75000"/>
                  </a:schemeClr>
                </a:solidFill>
              </a:defRPr>
            </a:lvl2pPr>
            <a:lvl3pPr>
              <a:spcBef>
                <a:spcPts val="600"/>
              </a:spcBef>
              <a:defRPr sz="2400"/>
            </a:lvl3pPr>
            <a:lvl4pPr>
              <a:lnSpc>
                <a:spcPct val="100000"/>
              </a:lnSpc>
              <a:spcBef>
                <a:spcPts val="600"/>
              </a:spcBef>
              <a:defRPr sz="2400"/>
            </a:lvl4pPr>
            <a:lvl5pPr>
              <a:spcBef>
                <a:spcPts val="600"/>
              </a:spcBef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8401-C238-4940-8B37-740CB2A88BB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7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mailto:heyq@cugb.edu.cn" TargetMode="Externa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42445"/>
            <a:ext cx="3976795" cy="255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1628800"/>
            <a:ext cx="4608512" cy="1470025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Java </a:t>
            </a:r>
            <a:r>
              <a:rPr lang="zh-CN" altLang="en-US" sz="4800" dirty="0"/>
              <a:t>程序设计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99592" y="3789040"/>
            <a:ext cx="7772400" cy="1656184"/>
          </a:xfrm>
        </p:spPr>
        <p:txBody>
          <a:bodyPr>
            <a:noAutofit/>
          </a:bodyPr>
          <a:lstStyle/>
          <a:p>
            <a:pPr algn="l"/>
            <a:r>
              <a:rPr lang="zh-CN" altLang="en-US" sz="2800" dirty="0"/>
              <a:t>何勇强</a:t>
            </a:r>
            <a:endParaRPr lang="en-US" altLang="zh-CN" sz="2800" dirty="0"/>
          </a:p>
          <a:p>
            <a:pPr algn="l"/>
            <a:r>
              <a:rPr lang="en-US" altLang="zh-CN" sz="2800" dirty="0">
                <a:hlinkClick r:id="rId2"/>
              </a:rPr>
              <a:t>heyq@cugb.edu.cn</a:t>
            </a:r>
            <a:endParaRPr lang="en-US" altLang="zh-CN" sz="2800" dirty="0"/>
          </a:p>
          <a:p>
            <a:pPr algn="l"/>
            <a:r>
              <a:rPr lang="en-US" altLang="zh-CN" sz="2800" dirty="0"/>
              <a:t>1881081390</a:t>
            </a:r>
            <a:endParaRPr lang="en-US" altLang="zh-CN" sz="2800" dirty="0"/>
          </a:p>
          <a:p>
            <a:pPr algn="l"/>
            <a:r>
              <a:rPr lang="en-US" altLang="zh-CN" sz="2800"/>
              <a:t>                                      2024-2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884600" y="2638521"/>
            <a:ext cx="266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i="1" dirty="0">
                <a:solidFill>
                  <a:srgbClr val="0070C0"/>
                </a:solidFill>
              </a:rPr>
              <a:t>本科生公共课</a:t>
            </a:r>
            <a:endParaRPr lang="zh-CN" altLang="en-US" sz="32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程序流程和数组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的流程控制与</a:t>
            </a:r>
            <a:r>
              <a:rPr lang="en-US" altLang="zh-CN" dirty="0"/>
              <a:t>C++</a:t>
            </a:r>
            <a:r>
              <a:rPr lang="zh-CN" altLang="en-US" dirty="0"/>
              <a:t>大同小异，本章做一个简单回顾。</a:t>
            </a:r>
            <a:endParaRPr lang="en-US" altLang="zh-CN" dirty="0"/>
          </a:p>
          <a:p>
            <a:r>
              <a:rPr lang="zh-CN" altLang="en-US" dirty="0"/>
              <a:t>为了方便后面的程序示例，先介绍</a:t>
            </a:r>
            <a:r>
              <a:rPr lang="en-US" altLang="zh-CN" dirty="0"/>
              <a:t>Java</a:t>
            </a:r>
            <a:r>
              <a:rPr lang="zh-CN" altLang="en-US" dirty="0"/>
              <a:t>中的输入输出方法。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控制台输入输出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980728"/>
            <a:ext cx="8352928" cy="5256584"/>
          </a:xfrm>
        </p:spPr>
        <p:txBody>
          <a:bodyPr>
            <a:normAutofit/>
          </a:bodyPr>
          <a:lstStyle/>
          <a:p>
            <a:r>
              <a:rPr lang="zh-CN" altLang="en-US" dirty="0"/>
              <a:t>标准输入：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Scanner</a:t>
            </a:r>
            <a:r>
              <a:rPr lang="zh-CN" altLang="en-US" dirty="0"/>
              <a:t>类，需要在</a:t>
            </a:r>
            <a:r>
              <a:rPr lang="en-US" altLang="zh-CN" dirty="0"/>
              <a:t>java</a:t>
            </a:r>
            <a:r>
              <a:rPr lang="zh-CN" altLang="en-US" dirty="0"/>
              <a:t>文件开始处导入：</a:t>
            </a:r>
            <a:br>
              <a:rPr lang="en-US" altLang="zh-CN" dirty="0"/>
            </a:br>
            <a:r>
              <a:rPr lang="en-US" altLang="zh-CN" b="1" dirty="0"/>
              <a:t>import </a:t>
            </a:r>
            <a:r>
              <a:rPr lang="en-US" altLang="zh-CN" b="1" dirty="0" err="1"/>
              <a:t>java.util.Scanner</a:t>
            </a:r>
            <a:r>
              <a:rPr lang="en-US" altLang="zh-CN" b="1" dirty="0"/>
              <a:t>;</a:t>
            </a:r>
            <a:endParaRPr lang="en-US" altLang="zh-CN" dirty="0"/>
          </a:p>
          <a:p>
            <a:pPr lvl="1"/>
            <a:r>
              <a:rPr lang="zh-CN" altLang="en-US" dirty="0"/>
              <a:t>首先创建一个</a:t>
            </a:r>
            <a:r>
              <a:rPr lang="en-US" altLang="zh-CN" dirty="0"/>
              <a:t>Scanner</a:t>
            </a:r>
            <a:r>
              <a:rPr lang="zh-CN" altLang="en-US" dirty="0"/>
              <a:t>对象，与标准输入流</a:t>
            </a:r>
            <a:r>
              <a:rPr lang="en-US" altLang="zh-CN" dirty="0"/>
              <a:t>System.in</a:t>
            </a:r>
            <a:r>
              <a:rPr lang="zh-CN" altLang="en-US" dirty="0"/>
              <a:t>关联</a:t>
            </a:r>
            <a:br>
              <a:rPr lang="en-US" altLang="zh-CN" dirty="0"/>
            </a:br>
            <a:r>
              <a:rPr lang="en-US" altLang="zh-CN" dirty="0"/>
              <a:t>Scanner in = new Scanner</a:t>
            </a:r>
            <a:r>
              <a:rPr lang="zh-CN" altLang="en-US" dirty="0"/>
              <a:t>（</a:t>
            </a:r>
            <a:r>
              <a:rPr lang="en-US" altLang="zh-CN" dirty="0"/>
              <a:t>System.in</a:t>
            </a:r>
            <a:r>
              <a:rPr lang="zh-CN" altLang="en-US" dirty="0"/>
              <a:t>）；</a:t>
            </a:r>
            <a:endParaRPr lang="en-US" altLang="zh-CN" dirty="0"/>
          </a:p>
          <a:p>
            <a:pPr lvl="1"/>
            <a:r>
              <a:rPr lang="zh-CN" altLang="en-US" dirty="0"/>
              <a:t>常用方法：</a:t>
            </a:r>
            <a:br>
              <a:rPr lang="en-US" altLang="zh-CN" dirty="0"/>
            </a:br>
            <a:r>
              <a:rPr lang="en-US" altLang="zh-CN" dirty="0" err="1"/>
              <a:t>hasNext</a:t>
            </a:r>
            <a:r>
              <a:rPr lang="en-US" altLang="zh-CN" dirty="0"/>
              <a:t>  </a:t>
            </a:r>
            <a:r>
              <a:rPr lang="zh-CN" altLang="en-US" dirty="0"/>
              <a:t>检测输入中是否还有内容，有返回</a:t>
            </a:r>
            <a:r>
              <a:rPr lang="en-US" altLang="zh-CN" dirty="0"/>
              <a:t>true</a:t>
            </a:r>
            <a:br>
              <a:rPr lang="en-US" altLang="zh-CN" dirty="0"/>
            </a:br>
            <a:r>
              <a:rPr lang="en-US" altLang="zh-CN" dirty="0" err="1"/>
              <a:t>hasNextInt</a:t>
            </a:r>
            <a:r>
              <a:rPr lang="en-US" altLang="zh-CN" dirty="0"/>
              <a:t>  </a:t>
            </a:r>
            <a:r>
              <a:rPr lang="zh-CN" altLang="en-US" dirty="0"/>
              <a:t>检测输入中是否还有整数，有返回</a:t>
            </a:r>
            <a:r>
              <a:rPr lang="en-US" altLang="zh-CN" dirty="0"/>
              <a:t>true</a:t>
            </a:r>
            <a:r>
              <a:rPr lang="zh-CN" altLang="en-US" dirty="0"/>
              <a:t>，遇到小数点或非数字返回</a:t>
            </a:r>
            <a:r>
              <a:rPr lang="en-US" altLang="zh-CN" dirty="0"/>
              <a:t>false</a:t>
            </a:r>
            <a:br>
              <a:rPr lang="en-US" altLang="zh-CN" dirty="0"/>
            </a:br>
            <a:r>
              <a:rPr lang="en-US" altLang="zh-CN" dirty="0" err="1"/>
              <a:t>hasNextDouble</a:t>
            </a:r>
            <a:r>
              <a:rPr lang="en-US" altLang="zh-CN" dirty="0"/>
              <a:t>  </a:t>
            </a:r>
            <a:r>
              <a:rPr lang="zh-CN" altLang="en-US" dirty="0"/>
              <a:t>检测输入中是否还有浮点数（可以是整数），有返回</a:t>
            </a:r>
            <a:r>
              <a:rPr lang="en-US" altLang="zh-CN" dirty="0"/>
              <a:t>true</a:t>
            </a:r>
            <a:r>
              <a:rPr lang="zh-CN" altLang="en-US" dirty="0"/>
              <a:t>，遇到非数字返回</a:t>
            </a:r>
            <a:r>
              <a:rPr lang="en-US" altLang="zh-CN" dirty="0"/>
              <a:t>false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 indent="0">
              <a:buNone/>
            </a:pPr>
            <a:r>
              <a:rPr lang="en-US" altLang="zh-CN" dirty="0" err="1"/>
              <a:t>nextLine</a:t>
            </a:r>
            <a:r>
              <a:rPr lang="en-US" altLang="zh-CN" dirty="0"/>
              <a:t>  </a:t>
            </a:r>
            <a:r>
              <a:rPr lang="zh-CN" altLang="en-US" dirty="0"/>
              <a:t>读取下一行，以回车符为界</a:t>
            </a:r>
            <a:br>
              <a:rPr lang="en-US" altLang="zh-CN" dirty="0"/>
            </a:br>
            <a:r>
              <a:rPr lang="en-US" altLang="zh-CN" dirty="0"/>
              <a:t>next </a:t>
            </a:r>
            <a:r>
              <a:rPr lang="zh-CN" altLang="en-US" dirty="0"/>
              <a:t>读取下一个词，以空格为分隔符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nextInt</a:t>
            </a:r>
            <a:r>
              <a:rPr lang="en-US" altLang="zh-CN" dirty="0"/>
              <a:t> </a:t>
            </a:r>
            <a:r>
              <a:rPr lang="zh-CN" altLang="en-US" dirty="0"/>
              <a:t>读取下一个整数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nextDouble</a:t>
            </a:r>
            <a:r>
              <a:rPr lang="en-US" altLang="zh-CN" dirty="0"/>
              <a:t> </a:t>
            </a:r>
            <a:r>
              <a:rPr lang="zh-CN" altLang="en-US" dirty="0"/>
              <a:t>读取下一个浮点数</a:t>
            </a:r>
            <a:endParaRPr lang="en-US" altLang="zh-CN" dirty="0"/>
          </a:p>
          <a:p>
            <a:pPr marL="274320" lvl="1" indent="0">
              <a:buNone/>
            </a:pPr>
            <a:endParaRPr lang="en-US" altLang="zh-CN" dirty="0"/>
          </a:p>
          <a:p>
            <a:r>
              <a:rPr lang="zh-CN" altLang="en-US" dirty="0"/>
              <a:t>一个简单例子：读取姓名和年龄</a:t>
            </a:r>
            <a:br>
              <a:rPr lang="en-US" altLang="zh-CN" dirty="0"/>
            </a:br>
            <a:r>
              <a:rPr lang="en-US" altLang="zh-CN" dirty="0"/>
              <a:t>       code3\InputTest.java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标准输出：</a:t>
            </a:r>
            <a:endParaRPr lang="en-US" altLang="zh-CN" dirty="0"/>
          </a:p>
          <a:p>
            <a:pPr lvl="1"/>
            <a:r>
              <a:rPr lang="en-US" altLang="zh-CN" dirty="0" err="1"/>
              <a:t>System.out.print</a:t>
            </a:r>
            <a:r>
              <a:rPr lang="zh-CN" altLang="en-US" dirty="0"/>
              <a:t>（）</a:t>
            </a:r>
            <a:endParaRPr lang="en-US" altLang="zh-CN" dirty="0"/>
          </a:p>
          <a:p>
            <a:pPr lvl="1"/>
            <a:r>
              <a:rPr lang="en-US" altLang="zh-CN" dirty="0" err="1"/>
              <a:t>System.out.println</a:t>
            </a:r>
            <a:r>
              <a:rPr lang="zh-CN" altLang="en-US" dirty="0"/>
              <a:t>（）</a:t>
            </a:r>
            <a:endParaRPr lang="en-US" altLang="zh-CN" dirty="0"/>
          </a:p>
          <a:p>
            <a:pPr lvl="1"/>
            <a:r>
              <a:rPr lang="en-US" altLang="zh-CN" dirty="0"/>
              <a:t>Java</a:t>
            </a:r>
            <a:r>
              <a:rPr lang="zh-CN" altLang="en-US" dirty="0"/>
              <a:t>支持格式化的输出，与</a:t>
            </a:r>
            <a:r>
              <a:rPr lang="en-US" altLang="zh-CN" dirty="0"/>
              <a:t>C</a:t>
            </a:r>
            <a:r>
              <a:rPr lang="zh-CN" altLang="en-US" dirty="0"/>
              <a:t>的</a:t>
            </a:r>
            <a:r>
              <a:rPr lang="en-US" altLang="zh-CN" dirty="0" err="1"/>
              <a:t>printf</a:t>
            </a:r>
            <a:r>
              <a:rPr lang="zh-CN" altLang="en-US" dirty="0"/>
              <a:t>函数类似</a:t>
            </a:r>
            <a:br>
              <a:rPr lang="en-US" altLang="zh-CN" dirty="0"/>
            </a:br>
            <a:r>
              <a:rPr lang="en-US" altLang="zh-CN" dirty="0" err="1"/>
              <a:t>System.out.printf</a:t>
            </a:r>
            <a:r>
              <a:rPr lang="zh-CN" altLang="en-US" dirty="0"/>
              <a:t>（）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Scanner in =new Scanner(System.in);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altLang="zh-CN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System.out.println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("</a:t>
            </a:r>
            <a:r>
              <a:rPr lang="zh-CN" alt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输入数据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:");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	while(</a:t>
            </a:r>
            <a:r>
              <a:rPr lang="en-US" altLang="zh-CN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in.hasNextDouble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()) 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	{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	    double </a:t>
            </a:r>
            <a:r>
              <a:rPr lang="en-US" altLang="zh-CN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str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</a:t>
            </a:r>
            <a:r>
              <a:rPr lang="en-US" altLang="zh-CN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in.nextDouble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();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	    </a:t>
            </a:r>
            <a:r>
              <a:rPr lang="en-US" altLang="zh-CN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System.out.printf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("%8.2f\n",</a:t>
            </a:r>
            <a:r>
              <a:rPr lang="en-US" altLang="zh-CN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str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);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	}	</a:t>
            </a:r>
            <a:endParaRPr lang="en-US" altLang="zh-C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这是一个运行结果：</a:t>
            </a:r>
            <a:br>
              <a:rPr lang="en-US" altLang="zh-CN" dirty="0"/>
            </a:br>
            <a:r>
              <a:rPr lang="en-US" altLang="zh-CN" dirty="0"/>
              <a:t>      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输入数据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: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>
              <a:buNone/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        1.6666   23   6655.2   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abc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          </a:t>
            </a:r>
            <a:r>
              <a:rPr lang="en-US" altLang="zh-CN" dirty="0">
                <a:solidFill>
                  <a:srgbClr val="FF0000"/>
                </a:solidFill>
              </a:rPr>
              <a:t>1.67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        </a:t>
            </a:r>
            <a:r>
              <a:rPr lang="en-US" altLang="zh-CN" dirty="0">
                <a:solidFill>
                  <a:srgbClr val="FF0000"/>
                </a:solidFill>
              </a:rPr>
              <a:t>23.00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    </a:t>
            </a:r>
            <a:r>
              <a:rPr lang="en-US" altLang="zh-CN" dirty="0">
                <a:solidFill>
                  <a:srgbClr val="FF0000"/>
                </a:solidFill>
              </a:rPr>
              <a:t>6655.20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文件的输入输出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56584"/>
          </a:xfrm>
        </p:spPr>
        <p:txBody>
          <a:bodyPr/>
          <a:lstStyle/>
          <a:p>
            <a:r>
              <a:rPr lang="zh-CN" altLang="en-US" dirty="0"/>
              <a:t>读取文件，即从文件中输入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</a:t>
            </a:r>
            <a:r>
              <a:rPr lang="en-US" altLang="zh-CN" dirty="0">
                <a:solidFill>
                  <a:srgbClr val="FF0000"/>
                </a:solidFill>
              </a:rPr>
              <a:t>throws </a:t>
            </a:r>
            <a:r>
              <a:rPr lang="en-US" altLang="zh-CN" dirty="0" err="1">
                <a:solidFill>
                  <a:srgbClr val="FF0000"/>
                </a:solidFill>
              </a:rPr>
              <a:t>IOException</a:t>
            </a:r>
            <a:endParaRPr lang="en-US" altLang="zh-CN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Scanner in = new   				  		Scanner(</a:t>
            </a:r>
            <a:r>
              <a:rPr lang="en-US" altLang="zh-CN" dirty="0" err="1"/>
              <a:t>Paths.get</a:t>
            </a:r>
            <a:r>
              <a:rPr lang="en-US" altLang="zh-CN" dirty="0"/>
              <a:t>("</a:t>
            </a:r>
            <a:r>
              <a:rPr lang="en-US" altLang="zh-CN" dirty="0">
                <a:solidFill>
                  <a:srgbClr val="FF0000"/>
                </a:solidFill>
              </a:rPr>
              <a:t>e:\\temp\\mytest.txt</a:t>
            </a:r>
            <a:r>
              <a:rPr lang="en-US" altLang="zh-CN" dirty="0"/>
              <a:t>"),"</a:t>
            </a:r>
            <a:r>
              <a:rPr lang="en-US" altLang="zh-CN" dirty="0" err="1">
                <a:solidFill>
                  <a:srgbClr val="FF0000"/>
                </a:solidFill>
              </a:rPr>
              <a:t>gbk</a:t>
            </a:r>
            <a:r>
              <a:rPr lang="en-US" altLang="zh-CN" dirty="0"/>
              <a:t>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String </a:t>
            </a:r>
            <a:r>
              <a:rPr lang="en-US" altLang="zh-CN" dirty="0" err="1"/>
              <a:t>str</a:t>
            </a:r>
            <a:r>
              <a:rPr lang="en-US" altLang="zh-CN" dirty="0"/>
              <a:t> = </a:t>
            </a:r>
            <a:r>
              <a:rPr lang="en-US" altLang="zh-CN" dirty="0" err="1"/>
              <a:t>in.nextLine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str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 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写入文件，即向文件输出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先建立一个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PrintStream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对象</a:t>
            </a:r>
            <a:b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zh-CN" dirty="0"/>
              <a:t>Scanner in = new Scanner(</a:t>
            </a:r>
            <a:r>
              <a:rPr lang="en-US" altLang="zh-CN" dirty="0" err="1"/>
              <a:t>Paths.get</a:t>
            </a:r>
            <a:r>
              <a:rPr lang="en-US" altLang="zh-CN" dirty="0"/>
              <a:t>("e:\\temp\\mytest.txt"),"</a:t>
            </a:r>
            <a:r>
              <a:rPr lang="en-US" altLang="zh-CN" dirty="0" err="1"/>
              <a:t>gbk</a:t>
            </a:r>
            <a:r>
              <a:rPr lang="en-US" altLang="zh-CN" dirty="0"/>
              <a:t>");	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PrintStream</a:t>
            </a:r>
            <a:r>
              <a:rPr lang="en-US" altLang="zh-CN" dirty="0"/>
              <a:t> </a:t>
            </a:r>
            <a:r>
              <a:rPr lang="en-US" altLang="zh-CN" dirty="0" err="1"/>
              <a:t>toFile</a:t>
            </a:r>
            <a:r>
              <a:rPr lang="en-US" altLang="zh-CN" dirty="0"/>
              <a:t> = new </a:t>
            </a:r>
            <a:r>
              <a:rPr lang="en-US" altLang="zh-CN" dirty="0" err="1"/>
              <a:t>PrintStream</a:t>
            </a:r>
            <a:r>
              <a:rPr lang="en-US" altLang="zh-CN" dirty="0"/>
              <a:t>("e:\\temp\\mytest2.txt","utf-8");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toFile.println</a:t>
            </a:r>
            <a:r>
              <a:rPr lang="en-US" altLang="zh-CN" dirty="0"/>
              <a:t>("</a:t>
            </a:r>
            <a:r>
              <a:rPr lang="zh-CN" altLang="en-US" dirty="0"/>
              <a:t>这是一个新闻报道，讲述了一个事实。</a:t>
            </a:r>
            <a:r>
              <a:rPr lang="en-US" altLang="zh-CN" dirty="0"/>
              <a:t>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while(</a:t>
            </a:r>
            <a:r>
              <a:rPr lang="en-US" altLang="zh-CN" dirty="0" err="1"/>
              <a:t>in.hasNextLine</a:t>
            </a:r>
            <a:r>
              <a:rPr lang="en-US" altLang="zh-CN" dirty="0"/>
              <a:t>())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toFile.print</a:t>
            </a:r>
            <a:r>
              <a:rPr lang="en-US" altLang="zh-CN" dirty="0"/>
              <a:t>(</a:t>
            </a:r>
            <a:r>
              <a:rPr lang="en-US" altLang="zh-CN" dirty="0" err="1"/>
              <a:t>in.nextLine</a:t>
            </a:r>
            <a:r>
              <a:rPr lang="en-US" altLang="zh-CN" dirty="0"/>
              <a:t>());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流程控制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与</a:t>
            </a:r>
            <a:r>
              <a:rPr lang="en-US" altLang="zh-CN" dirty="0"/>
              <a:t>C</a:t>
            </a:r>
            <a:r>
              <a:rPr lang="zh-CN" altLang="en-US" dirty="0"/>
              <a:t>语言一样，</a:t>
            </a:r>
            <a:r>
              <a:rPr lang="en-US" altLang="zh-CN" dirty="0"/>
              <a:t>Java</a:t>
            </a:r>
            <a:r>
              <a:rPr lang="zh-CN" altLang="en-US" dirty="0"/>
              <a:t>使用条件和循环控制流程</a:t>
            </a:r>
            <a:endParaRPr lang="en-US" altLang="zh-CN" dirty="0"/>
          </a:p>
          <a:p>
            <a:r>
              <a:rPr lang="zh-CN" altLang="en-US" dirty="0"/>
              <a:t>块（</a:t>
            </a:r>
            <a:r>
              <a:rPr lang="en-US" altLang="zh-CN" dirty="0"/>
              <a:t>block</a:t>
            </a:r>
            <a:r>
              <a:rPr lang="zh-CN" altLang="en-US" dirty="0"/>
              <a:t>）：大括号内的一组简单语句，块确定了变量的作用域。块可以嵌套。</a:t>
            </a:r>
            <a:endParaRPr lang="en-US" altLang="zh-CN" dirty="0"/>
          </a:p>
          <a:p>
            <a:pPr lvl="1"/>
            <a:r>
              <a:rPr lang="en-US" altLang="zh-CN" dirty="0"/>
              <a:t>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=100;</a:t>
            </a:r>
            <a:br>
              <a:rPr lang="en-US" altLang="zh-CN" dirty="0"/>
            </a:br>
            <a:r>
              <a:rPr lang="en-US" altLang="zh-CN" dirty="0"/>
              <a:t>	{</a:t>
            </a:r>
            <a:br>
              <a:rPr lang="en-US" altLang="zh-CN" dirty="0"/>
            </a:br>
            <a:r>
              <a:rPr lang="en-US" altLang="zh-CN" dirty="0"/>
              <a:t>	      </a:t>
            </a:r>
            <a:r>
              <a:rPr lang="en-US" altLang="zh-CN" dirty="0" err="1"/>
              <a:t>int</a:t>
            </a:r>
            <a:r>
              <a:rPr lang="en-US" altLang="zh-CN" dirty="0"/>
              <a:t> k = 20;</a:t>
            </a:r>
            <a:br>
              <a:rPr lang="en-US" altLang="zh-CN" dirty="0"/>
            </a:br>
            <a:r>
              <a:rPr lang="en-US" altLang="zh-CN" dirty="0"/>
              <a:t>	  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 = 0;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编译错误，内部块不能定义与外部块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			 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同名变量，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C++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中这样是允许的</a:t>
            </a:r>
            <a:b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zh-CN" dirty="0"/>
              <a:t>	}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k 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的作用域结束</a:t>
            </a:r>
            <a:br>
              <a:rPr lang="en-US" altLang="zh-CN" dirty="0"/>
            </a:br>
            <a:r>
              <a:rPr lang="en-US" altLang="zh-CN" dirty="0"/>
              <a:t>}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i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的作用域结束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3.3.1 </a:t>
            </a:r>
            <a:r>
              <a:rPr lang="zh-CN" altLang="en-US" dirty="0"/>
              <a:t>条件语句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688632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if </a:t>
            </a:r>
            <a:r>
              <a:rPr lang="zh-CN" altLang="en-US" dirty="0"/>
              <a:t>语句，在处理时注意</a:t>
            </a:r>
            <a:r>
              <a:rPr lang="zh-CN" altLang="en-US" dirty="0">
                <a:solidFill>
                  <a:srgbClr val="FF0000"/>
                </a:solidFill>
              </a:rPr>
              <a:t>先处理范围小的</a:t>
            </a:r>
            <a:r>
              <a:rPr lang="zh-CN" altLang="en-US" dirty="0"/>
              <a:t>情况：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IfErrorTest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int</a:t>
            </a:r>
            <a:r>
              <a:rPr lang="en-US" altLang="zh-CN" dirty="0"/>
              <a:t> age = 45;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if (age &gt; 20)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	</a:t>
            </a: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zh-CN" altLang="en-US" dirty="0"/>
              <a:t>青年人</a:t>
            </a:r>
            <a:r>
              <a:rPr lang="en-US" altLang="zh-CN" dirty="0"/>
              <a:t>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} else if (age &gt; 40)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	</a:t>
            </a: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zh-CN" altLang="en-US" dirty="0"/>
              <a:t>中年人</a:t>
            </a:r>
            <a:r>
              <a:rPr lang="en-US" altLang="zh-CN" dirty="0"/>
              <a:t>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} else if (age &gt; 60)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	</a:t>
            </a: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zh-CN" altLang="en-US" dirty="0"/>
              <a:t>老年人</a:t>
            </a:r>
            <a:r>
              <a:rPr lang="en-US" altLang="zh-CN" dirty="0"/>
              <a:t>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3.3.2 </a:t>
            </a:r>
            <a:r>
              <a:rPr lang="zh-CN" altLang="en-US" dirty="0"/>
              <a:t>循环语句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/>
              <a:t>while</a:t>
            </a:r>
            <a:r>
              <a:rPr lang="zh-CN" altLang="en-US" dirty="0"/>
              <a:t>循环的例子，计算退休年限</a:t>
            </a:r>
            <a:endParaRPr lang="en-US" altLang="zh-CN" dirty="0"/>
          </a:p>
          <a:p>
            <a:pPr lvl="1"/>
            <a:r>
              <a:rPr lang="en-US" altLang="zh-CN" dirty="0"/>
              <a:t>Code3\Retirement.java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do  while</a:t>
            </a:r>
            <a:r>
              <a:rPr lang="zh-CN" altLang="en-US" dirty="0"/>
              <a:t>循环修改上面的例子，计算退休年限</a:t>
            </a:r>
            <a:endParaRPr lang="en-US" altLang="zh-CN" dirty="0"/>
          </a:p>
          <a:p>
            <a:pPr lvl="1"/>
            <a:r>
              <a:rPr lang="en-US" altLang="zh-CN" dirty="0"/>
              <a:t>Code3\Retirement2.java</a:t>
            </a:r>
            <a:endParaRPr lang="en-US" altLang="zh-CN" dirty="0"/>
          </a:p>
          <a:p>
            <a:r>
              <a:rPr lang="en-US" altLang="zh-CN" dirty="0"/>
              <a:t>for</a:t>
            </a:r>
            <a:r>
              <a:rPr lang="zh-CN" altLang="en-US" dirty="0"/>
              <a:t>循环的例子，模拟三门问题。</a:t>
            </a:r>
            <a:endParaRPr lang="en-US" altLang="zh-CN" dirty="0"/>
          </a:p>
          <a:p>
            <a:pPr lvl="1"/>
            <a:r>
              <a:rPr lang="en-US" altLang="zh-CN" dirty="0"/>
              <a:t>Code3\ThreeGates.java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3.3.3 </a:t>
            </a:r>
            <a:r>
              <a:rPr lang="zh-CN" altLang="en-US" dirty="0"/>
              <a:t>多分支语句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switch </a:t>
            </a:r>
            <a:r>
              <a:rPr lang="zh-CN" altLang="en-US" dirty="0"/>
              <a:t>语句可以替换复杂的</a:t>
            </a:r>
            <a:r>
              <a:rPr lang="en-US" altLang="zh-CN" dirty="0"/>
              <a:t>if else</a:t>
            </a:r>
            <a:r>
              <a:rPr lang="zh-CN" altLang="en-US" dirty="0"/>
              <a:t>，</a:t>
            </a:r>
            <a:r>
              <a:rPr lang="en-US" altLang="zh-CN" dirty="0"/>
              <a:t>case</a:t>
            </a:r>
            <a:r>
              <a:rPr lang="zh-CN" altLang="en-US" dirty="0"/>
              <a:t>值可以是</a:t>
            </a:r>
            <a:endParaRPr lang="en-US" altLang="zh-CN" dirty="0"/>
          </a:p>
          <a:p>
            <a:pPr lvl="1"/>
            <a:r>
              <a:rPr lang="zh-CN" altLang="en-US" dirty="0"/>
              <a:t>类型为</a:t>
            </a:r>
            <a:r>
              <a:rPr lang="en-US" altLang="zh-CN" dirty="0"/>
              <a:t>char</a:t>
            </a:r>
            <a:r>
              <a:rPr lang="zh-CN" altLang="en-US" dirty="0"/>
              <a:t>，</a:t>
            </a:r>
            <a:r>
              <a:rPr lang="en-US" altLang="zh-CN" dirty="0"/>
              <a:t>byte</a:t>
            </a:r>
            <a:r>
              <a:rPr lang="zh-CN" altLang="en-US" dirty="0"/>
              <a:t>，</a:t>
            </a:r>
            <a:r>
              <a:rPr lang="en-US" altLang="zh-CN" dirty="0"/>
              <a:t>shout</a:t>
            </a:r>
            <a:r>
              <a:rPr lang="zh-CN" altLang="en-US" dirty="0"/>
              <a:t>，</a:t>
            </a:r>
            <a:r>
              <a:rPr lang="en-US" altLang="zh-CN" dirty="0" err="1"/>
              <a:t>int</a:t>
            </a:r>
            <a:r>
              <a:rPr lang="zh-CN" altLang="en-US" dirty="0"/>
              <a:t>的常量表达式</a:t>
            </a:r>
            <a:endParaRPr lang="en-US" altLang="zh-CN" dirty="0"/>
          </a:p>
          <a:p>
            <a:pPr lvl="1"/>
            <a:r>
              <a:rPr lang="zh-CN" altLang="en-US" dirty="0"/>
              <a:t>枚举常量</a:t>
            </a:r>
            <a:endParaRPr lang="en-US" altLang="zh-CN" dirty="0"/>
          </a:p>
          <a:p>
            <a:pPr lvl="1"/>
            <a:r>
              <a:rPr lang="zh-CN" altLang="en-US" dirty="0"/>
              <a:t>字符串字面值</a:t>
            </a:r>
            <a:endParaRPr lang="en-US" altLang="zh-CN" dirty="0"/>
          </a:p>
          <a:p>
            <a:pPr lvl="1"/>
            <a:r>
              <a:rPr lang="zh-CN" altLang="en-US" dirty="0"/>
              <a:t>注意在每一个</a:t>
            </a:r>
            <a:r>
              <a:rPr lang="en-US" altLang="zh-CN" dirty="0"/>
              <a:t>case</a:t>
            </a:r>
            <a:r>
              <a:rPr lang="zh-CN" altLang="en-US" dirty="0"/>
              <a:t>分支结束位置应该有一个</a:t>
            </a:r>
            <a:r>
              <a:rPr lang="en-US" altLang="zh-CN" dirty="0"/>
              <a:t>break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一个综合例子：改进的三门问题模拟：</a:t>
            </a:r>
            <a:endParaRPr lang="en-US" altLang="zh-CN" dirty="0"/>
          </a:p>
          <a:p>
            <a:pPr lvl="1"/>
            <a:r>
              <a:rPr lang="en-US" altLang="zh-CN" dirty="0"/>
              <a:t> Code3\ThreeGates2.java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3.3.4 </a:t>
            </a:r>
            <a:r>
              <a:rPr lang="zh-CN" altLang="en-US" dirty="0"/>
              <a:t>中断控制流程语句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break   </a:t>
            </a:r>
            <a:r>
              <a:rPr lang="zh-CN" altLang="en-US" dirty="0"/>
              <a:t>除了可以跳出</a:t>
            </a:r>
            <a:r>
              <a:rPr lang="en-US" altLang="zh-CN" dirty="0"/>
              <a:t>case</a:t>
            </a:r>
            <a:r>
              <a:rPr lang="zh-CN" altLang="en-US" dirty="0"/>
              <a:t>外，也可以结束循环，执行循环体下面的语句。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b="1" dirty="0"/>
              <a:t>for(</a:t>
            </a:r>
            <a:r>
              <a:rPr lang="en-US" altLang="zh-CN" b="1" dirty="0" err="1"/>
              <a:t>int</a:t>
            </a:r>
            <a:r>
              <a:rPr lang="en-US" altLang="zh-CN" b="1" dirty="0"/>
              <a:t> </a:t>
            </a:r>
            <a:r>
              <a:rPr lang="en-US" altLang="zh-CN" b="1" dirty="0" err="1"/>
              <a:t>i</a:t>
            </a:r>
            <a:r>
              <a:rPr lang="en-US" altLang="zh-CN" b="1" dirty="0"/>
              <a:t>=0;i&lt;10;i++)</a:t>
            </a:r>
            <a:endParaRPr lang="en-US" altLang="zh-CN" b="1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System.</a:t>
            </a:r>
            <a:r>
              <a:rPr lang="en-US" altLang="zh-CN" b="1" i="1" dirty="0" err="1"/>
              <a:t>out.println</a:t>
            </a:r>
            <a:r>
              <a:rPr lang="en-US" altLang="zh-CN" b="1" i="1" dirty="0"/>
              <a:t>("</a:t>
            </a:r>
            <a:r>
              <a:rPr lang="en-US" altLang="zh-CN" b="1" i="1" dirty="0" err="1"/>
              <a:t>i</a:t>
            </a:r>
            <a:r>
              <a:rPr lang="en-US" altLang="zh-CN" b="1" i="1" dirty="0"/>
              <a:t> </a:t>
            </a:r>
            <a:r>
              <a:rPr lang="zh-CN" altLang="en-US" b="1" i="1" dirty="0"/>
              <a:t>的值为 </a:t>
            </a:r>
            <a:r>
              <a:rPr lang="en-US" altLang="zh-CN" b="1" i="1" dirty="0"/>
              <a:t>"+ </a:t>
            </a:r>
            <a:r>
              <a:rPr lang="en-US" altLang="zh-CN" b="1" i="1" dirty="0" err="1"/>
              <a:t>i</a:t>
            </a:r>
            <a:r>
              <a:rPr lang="en-US" altLang="zh-CN" b="1" i="1" dirty="0"/>
              <a:t>);</a:t>
            </a:r>
            <a:endParaRPr lang="en-US" altLang="zh-CN" b="1" i="1" dirty="0"/>
          </a:p>
          <a:p>
            <a:pPr marL="274320" lvl="1" indent="0">
              <a:buNone/>
            </a:pPr>
            <a:r>
              <a:rPr lang="en-US" altLang="zh-CN" b="1" dirty="0"/>
              <a:t>	if(</a:t>
            </a:r>
            <a:r>
              <a:rPr lang="en-US" altLang="zh-CN" b="1" dirty="0" err="1"/>
              <a:t>i</a:t>
            </a:r>
            <a:r>
              <a:rPr lang="en-US" altLang="zh-CN" b="1" dirty="0"/>
              <a:t>==5)</a:t>
            </a:r>
            <a:endParaRPr lang="en-US" altLang="zh-CN" b="1" dirty="0"/>
          </a:p>
          <a:p>
            <a:pPr marL="274320" lvl="1" indent="0">
              <a:buNone/>
            </a:pPr>
            <a:r>
              <a:rPr lang="en-US" altLang="zh-CN" b="1" dirty="0"/>
              <a:t>		break;</a:t>
            </a:r>
            <a:endParaRPr lang="en-US" altLang="zh-CN" b="1" dirty="0"/>
          </a:p>
          <a:p>
            <a:pPr marL="274320" lvl="1" indent="0">
              <a:buNone/>
            </a:pPr>
            <a:r>
              <a:rPr lang="en-US" altLang="zh-CN" dirty="0"/>
              <a:t>}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循环执行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6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次即结束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688632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带标签的</a:t>
            </a:r>
            <a:r>
              <a:rPr lang="en-US" altLang="zh-CN" dirty="0"/>
              <a:t>break</a:t>
            </a:r>
            <a:r>
              <a:rPr lang="zh-CN" altLang="en-US" dirty="0"/>
              <a:t>语句：多层嵌套的循环可以在外层设置一个标签，内层放置</a:t>
            </a:r>
            <a:r>
              <a:rPr lang="en-US" altLang="zh-CN" dirty="0"/>
              <a:t>break</a:t>
            </a:r>
            <a:r>
              <a:rPr lang="zh-CN" altLang="en-US" dirty="0"/>
              <a:t>语句。</a:t>
            </a:r>
            <a:r>
              <a:rPr lang="en-US" altLang="zh-CN" dirty="0"/>
              <a:t>break</a:t>
            </a:r>
            <a:r>
              <a:rPr lang="zh-CN" altLang="en-US" dirty="0"/>
              <a:t>执行时会结束标签指定的语句块（外层循环）。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outer:</a:t>
            </a:r>
            <a:endParaRPr lang="en-US" altLang="zh-CN" dirty="0"/>
          </a:p>
          <a:p>
            <a:pPr>
              <a:buNone/>
            </a:pPr>
            <a:r>
              <a:rPr lang="nn-NO" altLang="zh-CN" dirty="0"/>
              <a:t>for (int i = 0 ; i &lt; 5 ; i++ )</a:t>
            </a:r>
            <a:endParaRPr lang="nn-NO" altLang="zh-CN" dirty="0"/>
          </a:p>
          <a:p>
            <a:pPr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for (</a:t>
            </a:r>
            <a:r>
              <a:rPr lang="en-US" altLang="zh-CN" dirty="0" err="1"/>
              <a:t>int</a:t>
            </a:r>
            <a:r>
              <a:rPr lang="en-US" altLang="zh-CN" dirty="0"/>
              <a:t> j = 0; j &lt; 3 ; </a:t>
            </a:r>
            <a:r>
              <a:rPr lang="en-US" altLang="zh-CN" dirty="0" err="1"/>
              <a:t>j++</a:t>
            </a:r>
            <a:r>
              <a:rPr lang="en-US" altLang="zh-CN" dirty="0"/>
              <a:t> )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lvl="2"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en-US" altLang="zh-CN" dirty="0" err="1"/>
              <a:t>i</a:t>
            </a:r>
            <a:r>
              <a:rPr lang="zh-CN" altLang="en-US" dirty="0"/>
              <a:t>的值为</a:t>
            </a:r>
            <a:r>
              <a:rPr lang="en-US" altLang="zh-CN" dirty="0"/>
              <a:t>:"</a:t>
            </a:r>
            <a:r>
              <a:rPr lang="zh-CN" altLang="en-US" dirty="0"/>
              <a:t> </a:t>
            </a:r>
            <a:r>
              <a:rPr lang="en-US" altLang="zh-CN" dirty="0"/>
              <a:t>+ </a:t>
            </a:r>
            <a:r>
              <a:rPr lang="en-US" altLang="zh-CN" dirty="0" err="1"/>
              <a:t>i</a:t>
            </a:r>
            <a:r>
              <a:rPr lang="en-US" altLang="zh-CN" dirty="0"/>
              <a:t> + "  j</a:t>
            </a:r>
            <a:r>
              <a:rPr lang="zh-CN" altLang="en-US" dirty="0"/>
              <a:t>的值为</a:t>
            </a:r>
            <a:r>
              <a:rPr lang="en-US" altLang="zh-CN" dirty="0"/>
              <a:t>:"</a:t>
            </a:r>
            <a:r>
              <a:rPr lang="zh-CN" altLang="en-US" dirty="0"/>
              <a:t> </a:t>
            </a:r>
            <a:r>
              <a:rPr lang="en-US" altLang="zh-CN" dirty="0"/>
              <a:t>+ j);</a:t>
            </a:r>
            <a:endParaRPr lang="en-US" altLang="zh-CN" dirty="0"/>
          </a:p>
          <a:p>
            <a:pPr lvl="2">
              <a:buNone/>
            </a:pPr>
            <a:r>
              <a:rPr lang="en-US" altLang="zh-CN" dirty="0"/>
              <a:t>if (j == 1)</a:t>
            </a:r>
            <a:endParaRPr lang="en-US" altLang="zh-CN" dirty="0"/>
          </a:p>
          <a:p>
            <a:pPr lvl="2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lvl="3">
              <a:buNone/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跳出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outer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标签所标识的循环。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  <a:p>
            <a:pPr lvl="3">
              <a:buNone/>
            </a:pPr>
            <a:r>
              <a:rPr lang="en-US" altLang="zh-CN" dirty="0"/>
              <a:t>break outer;</a:t>
            </a:r>
            <a:endParaRPr lang="en-US" altLang="zh-CN" dirty="0"/>
          </a:p>
          <a:p>
            <a:pPr lvl="2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075240" cy="6408712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continue </a:t>
            </a:r>
            <a:r>
              <a:rPr lang="zh-CN" altLang="en-US" dirty="0"/>
              <a:t>用于结束本次循环，进入下一次循环。也可以带一个标签，结束标签标识的循环体当次循环。</a:t>
            </a:r>
            <a:endParaRPr lang="en-US" altLang="zh-CN" dirty="0"/>
          </a:p>
          <a:p>
            <a:pPr>
              <a:buNone/>
            </a:pPr>
            <a:r>
              <a:rPr lang="en-US" altLang="zh-CN" b="1" dirty="0" err="1"/>
              <a:t>int</a:t>
            </a:r>
            <a:r>
              <a:rPr lang="en-US" altLang="zh-CN" b="1" dirty="0"/>
              <a:t> </a:t>
            </a:r>
            <a:r>
              <a:rPr lang="en-US" altLang="zh-CN" b="1" dirty="0" err="1"/>
              <a:t>i,j</a:t>
            </a:r>
            <a:r>
              <a:rPr lang="en-US" altLang="zh-CN" b="1" dirty="0"/>
              <a:t>;</a:t>
            </a:r>
            <a:endParaRPr lang="en-US" altLang="zh-CN" b="1" dirty="0"/>
          </a:p>
          <a:p>
            <a:pPr>
              <a:buNone/>
            </a:pPr>
            <a:r>
              <a:rPr lang="en-US" altLang="zh-CN" dirty="0"/>
              <a:t>outer: </a:t>
            </a:r>
            <a:endParaRPr lang="en-US" altLang="zh-CN" dirty="0"/>
          </a:p>
          <a:p>
            <a:pPr>
              <a:buNone/>
            </a:pPr>
            <a:r>
              <a:rPr lang="en-US" altLang="zh-CN" b="1" dirty="0"/>
              <a:t>for (</a:t>
            </a:r>
            <a:r>
              <a:rPr lang="en-US" altLang="zh-CN" b="1" dirty="0" err="1"/>
              <a:t>i</a:t>
            </a:r>
            <a:r>
              <a:rPr lang="en-US" altLang="zh-CN" b="1" dirty="0"/>
              <a:t> = 0; </a:t>
            </a:r>
            <a:r>
              <a:rPr lang="en-US" altLang="zh-CN" b="1" dirty="0" err="1"/>
              <a:t>i</a:t>
            </a:r>
            <a:r>
              <a:rPr lang="en-US" altLang="zh-CN" b="1" dirty="0"/>
              <a:t> &lt; 5; </a:t>
            </a:r>
            <a:r>
              <a:rPr lang="en-US" altLang="zh-CN" b="1" dirty="0" err="1"/>
              <a:t>i</a:t>
            </a:r>
            <a:r>
              <a:rPr lang="en-US" altLang="zh-CN" b="1" dirty="0"/>
              <a:t>++)</a:t>
            </a:r>
            <a:endParaRPr lang="en-US" altLang="zh-CN" b="1" dirty="0"/>
          </a:p>
          <a:p>
            <a:pPr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lvl="1">
              <a:buNone/>
            </a:pPr>
            <a:r>
              <a:rPr lang="en-US" altLang="zh-CN" b="1" dirty="0"/>
              <a:t>for (j = 0; j &lt; 3; </a:t>
            </a:r>
            <a:r>
              <a:rPr lang="en-US" altLang="zh-CN" b="1" dirty="0" err="1"/>
              <a:t>j++</a:t>
            </a:r>
            <a:r>
              <a:rPr lang="en-US" altLang="zh-CN" b="1" dirty="0"/>
              <a:t>)</a:t>
            </a:r>
            <a:endParaRPr lang="en-US" altLang="zh-CN" b="1" dirty="0"/>
          </a:p>
          <a:p>
            <a:pPr lvl="1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lvl="1">
              <a:buNone/>
            </a:pPr>
            <a:r>
              <a:rPr lang="en-US" altLang="zh-CN" b="1" dirty="0"/>
              <a:t>        if (j == 1)</a:t>
            </a:r>
            <a:endParaRPr lang="en-US" altLang="zh-CN" b="1" dirty="0"/>
          </a:p>
          <a:p>
            <a:pPr lvl="1">
              <a:buNone/>
            </a:pPr>
            <a:r>
              <a:rPr lang="en-US" altLang="zh-CN" dirty="0"/>
              <a:t>        {   // </a:t>
            </a:r>
            <a:r>
              <a:rPr lang="zh-CN" altLang="en-US" dirty="0"/>
              <a:t>忽略</a:t>
            </a:r>
            <a:r>
              <a:rPr lang="en-US" altLang="zh-CN" dirty="0"/>
              <a:t>outer</a:t>
            </a:r>
            <a:r>
              <a:rPr lang="zh-CN" altLang="en-US" dirty="0"/>
              <a:t>标签所指定的循环中本次循环所剩下语句。</a:t>
            </a:r>
            <a:endParaRPr lang="zh-CN" altLang="en-US" dirty="0"/>
          </a:p>
          <a:p>
            <a:pPr lvl="1">
              <a:buNone/>
            </a:pPr>
            <a:r>
              <a:rPr lang="en-US" altLang="zh-CN" b="1" dirty="0"/>
              <a:t>            continue outer;</a:t>
            </a:r>
            <a:endParaRPr lang="en-US" altLang="zh-CN" b="1" dirty="0"/>
          </a:p>
          <a:p>
            <a:pPr lvl="1">
              <a:buNone/>
            </a:pPr>
            <a:r>
              <a:rPr lang="en-US" altLang="zh-CN" dirty="0"/>
              <a:t>        }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  </a:t>
            </a:r>
            <a:r>
              <a:rPr lang="en-US" altLang="zh-CN" dirty="0" err="1"/>
              <a:t>System.</a:t>
            </a:r>
            <a:r>
              <a:rPr lang="en-US" altLang="zh-CN" b="1" i="1" dirty="0" err="1"/>
              <a:t>out.println</a:t>
            </a:r>
            <a:r>
              <a:rPr lang="en-US" altLang="zh-CN" b="1" i="1" dirty="0"/>
              <a:t>("</a:t>
            </a:r>
            <a:r>
              <a:rPr lang="zh-CN" altLang="en-US" b="1" i="1" dirty="0"/>
              <a:t>内层循环输出：</a:t>
            </a:r>
            <a:r>
              <a:rPr lang="en-US" altLang="zh-CN" b="1" i="1" dirty="0" err="1"/>
              <a:t>i</a:t>
            </a:r>
            <a:r>
              <a:rPr lang="zh-CN" altLang="en-US" b="1" i="1" dirty="0"/>
              <a:t>的值为</a:t>
            </a:r>
            <a:r>
              <a:rPr lang="en-US" altLang="zh-CN" b="1" i="1" dirty="0"/>
              <a:t>:"</a:t>
            </a:r>
            <a:r>
              <a:rPr lang="zh-CN" altLang="en-US" b="1" i="1" dirty="0"/>
              <a:t> </a:t>
            </a:r>
            <a:r>
              <a:rPr lang="en-US" altLang="zh-CN" b="1" i="1" dirty="0"/>
              <a:t>+ </a:t>
            </a:r>
            <a:r>
              <a:rPr lang="en-US" altLang="zh-CN" b="1" i="1" dirty="0" err="1"/>
              <a:t>i</a:t>
            </a:r>
            <a:r>
              <a:rPr lang="en-US" altLang="zh-CN" b="1" i="1" dirty="0"/>
              <a:t> + "  j</a:t>
            </a:r>
            <a:r>
              <a:rPr lang="zh-CN" altLang="en-US" b="1" i="1" dirty="0"/>
              <a:t>的值为</a:t>
            </a:r>
            <a:r>
              <a:rPr lang="en-US" altLang="zh-CN" b="1" i="1" dirty="0"/>
              <a:t>:"</a:t>
            </a:r>
            <a:r>
              <a:rPr lang="zh-CN" altLang="en-US" b="1" i="1" dirty="0"/>
              <a:t> </a:t>
            </a:r>
            <a:r>
              <a:rPr lang="en-US" altLang="zh-CN" b="1" i="1" dirty="0"/>
              <a:t>+ j);</a:t>
            </a:r>
            <a:endParaRPr lang="en-US" altLang="zh-CN" b="1" i="1" dirty="0"/>
          </a:p>
          <a:p>
            <a:pPr lvl="1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>
              <a:buNone/>
            </a:pPr>
            <a:r>
              <a:rPr lang="en-US" altLang="zh-CN" dirty="0" err="1"/>
              <a:t>System.</a:t>
            </a:r>
            <a:r>
              <a:rPr lang="en-US" altLang="zh-CN" b="1" i="1" dirty="0" err="1"/>
              <a:t>out.println</a:t>
            </a:r>
            <a:r>
              <a:rPr lang="en-US" altLang="zh-CN" b="1" i="1" dirty="0"/>
              <a:t>("</a:t>
            </a:r>
            <a:r>
              <a:rPr lang="zh-CN" altLang="en-US" b="1" i="1" dirty="0"/>
              <a:t>外层循环输出：</a:t>
            </a:r>
            <a:r>
              <a:rPr lang="en-US" altLang="zh-CN" b="1" i="1" dirty="0" err="1"/>
              <a:t>i</a:t>
            </a:r>
            <a:r>
              <a:rPr lang="zh-CN" altLang="en-US" b="1" i="1" dirty="0"/>
              <a:t>的值为</a:t>
            </a:r>
            <a:r>
              <a:rPr lang="en-US" altLang="zh-CN" b="1" i="1" dirty="0"/>
              <a:t>:"</a:t>
            </a:r>
            <a:r>
              <a:rPr lang="zh-CN" altLang="en-US" b="1" i="1" dirty="0"/>
              <a:t> </a:t>
            </a:r>
            <a:r>
              <a:rPr lang="en-US" altLang="zh-CN" b="1" i="1" dirty="0"/>
              <a:t>+ </a:t>
            </a:r>
            <a:r>
              <a:rPr lang="en-US" altLang="zh-CN" b="1" i="1" dirty="0" err="1"/>
              <a:t>i</a:t>
            </a:r>
            <a:r>
              <a:rPr lang="en-US" altLang="zh-CN" b="1" i="1" dirty="0"/>
              <a:t> + "  j</a:t>
            </a:r>
            <a:r>
              <a:rPr lang="zh-CN" altLang="en-US" b="1" i="1" dirty="0"/>
              <a:t>的值为</a:t>
            </a:r>
            <a:r>
              <a:rPr lang="en-US" altLang="zh-CN" b="1" i="1" dirty="0"/>
              <a:t>:"</a:t>
            </a:r>
            <a:r>
              <a:rPr lang="zh-CN" altLang="en-US" b="1" i="1" dirty="0"/>
              <a:t> </a:t>
            </a:r>
            <a:r>
              <a:rPr lang="en-US" altLang="zh-CN" b="1" i="1" dirty="0"/>
              <a:t>+ j);</a:t>
            </a:r>
            <a:endParaRPr lang="en-US" altLang="zh-CN" b="1" i="1" dirty="0"/>
          </a:p>
          <a:p>
            <a:pPr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return </a:t>
            </a:r>
            <a:r>
              <a:rPr lang="zh-CN" altLang="en-US" dirty="0"/>
              <a:t>结束方法。如果循环体中遇到</a:t>
            </a:r>
            <a:r>
              <a:rPr lang="en-US" altLang="zh-CN" dirty="0"/>
              <a:t>return</a:t>
            </a:r>
            <a:r>
              <a:rPr lang="zh-CN" altLang="en-US" dirty="0"/>
              <a:t>语句，自然也会结束循环。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作业：模拟醉汉行走问题。每走一步用随机方法生成步长和方向，每一步可用一个矢量来表示，将这些矢量累加起来可以计算出醉汉最后走出的距离和方向。通过模拟实验，评估其走路的效率。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数组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数组具有如下特征：</a:t>
            </a:r>
            <a:endParaRPr lang="en-US" altLang="zh-CN" dirty="0"/>
          </a:p>
          <a:p>
            <a:pPr lvl="1"/>
            <a:r>
              <a:rPr lang="zh-CN" altLang="en-US" dirty="0"/>
              <a:t>数组中的元素类型一致</a:t>
            </a:r>
            <a:endParaRPr lang="en-US" altLang="zh-CN" dirty="0"/>
          </a:p>
          <a:p>
            <a:pPr lvl="1"/>
            <a:r>
              <a:rPr lang="zh-CN" altLang="en-US" dirty="0"/>
              <a:t>一旦数组初始化完成，其长度固定</a:t>
            </a:r>
            <a:endParaRPr lang="en-US" altLang="zh-CN" dirty="0"/>
          </a:p>
          <a:p>
            <a:pPr lvl="1"/>
            <a:r>
              <a:rPr lang="zh-CN" altLang="en-US" dirty="0"/>
              <a:t>数组中既可存放基本类型，也可存放引用类型</a:t>
            </a:r>
            <a:endParaRPr lang="en-US" altLang="zh-CN" dirty="0"/>
          </a:p>
          <a:p>
            <a:pPr lvl="1"/>
            <a:r>
              <a:rPr lang="zh-CN" altLang="en-US" dirty="0"/>
              <a:t>数组本身也是一种引用类型</a:t>
            </a:r>
            <a:endParaRPr lang="en-US" altLang="zh-CN" dirty="0"/>
          </a:p>
          <a:p>
            <a:r>
              <a:rPr lang="en-US" altLang="zh-CN" dirty="0"/>
              <a:t>java</a:t>
            </a:r>
            <a:r>
              <a:rPr lang="zh-CN" altLang="en-US" dirty="0"/>
              <a:t>可以用两种格式定义数组：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[ ] </a:t>
            </a:r>
            <a:r>
              <a:rPr lang="en-US" altLang="zh-CN" dirty="0" err="1"/>
              <a:t>myArray</a:t>
            </a:r>
            <a:r>
              <a:rPr lang="en-US" altLang="zh-CN" dirty="0"/>
              <a:t>;  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提倡使用这种格式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myArray</a:t>
            </a:r>
            <a:r>
              <a:rPr lang="en-US" altLang="zh-CN" dirty="0"/>
              <a:t>[ ]; </a:t>
            </a:r>
            <a:endParaRPr lang="en-US" altLang="zh-CN" dirty="0"/>
          </a:p>
          <a:p>
            <a:pPr lvl="1"/>
            <a:r>
              <a:rPr lang="zh-CN" altLang="en-US" dirty="0"/>
              <a:t>注意：定义数组时只是定义了一个</a:t>
            </a:r>
            <a:r>
              <a:rPr lang="zh-CN" altLang="en-US" dirty="0">
                <a:solidFill>
                  <a:srgbClr val="FF0000"/>
                </a:solidFill>
              </a:rPr>
              <a:t>引用变量</a:t>
            </a:r>
            <a:r>
              <a:rPr lang="zh-CN" altLang="en-US" dirty="0"/>
              <a:t>，没有指向任何对象，因而不能指定数组的长度，也不能使用。</a:t>
            </a:r>
            <a:endParaRPr lang="zh-CN" altLang="en-US" dirty="0"/>
          </a:p>
          <a:p>
            <a:pPr lvl="1"/>
            <a:r>
              <a:rPr lang="zh-CN" altLang="en-US" dirty="0"/>
              <a:t>要想使用数组，必须对其初始化。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3.4.1 </a:t>
            </a:r>
            <a:r>
              <a:rPr lang="zh-CN" altLang="en-US" dirty="0"/>
              <a:t>数组的初始化和使用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数组初始化有两种方式：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静态初始化</a:t>
            </a:r>
            <a:r>
              <a:rPr lang="zh-CN" altLang="en-US" dirty="0"/>
              <a:t>，给出具体的每个元素，必须使用</a:t>
            </a:r>
            <a:r>
              <a:rPr lang="en-US" altLang="zh-CN" dirty="0"/>
              <a:t>new</a:t>
            </a:r>
            <a:r>
              <a:rPr lang="zh-CN" altLang="en-US" dirty="0"/>
              <a:t>，只指定数组元素，不指定长度：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[] </a:t>
            </a:r>
            <a:r>
              <a:rPr lang="en-US" altLang="zh-CN" dirty="0" err="1"/>
              <a:t>iArray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iArray</a:t>
            </a:r>
            <a:r>
              <a:rPr lang="en-US" altLang="zh-CN" dirty="0"/>
              <a:t>= </a:t>
            </a:r>
            <a:r>
              <a:rPr lang="en-US" altLang="zh-CN" dirty="0">
                <a:solidFill>
                  <a:srgbClr val="FF0000"/>
                </a:solidFill>
              </a:rPr>
              <a:t>new 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[] </a:t>
            </a:r>
            <a:r>
              <a:rPr lang="en-US" altLang="zh-CN" dirty="0"/>
              <a:t>{1,2,3,4,5};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&lt;</a:t>
            </a:r>
            <a:r>
              <a:rPr lang="en-US" altLang="zh-CN" dirty="0" err="1"/>
              <a:t>iArray.length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</a:t>
            </a:r>
            <a:r>
              <a:rPr lang="en-US" altLang="zh-CN" dirty="0"/>
              <a:t>(</a:t>
            </a:r>
            <a:r>
              <a:rPr lang="en-US" altLang="zh-CN" dirty="0" err="1"/>
              <a:t>iArray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 + "\t");</a:t>
            </a:r>
            <a:endParaRPr lang="en-US" altLang="zh-CN" dirty="0"/>
          </a:p>
          <a:p>
            <a:pPr lvl="1"/>
            <a:r>
              <a:rPr lang="zh-CN" altLang="en-US" dirty="0"/>
              <a:t>可以在定义的同时初始化：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[] </a:t>
            </a:r>
            <a:r>
              <a:rPr lang="en-US" altLang="zh-CN" dirty="0" err="1"/>
              <a:t>iArray</a:t>
            </a:r>
            <a:r>
              <a:rPr lang="en-US" altLang="zh-CN" dirty="0"/>
              <a:t> = new </a:t>
            </a:r>
            <a:r>
              <a:rPr lang="en-US" altLang="zh-CN" dirty="0" err="1"/>
              <a:t>int</a:t>
            </a:r>
            <a:r>
              <a:rPr lang="en-US" altLang="zh-CN" dirty="0"/>
              <a:t>[] {1,2,3,4,5};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在定义的同时初始化时</a:t>
            </a:r>
            <a:r>
              <a:rPr lang="zh-CN" altLang="en-US" dirty="0"/>
              <a:t>，可以使用简化形式：</a:t>
            </a:r>
            <a:br>
              <a:rPr lang="en-US" altLang="zh-CN" dirty="0"/>
            </a:br>
            <a:r>
              <a:rPr lang="en-US" altLang="zh-CN" dirty="0"/>
              <a:t>String[] </a:t>
            </a:r>
            <a:r>
              <a:rPr lang="en-US" altLang="zh-CN" dirty="0" err="1"/>
              <a:t>sArray</a:t>
            </a:r>
            <a:r>
              <a:rPr lang="en-US" altLang="zh-CN" dirty="0"/>
              <a:t> = {"</a:t>
            </a:r>
            <a:r>
              <a:rPr lang="en-US" altLang="zh-CN" dirty="0" err="1"/>
              <a:t>China","America","Briton","Germany</a:t>
            </a:r>
            <a:r>
              <a:rPr lang="en-US" altLang="zh-CN" dirty="0"/>
              <a:t>"};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>
                <a:solidFill>
                  <a:srgbClr val="FF0000"/>
                </a:solidFill>
              </a:rPr>
              <a:t>动态初始化</a:t>
            </a:r>
            <a:r>
              <a:rPr lang="zh-CN" altLang="en-US" dirty="0"/>
              <a:t>，指定数组的长度，而不指定其具体元素，元素的值由系统自动给出：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[] prices = new </a:t>
            </a:r>
            <a:r>
              <a:rPr lang="en-US" altLang="zh-CN" dirty="0" err="1"/>
              <a:t>int</a:t>
            </a:r>
            <a:r>
              <a:rPr lang="en-US" altLang="zh-CN" dirty="0"/>
              <a:t>[5];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&lt;</a:t>
            </a:r>
            <a:r>
              <a:rPr lang="en-US" altLang="zh-CN" dirty="0" err="1"/>
              <a:t>prices.length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     </a:t>
            </a:r>
            <a:r>
              <a:rPr lang="en-US" altLang="zh-CN" dirty="0" err="1"/>
              <a:t>System.out.print</a:t>
            </a:r>
            <a:r>
              <a:rPr lang="en-US" altLang="zh-CN" dirty="0"/>
              <a:t>(prices[</a:t>
            </a:r>
            <a:r>
              <a:rPr lang="en-US" altLang="zh-CN" dirty="0" err="1"/>
              <a:t>i</a:t>
            </a:r>
            <a:r>
              <a:rPr lang="en-US" altLang="zh-CN" dirty="0"/>
              <a:t>] + "\t");  </a:t>
            </a:r>
            <a:endParaRPr lang="en-US" altLang="zh-CN" dirty="0"/>
          </a:p>
          <a:p>
            <a:pPr lvl="1"/>
            <a:r>
              <a:rPr lang="zh-CN" altLang="en-US" dirty="0"/>
              <a:t>当然也可以写成如下形式：</a:t>
            </a:r>
            <a:br>
              <a:rPr lang="en-US" altLang="zh-CN" dirty="0"/>
            </a:b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[] prices;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prices= new </a:t>
            </a:r>
            <a:r>
              <a:rPr lang="en-US" altLang="zh-CN" dirty="0" err="1"/>
              <a:t>int</a:t>
            </a:r>
            <a:r>
              <a:rPr lang="en-US" altLang="zh-CN" dirty="0"/>
              <a:t>[5];</a:t>
            </a:r>
            <a:endParaRPr lang="en-US" altLang="zh-CN" dirty="0"/>
          </a:p>
          <a:p>
            <a:pPr lvl="1"/>
            <a:r>
              <a:rPr lang="zh-CN" altLang="en-US" dirty="0"/>
              <a:t>动态初始化时整型（</a:t>
            </a:r>
            <a:r>
              <a:rPr lang="en-US" altLang="zh-CN" dirty="0"/>
              <a:t>byte</a:t>
            </a:r>
            <a:r>
              <a:rPr lang="zh-CN" altLang="en-US" dirty="0"/>
              <a:t>，</a:t>
            </a:r>
            <a:r>
              <a:rPr lang="en-US" altLang="zh-CN" dirty="0"/>
              <a:t>short</a:t>
            </a:r>
            <a:r>
              <a:rPr lang="zh-CN" altLang="en-US" dirty="0"/>
              <a:t>，</a:t>
            </a:r>
            <a:r>
              <a:rPr lang="en-US" altLang="zh-CN" dirty="0" err="1"/>
              <a:t>int</a:t>
            </a:r>
            <a:r>
              <a:rPr lang="zh-CN" altLang="en-US" dirty="0"/>
              <a:t>，</a:t>
            </a:r>
            <a:r>
              <a:rPr lang="en-US" altLang="zh-CN" dirty="0"/>
              <a:t>long</a:t>
            </a:r>
            <a:r>
              <a:rPr lang="zh-CN" altLang="en-US" dirty="0"/>
              <a:t>）元素的值为</a:t>
            </a:r>
            <a:r>
              <a:rPr lang="en-US" altLang="zh-CN" dirty="0"/>
              <a:t>0</a:t>
            </a:r>
            <a:r>
              <a:rPr lang="zh-CN" altLang="en-US" dirty="0"/>
              <a:t>，浮点型（</a:t>
            </a:r>
            <a:r>
              <a:rPr lang="en-US" altLang="zh-CN" dirty="0"/>
              <a:t>float</a:t>
            </a:r>
            <a:r>
              <a:rPr lang="zh-CN" altLang="en-US" dirty="0"/>
              <a:t>，</a:t>
            </a:r>
            <a:r>
              <a:rPr lang="en-US" altLang="zh-CN" dirty="0"/>
              <a:t>double</a:t>
            </a:r>
            <a:r>
              <a:rPr lang="zh-CN" altLang="en-US" dirty="0"/>
              <a:t>）为</a:t>
            </a:r>
            <a:r>
              <a:rPr lang="en-US" altLang="zh-CN" dirty="0"/>
              <a:t>0.0</a:t>
            </a:r>
            <a:r>
              <a:rPr lang="zh-CN" altLang="en-US" dirty="0"/>
              <a:t>，</a:t>
            </a:r>
            <a:r>
              <a:rPr lang="en-US" altLang="zh-CN" dirty="0"/>
              <a:t>char</a:t>
            </a:r>
            <a:r>
              <a:rPr lang="zh-CN" altLang="en-US" dirty="0"/>
              <a:t>为</a:t>
            </a:r>
            <a:r>
              <a:rPr lang="en-US" altLang="zh-CN" dirty="0"/>
              <a:t>’\u0000’</a:t>
            </a:r>
            <a:r>
              <a:rPr lang="zh-CN" altLang="en-US" dirty="0"/>
              <a:t>，</a:t>
            </a:r>
            <a:r>
              <a:rPr lang="en-US" altLang="zh-CN" dirty="0" err="1"/>
              <a:t>boolean</a:t>
            </a:r>
            <a:r>
              <a:rPr lang="zh-CN" altLang="en-US" dirty="0"/>
              <a:t>为</a:t>
            </a:r>
            <a:r>
              <a:rPr lang="en-US" altLang="zh-CN" dirty="0"/>
              <a:t>false</a:t>
            </a:r>
            <a:r>
              <a:rPr lang="zh-CN" altLang="en-US" dirty="0"/>
              <a:t>，对象则初始化为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数组初始化后可以再次被初始化：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[] </a:t>
            </a:r>
            <a:r>
              <a:rPr lang="en-US" altLang="zh-CN" dirty="0" err="1"/>
              <a:t>iArray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</a:t>
            </a:r>
            <a:r>
              <a:rPr lang="en-US" altLang="zh-CN" dirty="0" err="1">
                <a:solidFill>
                  <a:srgbClr val="FF0000"/>
                </a:solidFill>
              </a:rPr>
              <a:t>iArray</a:t>
            </a:r>
            <a:r>
              <a:rPr lang="en-US" altLang="zh-CN" dirty="0"/>
              <a:t>= new </a:t>
            </a:r>
            <a:r>
              <a:rPr lang="en-US" altLang="zh-CN" dirty="0" err="1"/>
              <a:t>int</a:t>
            </a:r>
            <a:r>
              <a:rPr lang="en-US" altLang="zh-CN" dirty="0"/>
              <a:t>[] {1,2,3,4,5};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&lt;</a:t>
            </a:r>
            <a:r>
              <a:rPr lang="en-US" altLang="zh-CN" dirty="0" err="1"/>
              <a:t>iArray.length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System.out.print</a:t>
            </a:r>
            <a:r>
              <a:rPr lang="en-US" altLang="zh-CN" dirty="0"/>
              <a:t>(</a:t>
            </a:r>
            <a:r>
              <a:rPr lang="en-US" altLang="zh-CN" dirty="0" err="1"/>
              <a:t>iArray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 + "\t");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</a:t>
            </a:r>
            <a:r>
              <a:rPr lang="en-US" altLang="zh-CN" dirty="0" err="1">
                <a:solidFill>
                  <a:srgbClr val="FF0000"/>
                </a:solidFill>
              </a:rPr>
              <a:t>iArray</a:t>
            </a:r>
            <a:r>
              <a:rPr lang="en-US" altLang="zh-CN" dirty="0"/>
              <a:t>= new </a:t>
            </a:r>
            <a:r>
              <a:rPr lang="en-US" altLang="zh-CN" dirty="0" err="1"/>
              <a:t>int</a:t>
            </a:r>
            <a:r>
              <a:rPr lang="en-US" altLang="zh-CN" dirty="0"/>
              <a:t>[] {11,12,13,14,15,16};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&lt;</a:t>
            </a:r>
            <a:r>
              <a:rPr lang="en-US" altLang="zh-CN" dirty="0" err="1"/>
              <a:t>iArray.length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System.out.print</a:t>
            </a:r>
            <a:r>
              <a:rPr lang="en-US" altLang="zh-CN" dirty="0"/>
              <a:t>(</a:t>
            </a:r>
            <a:r>
              <a:rPr lang="en-US" altLang="zh-CN" dirty="0" err="1"/>
              <a:t>iArray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 + "\t");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/>
              <a:t>需要注意：</a:t>
            </a:r>
            <a:r>
              <a:rPr lang="en-US" altLang="zh-CN" dirty="0"/>
              <a:t> </a:t>
            </a:r>
            <a:r>
              <a:rPr lang="en-US" altLang="zh-CN" dirty="0" err="1"/>
              <a:t>iArray</a:t>
            </a:r>
            <a:r>
              <a:rPr lang="zh-CN" altLang="en-US" dirty="0"/>
              <a:t>是一个引用变量，它最初指向一个</a:t>
            </a:r>
            <a:r>
              <a:rPr lang="en-US" altLang="zh-CN" dirty="0"/>
              <a:t>5</a:t>
            </a:r>
            <a:r>
              <a:rPr lang="zh-CN" altLang="en-US" dirty="0"/>
              <a:t>个元素的数组对象，而后又指向另一个</a:t>
            </a:r>
            <a:r>
              <a:rPr lang="en-US" altLang="zh-CN" dirty="0"/>
              <a:t>6</a:t>
            </a:r>
            <a:r>
              <a:rPr lang="zh-CN" altLang="en-US" dirty="0"/>
              <a:t>元素数组对象。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256584"/>
          </a:xfrm>
        </p:spPr>
        <p:txBody>
          <a:bodyPr>
            <a:normAutofit/>
          </a:bodyPr>
          <a:lstStyle/>
          <a:p>
            <a:r>
              <a:rPr lang="zh-CN" altLang="en-US" dirty="0"/>
              <a:t>可以用下标访问元素和向元素赋值。</a:t>
            </a:r>
            <a:endParaRPr lang="en-US" altLang="zh-CN" dirty="0"/>
          </a:p>
          <a:p>
            <a:pPr marL="274320" lvl="1" indent="0">
              <a:buNone/>
            </a:pPr>
            <a:r>
              <a:rPr lang="nn-NO" altLang="zh-CN" b="1" dirty="0"/>
              <a:t>for(int i = 0; i&lt;iArray.length; i++)</a:t>
            </a:r>
            <a:endParaRPr lang="nn-NO" altLang="zh-CN" b="1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iArray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 = </a:t>
            </a:r>
            <a:r>
              <a:rPr lang="en-US" altLang="zh-CN" dirty="0" err="1"/>
              <a:t>i</a:t>
            </a:r>
            <a:r>
              <a:rPr lang="en-US" altLang="zh-CN" dirty="0"/>
              <a:t>*10;</a:t>
            </a:r>
            <a:endParaRPr lang="en-US" altLang="zh-CN" dirty="0"/>
          </a:p>
          <a:p>
            <a:r>
              <a:rPr lang="en-US" altLang="zh-CN" dirty="0" err="1"/>
              <a:t>foreach</a:t>
            </a:r>
            <a:r>
              <a:rPr lang="zh-CN" altLang="en-US" dirty="0"/>
              <a:t>循环，可用于遍历数组或集合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String</a:t>
            </a:r>
            <a:r>
              <a:rPr lang="en-US" altLang="zh-CN" dirty="0"/>
              <a:t>[] </a:t>
            </a:r>
            <a:r>
              <a:rPr lang="en-US" altLang="zh-CN" dirty="0" err="1"/>
              <a:t>sArray</a:t>
            </a:r>
            <a:r>
              <a:rPr lang="en-US" altLang="zh-CN" dirty="0"/>
              <a:t> = {"</a:t>
            </a:r>
            <a:r>
              <a:rPr lang="en-US" altLang="zh-CN" dirty="0" err="1"/>
              <a:t>China","America","Britain","Germany</a:t>
            </a:r>
            <a:r>
              <a:rPr lang="en-US" altLang="zh-CN" dirty="0"/>
              <a:t>"};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for(</a:t>
            </a:r>
            <a:r>
              <a:rPr lang="en-US" altLang="zh-CN" dirty="0">
                <a:solidFill>
                  <a:srgbClr val="FF0000"/>
                </a:solidFill>
              </a:rPr>
              <a:t>String</a:t>
            </a:r>
            <a:r>
              <a:rPr lang="en-US" altLang="zh-CN" dirty="0"/>
              <a:t> index : </a:t>
            </a:r>
            <a:r>
              <a:rPr lang="en-US" altLang="zh-CN" dirty="0" err="1"/>
              <a:t>sArray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System.out.println</a:t>
            </a:r>
            <a:r>
              <a:rPr lang="en-US" altLang="zh-CN" dirty="0"/>
              <a:t>(index); </a:t>
            </a:r>
            <a:endParaRPr lang="en-US" altLang="zh-CN" dirty="0"/>
          </a:p>
          <a:p>
            <a:pPr lvl="1"/>
            <a:r>
              <a:rPr lang="zh-CN" altLang="en-US" dirty="0"/>
              <a:t>等价于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for(</a:t>
            </a:r>
            <a:r>
              <a:rPr lang="en-US" altLang="zh-CN" dirty="0" err="1"/>
              <a:t>int</a:t>
            </a:r>
            <a:r>
              <a:rPr lang="en-US" altLang="zh-CN" dirty="0"/>
              <a:t> index = 0; index&lt;</a:t>
            </a:r>
            <a:r>
              <a:rPr lang="en-US" altLang="zh-CN" dirty="0" err="1"/>
              <a:t>sArray.length</a:t>
            </a:r>
            <a:r>
              <a:rPr lang="en-US" altLang="zh-CN" dirty="0"/>
              <a:t>; index++)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sArray</a:t>
            </a:r>
            <a:r>
              <a:rPr lang="en-US" altLang="zh-CN" dirty="0"/>
              <a:t>[index]);</a:t>
            </a:r>
            <a:endParaRPr lang="en-US" altLang="zh-CN" dirty="0"/>
          </a:p>
          <a:p>
            <a:pPr lvl="1"/>
            <a:r>
              <a:rPr lang="zh-CN" altLang="en-US" dirty="0"/>
              <a:t>需注意：</a:t>
            </a:r>
            <a:r>
              <a:rPr lang="en-US" altLang="zh-CN" dirty="0" err="1">
                <a:solidFill>
                  <a:srgbClr val="FF0000"/>
                </a:solidFill>
              </a:rPr>
              <a:t>foreach</a:t>
            </a:r>
            <a:r>
              <a:rPr lang="zh-CN" altLang="en-US" dirty="0">
                <a:solidFill>
                  <a:srgbClr val="FF0000"/>
                </a:solidFill>
              </a:rPr>
              <a:t>语法不能用于改变元素的值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075240" cy="5904656"/>
          </a:xfrm>
        </p:spPr>
        <p:txBody>
          <a:bodyPr/>
          <a:lstStyle/>
          <a:p>
            <a:pPr>
              <a:buNone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   for(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ea typeface="+mn-ea"/>
              </a:rPr>
              <a:t>int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 i:iArray) {</a:t>
            </a:r>
            <a:endParaRPr lang="en-US" altLang="zh-CN" sz="2400" b="1" dirty="0">
              <a:solidFill>
                <a:schemeClr val="tx2">
                  <a:lumMod val="75000"/>
                </a:schemeClr>
              </a:solidFill>
              <a:ea typeface="+mn-ea"/>
            </a:endParaRPr>
          </a:p>
          <a:p>
            <a:pPr>
              <a:buNone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	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ea typeface="+mn-ea"/>
              </a:rPr>
              <a:t>i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=10;    </a:t>
            </a:r>
            <a:r>
              <a:rPr lang="en-US" altLang="zh-CN" sz="2400" b="1" dirty="0">
                <a:solidFill>
                  <a:schemeClr val="accent3">
                    <a:lumMod val="50000"/>
                  </a:schemeClr>
                </a:solidFill>
                <a:ea typeface="+mn-ea"/>
              </a:rPr>
              <a:t>//</a:t>
            </a:r>
            <a:r>
              <a:rPr lang="zh-CN" altLang="en-US" sz="2400" b="1" dirty="0">
                <a:solidFill>
                  <a:schemeClr val="accent3">
                    <a:lumMod val="50000"/>
                  </a:schemeClr>
                </a:solidFill>
                <a:ea typeface="+mn-ea"/>
              </a:rPr>
              <a:t>下面输出</a:t>
            </a:r>
            <a:r>
              <a:rPr lang="en-US" altLang="zh-CN" sz="2400" b="1" dirty="0">
                <a:solidFill>
                  <a:schemeClr val="accent3">
                    <a:lumMod val="50000"/>
                  </a:schemeClr>
                </a:solidFill>
                <a:ea typeface="+mn-ea"/>
              </a:rPr>
              <a:t> 10     10     10</a:t>
            </a:r>
            <a:endParaRPr lang="en-US" altLang="zh-CN" sz="2400" b="1" dirty="0">
              <a:solidFill>
                <a:schemeClr val="accent3">
                  <a:lumMod val="50000"/>
                </a:schemeClr>
              </a:solidFill>
              <a:ea typeface="+mn-ea"/>
            </a:endParaRPr>
          </a:p>
          <a:p>
            <a:pPr>
              <a:buNone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	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ea typeface="+mn-ea"/>
              </a:rPr>
              <a:t>System.out.print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 (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ea typeface="+mn-ea"/>
              </a:rPr>
              <a:t>i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+"\t");   </a:t>
            </a:r>
            <a:endParaRPr lang="en-US" altLang="zh-CN" sz="2400" b="1" dirty="0">
              <a:solidFill>
                <a:schemeClr val="tx2">
                  <a:lumMod val="75000"/>
                </a:schemeClr>
              </a:solidFill>
              <a:ea typeface="+mn-ea"/>
            </a:endParaRPr>
          </a:p>
          <a:p>
            <a:pPr>
              <a:buNone/>
            </a:pPr>
            <a:r>
              <a:rPr lang="en-US" altLang="zh-CN" dirty="0"/>
              <a:t>  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}</a:t>
            </a:r>
            <a:endParaRPr lang="en-US" altLang="zh-CN" sz="2400" b="1" dirty="0">
              <a:solidFill>
                <a:schemeClr val="tx2">
                  <a:lumMod val="75000"/>
                </a:schemeClr>
              </a:solidFill>
              <a:ea typeface="+mn-ea"/>
            </a:endParaRPr>
          </a:p>
          <a:p>
            <a:pPr>
              <a:buNone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   for(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ea typeface="+mn-ea"/>
              </a:rPr>
              <a:t>int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 i:iArray) </a:t>
            </a:r>
            <a:endParaRPr lang="en-US" altLang="zh-CN" sz="2400" b="1" dirty="0">
              <a:solidFill>
                <a:schemeClr val="tx2">
                  <a:lumMod val="75000"/>
                </a:schemeClr>
              </a:solidFill>
              <a:ea typeface="+mn-ea"/>
            </a:endParaRPr>
          </a:p>
          <a:p>
            <a:pPr>
              <a:buNone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	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ea typeface="+mn-ea"/>
              </a:rPr>
              <a:t>System.out.print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 (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ea typeface="+mn-ea"/>
              </a:rPr>
              <a:t>i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+"\t"); </a:t>
            </a:r>
            <a:r>
              <a:rPr lang="en-US" altLang="zh-CN" sz="2400" b="1" dirty="0">
                <a:solidFill>
                  <a:schemeClr val="accent3">
                    <a:lumMod val="50000"/>
                  </a:schemeClr>
                </a:solidFill>
                <a:ea typeface="+mn-ea"/>
              </a:rPr>
              <a:t>//</a:t>
            </a:r>
            <a:r>
              <a:rPr lang="zh-CN" altLang="en-US" sz="2400" b="1" dirty="0">
                <a:solidFill>
                  <a:schemeClr val="accent3">
                    <a:lumMod val="50000"/>
                  </a:schemeClr>
                </a:solidFill>
                <a:ea typeface="+mn-ea"/>
              </a:rPr>
              <a:t>输出</a:t>
            </a:r>
            <a:r>
              <a:rPr lang="en-US" altLang="zh-CN" sz="2400" b="1" dirty="0">
                <a:solidFill>
                  <a:schemeClr val="accent3">
                    <a:lumMod val="50000"/>
                  </a:schemeClr>
                </a:solidFill>
                <a:ea typeface="+mn-ea"/>
              </a:rPr>
              <a:t> 0     0     0</a:t>
            </a:r>
            <a:r>
              <a:rPr lang="zh-CN" altLang="en-US" sz="2400" b="1" dirty="0">
                <a:solidFill>
                  <a:schemeClr val="accent3">
                    <a:lumMod val="50000"/>
                  </a:schemeClr>
                </a:solidFill>
                <a:ea typeface="+mn-ea"/>
              </a:rPr>
              <a:t>，</a:t>
            </a:r>
            <a:endParaRPr lang="en-US" altLang="zh-CN" sz="2400" b="1" dirty="0">
              <a:solidFill>
                <a:schemeClr val="accent3">
                  <a:lumMod val="50000"/>
                </a:schemeClr>
              </a:solidFill>
              <a:ea typeface="+mn-ea"/>
            </a:endParaRPr>
          </a:p>
          <a:p>
            <a:pPr marL="457200" indent="-457200"/>
            <a:r>
              <a:rPr lang="zh-CN" altLang="en-US" dirty="0"/>
              <a:t>数组元素的值没有因为上面的赋值而改变。如果要改变元素的值，正确的做法：</a:t>
            </a:r>
            <a:endParaRPr lang="en-US" altLang="zh-CN" dirty="0"/>
          </a:p>
          <a:p>
            <a:pPr marL="274320" lvl="1" indent="0">
              <a:buNone/>
            </a:pPr>
            <a:r>
              <a:rPr lang="nn-NO" altLang="zh-CN" b="1" dirty="0"/>
              <a:t>for(int i = 0; i&lt;iArray.length; i++)</a:t>
            </a:r>
            <a:endParaRPr lang="nn-NO" altLang="zh-CN" b="1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iArray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 = 10;</a:t>
            </a:r>
            <a:endParaRPr lang="en-US" altLang="zh-CN" dirty="0"/>
          </a:p>
          <a:p>
            <a:pPr>
              <a:buNone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   for(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ea typeface="+mn-ea"/>
              </a:rPr>
              <a:t>int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 i:iArray) </a:t>
            </a:r>
            <a:endParaRPr lang="en-US" altLang="zh-CN" sz="2400" b="1" dirty="0">
              <a:solidFill>
                <a:schemeClr val="tx2">
                  <a:lumMod val="75000"/>
                </a:schemeClr>
              </a:solidFill>
              <a:ea typeface="+mn-ea"/>
            </a:endParaRPr>
          </a:p>
          <a:p>
            <a:pPr>
              <a:buNone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	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ea typeface="+mn-ea"/>
              </a:rPr>
              <a:t>System.out.print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 (</a:t>
            </a:r>
            <a:r>
              <a:rPr lang="en-US" altLang="zh-CN" sz="2400" b="1" dirty="0" err="1">
                <a:solidFill>
                  <a:schemeClr val="tx2">
                    <a:lumMod val="75000"/>
                  </a:schemeClr>
                </a:solidFill>
                <a:ea typeface="+mn-ea"/>
              </a:rPr>
              <a:t>i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ea typeface="+mn-ea"/>
              </a:rPr>
              <a:t>+"\t"); </a:t>
            </a:r>
            <a:r>
              <a:rPr lang="en-US" altLang="zh-CN" sz="2400" b="1" dirty="0">
                <a:solidFill>
                  <a:schemeClr val="accent3">
                    <a:lumMod val="50000"/>
                  </a:schemeClr>
                </a:solidFill>
                <a:ea typeface="+mn-ea"/>
              </a:rPr>
              <a:t>//</a:t>
            </a:r>
            <a:r>
              <a:rPr lang="zh-CN" altLang="en-US" sz="2400" b="1" dirty="0">
                <a:solidFill>
                  <a:schemeClr val="accent3">
                    <a:lumMod val="50000"/>
                  </a:schemeClr>
                </a:solidFill>
                <a:ea typeface="+mn-ea"/>
              </a:rPr>
              <a:t>输出</a:t>
            </a:r>
            <a:r>
              <a:rPr lang="en-US" altLang="zh-CN" sz="2400" b="1" dirty="0">
                <a:solidFill>
                  <a:schemeClr val="accent3">
                    <a:lumMod val="50000"/>
                  </a:schemeClr>
                </a:solidFill>
                <a:ea typeface="+mn-ea"/>
              </a:rPr>
              <a:t> 10    10    10</a:t>
            </a:r>
            <a:endParaRPr lang="zh-CN" altLang="en-US" sz="2400" b="1" dirty="0">
              <a:solidFill>
                <a:schemeClr val="accent3">
                  <a:lumMod val="50000"/>
                </a:schemeClr>
              </a:solidFill>
              <a:ea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075240" cy="5472608"/>
          </a:xfrm>
        </p:spPr>
        <p:txBody>
          <a:bodyPr/>
          <a:lstStyle/>
          <a:p>
            <a:r>
              <a:rPr lang="zh-CN" altLang="en-US" dirty="0"/>
              <a:t>请注意，</a:t>
            </a:r>
            <a:r>
              <a:rPr lang="en-US" altLang="zh-CN" dirty="0"/>
              <a:t>java</a:t>
            </a:r>
            <a:r>
              <a:rPr lang="zh-CN" altLang="en-US" dirty="0"/>
              <a:t>中数组是一种类：</a:t>
            </a:r>
            <a:endParaRPr lang="en-US" altLang="zh-CN" dirty="0"/>
          </a:p>
          <a:p>
            <a:pPr>
              <a:buNone/>
            </a:pPr>
            <a:r>
              <a:rPr lang="en-US" altLang="zh-CN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altLang="zh-CN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ia</a:t>
            </a:r>
            <a:r>
              <a:rPr lang="en-US" altLang="zh-CN" b="1" dirty="0">
                <a:solidFill>
                  <a:srgbClr val="6A3E3E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[5];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altLang="zh-CN" b="1" dirty="0">
                <a:solidFill>
                  <a:srgbClr val="6A3E3E"/>
                </a:solidFill>
                <a:latin typeface="Consolas" panose="020B0609020204030204" pitchFamily="49" charset="0"/>
              </a:rPr>
              <a:t>da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[5];</a:t>
            </a:r>
            <a:endParaRPr lang="en-US" altLang="zh-C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altLang="zh-CN" dirty="0">
                <a:solidFill>
                  <a:srgbClr val="6A3E3E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en-US" altLang="zh-CN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</a:t>
            </a:r>
            <a:r>
              <a:rPr lang="en-US" altLang="zh-CN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.getClass</a:t>
            </a:r>
            <a:r>
              <a:rPr lang="en-US" altLang="zh-CN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()+</a:t>
            </a:r>
            <a:r>
              <a:rPr lang="en-US" altLang="zh-CN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"\t"</a:t>
            </a:r>
            <a:r>
              <a:rPr lang="en-US" altLang="zh-CN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ia</a:t>
            </a:r>
            <a:r>
              <a:rPr lang="en-US" altLang="zh-CN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.getClass</a:t>
            </a:r>
            <a:r>
              <a:rPr lang="en-US" altLang="zh-CN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()+</a:t>
            </a:r>
            <a:r>
              <a:rPr lang="en-US" altLang="zh-CN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"\t"</a:t>
            </a:r>
            <a:r>
              <a:rPr lang="en-US" altLang="zh-CN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da</a:t>
            </a:r>
            <a:r>
              <a:rPr lang="en-US" altLang="zh-CN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.getClass</a:t>
            </a:r>
            <a:r>
              <a:rPr lang="en-US" altLang="zh-CN" b="1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  <a:endParaRPr lang="en-US" altLang="zh-CN" b="1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zh-CN" altLang="en-US" dirty="0"/>
              <a:t>结果为：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class </a:t>
            </a:r>
            <a:r>
              <a:rPr lang="en-US" altLang="zh-CN" dirty="0" err="1"/>
              <a:t>java.lang.String</a:t>
            </a:r>
            <a:r>
              <a:rPr lang="en-US" altLang="zh-CN" dirty="0"/>
              <a:t>       class [I       class [D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620688"/>
            <a:ext cx="8712968" cy="5904656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数组是有对应的类，这个类是在</a:t>
            </a:r>
            <a:r>
              <a:rPr lang="en-US" altLang="zh-CN" dirty="0"/>
              <a:t>JVM</a:t>
            </a:r>
            <a:r>
              <a:rPr lang="zh-CN" altLang="en-US" dirty="0"/>
              <a:t>运行时创建的，所以没有对应的</a:t>
            </a:r>
            <a:r>
              <a:rPr lang="en-US" altLang="zh-CN" dirty="0"/>
              <a:t>class </a:t>
            </a:r>
            <a:r>
              <a:rPr lang="zh-CN" altLang="en-US" dirty="0"/>
              <a:t>文件。数组的类名是：</a:t>
            </a:r>
            <a:r>
              <a:rPr lang="en-US" altLang="zh-CN" dirty="0"/>
              <a:t>[ </a:t>
            </a:r>
            <a:r>
              <a:rPr lang="zh-CN" altLang="en-US" dirty="0"/>
              <a:t>开头的，和普通类不一样。</a:t>
            </a:r>
            <a:endParaRPr lang="en-US" altLang="zh-CN" dirty="0"/>
          </a:p>
          <a:p>
            <a:pPr lvl="1"/>
            <a:r>
              <a:rPr lang="zh-CN" altLang="en-US" dirty="0"/>
              <a:t>数组类中不包含任何成员和变量，数组的长度</a:t>
            </a:r>
            <a:r>
              <a:rPr lang="en-US" altLang="zh-CN" dirty="0"/>
              <a:t>length</a:t>
            </a:r>
            <a:r>
              <a:rPr lang="zh-CN" altLang="en-US" dirty="0"/>
              <a:t>是通过</a:t>
            </a:r>
            <a:r>
              <a:rPr lang="en-US" altLang="zh-CN" dirty="0"/>
              <a:t>JVM</a:t>
            </a:r>
            <a:r>
              <a:rPr lang="zh-CN" altLang="en-US" dirty="0"/>
              <a:t>的指令 </a:t>
            </a:r>
            <a:r>
              <a:rPr lang="en-US" altLang="zh-CN" dirty="0" err="1"/>
              <a:t>arraylength</a:t>
            </a:r>
            <a:r>
              <a:rPr lang="en-US" altLang="zh-CN" dirty="0"/>
              <a:t> </a:t>
            </a:r>
            <a:r>
              <a:rPr lang="zh-CN" altLang="en-US" dirty="0"/>
              <a:t>直接得到的。</a:t>
            </a:r>
            <a:endParaRPr lang="en-US" altLang="zh-CN" dirty="0"/>
          </a:p>
          <a:p>
            <a:pPr lvl="1"/>
            <a:r>
              <a:rPr lang="zh-CN" altLang="en-US" dirty="0"/>
              <a:t>数组的类和一般类在</a:t>
            </a:r>
            <a:r>
              <a:rPr lang="en-US" altLang="zh-CN" dirty="0"/>
              <a:t>JVM</a:t>
            </a:r>
            <a:r>
              <a:rPr lang="zh-CN" altLang="en-US" dirty="0"/>
              <a:t>中是区分对待的，</a:t>
            </a:r>
            <a:r>
              <a:rPr lang="en-US" altLang="zh-CN" dirty="0"/>
              <a:t>JVM</a:t>
            </a:r>
            <a:r>
              <a:rPr lang="zh-CN" altLang="en-US" dirty="0"/>
              <a:t>会对数组类做一些特殊的操作，数组类的对象创建是通过</a:t>
            </a:r>
            <a:r>
              <a:rPr lang="en-US" altLang="zh-CN" dirty="0"/>
              <a:t>JVM</a:t>
            </a:r>
            <a:r>
              <a:rPr lang="zh-CN" altLang="en-US" dirty="0"/>
              <a:t>指令直接执行的。</a:t>
            </a:r>
            <a:endParaRPr lang="en-US" altLang="zh-CN" dirty="0"/>
          </a:p>
          <a:p>
            <a:pPr lvl="1"/>
            <a:r>
              <a:rPr lang="zh-CN" altLang="en-US" dirty="0"/>
              <a:t>数组类并不是只有一个类，而是会有很多个。数组类的类型是由数组的内容和维度同时决定的。比如：</a:t>
            </a:r>
            <a:r>
              <a:rPr lang="en-US" altLang="zh-CN" dirty="0" err="1"/>
              <a:t>int</a:t>
            </a:r>
            <a:r>
              <a:rPr lang="en-US" altLang="zh-CN" dirty="0"/>
              <a:t>[] </a:t>
            </a:r>
            <a:r>
              <a:rPr lang="zh-CN" altLang="en-US" dirty="0"/>
              <a:t>的类名是：</a:t>
            </a:r>
            <a:r>
              <a:rPr lang="en-US" altLang="zh-CN" dirty="0"/>
              <a:t>[I </a:t>
            </a:r>
            <a:r>
              <a:rPr lang="zh-CN" altLang="en-US" dirty="0"/>
              <a:t>；</a:t>
            </a:r>
            <a:r>
              <a:rPr lang="en-US" altLang="zh-CN" dirty="0" err="1"/>
              <a:t>int</a:t>
            </a:r>
            <a:r>
              <a:rPr lang="en-US" altLang="zh-CN" dirty="0"/>
              <a:t>[][] </a:t>
            </a:r>
            <a:r>
              <a:rPr lang="zh-CN" altLang="en-US" dirty="0"/>
              <a:t>的类名是</a:t>
            </a:r>
            <a:r>
              <a:rPr lang="en-US" altLang="zh-CN" dirty="0"/>
              <a:t>:[[I </a:t>
            </a:r>
            <a:r>
              <a:rPr lang="zh-CN" altLang="en-US" dirty="0"/>
              <a:t>（其中的 </a:t>
            </a:r>
            <a:r>
              <a:rPr lang="en-US" altLang="zh-CN" dirty="0"/>
              <a:t>I </a:t>
            </a:r>
            <a:r>
              <a:rPr lang="zh-CN" altLang="en-US" dirty="0"/>
              <a:t>是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zh-CN" altLang="en-US" dirty="0"/>
              <a:t>类型的在虚拟机指令中数据类型）。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3.4.2  </a:t>
            </a:r>
            <a:r>
              <a:rPr lang="zh-CN" altLang="en-US" dirty="0"/>
              <a:t>深入理解数组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JVM</a:t>
            </a:r>
            <a:r>
              <a:rPr lang="zh-CN" altLang="en-US" dirty="0"/>
              <a:t>启动时会创建一个堆（</a:t>
            </a:r>
            <a:r>
              <a:rPr lang="en-US" altLang="zh-CN" dirty="0"/>
              <a:t>heap</a:t>
            </a:r>
            <a:r>
              <a:rPr lang="zh-CN" altLang="en-US" dirty="0"/>
              <a:t>），</a:t>
            </a:r>
            <a:r>
              <a:rPr lang="en-US" altLang="zh-CN" dirty="0"/>
              <a:t>new</a:t>
            </a:r>
            <a:r>
              <a:rPr lang="zh-CN" altLang="en-US" dirty="0"/>
              <a:t>创建的对象都放在堆里。每个方法运行时对应一个栈（</a:t>
            </a:r>
            <a:r>
              <a:rPr lang="en-US" altLang="zh-CN" dirty="0"/>
              <a:t>stack</a:t>
            </a:r>
            <a:r>
              <a:rPr lang="zh-CN" altLang="en-US" dirty="0"/>
              <a:t>），放置方法中的局部变量。</a:t>
            </a:r>
            <a:endParaRPr lang="en-US" altLang="zh-CN" dirty="0"/>
          </a:p>
          <a:p>
            <a:r>
              <a:rPr lang="zh-CN" altLang="en-US" dirty="0"/>
              <a:t>方法结束时栈被销毁，其中的变量自然不存在了，但是堆里面的对象依然存在，在方法参数传递时可以被其他变量引用。</a:t>
            </a:r>
            <a:endParaRPr lang="en-US" altLang="zh-CN" dirty="0"/>
          </a:p>
          <a:p>
            <a:r>
              <a:rPr lang="zh-CN" altLang="en-US" dirty="0"/>
              <a:t>数组本身是对象，而数组变量是一个引用变量。访问数组的内容，必须通过引用变量。</a:t>
            </a:r>
            <a:endParaRPr lang="en-US" altLang="zh-CN" dirty="0"/>
          </a:p>
          <a:p>
            <a:r>
              <a:rPr lang="zh-CN" altLang="en-US" dirty="0"/>
              <a:t>当一个对象不被任何变量引用时，系统的垃圾回收器会在合适的时机回收它。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内存模式：例子</a:t>
            </a:r>
            <a:r>
              <a:rPr lang="en-US" altLang="zh-CN" dirty="0"/>
              <a:t>ArrayInRam.java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[] a = {5, 7 , 20};</a:t>
            </a:r>
            <a:endParaRPr lang="en-US" altLang="zh-CN" dirty="0"/>
          </a:p>
          <a:p>
            <a:pPr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[] b = new </a:t>
            </a:r>
            <a:r>
              <a:rPr lang="en-US" altLang="zh-CN" dirty="0" err="1"/>
              <a:t>int</a:t>
            </a:r>
            <a:r>
              <a:rPr lang="en-US" altLang="zh-CN" dirty="0"/>
              <a:t>[4];</a:t>
            </a:r>
            <a:endParaRPr lang="en-US" altLang="zh-CN" dirty="0"/>
          </a:p>
          <a:p>
            <a:pPr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("b</a:t>
            </a:r>
            <a:r>
              <a:rPr lang="zh-CN" altLang="en-US" dirty="0"/>
              <a:t>数组的长度为：</a:t>
            </a:r>
            <a:r>
              <a:rPr lang="en-US" altLang="zh-CN" dirty="0"/>
              <a:t>" + </a:t>
            </a:r>
            <a:r>
              <a:rPr lang="en-US" altLang="zh-CN" dirty="0" err="1"/>
              <a:t>b.length</a:t>
            </a:r>
            <a:r>
              <a:rPr lang="en-US" altLang="zh-CN" dirty="0"/>
              <a:t>);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 ,</a:t>
            </a:r>
            <a:r>
              <a:rPr lang="en-US" altLang="zh-CN" dirty="0" err="1"/>
              <a:t>len</a:t>
            </a:r>
            <a:r>
              <a:rPr lang="en-US" altLang="zh-CN" dirty="0"/>
              <a:t> = </a:t>
            </a:r>
            <a:r>
              <a:rPr lang="en-US" altLang="zh-CN" dirty="0" err="1"/>
              <a:t>a.length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 &lt; </a:t>
            </a:r>
            <a:r>
              <a:rPr lang="en-US" altLang="zh-CN" dirty="0" err="1"/>
              <a:t>len</a:t>
            </a:r>
            <a:r>
              <a:rPr lang="en-US" altLang="zh-CN" dirty="0"/>
              <a:t> ; </a:t>
            </a:r>
            <a:r>
              <a:rPr lang="en-US" altLang="zh-CN" dirty="0" err="1"/>
              <a:t>i</a:t>
            </a:r>
            <a:r>
              <a:rPr lang="en-US" altLang="zh-CN" dirty="0"/>
              <a:t>++ )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System.out.println</a:t>
            </a:r>
            <a:r>
              <a:rPr lang="en-US" altLang="zh-CN" dirty="0"/>
              <a:t>(a[</a:t>
            </a:r>
            <a:r>
              <a:rPr lang="en-US" altLang="zh-CN" dirty="0" err="1"/>
              <a:t>i</a:t>
            </a:r>
            <a:r>
              <a:rPr lang="en-US" altLang="zh-CN" dirty="0"/>
              <a:t>]);		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 , </a:t>
            </a:r>
            <a:r>
              <a:rPr lang="en-US" altLang="zh-CN" dirty="0" err="1"/>
              <a:t>len</a:t>
            </a:r>
            <a:r>
              <a:rPr lang="en-US" altLang="zh-CN" dirty="0"/>
              <a:t> = </a:t>
            </a:r>
            <a:r>
              <a:rPr lang="en-US" altLang="zh-CN" dirty="0" err="1"/>
              <a:t>b.length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 &lt; </a:t>
            </a:r>
            <a:r>
              <a:rPr lang="en-US" altLang="zh-CN" dirty="0" err="1"/>
              <a:t>len</a:t>
            </a:r>
            <a:r>
              <a:rPr lang="en-US" altLang="zh-CN" dirty="0"/>
              <a:t> ; </a:t>
            </a:r>
            <a:r>
              <a:rPr lang="en-US" altLang="zh-CN" dirty="0" err="1"/>
              <a:t>i</a:t>
            </a:r>
            <a:r>
              <a:rPr lang="en-US" altLang="zh-CN" dirty="0"/>
              <a:t>++ )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System.out.println</a:t>
            </a:r>
            <a:r>
              <a:rPr lang="en-US" altLang="zh-CN" dirty="0"/>
              <a:t>(b[</a:t>
            </a:r>
            <a:r>
              <a:rPr lang="en-US" altLang="zh-CN" dirty="0" err="1"/>
              <a:t>i</a:t>
            </a:r>
            <a:r>
              <a:rPr lang="en-US" altLang="zh-CN" dirty="0"/>
              <a:t>]);</a:t>
            </a:r>
            <a:endParaRPr lang="en-US" altLang="zh-CN" dirty="0"/>
          </a:p>
          <a:p>
            <a:pPr>
              <a:buNone/>
            </a:pP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 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因为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都是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int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[]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类型，可以将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的值赋给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b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altLang="zh-CN" dirty="0"/>
              <a:t>b = a;</a:t>
            </a:r>
            <a:endParaRPr lang="en-US" altLang="zh-CN" dirty="0"/>
          </a:p>
          <a:p>
            <a:pPr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("b</a:t>
            </a:r>
            <a:r>
              <a:rPr lang="zh-CN" altLang="en-US" dirty="0"/>
              <a:t>数组的长度为：</a:t>
            </a:r>
            <a:r>
              <a:rPr lang="en-US" altLang="zh-CN" dirty="0"/>
              <a:t>" + </a:t>
            </a:r>
            <a:r>
              <a:rPr lang="en-US" altLang="zh-CN" dirty="0" err="1"/>
              <a:t>b.length</a:t>
            </a:r>
            <a:r>
              <a:rPr lang="en-US" altLang="zh-CN" dirty="0"/>
              <a:t>);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b[0]=100;</a:t>
            </a:r>
            <a:endParaRPr lang="en-US" altLang="zh-CN" dirty="0"/>
          </a:p>
          <a:p>
            <a:pPr>
              <a:buNone/>
            </a:pPr>
            <a:r>
              <a:rPr lang="en-US" altLang="zh-CN" dirty="0" err="1"/>
              <a:t>System.out.println</a:t>
            </a:r>
            <a:r>
              <a:rPr lang="en-US" altLang="zh-CN" dirty="0"/>
              <a:t>(a[0]);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//100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内容占位符 8"/>
          <p:cNvGraphicFramePr/>
          <p:nvPr/>
        </p:nvGraphicFramePr>
        <p:xfrm>
          <a:off x="1403648" y="2960465"/>
          <a:ext cx="9361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1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0x86ac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0x1228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椭圆 4"/>
          <p:cNvSpPr/>
          <p:nvPr/>
        </p:nvSpPr>
        <p:spPr>
          <a:xfrm>
            <a:off x="3347864" y="1124744"/>
            <a:ext cx="5328592" cy="40324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03648" y="5048697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stack</a:t>
            </a:r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256076" y="5154141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heap</a:t>
            </a:r>
            <a:endParaRPr lang="zh-CN" altLang="en-US" sz="2400" dirty="0"/>
          </a:p>
        </p:txBody>
      </p:sp>
      <p:graphicFrame>
        <p:nvGraphicFramePr>
          <p:cNvPr id="8" name="内容占位符 8"/>
          <p:cNvGraphicFramePr/>
          <p:nvPr/>
        </p:nvGraphicFramePr>
        <p:xfrm>
          <a:off x="395536" y="2960465"/>
          <a:ext cx="97728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7280"/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16016" y="3878045"/>
            <a:ext cx="1152128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5    7   20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96036" y="2298901"/>
            <a:ext cx="1692188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0     0     0    0</a:t>
            </a:r>
            <a:endParaRPr lang="zh-CN" altLang="en-US" dirty="0"/>
          </a:p>
        </p:txBody>
      </p:sp>
      <p:cxnSp>
        <p:nvCxnSpPr>
          <p:cNvPr id="11" name="直接箭头连接符 10"/>
          <p:cNvCxnSpPr>
            <a:endCxn id="9" idx="1"/>
          </p:cNvCxnSpPr>
          <p:nvPr/>
        </p:nvCxnSpPr>
        <p:spPr>
          <a:xfrm flipV="1">
            <a:off x="2339752" y="4062711"/>
            <a:ext cx="2376264" cy="5184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endCxn id="10" idx="1"/>
          </p:cNvCxnSpPr>
          <p:nvPr/>
        </p:nvCxnSpPr>
        <p:spPr>
          <a:xfrm flipV="1">
            <a:off x="2339752" y="2483567"/>
            <a:ext cx="2556284" cy="17784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5076056" y="3892719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5436096" y="3892719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5292080" y="2298901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5724128" y="2298901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6156176" y="2298901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2339752" y="4005065"/>
            <a:ext cx="2376264" cy="2423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3.4.3  </a:t>
            </a:r>
            <a:r>
              <a:rPr lang="zh-CN" altLang="en-US" dirty="0"/>
              <a:t>使用</a:t>
            </a:r>
            <a:r>
              <a:rPr lang="en-US" altLang="zh-CN" dirty="0"/>
              <a:t>Arrays</a:t>
            </a:r>
            <a:r>
              <a:rPr lang="zh-CN" altLang="en-US" dirty="0"/>
              <a:t>工具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76064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Arrays</a:t>
            </a:r>
            <a:r>
              <a:rPr lang="zh-CN" altLang="en-US" dirty="0"/>
              <a:t>是一个类，其中定义了一些数组操作的方法。使用它需导入语句：</a:t>
            </a:r>
            <a:r>
              <a:rPr lang="en-US" altLang="zh-CN" b="1" dirty="0"/>
              <a:t> import </a:t>
            </a:r>
            <a:r>
              <a:rPr lang="en-US" altLang="zh-CN" b="1" dirty="0" err="1"/>
              <a:t>java.util.Arrays</a:t>
            </a:r>
            <a:r>
              <a:rPr lang="en-US" altLang="zh-CN" b="1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[] a = { 11, 12, 13, 14 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[] c;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c = </a:t>
            </a:r>
            <a:r>
              <a:rPr lang="en-US" altLang="zh-CN" dirty="0" err="1"/>
              <a:t>Arrays.</a:t>
            </a:r>
            <a:r>
              <a:rPr lang="en-US" altLang="zh-CN" dirty="0" err="1">
                <a:solidFill>
                  <a:srgbClr val="FF0000"/>
                </a:solidFill>
              </a:rPr>
              <a:t>copyOf</a:t>
            </a:r>
            <a:r>
              <a:rPr lang="en-US" altLang="zh-CN" dirty="0"/>
              <a:t>(a, </a:t>
            </a:r>
            <a:r>
              <a:rPr lang="en-US" altLang="zh-CN" dirty="0" err="1"/>
              <a:t>a.length</a:t>
            </a:r>
            <a:r>
              <a:rPr lang="en-US" altLang="zh-CN" dirty="0"/>
              <a:t>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//a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c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分别指向两个对象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	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val</a:t>
            </a:r>
            <a:r>
              <a:rPr lang="en-US" altLang="zh-CN" dirty="0"/>
              <a:t> : a)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val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val</a:t>
            </a:r>
            <a:r>
              <a:rPr lang="en-US" altLang="zh-CN" dirty="0"/>
              <a:t> : c)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val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 </a:t>
            </a:r>
            <a:r>
              <a:rPr lang="en-US" altLang="zh-CN" dirty="0" err="1"/>
              <a:t>i</a:t>
            </a:r>
            <a:r>
              <a:rPr lang="en-US" altLang="zh-CN" dirty="0"/>
              <a:t>&lt; </a:t>
            </a:r>
            <a:r>
              <a:rPr lang="en-US" altLang="zh-CN" dirty="0" err="1"/>
              <a:t>a.length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a[</a:t>
            </a:r>
            <a:r>
              <a:rPr lang="en-US" altLang="zh-CN" dirty="0" err="1"/>
              <a:t>i</a:t>
            </a:r>
            <a:r>
              <a:rPr lang="en-US" altLang="zh-CN" dirty="0"/>
              <a:t>]*=10;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val</a:t>
            </a:r>
            <a:r>
              <a:rPr lang="en-US" altLang="zh-CN" dirty="0"/>
              <a:t> : a)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val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val</a:t>
            </a:r>
            <a:r>
              <a:rPr lang="en-US" altLang="zh-CN" dirty="0"/>
              <a:t> : c)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val</a:t>
            </a:r>
            <a:r>
              <a:rPr lang="en-US" altLang="zh-CN" dirty="0"/>
              <a:t>);  </a:t>
            </a:r>
            <a:endParaRPr lang="en-US" altLang="zh-CN" dirty="0"/>
          </a:p>
          <a:p>
            <a:pPr marL="27432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740"/>
            <a:ext cx="8230235" cy="5904865"/>
          </a:xfrm>
        </p:spPr>
        <p:txBody>
          <a:bodyPr/>
          <a:lstStyle/>
          <a:p>
            <a:pPr lvl="1"/>
            <a:r>
              <a:rPr lang="zh-CN" altLang="en-US" dirty="0"/>
              <a:t>前面例子中的</a:t>
            </a:r>
            <a:r>
              <a:rPr lang="en-US" altLang="zh-CN" dirty="0" err="1"/>
              <a:t>copyOf</a:t>
            </a:r>
            <a:r>
              <a:rPr lang="zh-CN" altLang="en-US" dirty="0"/>
              <a:t>方法的第二个参数是新建数组的长度，如果被拷贝的参数短于指定长度，剩余元素按默认方法由系统赋值。</a:t>
            </a:r>
            <a:endParaRPr lang="en-US" altLang="zh-CN" dirty="0"/>
          </a:p>
          <a:p>
            <a:r>
              <a:rPr lang="en-US" altLang="zh-CN" dirty="0"/>
              <a:t>sort </a:t>
            </a:r>
            <a:r>
              <a:rPr lang="zh-CN" altLang="en-US" dirty="0"/>
              <a:t>方法可以对数组排序</a:t>
            </a:r>
            <a:endParaRPr lang="en-US" altLang="zh-CN" dirty="0"/>
          </a:p>
          <a:p>
            <a:pPr lvl="1"/>
            <a:r>
              <a:rPr lang="en-US" altLang="zh-CN" dirty="0" err="1"/>
              <a:t>Arrays.sort</a:t>
            </a:r>
            <a:r>
              <a:rPr lang="en-US" altLang="zh-CN" dirty="0"/>
              <a:t>(a);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对数组元素从小到大排序</a:t>
            </a:r>
            <a:b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zh-CN" dirty="0" err="1"/>
              <a:t>Arrays.sort</a:t>
            </a:r>
            <a:r>
              <a:rPr lang="en-US" altLang="zh-CN" dirty="0"/>
              <a:t>(a, 0, 4);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对数组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0,1,2,3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号元素从小到大排序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zh-CN" dirty="0" err="1"/>
              <a:t>Arrays.equals</a:t>
            </a:r>
            <a:r>
              <a:rPr lang="zh-CN" altLang="en-US" dirty="0"/>
              <a:t>（</a:t>
            </a:r>
            <a:r>
              <a:rPr lang="en-US" altLang="zh-CN" dirty="0"/>
              <a:t>a, b</a:t>
            </a:r>
            <a:r>
              <a:rPr lang="zh-CN" altLang="en-US" dirty="0"/>
              <a:t>）判断两个数组的元素是否一一对应相等。</a:t>
            </a:r>
            <a:endParaRPr lang="en-US" altLang="zh-CN" dirty="0"/>
          </a:p>
          <a:p>
            <a:r>
              <a:rPr lang="en-US" altLang="zh-CN" dirty="0"/>
              <a:t>fill</a:t>
            </a:r>
            <a:r>
              <a:rPr lang="zh-CN" altLang="en-US" dirty="0"/>
              <a:t>方法，重新赋值元素</a:t>
            </a:r>
            <a:endParaRPr lang="en-US" altLang="zh-CN" dirty="0"/>
          </a:p>
          <a:p>
            <a:pPr lvl="1"/>
            <a:r>
              <a:rPr lang="en-US" altLang="zh-CN" dirty="0" err="1"/>
              <a:t>Arrays.fill</a:t>
            </a:r>
            <a:r>
              <a:rPr lang="en-US" altLang="zh-CN" dirty="0"/>
              <a:t>(a, 100);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将数组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的所有元素赋值为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100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r>
              <a:rPr lang="en-US" altLang="zh-CN" dirty="0" err="1"/>
              <a:t>Arrays.fill</a:t>
            </a:r>
            <a:r>
              <a:rPr lang="en-US" altLang="zh-CN" dirty="0"/>
              <a:t>(c, 2,4,100);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将数组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c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的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2,3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号元素赋值为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100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一个例子：</a:t>
            </a:r>
            <a:r>
              <a:rPr lang="en-US" altLang="zh-CN" dirty="0"/>
              <a:t>LotteryDrawing.java</a:t>
            </a:r>
            <a:endParaRPr lang="zh-CN" altLang="en-US" dirty="0"/>
          </a:p>
          <a:p>
            <a:pPr lvl="1"/>
            <a:r>
              <a:rPr lang="zh-CN" altLang="en-US" dirty="0"/>
              <a:t>模拟彩票游戏。随机从</a:t>
            </a:r>
            <a:r>
              <a:rPr lang="en-US" altLang="zh-CN" dirty="0"/>
              <a:t>n</a:t>
            </a:r>
            <a:r>
              <a:rPr lang="zh-CN" altLang="en-US" dirty="0"/>
              <a:t>个数中选取</a:t>
            </a:r>
            <a:r>
              <a:rPr lang="en-US" altLang="zh-CN" dirty="0"/>
              <a:t>m</a:t>
            </a:r>
            <a:r>
              <a:rPr lang="zh-CN" altLang="en-US" dirty="0"/>
              <a:t>个，并按大小排序输出，如从</a:t>
            </a:r>
            <a:r>
              <a:rPr lang="en-US" altLang="zh-CN" dirty="0"/>
              <a:t>1-64</a:t>
            </a:r>
            <a:r>
              <a:rPr lang="zh-CN" altLang="en-US" dirty="0"/>
              <a:t>中随机选取</a:t>
            </a:r>
            <a:r>
              <a:rPr lang="en-US" altLang="zh-CN" dirty="0"/>
              <a:t>6</a:t>
            </a:r>
            <a:r>
              <a:rPr lang="zh-CN" altLang="en-US" dirty="0"/>
              <a:t>个数。</a:t>
            </a:r>
            <a:endParaRPr lang="zh-CN" altLang="en-US" dirty="0"/>
          </a:p>
          <a:p>
            <a:pPr lvl="1"/>
            <a:r>
              <a:rPr lang="en-US" altLang="zh-CN" dirty="0"/>
              <a:t>m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是可变的，运行时从键盘输入。</a:t>
            </a:r>
            <a:endParaRPr lang="zh-CN" altLang="en-US" dirty="0"/>
          </a:p>
          <a:p>
            <a:pPr lvl="1"/>
            <a:r>
              <a:rPr lang="zh-CN" altLang="en-US" dirty="0"/>
              <a:t>抽取出的数不可重复。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3.4.4  </a:t>
            </a:r>
            <a:r>
              <a:rPr lang="zh-CN" altLang="en-US" dirty="0"/>
              <a:t>多维数组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从数组的内部机制来看，没有多维数组。但在形式上可以如下定义：</a:t>
            </a:r>
            <a:endParaRPr lang="en-US" altLang="zh-CN" dirty="0"/>
          </a:p>
          <a:p>
            <a:pPr lvl="1"/>
            <a:r>
              <a:rPr lang="en-US" altLang="zh-CN" b="1" dirty="0" err="1">
                <a:solidFill>
                  <a:srgbClr val="FF0000"/>
                </a:solidFill>
              </a:rPr>
              <a:t>int</a:t>
            </a:r>
            <a:r>
              <a:rPr lang="en-US" altLang="zh-CN" b="1" dirty="0">
                <a:solidFill>
                  <a:srgbClr val="FF0000"/>
                </a:solidFill>
              </a:rPr>
              <a:t>[]</a:t>
            </a:r>
            <a:r>
              <a:rPr lang="en-US" altLang="zh-CN" b="1" dirty="0"/>
              <a:t>[] </a:t>
            </a:r>
            <a:r>
              <a:rPr lang="en-US" altLang="zh-CN" b="1" dirty="0" err="1"/>
              <a:t>iArr</a:t>
            </a:r>
            <a:r>
              <a:rPr lang="en-US" altLang="zh-CN" b="1" dirty="0"/>
              <a:t>;   </a:t>
            </a:r>
            <a:r>
              <a:rPr lang="zh-CN" altLang="en-US" dirty="0"/>
              <a:t>可以看做是定义一个类型为</a:t>
            </a:r>
            <a:r>
              <a:rPr lang="en-US" altLang="zh-CN" dirty="0" err="1"/>
              <a:t>int</a:t>
            </a:r>
            <a:r>
              <a:rPr lang="en-US" altLang="zh-CN" dirty="0"/>
              <a:t>[]</a:t>
            </a:r>
            <a:r>
              <a:rPr lang="zh-CN" altLang="en-US" dirty="0"/>
              <a:t>的数组，这个数组的每一个变量都是一个引用，指向一个</a:t>
            </a:r>
            <a:r>
              <a:rPr lang="en-US" altLang="zh-CN" dirty="0" err="1"/>
              <a:t>int</a:t>
            </a:r>
            <a:r>
              <a:rPr lang="en-US" altLang="zh-CN" dirty="0"/>
              <a:t>[]</a:t>
            </a:r>
            <a:r>
              <a:rPr lang="zh-CN" altLang="en-US" dirty="0"/>
              <a:t>数组。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/>
              <a:t>下面对其初始化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 err="1"/>
              <a:t>iArr</a:t>
            </a:r>
            <a:r>
              <a:rPr lang="en-US" altLang="zh-CN" dirty="0"/>
              <a:t> = new </a:t>
            </a:r>
            <a:r>
              <a:rPr lang="en-US" altLang="zh-CN" dirty="0" err="1"/>
              <a:t>int</a:t>
            </a:r>
            <a:r>
              <a:rPr lang="en-US" altLang="zh-CN" dirty="0"/>
              <a:t>[3][];   </a:t>
            </a:r>
            <a:r>
              <a:rPr lang="en-US" altLang="zh-CN" dirty="0" err="1"/>
              <a:t>iArr</a:t>
            </a:r>
            <a:r>
              <a:rPr lang="zh-CN" altLang="en-US" dirty="0"/>
              <a:t>中包含</a:t>
            </a:r>
            <a:r>
              <a:rPr lang="en-US" altLang="zh-CN" dirty="0"/>
              <a:t>3</a:t>
            </a:r>
            <a:r>
              <a:rPr lang="zh-CN" altLang="en-US" dirty="0"/>
              <a:t>个元素，都是指向整形数组的引用。</a:t>
            </a:r>
            <a:br>
              <a:rPr lang="en-US" altLang="zh-CN" dirty="0"/>
            </a:br>
            <a:r>
              <a:rPr lang="en-US" altLang="zh-CN" dirty="0" err="1"/>
              <a:t>int</a:t>
            </a:r>
            <a:r>
              <a:rPr lang="en-US" altLang="zh-CN" dirty="0"/>
              <a:t>[] a = {1,2,3};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[] b = {11,12,13,14};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[] c = {21,22,23,24,25};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iArr</a:t>
            </a:r>
            <a:r>
              <a:rPr lang="en-US" altLang="zh-CN" dirty="0"/>
              <a:t>[0]=a;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iArr</a:t>
            </a:r>
            <a:r>
              <a:rPr lang="en-US" altLang="zh-CN" dirty="0"/>
              <a:t>[1]=b;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iArr</a:t>
            </a:r>
            <a:r>
              <a:rPr lang="en-US" altLang="zh-CN" dirty="0"/>
              <a:t>[2]=c;  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内容占位符 8"/>
          <p:cNvGraphicFramePr/>
          <p:nvPr/>
        </p:nvGraphicFramePr>
        <p:xfrm>
          <a:off x="1403648" y="3188246"/>
          <a:ext cx="93610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104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0x3f40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0x3f36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0x3f32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0x3f28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椭圆 4"/>
          <p:cNvSpPr/>
          <p:nvPr/>
        </p:nvSpPr>
        <p:spPr>
          <a:xfrm>
            <a:off x="2699792" y="836712"/>
            <a:ext cx="5976664" cy="475252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03648" y="5276478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stack</a:t>
            </a:r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245013" y="5531122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heap</a:t>
            </a:r>
            <a:endParaRPr lang="zh-CN" altLang="en-US" sz="2400" dirty="0"/>
          </a:p>
        </p:txBody>
      </p:sp>
      <p:graphicFrame>
        <p:nvGraphicFramePr>
          <p:cNvPr id="8" name="内容占位符 8"/>
          <p:cNvGraphicFramePr/>
          <p:nvPr/>
        </p:nvGraphicFramePr>
        <p:xfrm>
          <a:off x="395536" y="3188246"/>
          <a:ext cx="97728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7280"/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c</a:t>
                      </a:r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b</a:t>
                      </a:r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a</a:t>
                      </a:r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800" dirty="0" err="1"/>
                        <a:t>iArr</a:t>
                      </a:r>
                      <a:endParaRPr lang="zh-CN" altLang="en-US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067944" y="4521155"/>
            <a:ext cx="3240359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0x3f32      0x3f36       0x3f40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716016" y="2157350"/>
            <a:ext cx="1692188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11   12   13  14</a:t>
            </a:r>
            <a:endParaRPr lang="zh-CN" altLang="en-US" dirty="0"/>
          </a:p>
        </p:txBody>
      </p:sp>
      <p:cxnSp>
        <p:nvCxnSpPr>
          <p:cNvPr id="11" name="直接箭头连接符 10"/>
          <p:cNvCxnSpPr>
            <a:endCxn id="9" idx="1"/>
          </p:cNvCxnSpPr>
          <p:nvPr/>
        </p:nvCxnSpPr>
        <p:spPr>
          <a:xfrm flipV="1">
            <a:off x="2339752" y="4705821"/>
            <a:ext cx="1728192" cy="1846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076056" y="4522400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228184" y="4521155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148064" y="2154073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561713" y="2132856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5940152" y="2157350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995936" y="486916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iArr</a:t>
            </a:r>
            <a:r>
              <a:rPr lang="en-US" altLang="zh-CN" dirty="0"/>
              <a:t>[0]</a:t>
            </a:r>
            <a:endParaRPr lang="zh-CN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220071" y="489048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iArr</a:t>
            </a:r>
            <a:r>
              <a:rPr lang="en-US" altLang="zh-CN" dirty="0"/>
              <a:t>[1]</a:t>
            </a:r>
            <a:endParaRPr lang="zh-CN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235799" y="4898081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iArr</a:t>
            </a:r>
            <a:r>
              <a:rPr lang="en-US" altLang="zh-CN" dirty="0"/>
              <a:t>[2]</a:t>
            </a:r>
            <a:endParaRPr lang="zh-CN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441005" y="3668144"/>
            <a:ext cx="1397893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 1     2     3</a:t>
            </a:r>
            <a:endParaRPr lang="zh-CN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526105" y="3172326"/>
            <a:ext cx="228625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21   22   23   24  25</a:t>
            </a:r>
            <a:endParaRPr lang="zh-CN" altLang="en-US" dirty="0"/>
          </a:p>
        </p:txBody>
      </p:sp>
      <p:cxnSp>
        <p:nvCxnSpPr>
          <p:cNvPr id="30" name="直接连接符 29"/>
          <p:cNvCxnSpPr/>
          <p:nvPr/>
        </p:nvCxnSpPr>
        <p:spPr>
          <a:xfrm>
            <a:off x="4283968" y="3668144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851920" y="3668144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5993668" y="3193543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6407317" y="3172326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6798121" y="3164554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236296" y="3164554"/>
            <a:ext cx="0" cy="3693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 flipV="1">
            <a:off x="5713065" y="3541658"/>
            <a:ext cx="961128" cy="991636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H="1" flipV="1">
            <a:off x="4932040" y="2526682"/>
            <a:ext cx="673096" cy="2006612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 flipV="1">
            <a:off x="3707904" y="4037476"/>
            <a:ext cx="840606" cy="483680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V="1">
            <a:off x="2339752" y="3852810"/>
            <a:ext cx="1080120" cy="69140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V="1">
            <a:off x="2339752" y="2526682"/>
            <a:ext cx="2376264" cy="160312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endCxn id="29" idx="1"/>
          </p:cNvCxnSpPr>
          <p:nvPr/>
        </p:nvCxnSpPr>
        <p:spPr>
          <a:xfrm flipV="1">
            <a:off x="2339752" y="3356992"/>
            <a:ext cx="3186353" cy="357662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171902" y="2776260"/>
            <a:ext cx="1072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iArr</a:t>
            </a:r>
            <a:r>
              <a:rPr lang="en-US" altLang="zh-CN" dirty="0"/>
              <a:t>[2][4]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32656"/>
            <a:ext cx="8075240" cy="6408712"/>
          </a:xfrm>
        </p:spPr>
        <p:txBody>
          <a:bodyPr>
            <a:normAutofit fontScale="92500" lnSpcReduction="20000"/>
          </a:bodyPr>
          <a:lstStyle/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DoubleDimensionalArray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int</a:t>
            </a:r>
            <a:r>
              <a:rPr lang="en-US" altLang="zh-CN" dirty="0"/>
              <a:t>[][] </a:t>
            </a:r>
            <a:r>
              <a:rPr lang="en-US" altLang="zh-CN" dirty="0" err="1"/>
              <a:t>iArr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iArr</a:t>
            </a:r>
            <a:r>
              <a:rPr lang="en-US" altLang="zh-CN" dirty="0"/>
              <a:t>= new </a:t>
            </a:r>
            <a:r>
              <a:rPr lang="en-US" altLang="zh-CN" dirty="0" err="1"/>
              <a:t>int</a:t>
            </a:r>
            <a:r>
              <a:rPr lang="en-US" altLang="zh-CN" dirty="0"/>
              <a:t>[3][];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int</a:t>
            </a:r>
            <a:r>
              <a:rPr lang="en-US" altLang="zh-CN" dirty="0"/>
              <a:t>[] a = {1,2,3};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int</a:t>
            </a:r>
            <a:r>
              <a:rPr lang="en-US" altLang="zh-CN" dirty="0"/>
              <a:t>[] b = {11,12,13,14};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int</a:t>
            </a:r>
            <a:r>
              <a:rPr lang="en-US" altLang="zh-CN" dirty="0"/>
              <a:t>[] c = {21,22,23,24,25};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iArr</a:t>
            </a:r>
            <a:r>
              <a:rPr lang="en-US" altLang="zh-CN" dirty="0"/>
              <a:t>[0]=a;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iArr</a:t>
            </a:r>
            <a:r>
              <a:rPr lang="en-US" altLang="zh-CN" dirty="0"/>
              <a:t>[1]=b;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iArr</a:t>
            </a:r>
            <a:r>
              <a:rPr lang="en-US" altLang="zh-CN" dirty="0"/>
              <a:t>[2]=c;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iArr</a:t>
            </a:r>
            <a:r>
              <a:rPr lang="en-US" altLang="zh-CN" dirty="0"/>
              <a:t>[2][3]);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b[2]=100;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iArr</a:t>
            </a:r>
            <a:r>
              <a:rPr lang="en-US" altLang="zh-CN" dirty="0"/>
              <a:t>[1][2]);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/>
              <a:t>下面是一个遍历多维数组的例子：</a:t>
            </a:r>
            <a:endParaRPr lang="zh-CN" altLang="zh-CN"/>
          </a:p>
          <a:p>
            <a:pPr marL="274320" lvl="1" indent="0">
              <a:buNone/>
            </a:pPr>
            <a:r>
              <a:rPr lang="zh-CN" altLang="zh-CN"/>
              <a:t>       int[][] ia= {{1,2,3,4},{11,12,13},{22,23,24,25,26}};</a:t>
            </a:r>
            <a:endParaRPr lang="zh-CN" altLang="zh-CN"/>
          </a:p>
          <a:p>
            <a:pPr marL="274320" lvl="1" indent="0">
              <a:buNone/>
            </a:pPr>
            <a:r>
              <a:rPr lang="zh-CN" altLang="zh-CN"/>
              <a:t>	for(int i=0; i &lt;ia.length; i++)</a:t>
            </a:r>
            <a:endParaRPr lang="zh-CN" altLang="zh-CN"/>
          </a:p>
          <a:p>
            <a:pPr marL="274320" lvl="1" indent="0">
              <a:buNone/>
            </a:pPr>
            <a:r>
              <a:rPr lang="zh-CN" altLang="zh-CN"/>
              <a:t>	{</a:t>
            </a:r>
            <a:endParaRPr lang="zh-CN" altLang="zh-CN"/>
          </a:p>
          <a:p>
            <a:pPr marL="274320" lvl="1" indent="0">
              <a:buNone/>
            </a:pPr>
            <a:r>
              <a:rPr lang="zh-CN" altLang="zh-CN"/>
              <a:t>		for(int j=0; j &lt;ia[i].length; j++)</a:t>
            </a:r>
            <a:endParaRPr lang="zh-CN" altLang="zh-CN"/>
          </a:p>
          <a:p>
            <a:pPr marL="274320" lvl="1" indent="0">
              <a:buNone/>
            </a:pPr>
            <a:r>
              <a:rPr lang="zh-CN" altLang="zh-CN"/>
              <a:t>	</a:t>
            </a:r>
            <a:r>
              <a:rPr lang="en-US" altLang="zh-CN"/>
              <a:t>	</a:t>
            </a:r>
            <a:r>
              <a:rPr lang="zh-CN" altLang="zh-CN"/>
              <a:t>	System.out.println(ia[i][j]);</a:t>
            </a:r>
            <a:endParaRPr lang="zh-CN" altLang="zh-CN"/>
          </a:p>
          <a:p>
            <a:pPr marL="274320" lvl="1" indent="0">
              <a:buNone/>
            </a:pPr>
            <a:r>
              <a:rPr lang="zh-CN" altLang="zh-CN"/>
              <a:t>	}</a:t>
            </a:r>
            <a:endParaRPr lang="zh-CN" altLang="zh-CN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基本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0</TotalTime>
  <Words>7535</Words>
  <Application>WPS 演示</Application>
  <PresentationFormat>全屏显示(4:3)</PresentationFormat>
  <Paragraphs>388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2" baseType="lpstr">
      <vt:lpstr>Arial</vt:lpstr>
      <vt:lpstr>宋体</vt:lpstr>
      <vt:lpstr>Wingdings</vt:lpstr>
      <vt:lpstr>华文宋体</vt:lpstr>
      <vt:lpstr>Arial Black</vt:lpstr>
      <vt:lpstr>微软雅黑</vt:lpstr>
      <vt:lpstr>汉仪旗黑</vt:lpstr>
      <vt:lpstr>黑体</vt:lpstr>
      <vt:lpstr>汉仪中黑KW</vt:lpstr>
      <vt:lpstr>微软雅黑</vt:lpstr>
      <vt:lpstr>宋体</vt:lpstr>
      <vt:lpstr>Arial Unicode MS</vt:lpstr>
      <vt:lpstr>Calibri</vt:lpstr>
      <vt:lpstr>Helvetica Neue</vt:lpstr>
      <vt:lpstr>汉仪书宋二KW</vt:lpstr>
      <vt:lpstr>Consolas</vt:lpstr>
      <vt:lpstr>苹方-简</vt:lpstr>
      <vt:lpstr>基本</vt:lpstr>
      <vt:lpstr>Java 程序设计</vt:lpstr>
      <vt:lpstr>3 程序流程和数组</vt:lpstr>
      <vt:lpstr>3.1 控制台输入输出</vt:lpstr>
      <vt:lpstr>PowerPoint 演示文稿</vt:lpstr>
      <vt:lpstr>PowerPoint 演示文稿</vt:lpstr>
      <vt:lpstr>PowerPoint 演示文稿</vt:lpstr>
      <vt:lpstr>3.2 文件的输入输出</vt:lpstr>
      <vt:lpstr>PowerPoint 演示文稿</vt:lpstr>
      <vt:lpstr>3.3 流程控制</vt:lpstr>
      <vt:lpstr>3.3.1 条件语句</vt:lpstr>
      <vt:lpstr>3.3.2 循环语句</vt:lpstr>
      <vt:lpstr>3.3.3 多分支语句</vt:lpstr>
      <vt:lpstr>3.3.4 中断控制流程语句</vt:lpstr>
      <vt:lpstr>PowerPoint 演示文稿</vt:lpstr>
      <vt:lpstr>PowerPoint 演示文稿</vt:lpstr>
      <vt:lpstr>PowerPoint 演示文稿</vt:lpstr>
      <vt:lpstr>3.4 数组</vt:lpstr>
      <vt:lpstr>3.4.1 数组的初始化和使用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3.4.2  深入理解数组</vt:lpstr>
      <vt:lpstr>内存模式：例子ArrayInRam.java</vt:lpstr>
      <vt:lpstr>PowerPoint 演示文稿</vt:lpstr>
      <vt:lpstr>3.4.3  使用Arrays工具</vt:lpstr>
      <vt:lpstr>PowerPoint 演示文稿</vt:lpstr>
      <vt:lpstr>PowerPoint 演示文稿</vt:lpstr>
      <vt:lpstr>3.4.4  多维数组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面向对象程序设计----Java</dc:title>
  <dc:creator>hyq</dc:creator>
  <cp:lastModifiedBy>WPS_1667213079</cp:lastModifiedBy>
  <cp:revision>141</cp:revision>
  <dcterms:created xsi:type="dcterms:W3CDTF">2024-05-21T15:05:32Z</dcterms:created>
  <dcterms:modified xsi:type="dcterms:W3CDTF">2024-05-21T15:05:32Z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2052-6.5.1.8687</vt:lpwstr>
  </property>
  <property fmtid="{D5CDD505-2E9C-101B-9397-08002B2CF9AE}" pid="3" name="ICV">
    <vt:lpwstr>D504ABF303B1328B3BB84C666EB593A9_43</vt:lpwstr>
  </property>
</Properties>
</file>