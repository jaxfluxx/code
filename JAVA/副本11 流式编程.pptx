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2"/>
  </p:notesMasterIdLst>
  <p:sldIdLst>
    <p:sldId id="282" r:id="rId3"/>
    <p:sldId id="286" r:id="rId4"/>
    <p:sldId id="283" r:id="rId5"/>
    <p:sldId id="284" r:id="rId6"/>
    <p:sldId id="285" r:id="rId7"/>
    <p:sldId id="308" r:id="rId8"/>
    <p:sldId id="287" r:id="rId9"/>
    <p:sldId id="307" r:id="rId10"/>
    <p:sldId id="288" r:id="rId11"/>
    <p:sldId id="289" r:id="rId12"/>
    <p:sldId id="290" r:id="rId13"/>
    <p:sldId id="291" r:id="rId14"/>
    <p:sldId id="293" r:id="rId15"/>
    <p:sldId id="292" r:id="rId16"/>
    <p:sldId id="294" r:id="rId17"/>
    <p:sldId id="295" r:id="rId18"/>
    <p:sldId id="296" r:id="rId19"/>
    <p:sldId id="297" r:id="rId20"/>
    <p:sldId id="310" r:id="rId21"/>
    <p:sldId id="309" r:id="rId22"/>
    <p:sldId id="298" r:id="rId23"/>
    <p:sldId id="299" r:id="rId24"/>
    <p:sldId id="300" r:id="rId25"/>
    <p:sldId id="301" r:id="rId26"/>
    <p:sldId id="302" r:id="rId27"/>
    <p:sldId id="303" r:id="rId28"/>
    <p:sldId id="304" r:id="rId29"/>
    <p:sldId id="305" r:id="rId30"/>
    <p:sldId id="306" r:id="rId3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106" d="100"/>
          <a:sy n="106" d="100"/>
        </p:scale>
        <p:origin x="176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notesMaster" Target="notesMasters/notesMaster1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9E825A-9DAF-477B-AC5C-4050AFD6B1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C47105-71C5-4BF5-AD58-12C73EDD56E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cap="none" spc="-80" baseline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none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17537"/>
            <a:ext cx="1242239" cy="1035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8075240" cy="683994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075240" cy="5256584"/>
          </a:xfrm>
        </p:spPr>
        <p:txBody>
          <a:bodyPr/>
          <a:lstStyle>
            <a:lvl1pPr marL="0" indent="0" defTabSz="1080135">
              <a:spcBef>
                <a:spcPts val="600"/>
              </a:spcBef>
              <a:spcAft>
                <a:spcPts val="0"/>
              </a:spcAft>
              <a:buFont typeface="Arial" panose="020B0704020202020204" pitchFamily="34" charset="0"/>
              <a:buChar char="•"/>
              <a:defRPr sz="2800" b="0" i="0" baseline="0">
                <a:solidFill>
                  <a:schemeClr val="tx1"/>
                </a:solidFill>
                <a:ea typeface="华文宋体" panose="02010600040101010101" pitchFamily="2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400" baseline="0">
                <a:solidFill>
                  <a:schemeClr val="tx2">
                    <a:lumMod val="75000"/>
                  </a:schemeClr>
                </a:solidFill>
              </a:defRPr>
            </a:lvl2pPr>
            <a:lvl3pPr>
              <a:spcBef>
                <a:spcPts val="600"/>
              </a:spcBef>
              <a:defRPr sz="2400"/>
            </a:lvl3pPr>
            <a:lvl4pPr>
              <a:lnSpc>
                <a:spcPct val="100000"/>
              </a:lnSpc>
              <a:spcBef>
                <a:spcPts val="600"/>
              </a:spcBef>
              <a:defRPr sz="2400"/>
            </a:lvl4pPr>
            <a:lvl5pPr>
              <a:spcBef>
                <a:spcPts val="600"/>
              </a:spcBef>
              <a:defRPr sz="24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68401-C238-4940-8B37-740CB2A88BB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anose="020B0704020202020204" pitchFamily="34" charset="0"/>
              <a:buNone/>
            </a:pPr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anose="020B0704020202020204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mailto:heyq@cugb.edu.cn" TargetMode="Externa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242445"/>
            <a:ext cx="3976795" cy="2558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11560" y="1628800"/>
            <a:ext cx="4608512" cy="1470025"/>
          </a:xfrm>
        </p:spPr>
        <p:txBody>
          <a:bodyPr>
            <a:normAutofit/>
          </a:bodyPr>
          <a:lstStyle/>
          <a:p>
            <a:r>
              <a:rPr lang="en-US" altLang="zh-CN" sz="4800" dirty="0"/>
              <a:t>Java </a:t>
            </a:r>
            <a:r>
              <a:rPr lang="zh-CN" altLang="en-US" sz="4800" dirty="0"/>
              <a:t>程序设计</a:t>
            </a:r>
            <a:endParaRPr lang="zh-CN" altLang="en-US" sz="48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99592" y="3789040"/>
            <a:ext cx="7772400" cy="1656184"/>
          </a:xfrm>
        </p:spPr>
        <p:txBody>
          <a:bodyPr>
            <a:noAutofit/>
          </a:bodyPr>
          <a:lstStyle/>
          <a:p>
            <a:pPr algn="l"/>
            <a:r>
              <a:rPr lang="zh-CN" altLang="en-US" sz="2800" dirty="0"/>
              <a:t>何勇强</a:t>
            </a:r>
            <a:endParaRPr lang="en-US" altLang="zh-CN" sz="2800" dirty="0"/>
          </a:p>
          <a:p>
            <a:pPr algn="l"/>
            <a:r>
              <a:rPr lang="en-US" altLang="zh-CN" sz="2800" dirty="0">
                <a:hlinkClick r:id="rId2"/>
              </a:rPr>
              <a:t>heyq@cugb.edu.cn</a:t>
            </a:r>
            <a:endParaRPr lang="en-US" altLang="zh-CN" sz="2800" dirty="0"/>
          </a:p>
          <a:p>
            <a:pPr algn="l"/>
            <a:r>
              <a:rPr lang="en-US" altLang="zh-CN" sz="2800" dirty="0"/>
              <a:t>18810819390</a:t>
            </a:r>
            <a:endParaRPr lang="en-US" altLang="zh-CN" sz="2800" dirty="0"/>
          </a:p>
          <a:p>
            <a:pPr algn="l"/>
            <a:r>
              <a:rPr lang="en-US" altLang="zh-CN" sz="2800" dirty="0"/>
              <a:t>                                      2024-2</a:t>
            </a:r>
            <a:endParaRPr lang="zh-CN" alt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5884600" y="2638521"/>
            <a:ext cx="2664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i="1" dirty="0">
                <a:solidFill>
                  <a:srgbClr val="0070C0"/>
                </a:solidFill>
              </a:rPr>
              <a:t>本科生公共课</a:t>
            </a:r>
            <a:endParaRPr lang="zh-CN" altLang="en-US" sz="3200" i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流是一系列与特定存储机制无关的元素</a:t>
            </a:r>
            <a:r>
              <a:rPr lang="en-US" altLang="zh-CN" dirty="0"/>
              <a:t>——</a:t>
            </a:r>
            <a:r>
              <a:rPr lang="zh-CN" altLang="en-US" dirty="0"/>
              <a:t>实际上，流并没有“存储”之说。</a:t>
            </a:r>
            <a:endParaRPr lang="zh-CN" altLang="en-US" dirty="0"/>
          </a:p>
          <a:p>
            <a:r>
              <a:rPr lang="zh-CN" altLang="en-US" dirty="0"/>
              <a:t>利用流，我们无需迭代集合中的元素，就可以提取和操作它们。这些管道通常被组合在一起，在流上形成一条操作管道。</a:t>
            </a:r>
            <a:endParaRPr lang="zh-CN" altLang="en-US" dirty="0"/>
          </a:p>
          <a:p>
            <a:r>
              <a:rPr lang="zh-CN" altLang="en-US" dirty="0"/>
              <a:t>在大多数情况下，将对象存储在集合中是为了处理他们，因此你将会发现你将把编程的主要焦点从集合转移到了流上。流的一个核心好处是，它使得程序更加短小并且更易理解。</a:t>
            </a:r>
            <a:endParaRPr lang="zh-CN" altLang="en-US" dirty="0"/>
          </a:p>
          <a:p>
            <a:r>
              <a:rPr lang="en-US" altLang="zh-CN" dirty="0">
                <a:solidFill>
                  <a:srgbClr val="FF0000"/>
                </a:solidFill>
              </a:rPr>
              <a:t>https://zyb0408.github.io/gitbooks/onjava8/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11 </a:t>
            </a:r>
            <a:r>
              <a:rPr lang="zh-CN" altLang="en-US" dirty="0"/>
              <a:t>流式编程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0728"/>
            <a:ext cx="8075240" cy="5616272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流（</a:t>
            </a:r>
            <a:r>
              <a:rPr lang="en-US" altLang="zh-CN" dirty="0"/>
              <a:t>Stream</a:t>
            </a:r>
            <a:r>
              <a:rPr lang="zh-CN" altLang="en-US" dirty="0"/>
              <a:t>）是</a:t>
            </a:r>
            <a:r>
              <a:rPr lang="en-US" altLang="zh-CN" dirty="0"/>
              <a:t>Java 8 </a:t>
            </a:r>
            <a:r>
              <a:rPr lang="zh-CN" altLang="en-US" dirty="0"/>
              <a:t>中引入的一种用于操作集合数据（包括数组、集合、</a:t>
            </a:r>
            <a:r>
              <a:rPr lang="en-US" altLang="zh-CN" dirty="0"/>
              <a:t>I/O</a:t>
            </a:r>
            <a:r>
              <a:rPr lang="zh-CN" altLang="en-US" dirty="0"/>
              <a:t>等）的抽象概念。</a:t>
            </a:r>
            <a:endParaRPr lang="zh-CN" altLang="en-US" dirty="0"/>
          </a:p>
          <a:p>
            <a:r>
              <a:rPr lang="zh-CN" altLang="en-US" dirty="0"/>
              <a:t>流可以被看作是一系列元素的序列，这些元素可以来自于一个数组、一个集合或其他数据源。流提供了一种在数据上进行各种操作的统一方式，例如过滤、映射、排序、归约等。</a:t>
            </a:r>
            <a:endParaRPr lang="en-US" altLang="zh-CN" dirty="0"/>
          </a:p>
          <a:p>
            <a:r>
              <a:rPr lang="zh-CN" altLang="en-US" dirty="0"/>
              <a:t>流的特点如下：</a:t>
            </a:r>
            <a:endParaRPr lang="zh-CN" altLang="en-US" dirty="0"/>
          </a:p>
          <a:p>
            <a:pPr lvl="1"/>
            <a:r>
              <a:rPr lang="zh-CN" altLang="en-US" dirty="0"/>
              <a:t>流是数据元素的序列，它并不存储数据，而是通过操作数据源来生成新的数据流。</a:t>
            </a:r>
            <a:endParaRPr lang="zh-CN" altLang="en-US" dirty="0"/>
          </a:p>
          <a:p>
            <a:pPr lvl="1"/>
            <a:r>
              <a:rPr lang="zh-CN" altLang="en-US" dirty="0"/>
              <a:t>流是在源数据上进行操作的，它不会修改源数据，而是生成一个新的流。</a:t>
            </a:r>
            <a:endParaRPr lang="zh-CN" altLang="en-US" dirty="0"/>
          </a:p>
          <a:p>
            <a:pPr lvl="1"/>
            <a:r>
              <a:rPr lang="zh-CN" altLang="en-US" dirty="0"/>
              <a:t>流操作是惰性求值的，只有在终端操作被调用时，才会对流进行实际的计算。</a:t>
            </a:r>
            <a:endParaRPr lang="zh-CN" altLang="en-US" dirty="0"/>
          </a:p>
          <a:p>
            <a:pPr lvl="1"/>
            <a:r>
              <a:rPr lang="zh-CN" altLang="en-US" dirty="0"/>
              <a:t>流操作可以是串行的，也可以是并行的，可以利用多核处理器的优势进行并行计算。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8000" y="621000"/>
            <a:ext cx="8568000" cy="5616312"/>
          </a:xfrm>
        </p:spPr>
        <p:txBody>
          <a:bodyPr>
            <a:normAutofit fontScale="92500" lnSpcReduction="10000"/>
          </a:bodyPr>
          <a:lstStyle/>
          <a:p>
            <a:pPr lvl="1"/>
            <a:r>
              <a:rPr lang="zh-CN" altLang="en-US" dirty="0"/>
              <a:t>假如要随机展示 </a:t>
            </a:r>
            <a:r>
              <a:rPr lang="en-US" altLang="zh-CN" dirty="0"/>
              <a:t>5 </a:t>
            </a:r>
            <a:r>
              <a:rPr lang="zh-CN" altLang="en-US" dirty="0"/>
              <a:t>至 </a:t>
            </a:r>
            <a:r>
              <a:rPr lang="en-US" altLang="zh-CN" dirty="0"/>
              <a:t>20 </a:t>
            </a:r>
            <a:r>
              <a:rPr lang="zh-CN" altLang="en-US" dirty="0"/>
              <a:t>之间不重复的整数并进行排序。实际上，你的关注点首先是创建一个有序集合。围绕这个集合进行后续的操作。但是使用流式编程，你就可以简单陈述你想做什么：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public class </a:t>
            </a:r>
            <a:r>
              <a:rPr lang="en-US" altLang="zh-CN" dirty="0" err="1"/>
              <a:t>Randoms</a:t>
            </a:r>
            <a:r>
              <a:rPr lang="en-US" altLang="zh-CN" dirty="0"/>
              <a:t>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new Random(47)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.</a:t>
            </a:r>
            <a:r>
              <a:rPr lang="en-US" altLang="zh-CN" dirty="0" err="1"/>
              <a:t>ints</a:t>
            </a:r>
            <a:r>
              <a:rPr lang="en-US" altLang="zh-CN" dirty="0"/>
              <a:t>(5, 20) </a:t>
            </a:r>
            <a:r>
              <a:rPr lang="en-US" altLang="zh-CN" dirty="0">
                <a:solidFill>
                  <a:srgbClr val="00B050"/>
                </a:solidFill>
              </a:rPr>
              <a:t>//</a:t>
            </a:r>
            <a:r>
              <a:rPr lang="zh-CN" altLang="en-US" dirty="0">
                <a:solidFill>
                  <a:srgbClr val="00B050"/>
                </a:solidFill>
              </a:rPr>
              <a:t>生成无限整数流</a:t>
            </a:r>
            <a:endParaRPr lang="zh-CN" altLang="en-US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zh-CN" altLang="en-US" dirty="0"/>
              <a:t>      </a:t>
            </a:r>
            <a:r>
              <a:rPr lang="en-US" altLang="zh-CN" dirty="0"/>
              <a:t>.distinct()           </a:t>
            </a:r>
            <a:r>
              <a:rPr lang="en-US" altLang="zh-CN" dirty="0">
                <a:solidFill>
                  <a:srgbClr val="00B050"/>
                </a:solidFill>
              </a:rPr>
              <a:t>//</a:t>
            </a:r>
            <a:r>
              <a:rPr lang="zh-CN" altLang="en-US" dirty="0">
                <a:solidFill>
                  <a:srgbClr val="00B050"/>
                </a:solidFill>
              </a:rPr>
              <a:t>获取非重复值</a:t>
            </a:r>
            <a:endParaRPr lang="zh-CN" altLang="en-US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zh-CN" altLang="en-US" dirty="0"/>
              <a:t>      </a:t>
            </a:r>
            <a:r>
              <a:rPr lang="en-US" altLang="zh-CN" dirty="0"/>
              <a:t>.limit(7)     </a:t>
            </a:r>
            <a:r>
              <a:rPr lang="en-US" altLang="zh-CN" dirty="0">
                <a:solidFill>
                  <a:srgbClr val="00B050"/>
                </a:solidFill>
              </a:rPr>
              <a:t>//</a:t>
            </a:r>
            <a:r>
              <a:rPr lang="zh-CN" altLang="en-US" dirty="0">
                <a:solidFill>
                  <a:srgbClr val="00B050"/>
                </a:solidFill>
              </a:rPr>
              <a:t>获取前面</a:t>
            </a:r>
            <a:r>
              <a:rPr lang="en-US" altLang="zh-CN" dirty="0">
                <a:solidFill>
                  <a:srgbClr val="00B050"/>
                </a:solidFill>
              </a:rPr>
              <a:t>7</a:t>
            </a:r>
            <a:r>
              <a:rPr lang="zh-CN" altLang="en-US" dirty="0">
                <a:solidFill>
                  <a:srgbClr val="00B050"/>
                </a:solidFill>
              </a:rPr>
              <a:t>个元素</a:t>
            </a:r>
            <a:endParaRPr lang="zh-CN" altLang="en-US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zh-CN" altLang="en-US" dirty="0"/>
              <a:t>      </a:t>
            </a:r>
            <a:r>
              <a:rPr lang="en-US" altLang="zh-CN" dirty="0"/>
              <a:t>.sorted()            </a:t>
            </a:r>
            <a:r>
              <a:rPr lang="en-US" altLang="zh-CN" dirty="0">
                <a:solidFill>
                  <a:srgbClr val="00B050"/>
                </a:solidFill>
              </a:rPr>
              <a:t>//</a:t>
            </a:r>
            <a:r>
              <a:rPr lang="zh-CN" altLang="en-US" dirty="0">
                <a:solidFill>
                  <a:srgbClr val="00B050"/>
                </a:solidFill>
              </a:rPr>
              <a:t>排序</a:t>
            </a:r>
            <a:endParaRPr lang="zh-CN" altLang="en-US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zh-CN" altLang="en-US" dirty="0"/>
              <a:t>      </a:t>
            </a:r>
            <a:r>
              <a:rPr lang="en-US" altLang="zh-CN" dirty="0"/>
              <a:t>.</a:t>
            </a:r>
            <a:r>
              <a:rPr lang="en-US" altLang="zh-CN" dirty="0" err="1"/>
              <a:t>forEach</a:t>
            </a:r>
            <a:r>
              <a:rPr lang="en-US" altLang="zh-CN" dirty="0"/>
              <a:t>(</a:t>
            </a:r>
            <a:r>
              <a:rPr lang="en-US" altLang="zh-CN" dirty="0" err="1">
                <a:solidFill>
                  <a:srgbClr val="FF0000"/>
                </a:solidFill>
              </a:rPr>
              <a:t>System.out</a:t>
            </a:r>
            <a:r>
              <a:rPr lang="en-US" altLang="zh-CN" dirty="0">
                <a:solidFill>
                  <a:srgbClr val="FF0000"/>
                </a:solidFill>
              </a:rPr>
              <a:t>::</a:t>
            </a:r>
            <a:r>
              <a:rPr lang="en-US" altLang="zh-CN" dirty="0" err="1">
                <a:solidFill>
                  <a:srgbClr val="FF0000"/>
                </a:solidFill>
              </a:rPr>
              <a:t>println</a:t>
            </a:r>
            <a:r>
              <a:rPr lang="en-US" altLang="zh-CN" dirty="0"/>
              <a:t>);  </a:t>
            </a:r>
            <a:r>
              <a:rPr lang="en-US" altLang="zh-CN" dirty="0">
                <a:solidFill>
                  <a:srgbClr val="00B050"/>
                </a:solidFill>
              </a:rPr>
              <a:t>//</a:t>
            </a:r>
            <a:r>
              <a:rPr lang="zh-CN" altLang="en-US" dirty="0">
                <a:solidFill>
                  <a:srgbClr val="00B050"/>
                </a:solidFill>
              </a:rPr>
              <a:t>终结操作，以方法引用做参数</a:t>
            </a:r>
            <a:r>
              <a:rPr lang="en-US" altLang="zh-CN" dirty="0">
                <a:solidFill>
                  <a:srgbClr val="00B050"/>
                </a:solidFill>
              </a:rPr>
              <a:t>,</a:t>
            </a:r>
            <a:r>
              <a:rPr lang="zh-CN" altLang="en-US" dirty="0">
                <a:solidFill>
                  <a:srgbClr val="00B050"/>
                </a:solidFill>
              </a:rPr>
              <a:t>等同于：</a:t>
            </a:r>
            <a:endParaRPr lang="zh-CN" altLang="en-US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zh-CN" altLang="en-US" dirty="0">
                <a:solidFill>
                  <a:srgbClr val="00B050"/>
                </a:solidFill>
              </a:rPr>
              <a:t>    </a:t>
            </a:r>
            <a:r>
              <a:rPr lang="en-US" altLang="zh-CN" dirty="0">
                <a:solidFill>
                  <a:srgbClr val="00B050"/>
                </a:solidFill>
              </a:rPr>
              <a:t>//  .</a:t>
            </a:r>
            <a:r>
              <a:rPr lang="en-US" altLang="zh-CN" dirty="0" err="1">
                <a:solidFill>
                  <a:srgbClr val="00B050"/>
                </a:solidFill>
              </a:rPr>
              <a:t>forEach</a:t>
            </a:r>
            <a:r>
              <a:rPr lang="en-US" altLang="zh-CN" dirty="0">
                <a:solidFill>
                  <a:srgbClr val="00B050"/>
                </a:solidFill>
              </a:rPr>
              <a:t>(e-&gt; </a:t>
            </a:r>
            <a:r>
              <a:rPr lang="en-US" altLang="zh-CN" dirty="0" err="1">
                <a:solidFill>
                  <a:srgbClr val="00B050"/>
                </a:solidFill>
              </a:rPr>
              <a:t>System.out.println</a:t>
            </a:r>
            <a:r>
              <a:rPr lang="en-US" altLang="zh-CN" dirty="0">
                <a:solidFill>
                  <a:srgbClr val="00B050"/>
                </a:solidFill>
              </a:rPr>
              <a:t>(e));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7000"/>
            <a:ext cx="8075240" cy="5760312"/>
          </a:xfrm>
        </p:spPr>
        <p:txBody>
          <a:bodyPr>
            <a:normAutofit fontScale="92500" lnSpcReduction="10000"/>
          </a:bodyPr>
          <a:lstStyle/>
          <a:p>
            <a:pPr lvl="1"/>
            <a:r>
              <a:rPr lang="zh-CN" altLang="en-US" dirty="0"/>
              <a:t>这种编程方式也称为</a:t>
            </a:r>
            <a:r>
              <a:rPr lang="zh-CN" altLang="en-US" dirty="0">
                <a:solidFill>
                  <a:srgbClr val="FF0000"/>
                </a:solidFill>
              </a:rPr>
              <a:t>声明式编程</a:t>
            </a:r>
            <a:r>
              <a:rPr lang="zh-CN" altLang="en-US" dirty="0"/>
              <a:t>，只写做什么，不写怎么做。</a:t>
            </a:r>
            <a:endParaRPr lang="en-US" altLang="zh-CN" dirty="0"/>
          </a:p>
          <a:p>
            <a:pPr lvl="1"/>
            <a:r>
              <a:rPr lang="zh-CN" altLang="en-US" dirty="0"/>
              <a:t>命令式编程要考虑怎么做：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public class </a:t>
            </a:r>
            <a:r>
              <a:rPr lang="en-US" altLang="zh-CN" dirty="0" err="1"/>
              <a:t>ImperativeRandoms</a:t>
            </a:r>
            <a:r>
              <a:rPr lang="en-US" altLang="zh-CN" dirty="0"/>
              <a:t>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Random rand = new Random(47);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SortedSet</a:t>
            </a:r>
            <a:r>
              <a:rPr lang="en-US" altLang="zh-CN" dirty="0"/>
              <a:t>&lt;Integer&gt; </a:t>
            </a:r>
            <a:r>
              <a:rPr lang="en-US" altLang="zh-CN" dirty="0" err="1"/>
              <a:t>rints</a:t>
            </a:r>
            <a:r>
              <a:rPr lang="en-US" altLang="zh-CN" dirty="0"/>
              <a:t> = new </a:t>
            </a:r>
            <a:r>
              <a:rPr lang="en-US" altLang="zh-CN" dirty="0" err="1"/>
              <a:t>TreeSet</a:t>
            </a:r>
            <a:r>
              <a:rPr lang="en-US" altLang="zh-CN" dirty="0"/>
              <a:t>&lt;&gt;();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while(</a:t>
            </a:r>
            <a:r>
              <a:rPr lang="en-US" altLang="zh-CN" dirty="0" err="1"/>
              <a:t>rints.size</a:t>
            </a:r>
            <a:r>
              <a:rPr lang="en-US" altLang="zh-CN" dirty="0"/>
              <a:t>() &lt; 7)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int</a:t>
            </a:r>
            <a:r>
              <a:rPr lang="en-US" altLang="zh-CN" dirty="0"/>
              <a:t> r = </a:t>
            </a:r>
            <a:r>
              <a:rPr lang="en-US" altLang="zh-CN" dirty="0" err="1"/>
              <a:t>rand.nextInt</a:t>
            </a:r>
            <a:r>
              <a:rPr lang="en-US" altLang="zh-CN" dirty="0"/>
              <a:t>(20);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if(r &lt; 5) continue;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rints.add</a:t>
            </a:r>
            <a:r>
              <a:rPr lang="en-US" altLang="zh-CN" dirty="0"/>
              <a:t>(r);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r>
              <a:rPr lang="en-US" altLang="zh-CN" dirty="0" err="1"/>
              <a:t>rints</a:t>
            </a:r>
            <a:r>
              <a:rPr lang="en-US" altLang="zh-CN" dirty="0"/>
              <a:t>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en-US" altLang="zh-CN" dirty="0"/>
          </a:p>
          <a:p>
            <a:pPr lvl="1"/>
            <a:r>
              <a:rPr lang="zh-CN" altLang="en-US" dirty="0"/>
              <a:t>比较而言，流式编程更易于理解，更简单。</a:t>
            </a:r>
            <a:r>
              <a:rPr lang="en-US" altLang="zh-CN" dirty="0"/>
              <a:t>	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前者无需定义任何变量，后者定义了 </a:t>
            </a:r>
            <a:r>
              <a:rPr lang="en-US" altLang="zh-CN" dirty="0"/>
              <a:t>3 </a:t>
            </a:r>
            <a:r>
              <a:rPr lang="zh-CN" altLang="en-US" dirty="0"/>
              <a:t>个变量： </a:t>
            </a:r>
            <a:r>
              <a:rPr lang="en-US" altLang="zh-CN" dirty="0"/>
              <a:t>rand</a:t>
            </a:r>
            <a:r>
              <a:rPr lang="zh-CN" altLang="en-US" dirty="0"/>
              <a:t>，</a:t>
            </a:r>
            <a:r>
              <a:rPr lang="en-US" altLang="zh-CN" dirty="0" err="1"/>
              <a:t>rints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/>
              <a:t>r</a:t>
            </a:r>
            <a:r>
              <a:rPr lang="zh-CN" altLang="en-US" dirty="0"/>
              <a:t>，并且需要过滤小于</a:t>
            </a:r>
            <a:r>
              <a:rPr lang="en-US" altLang="zh-CN" dirty="0"/>
              <a:t>5</a:t>
            </a:r>
            <a:r>
              <a:rPr lang="zh-CN" altLang="en-US" dirty="0"/>
              <a:t>的值。</a:t>
            </a:r>
            <a:endParaRPr lang="en-US" altLang="zh-CN" dirty="0"/>
          </a:p>
          <a:p>
            <a:r>
              <a:rPr lang="zh-CN" altLang="en-US" dirty="0"/>
              <a:t>命令式编程显式地编写迭代机制称为外部迭，而流式编程采用内部迭代，这是流式编程的核心特性之一。</a:t>
            </a:r>
            <a:endParaRPr lang="en-US" altLang="zh-CN" dirty="0"/>
          </a:p>
          <a:p>
            <a:r>
              <a:rPr lang="zh-CN" altLang="en-US" dirty="0"/>
              <a:t>这种机制使得编写的代码可读性更强，也更能利用多核处理器的优势。</a:t>
            </a:r>
            <a:endParaRPr lang="en-US" altLang="zh-CN" dirty="0"/>
          </a:p>
          <a:p>
            <a:r>
              <a:rPr lang="zh-CN" altLang="en-US" dirty="0"/>
              <a:t>流是懒加载的，它只在绝对必要时才计算。可以将流看作“延迟列表”。由于计算延迟，流能够表示非常大（甚至无限）的序列，而不需要考虑内存问题。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11.1 java8</a:t>
            </a:r>
            <a:r>
              <a:rPr lang="zh-CN" altLang="en-US" dirty="0"/>
              <a:t>对流的支持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如何将一个全新的流的概念融入到现有类库中呢？</a:t>
            </a:r>
            <a:endParaRPr lang="en-US" altLang="zh-CN" dirty="0"/>
          </a:p>
          <a:p>
            <a:pPr lvl="1"/>
            <a:r>
              <a:rPr lang="zh-CN" altLang="en-US" dirty="0"/>
              <a:t>在接口中添加 </a:t>
            </a:r>
            <a:r>
              <a:rPr lang="en-US" altLang="zh-CN" dirty="0"/>
              <a:t>default</a:t>
            </a:r>
            <a:r>
              <a:rPr lang="zh-CN" altLang="en-US" dirty="0"/>
              <a:t>方法。通过这种方案，设计者们可以将流式（</a:t>
            </a:r>
            <a:r>
              <a:rPr lang="en-US" altLang="zh-CN" dirty="0"/>
              <a:t>stream</a:t>
            </a:r>
            <a:r>
              <a:rPr lang="zh-CN" altLang="en-US" dirty="0"/>
              <a:t>）方法平滑地嵌入到现有类中。</a:t>
            </a:r>
            <a:endParaRPr lang="en-US" altLang="zh-CN" dirty="0"/>
          </a:p>
          <a:p>
            <a:r>
              <a:rPr lang="zh-CN" altLang="en-US" dirty="0"/>
              <a:t>流操作的类型有三种：</a:t>
            </a:r>
            <a:endParaRPr lang="en-US" altLang="zh-CN" dirty="0"/>
          </a:p>
          <a:p>
            <a:pPr lvl="1"/>
            <a:r>
              <a:rPr lang="zh-CN" altLang="en-US" dirty="0"/>
              <a:t>创建流</a:t>
            </a:r>
            <a:endParaRPr lang="en-US" altLang="zh-CN" dirty="0"/>
          </a:p>
          <a:p>
            <a:pPr lvl="1"/>
            <a:r>
              <a:rPr lang="zh-CN" altLang="en-US" dirty="0"/>
              <a:t>修改流元素（中间操作， </a:t>
            </a:r>
            <a:r>
              <a:rPr lang="en-US" altLang="zh-CN" dirty="0"/>
              <a:t>Intermediate Operations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消费流元素（终端操作， </a:t>
            </a:r>
            <a:r>
              <a:rPr lang="en-US" altLang="zh-CN" dirty="0"/>
              <a:t>Terminal Operations</a:t>
            </a:r>
            <a:r>
              <a:rPr lang="zh-CN" altLang="en-US" dirty="0"/>
              <a:t>）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305450"/>
            <a:ext cx="8075613" cy="46074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11.2 </a:t>
            </a:r>
            <a:r>
              <a:rPr lang="zh-CN" altLang="en-US" dirty="0"/>
              <a:t>流的创建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0728"/>
            <a:ext cx="8075240" cy="5400272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、通过 </a:t>
            </a:r>
            <a:r>
              <a:rPr lang="en-US" altLang="zh-CN" dirty="0" err="1"/>
              <a:t>Stream.of</a:t>
            </a:r>
            <a:r>
              <a:rPr lang="en-US" altLang="zh-CN" dirty="0"/>
              <a:t>() </a:t>
            </a:r>
            <a:r>
              <a:rPr lang="zh-CN" altLang="en-US" dirty="0"/>
              <a:t>将一组元素转化成为流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>
                <a:solidFill>
                  <a:srgbClr val="00B050"/>
                </a:solidFill>
              </a:rPr>
              <a:t>// streams/StreamOf.java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import </a:t>
            </a:r>
            <a:r>
              <a:rPr lang="en-US" altLang="zh-CN" dirty="0" err="1"/>
              <a:t>java.util.stream</a:t>
            </a:r>
            <a:r>
              <a:rPr lang="en-US" altLang="zh-CN" dirty="0"/>
              <a:t>.*;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public class </a:t>
            </a:r>
            <a:r>
              <a:rPr lang="en-US" altLang="zh-CN" dirty="0" err="1"/>
              <a:t>StreamOf</a:t>
            </a:r>
            <a:r>
              <a:rPr lang="en-US" altLang="zh-CN" dirty="0"/>
              <a:t>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Stream.of</a:t>
            </a:r>
            <a:r>
              <a:rPr lang="en-US" altLang="zh-CN" dirty="0"/>
              <a:t>(new Bubble(1), new Bubble(2), new Bubble(3))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    .</a:t>
            </a:r>
            <a:r>
              <a:rPr lang="en-US" altLang="zh-CN" dirty="0" err="1"/>
              <a:t>forEach</a:t>
            </a:r>
            <a:r>
              <a:rPr lang="en-US" altLang="zh-CN" dirty="0"/>
              <a:t>(</a:t>
            </a:r>
            <a:r>
              <a:rPr lang="en-US" altLang="zh-CN" dirty="0" err="1"/>
              <a:t>System.out</a:t>
            </a:r>
            <a:r>
              <a:rPr lang="en-US" altLang="zh-CN" dirty="0"/>
              <a:t>::</a:t>
            </a:r>
            <a:r>
              <a:rPr lang="en-US" altLang="zh-CN" dirty="0" err="1"/>
              <a:t>println</a:t>
            </a:r>
            <a:r>
              <a:rPr lang="en-US" altLang="zh-CN" dirty="0"/>
              <a:t>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Stream.of</a:t>
            </a:r>
            <a:r>
              <a:rPr lang="en-US" altLang="zh-CN" dirty="0"/>
              <a:t>("It's ", "a ", "wonderful ", "day ", "for ", "pie!")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    .</a:t>
            </a:r>
            <a:r>
              <a:rPr lang="en-US" altLang="zh-CN" dirty="0" err="1"/>
              <a:t>forEach</a:t>
            </a:r>
            <a:r>
              <a:rPr lang="en-US" altLang="zh-CN" dirty="0"/>
              <a:t>(</a:t>
            </a:r>
            <a:r>
              <a:rPr lang="en-US" altLang="zh-CN" dirty="0" err="1"/>
              <a:t>System.out</a:t>
            </a:r>
            <a:r>
              <a:rPr lang="en-US" altLang="zh-CN" dirty="0"/>
              <a:t>::print);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Stream.of</a:t>
            </a:r>
            <a:r>
              <a:rPr lang="en-US" altLang="zh-CN" dirty="0"/>
              <a:t>(3.14159, 2.718, 1.618)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    .</a:t>
            </a:r>
            <a:r>
              <a:rPr lang="en-US" altLang="zh-CN" dirty="0" err="1"/>
              <a:t>forEach</a:t>
            </a:r>
            <a:r>
              <a:rPr lang="en-US" altLang="zh-CN" dirty="0"/>
              <a:t>(</a:t>
            </a:r>
            <a:r>
              <a:rPr lang="en-US" altLang="zh-CN" dirty="0" err="1"/>
              <a:t>System.out</a:t>
            </a:r>
            <a:r>
              <a:rPr lang="en-US" altLang="zh-CN" dirty="0"/>
              <a:t>::</a:t>
            </a:r>
            <a:r>
              <a:rPr lang="en-US" altLang="zh-CN" dirty="0" err="1"/>
              <a:t>println</a:t>
            </a:r>
            <a:r>
              <a:rPr lang="en-US" altLang="zh-CN" dirty="0"/>
              <a:t>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5580000" y="4221000"/>
            <a:ext cx="3168000" cy="2103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</a:rPr>
              <a:t>Bubble(1)</a:t>
            </a:r>
            <a:endParaRPr lang="en-US" altLang="zh-CN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</a:rPr>
              <a:t>Bubble(2)</a:t>
            </a:r>
            <a:endParaRPr lang="en-US" altLang="zh-CN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</a:rPr>
              <a:t>Bubble(3)</a:t>
            </a:r>
            <a:endParaRPr lang="en-US" altLang="zh-CN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</a:rPr>
              <a:t>It's a wonderful day for pie!</a:t>
            </a:r>
            <a:endParaRPr lang="en-US" altLang="zh-CN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</a:rPr>
              <a:t>3.14159</a:t>
            </a:r>
            <a:endParaRPr lang="en-US" altLang="zh-CN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</a:rPr>
              <a:t>2.718</a:t>
            </a:r>
            <a:endParaRPr lang="en-US" altLang="zh-CN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</a:rPr>
              <a:t>1.618</a:t>
            </a:r>
            <a:endParaRPr lang="zh-CN" alt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61000"/>
            <a:ext cx="8075240" cy="6480000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Collection</a:t>
            </a:r>
            <a:r>
              <a:rPr lang="zh-CN" altLang="en-US" dirty="0"/>
              <a:t>可以调用 </a:t>
            </a:r>
            <a:r>
              <a:rPr lang="en-US" altLang="zh-CN" dirty="0"/>
              <a:t>stream() </a:t>
            </a:r>
            <a:r>
              <a:rPr lang="zh-CN" altLang="en-US" dirty="0"/>
              <a:t>方法来产生一个流：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public class </a:t>
            </a:r>
            <a:r>
              <a:rPr lang="en-US" altLang="zh-CN" dirty="0" err="1"/>
              <a:t>CollectionToStream</a:t>
            </a:r>
            <a:r>
              <a:rPr lang="en-US" altLang="zh-CN" dirty="0"/>
              <a:t>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List&lt;Bubble&gt; bubbles = </a:t>
            </a:r>
            <a:r>
              <a:rPr lang="en-US" altLang="zh-CN" dirty="0" err="1"/>
              <a:t>Arrays.asList</a:t>
            </a:r>
            <a:r>
              <a:rPr lang="en-US" altLang="zh-CN" dirty="0"/>
              <a:t>(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new Bubble(1), new Bubble(2), new Bubble(3));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bubbles.</a:t>
            </a:r>
            <a:r>
              <a:rPr lang="en-US" altLang="zh-CN" dirty="0" err="1">
                <a:solidFill>
                  <a:srgbClr val="FF0000"/>
                </a:solidFill>
              </a:rPr>
              <a:t>stream</a:t>
            </a:r>
            <a:r>
              <a:rPr lang="en-US" altLang="zh-CN" dirty="0"/>
              <a:t>()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.</a:t>
            </a:r>
            <a:r>
              <a:rPr lang="en-US" altLang="zh-CN" dirty="0" err="1"/>
              <a:t>mapToInt</a:t>
            </a:r>
            <a:r>
              <a:rPr lang="en-US" altLang="zh-CN" dirty="0"/>
              <a:t>(b -&gt; </a:t>
            </a:r>
            <a:r>
              <a:rPr lang="en-US" altLang="zh-CN" dirty="0" err="1"/>
              <a:t>b.i</a:t>
            </a:r>
            <a:r>
              <a:rPr lang="en-US" altLang="zh-CN" dirty="0"/>
              <a:t>)   </a:t>
            </a:r>
            <a:r>
              <a:rPr lang="en-US" altLang="zh-CN" dirty="0">
                <a:solidFill>
                  <a:srgbClr val="00B050"/>
                </a:solidFill>
              </a:rPr>
              <a:t>//</a:t>
            </a:r>
            <a:r>
              <a:rPr lang="en-US" altLang="zh-CN" dirty="0" err="1">
                <a:solidFill>
                  <a:srgbClr val="00B050"/>
                </a:solidFill>
              </a:rPr>
              <a:t>mapToInt</a:t>
            </a:r>
            <a:r>
              <a:rPr lang="en-US" altLang="zh-CN" dirty="0">
                <a:solidFill>
                  <a:srgbClr val="00B050"/>
                </a:solidFill>
              </a:rPr>
              <a:t>() </a:t>
            </a:r>
            <a:r>
              <a:rPr lang="zh-CN" altLang="en-US" dirty="0">
                <a:solidFill>
                  <a:srgbClr val="00B050"/>
                </a:solidFill>
              </a:rPr>
              <a:t>方法将一个对象流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00B050"/>
                </a:solidFill>
              </a:rPr>
              <a:t>//</a:t>
            </a:r>
            <a:r>
              <a:rPr lang="zh-CN" altLang="en-US" dirty="0">
                <a:solidFill>
                  <a:srgbClr val="00B050"/>
                </a:solidFill>
              </a:rPr>
              <a:t>转换成为包含整型数字的 </a:t>
            </a:r>
            <a:r>
              <a:rPr lang="en-US" altLang="zh-CN" dirty="0" err="1">
                <a:solidFill>
                  <a:srgbClr val="00B050"/>
                </a:solidFill>
              </a:rPr>
              <a:t>IntStream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     .sum());  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en-US" dirty="0">
                <a:solidFill>
                  <a:srgbClr val="00B050"/>
                </a:solidFill>
              </a:rPr>
              <a:t>求和输出 </a:t>
            </a:r>
            <a:r>
              <a:rPr lang="en-US" altLang="zh-CN" dirty="0">
                <a:solidFill>
                  <a:srgbClr val="00B050"/>
                </a:solidFill>
              </a:rPr>
              <a:t>6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Set&lt;String&gt; w = new </a:t>
            </a:r>
            <a:r>
              <a:rPr lang="en-US" altLang="zh-CN" dirty="0" err="1"/>
              <a:t>LinkedHashSet</a:t>
            </a:r>
            <a:r>
              <a:rPr lang="en-US" altLang="zh-CN" dirty="0"/>
              <a:t>&lt;&gt;(</a:t>
            </a:r>
            <a:r>
              <a:rPr lang="en-US" altLang="zh-CN" dirty="0" err="1"/>
              <a:t>Arrays.asList</a:t>
            </a:r>
            <a:r>
              <a:rPr lang="en-US" altLang="zh-CN" dirty="0"/>
              <a:t>(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"It's a wonderful day for </a:t>
            </a:r>
            <a:r>
              <a:rPr lang="en-US" altLang="zh-CN" dirty="0" err="1"/>
              <a:t>pie!".split</a:t>
            </a:r>
            <a:r>
              <a:rPr lang="en-US" altLang="zh-CN" dirty="0"/>
              <a:t>(" ")));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w.stream</a:t>
            </a:r>
            <a:r>
              <a:rPr lang="en-US" altLang="zh-CN" dirty="0"/>
              <a:t>()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.map(x -&gt; x + “ ”)   </a:t>
            </a:r>
            <a:r>
              <a:rPr lang="en-US" altLang="zh-CN" dirty="0">
                <a:solidFill>
                  <a:srgbClr val="00B050"/>
                </a:solidFill>
              </a:rPr>
              <a:t>//map() </a:t>
            </a:r>
            <a:r>
              <a:rPr lang="zh-CN" altLang="en-US" dirty="0">
                <a:solidFill>
                  <a:srgbClr val="00B050"/>
                </a:solidFill>
              </a:rPr>
              <a:t>会获取流中的所有元素，并且对流中元素应用操作从而产生新的元素，并将其传递到后续的流中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   .</a:t>
            </a:r>
            <a:r>
              <a:rPr lang="en-US" altLang="zh-CN" dirty="0" err="1"/>
              <a:t>forEach</a:t>
            </a:r>
            <a:r>
              <a:rPr lang="en-US" altLang="zh-CN" dirty="0"/>
              <a:t>(</a:t>
            </a:r>
            <a:r>
              <a:rPr lang="en-US" altLang="zh-CN" dirty="0" err="1"/>
              <a:t>System.out</a:t>
            </a:r>
            <a:r>
              <a:rPr lang="en-US" altLang="zh-CN" dirty="0"/>
              <a:t>::print);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();   </a:t>
            </a:r>
            <a:r>
              <a:rPr lang="en-US" altLang="zh-CN" dirty="0">
                <a:solidFill>
                  <a:srgbClr val="00B050"/>
                </a:solidFill>
              </a:rPr>
              <a:t>//It's a wonderful day for pie!</a:t>
            </a:r>
            <a:endParaRPr lang="zh-CN" altLang="en-US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05000"/>
            <a:ext cx="8075240" cy="5832312"/>
          </a:xfrm>
        </p:spPr>
        <p:txBody>
          <a:bodyPr/>
          <a:lstStyle/>
          <a:p>
            <a:pPr marL="274320" lvl="1" indent="0">
              <a:buNone/>
            </a:pPr>
            <a:r>
              <a:rPr lang="en-US" altLang="zh-CN" dirty="0"/>
              <a:t> Map&lt;String, Double&gt; m = new </a:t>
            </a:r>
            <a:r>
              <a:rPr lang="en-US" altLang="zh-CN" dirty="0" err="1"/>
              <a:t>HashMap</a:t>
            </a:r>
            <a:r>
              <a:rPr lang="en-US" altLang="zh-CN" dirty="0"/>
              <a:t>&lt;&gt;();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m.put</a:t>
            </a:r>
            <a:r>
              <a:rPr lang="en-US" altLang="zh-CN" dirty="0"/>
              <a:t>("pi", 3.14159);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m.put</a:t>
            </a:r>
            <a:r>
              <a:rPr lang="en-US" altLang="zh-CN" dirty="0"/>
              <a:t>("e", 2.718);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m.put</a:t>
            </a:r>
            <a:r>
              <a:rPr lang="en-US" altLang="zh-CN" dirty="0"/>
              <a:t>("phi", 1.618);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m.entrySet</a:t>
            </a:r>
            <a:r>
              <a:rPr lang="en-US" altLang="zh-CN" dirty="0"/>
              <a:t>().stream()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.map(e -&gt; </a:t>
            </a:r>
            <a:r>
              <a:rPr lang="en-US" altLang="zh-CN" dirty="0" err="1"/>
              <a:t>e.getKey</a:t>
            </a:r>
            <a:r>
              <a:rPr lang="en-US" altLang="zh-CN" dirty="0"/>
              <a:t>() + ": " + </a:t>
            </a:r>
            <a:r>
              <a:rPr lang="en-US" altLang="zh-CN" dirty="0" err="1"/>
              <a:t>e.getValue</a:t>
            </a:r>
            <a:r>
              <a:rPr lang="en-US" altLang="zh-CN" dirty="0"/>
              <a:t>())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.</a:t>
            </a:r>
            <a:r>
              <a:rPr lang="en-US" altLang="zh-CN" dirty="0" err="1"/>
              <a:t>forEach</a:t>
            </a:r>
            <a:r>
              <a:rPr lang="en-US" altLang="zh-CN" dirty="0"/>
              <a:t>(</a:t>
            </a:r>
            <a:r>
              <a:rPr lang="en-US" altLang="zh-CN" dirty="0" err="1"/>
              <a:t>System.out</a:t>
            </a:r>
            <a:r>
              <a:rPr lang="en-US" altLang="zh-CN" dirty="0"/>
              <a:t>::</a:t>
            </a:r>
            <a:r>
              <a:rPr lang="en-US" altLang="zh-CN" dirty="0" err="1"/>
              <a:t>println</a:t>
            </a:r>
            <a:r>
              <a:rPr lang="en-US" altLang="zh-CN" dirty="0"/>
              <a:t>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 </a:t>
            </a:r>
            <a:endParaRPr lang="en-US" altLang="zh-CN" dirty="0"/>
          </a:p>
          <a:p>
            <a:pPr lvl="1"/>
            <a:r>
              <a:rPr lang="en-US" altLang="zh-CN" dirty="0"/>
              <a:t>Map</a:t>
            </a:r>
            <a:r>
              <a:rPr lang="zh-CN" altLang="en-US" dirty="0"/>
              <a:t>没有</a:t>
            </a:r>
            <a:r>
              <a:rPr lang="en-US" altLang="zh-CN" dirty="0"/>
              <a:t>Stream</a:t>
            </a:r>
            <a:r>
              <a:rPr lang="zh-CN" altLang="en-US" dirty="0"/>
              <a:t>方法。</a:t>
            </a:r>
            <a:r>
              <a:rPr lang="en-US" altLang="zh-CN" dirty="0"/>
              <a:t>Map</a:t>
            </a:r>
            <a:r>
              <a:rPr lang="zh-CN" altLang="en-US" dirty="0"/>
              <a:t>用其内部类</a:t>
            </a:r>
            <a:r>
              <a:rPr lang="en-US" altLang="zh-CN" dirty="0"/>
              <a:t>Entry</a:t>
            </a:r>
            <a:r>
              <a:rPr lang="zh-CN" altLang="en-US" dirty="0"/>
              <a:t>存储键值对。</a:t>
            </a:r>
            <a:r>
              <a:rPr lang="en-US" altLang="zh-CN" dirty="0" err="1"/>
              <a:t>entrySet</a:t>
            </a:r>
            <a:r>
              <a:rPr lang="zh-CN" altLang="en-US" dirty="0"/>
              <a:t>方法返回一个</a:t>
            </a:r>
            <a:r>
              <a:rPr lang="en-US" altLang="zh-CN" dirty="0"/>
              <a:t>Set&lt;</a:t>
            </a:r>
            <a:r>
              <a:rPr lang="en-US" altLang="zh-CN" dirty="0" err="1"/>
              <a:t>Map.Entry</a:t>
            </a:r>
            <a:r>
              <a:rPr lang="en-US" altLang="zh-CN" dirty="0"/>
              <a:t>&gt;</a:t>
            </a:r>
            <a:r>
              <a:rPr lang="zh-CN" altLang="en-US" dirty="0"/>
              <a:t>再调用</a:t>
            </a:r>
            <a:r>
              <a:rPr lang="en-US" altLang="zh-CN" dirty="0"/>
              <a:t>Stream</a:t>
            </a:r>
            <a:r>
              <a:rPr lang="zh-CN" altLang="en-US" dirty="0"/>
              <a:t>方法返回一个</a:t>
            </a:r>
            <a:r>
              <a:rPr lang="en-US" altLang="zh-CN" dirty="0"/>
              <a:t>Entry</a:t>
            </a:r>
            <a:r>
              <a:rPr lang="zh-CN" altLang="en-US" dirty="0"/>
              <a:t>的流。</a:t>
            </a:r>
            <a:endParaRPr lang="en-US" altLang="zh-CN" dirty="0"/>
          </a:p>
          <a:p>
            <a:pPr lvl="1"/>
            <a:r>
              <a:rPr lang="en-US" altLang="zh-CN" dirty="0" err="1"/>
              <a:t>getKey</a:t>
            </a:r>
            <a:r>
              <a:rPr lang="en-US" altLang="zh-CN" dirty="0"/>
              <a:t>() </a:t>
            </a:r>
            <a:r>
              <a:rPr lang="zh-CN" altLang="en-US" dirty="0"/>
              <a:t>和 </a:t>
            </a:r>
            <a:r>
              <a:rPr lang="en-US" altLang="zh-CN" dirty="0" err="1"/>
              <a:t>getValue</a:t>
            </a:r>
            <a:r>
              <a:rPr lang="en-US" altLang="zh-CN" dirty="0"/>
              <a:t>()</a:t>
            </a:r>
            <a:r>
              <a:rPr lang="zh-CN" altLang="en-US" dirty="0"/>
              <a:t>取得</a:t>
            </a:r>
            <a:r>
              <a:rPr lang="en-US" altLang="zh-CN" dirty="0"/>
              <a:t>Entry</a:t>
            </a:r>
            <a:r>
              <a:rPr lang="zh-CN" altLang="en-US" dirty="0"/>
              <a:t>对象的键和值。</a:t>
            </a:r>
            <a:endParaRPr lang="en-US" altLang="zh-CN" dirty="0"/>
          </a:p>
          <a:p>
            <a:pPr marL="274320" lvl="1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0000" y="549000"/>
            <a:ext cx="8075240" cy="5688312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Random</a:t>
            </a:r>
            <a:r>
              <a:rPr lang="zh-CN" altLang="en-US" dirty="0"/>
              <a:t>类中增加了取得随机数流方法：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public class </a:t>
            </a:r>
            <a:r>
              <a:rPr lang="en-US" altLang="zh-CN" dirty="0" err="1"/>
              <a:t>RandomGenerators</a:t>
            </a:r>
            <a:r>
              <a:rPr lang="en-US" altLang="zh-CN" dirty="0"/>
              <a:t>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</a:t>
            </a:r>
            <a:r>
              <a:rPr lang="en-US" altLang="zh-CN" dirty="0">
                <a:solidFill>
                  <a:srgbClr val="FF0000"/>
                </a:solidFill>
              </a:rPr>
              <a:t>public static &lt;T&gt; void show(Stream&lt;T&gt; stream) {</a:t>
            </a:r>
            <a:endParaRPr lang="en-US" altLang="zh-CN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    stream</a:t>
            </a:r>
            <a:endParaRPr lang="en-US" altLang="zh-CN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      .limit(4)</a:t>
            </a:r>
            <a:endParaRPr lang="en-US" altLang="zh-CN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      .</a:t>
            </a:r>
            <a:r>
              <a:rPr lang="en-US" altLang="zh-CN" dirty="0" err="1">
                <a:solidFill>
                  <a:srgbClr val="FF0000"/>
                </a:solidFill>
              </a:rPr>
              <a:t>forEach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dirty="0" err="1">
                <a:solidFill>
                  <a:srgbClr val="FF0000"/>
                </a:solidFill>
              </a:rPr>
              <a:t>System.out</a:t>
            </a:r>
            <a:r>
              <a:rPr lang="en-US" altLang="zh-CN" dirty="0">
                <a:solidFill>
                  <a:srgbClr val="FF0000"/>
                </a:solidFill>
              </a:rPr>
              <a:t>::</a:t>
            </a:r>
            <a:r>
              <a:rPr lang="en-US" altLang="zh-CN" dirty="0" err="1">
                <a:solidFill>
                  <a:srgbClr val="FF0000"/>
                </a:solidFill>
              </a:rPr>
              <a:t>println</a:t>
            </a:r>
            <a:r>
              <a:rPr lang="en-US" altLang="zh-CN" dirty="0">
                <a:solidFill>
                  <a:srgbClr val="FF0000"/>
                </a:solidFill>
              </a:rPr>
              <a:t>);</a:t>
            </a:r>
            <a:endParaRPr lang="en-US" altLang="zh-CN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    </a:t>
            </a:r>
            <a:r>
              <a:rPr lang="en-US" altLang="zh-CN" dirty="0" err="1">
                <a:solidFill>
                  <a:srgbClr val="FF0000"/>
                </a:solidFill>
              </a:rPr>
              <a:t>System.out.println</a:t>
            </a:r>
            <a:r>
              <a:rPr lang="en-US" altLang="zh-CN" dirty="0">
                <a:solidFill>
                  <a:srgbClr val="FF0000"/>
                </a:solidFill>
              </a:rPr>
              <a:t>("++++++++");</a:t>
            </a:r>
            <a:endParaRPr lang="en-US" altLang="zh-CN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  }</a:t>
            </a:r>
            <a:endParaRPr lang="en-US" altLang="zh-CN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Random rand = new Random(47);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show(</a:t>
            </a:r>
            <a:r>
              <a:rPr lang="en-US" altLang="zh-CN" dirty="0" err="1"/>
              <a:t>rand.ints</a:t>
            </a:r>
            <a:r>
              <a:rPr lang="en-US" altLang="zh-CN" dirty="0"/>
              <a:t>().boxed());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show(</a:t>
            </a:r>
            <a:r>
              <a:rPr lang="en-US" altLang="zh-CN" dirty="0" err="1"/>
              <a:t>rand.longs</a:t>
            </a:r>
            <a:r>
              <a:rPr lang="en-US" altLang="zh-CN" dirty="0"/>
              <a:t>().boxed());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show(</a:t>
            </a:r>
            <a:r>
              <a:rPr lang="en-US" altLang="zh-CN" dirty="0" err="1"/>
              <a:t>rand.doubles</a:t>
            </a:r>
            <a:r>
              <a:rPr lang="en-US" altLang="zh-CN" dirty="0"/>
              <a:t>().boxed());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5796000" y="1845000"/>
            <a:ext cx="28080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-1172028779</a:t>
            </a:r>
            <a:endParaRPr lang="en-US" altLang="zh-CN" dirty="0"/>
          </a:p>
          <a:p>
            <a:r>
              <a:rPr lang="en-US" altLang="zh-CN" dirty="0"/>
              <a:t>1717241110</a:t>
            </a:r>
            <a:endParaRPr lang="en-US" altLang="zh-CN" dirty="0"/>
          </a:p>
          <a:p>
            <a:r>
              <a:rPr lang="en-US" altLang="zh-CN" dirty="0"/>
              <a:t>-2014573909</a:t>
            </a:r>
            <a:endParaRPr lang="en-US" altLang="zh-CN" dirty="0"/>
          </a:p>
          <a:p>
            <a:r>
              <a:rPr lang="en-US" altLang="zh-CN" dirty="0"/>
              <a:t>229403722</a:t>
            </a:r>
            <a:endParaRPr lang="en-US" altLang="zh-CN" dirty="0"/>
          </a:p>
          <a:p>
            <a:r>
              <a:rPr lang="en-US" altLang="zh-CN" dirty="0"/>
              <a:t>++++++++</a:t>
            </a:r>
            <a:endParaRPr lang="en-US" altLang="zh-CN" dirty="0"/>
          </a:p>
          <a:p>
            <a:r>
              <a:rPr lang="en-US" altLang="zh-CN" dirty="0"/>
              <a:t>2955289354441303771</a:t>
            </a:r>
            <a:endParaRPr lang="en-US" altLang="zh-CN" dirty="0"/>
          </a:p>
          <a:p>
            <a:r>
              <a:rPr lang="en-US" altLang="zh-CN" dirty="0"/>
              <a:t>3476817843704654257</a:t>
            </a:r>
            <a:endParaRPr lang="en-US" altLang="zh-CN" dirty="0"/>
          </a:p>
          <a:p>
            <a:r>
              <a:rPr lang="en-US" altLang="zh-CN" dirty="0"/>
              <a:t>-8917117694134521474</a:t>
            </a:r>
            <a:endParaRPr lang="en-US" altLang="zh-CN" dirty="0"/>
          </a:p>
          <a:p>
            <a:r>
              <a:rPr lang="en-US" altLang="zh-CN" dirty="0"/>
              <a:t>4941259272818818752</a:t>
            </a:r>
            <a:endParaRPr lang="en-US" altLang="zh-CN" dirty="0"/>
          </a:p>
          <a:p>
            <a:r>
              <a:rPr lang="en-US" altLang="zh-CN" dirty="0"/>
              <a:t>++++++++</a:t>
            </a:r>
            <a:endParaRPr lang="en-US" altLang="zh-CN" dirty="0"/>
          </a:p>
          <a:p>
            <a:r>
              <a:rPr lang="en-US" altLang="zh-CN" dirty="0"/>
              <a:t>0.2613610344283964</a:t>
            </a:r>
            <a:endParaRPr lang="en-US" altLang="zh-CN" dirty="0"/>
          </a:p>
          <a:p>
            <a:r>
              <a:rPr lang="en-US" altLang="zh-CN" dirty="0"/>
              <a:t>0.0508673570556899</a:t>
            </a:r>
            <a:endParaRPr lang="en-US" altLang="zh-CN" dirty="0"/>
          </a:p>
          <a:p>
            <a:r>
              <a:rPr lang="en-US" altLang="zh-CN" dirty="0"/>
              <a:t>0.8037155449603999</a:t>
            </a:r>
            <a:endParaRPr lang="en-US" altLang="zh-CN" dirty="0"/>
          </a:p>
          <a:p>
            <a:r>
              <a:rPr lang="en-US" altLang="zh-CN" dirty="0"/>
              <a:t>0.7620665811558285</a:t>
            </a:r>
            <a:endParaRPr lang="en-US" altLang="zh-CN" dirty="0"/>
          </a:p>
          <a:p>
            <a:r>
              <a:rPr lang="en-US" altLang="zh-CN" dirty="0"/>
              <a:t>++++++++</a:t>
            </a: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zh-CN" dirty="0" err="1"/>
              <a:t>Random.ints</a:t>
            </a:r>
            <a:r>
              <a:rPr lang="en-US" altLang="zh-CN" dirty="0"/>
              <a:t>() </a:t>
            </a:r>
            <a:r>
              <a:rPr lang="zh-CN" altLang="en-US" dirty="0"/>
              <a:t>返回一个</a:t>
            </a:r>
            <a:r>
              <a:rPr lang="en-US" altLang="zh-CN" dirty="0" err="1"/>
              <a:t>IntStream</a:t>
            </a:r>
            <a:r>
              <a:rPr lang="zh-CN" altLang="en-US" dirty="0"/>
              <a:t>接口对象，其中数值为</a:t>
            </a:r>
            <a:r>
              <a:rPr lang="en-US" altLang="zh-CN" dirty="0" err="1"/>
              <a:t>int</a:t>
            </a:r>
            <a:r>
              <a:rPr lang="zh-CN" altLang="en-US" dirty="0"/>
              <a:t>，</a:t>
            </a:r>
            <a:r>
              <a:rPr lang="en-US" altLang="zh-CN" dirty="0"/>
              <a:t> </a:t>
            </a:r>
            <a:r>
              <a:rPr lang="en-US" altLang="zh-CN" dirty="0" err="1"/>
              <a:t>IntStream.boxed</a:t>
            </a:r>
            <a:r>
              <a:rPr lang="en-US" altLang="zh-CN" dirty="0"/>
              <a:t>()</a:t>
            </a:r>
            <a:r>
              <a:rPr lang="zh-CN" altLang="en-US" dirty="0"/>
              <a:t>返回</a:t>
            </a:r>
            <a:r>
              <a:rPr lang="en-US" altLang="zh-CN" dirty="0"/>
              <a:t>Stream&lt;Integer&gt;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en-US" altLang="zh-CN" dirty="0"/>
              <a:t>longs</a:t>
            </a:r>
            <a:r>
              <a:rPr lang="zh-CN" altLang="en-US" dirty="0"/>
              <a:t>（）和</a:t>
            </a:r>
            <a:r>
              <a:rPr lang="en-US" altLang="zh-CN" dirty="0"/>
              <a:t>doubles</a:t>
            </a:r>
            <a:r>
              <a:rPr lang="zh-CN" altLang="en-US" dirty="0"/>
              <a:t>（）方法与前者类似。</a:t>
            </a:r>
            <a:endParaRPr lang="en-US" altLang="zh-CN" dirty="0"/>
          </a:p>
          <a:p>
            <a:pPr lvl="1"/>
            <a:r>
              <a:rPr lang="zh-CN" altLang="en-US" dirty="0"/>
              <a:t>这三个方法还可以控制流的范围和元素个数。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571" y="549000"/>
            <a:ext cx="6627429" cy="5688312"/>
          </a:xfrm>
        </p:spPr>
        <p:txBody>
          <a:bodyPr>
            <a:normAutofit lnSpcReduction="10000"/>
          </a:bodyPr>
          <a:lstStyle/>
          <a:p>
            <a:pPr marL="274320" lvl="1" indent="0">
              <a:buNone/>
            </a:pPr>
            <a:r>
              <a:rPr lang="en-US" altLang="zh-CN" dirty="0"/>
              <a:t>    show(</a:t>
            </a:r>
            <a:r>
              <a:rPr lang="en-US" altLang="zh-CN" dirty="0" err="1"/>
              <a:t>rand.ints</a:t>
            </a:r>
            <a:r>
              <a:rPr lang="en-US" altLang="zh-CN" dirty="0"/>
              <a:t>(10, 20).boxed());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show(</a:t>
            </a:r>
            <a:r>
              <a:rPr lang="en-US" altLang="zh-CN" dirty="0" err="1"/>
              <a:t>rand.longs</a:t>
            </a:r>
            <a:r>
              <a:rPr lang="en-US" altLang="zh-CN" dirty="0"/>
              <a:t>(50, 100).boxed());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show(</a:t>
            </a:r>
            <a:r>
              <a:rPr lang="en-US" altLang="zh-CN" dirty="0" err="1"/>
              <a:t>rand.doubles</a:t>
            </a:r>
            <a:r>
              <a:rPr lang="en-US" altLang="zh-CN" dirty="0"/>
              <a:t>(20, 30).boxed());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>
                <a:solidFill>
                  <a:srgbClr val="00B050"/>
                </a:solidFill>
              </a:rPr>
              <a:t>// Control the stream size: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 show(</a:t>
            </a:r>
            <a:r>
              <a:rPr lang="en-US" altLang="zh-CN" dirty="0" err="1"/>
              <a:t>rand.ints</a:t>
            </a:r>
            <a:r>
              <a:rPr lang="en-US" altLang="zh-CN" dirty="0"/>
              <a:t>(2).boxed());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show(</a:t>
            </a:r>
            <a:r>
              <a:rPr lang="en-US" altLang="zh-CN" dirty="0" err="1"/>
              <a:t>rand.longs</a:t>
            </a:r>
            <a:r>
              <a:rPr lang="en-US" altLang="zh-CN" dirty="0"/>
              <a:t>(2).boxed());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show(</a:t>
            </a:r>
            <a:r>
              <a:rPr lang="en-US" altLang="zh-CN" dirty="0" err="1"/>
              <a:t>rand.doubles</a:t>
            </a:r>
            <a:r>
              <a:rPr lang="en-US" altLang="zh-CN" dirty="0"/>
              <a:t>(2).boxed());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>
                <a:solidFill>
                  <a:srgbClr val="00B050"/>
                </a:solidFill>
              </a:rPr>
              <a:t>// Control the stream size and bounds: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 show(</a:t>
            </a:r>
            <a:r>
              <a:rPr lang="en-US" altLang="zh-CN" dirty="0" err="1"/>
              <a:t>rand.ints</a:t>
            </a:r>
            <a:r>
              <a:rPr lang="en-US" altLang="zh-CN" dirty="0"/>
              <a:t>(3, 3, 9).boxed());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show(</a:t>
            </a:r>
            <a:r>
              <a:rPr lang="en-US" altLang="zh-CN" dirty="0" err="1"/>
              <a:t>rand.longs</a:t>
            </a:r>
            <a:r>
              <a:rPr lang="en-US" altLang="zh-CN" dirty="0"/>
              <a:t>(3, 12, 22).boxed());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show(</a:t>
            </a:r>
            <a:r>
              <a:rPr lang="en-US" altLang="zh-CN" dirty="0" err="1"/>
              <a:t>rand.doubles</a:t>
            </a:r>
            <a:r>
              <a:rPr lang="en-US" altLang="zh-CN" dirty="0"/>
              <a:t>(3, 11.5, 12.3).boxed());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8075240" cy="6858000"/>
          </a:xfrm>
        </p:spPr>
        <p:txBody>
          <a:bodyPr>
            <a:normAutofit fontScale="85000" lnSpcReduction="10000"/>
          </a:bodyPr>
          <a:lstStyle/>
          <a:p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en-US" altLang="zh-CN" dirty="0" err="1"/>
              <a:t>IntStream.range</a:t>
            </a:r>
            <a:r>
              <a:rPr lang="en-US" altLang="zh-CN" dirty="0"/>
              <a:t>()  </a:t>
            </a:r>
            <a:r>
              <a:rPr lang="zh-CN" altLang="en-US" dirty="0"/>
              <a:t>是一个</a:t>
            </a:r>
            <a:r>
              <a:rPr lang="en-US" altLang="zh-CN" dirty="0"/>
              <a:t>static</a:t>
            </a:r>
            <a:r>
              <a:rPr lang="zh-CN" altLang="en-US" dirty="0"/>
              <a:t>方法，返回一个整数流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package streams;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import static </a:t>
            </a:r>
            <a:r>
              <a:rPr lang="en-US" altLang="zh-CN" dirty="0" err="1"/>
              <a:t>java.util.stream.IntStream</a:t>
            </a:r>
            <a:r>
              <a:rPr lang="en-US" altLang="zh-CN" dirty="0"/>
              <a:t>.*;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public class Ranges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>
                <a:solidFill>
                  <a:srgbClr val="00B050"/>
                </a:solidFill>
              </a:rPr>
              <a:t>// The traditional way: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result = 0;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for(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= 10; </a:t>
            </a:r>
            <a:r>
              <a:rPr lang="en-US" altLang="zh-CN" dirty="0" err="1"/>
              <a:t>i</a:t>
            </a:r>
            <a:r>
              <a:rPr lang="en-US" altLang="zh-CN" dirty="0"/>
              <a:t> &lt; 20; </a:t>
            </a:r>
            <a:r>
              <a:rPr lang="en-US" altLang="zh-CN" dirty="0" err="1"/>
              <a:t>i</a:t>
            </a:r>
            <a:r>
              <a:rPr lang="en-US" altLang="zh-CN" dirty="0"/>
              <a:t>++)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result += </a:t>
            </a:r>
            <a:r>
              <a:rPr lang="en-US" altLang="zh-CN" dirty="0" err="1"/>
              <a:t>i</a:t>
            </a:r>
            <a:r>
              <a:rPr lang="en-US" altLang="zh-CN" dirty="0"/>
              <a:t>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(result);         </a:t>
            </a:r>
            <a:r>
              <a:rPr lang="en-US" altLang="zh-CN" dirty="0">
                <a:solidFill>
                  <a:srgbClr val="00B050"/>
                </a:solidFill>
              </a:rPr>
              <a:t>//145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>
                <a:solidFill>
                  <a:srgbClr val="00B050"/>
                </a:solidFill>
              </a:rPr>
              <a:t>// for-in with a range: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 result = 0;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for(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: range(10, 20).</a:t>
            </a:r>
            <a:r>
              <a:rPr lang="en-US" altLang="zh-CN" dirty="0" err="1"/>
              <a:t>toArray</a:t>
            </a:r>
            <a:r>
              <a:rPr lang="en-US" altLang="zh-CN" dirty="0"/>
              <a:t>())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result += </a:t>
            </a:r>
            <a:r>
              <a:rPr lang="en-US" altLang="zh-CN" dirty="0" err="1"/>
              <a:t>i</a:t>
            </a:r>
            <a:r>
              <a:rPr lang="en-US" altLang="zh-CN" dirty="0"/>
              <a:t>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(result);          </a:t>
            </a:r>
            <a:r>
              <a:rPr lang="en-US" altLang="zh-CN" dirty="0">
                <a:solidFill>
                  <a:srgbClr val="00B050"/>
                </a:solidFill>
              </a:rPr>
              <a:t>//145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>
                <a:solidFill>
                  <a:srgbClr val="00B050"/>
                </a:solidFill>
              </a:rPr>
              <a:t>// Use streams: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(range(10, 20).sum());   </a:t>
            </a:r>
            <a:r>
              <a:rPr lang="en-US" altLang="zh-CN" dirty="0">
                <a:solidFill>
                  <a:srgbClr val="00B050"/>
                </a:solidFill>
              </a:rPr>
              <a:t>//145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7000"/>
            <a:ext cx="8075240" cy="6336000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dirty="0"/>
              <a:t>5</a:t>
            </a:r>
            <a:r>
              <a:rPr lang="zh-CN" altLang="en-US" dirty="0"/>
              <a:t>、</a:t>
            </a:r>
            <a:r>
              <a:rPr lang="en-US" altLang="zh-CN" dirty="0" err="1"/>
              <a:t>Stream.generate</a:t>
            </a:r>
            <a:r>
              <a:rPr lang="en-US" altLang="zh-CN" dirty="0"/>
              <a:t>()</a:t>
            </a:r>
            <a:r>
              <a:rPr lang="zh-CN" altLang="en-US" dirty="0"/>
              <a:t>是一个</a:t>
            </a:r>
            <a:r>
              <a:rPr lang="en-US" altLang="zh-CN" dirty="0"/>
              <a:t>static</a:t>
            </a:r>
            <a:r>
              <a:rPr lang="zh-CN" altLang="en-US" dirty="0"/>
              <a:t>方法，生成一个无限连续的无序流，流中的元素由用户定义的</a:t>
            </a:r>
            <a:r>
              <a:rPr lang="en-US" altLang="zh-CN" dirty="0"/>
              <a:t>Supplier</a:t>
            </a:r>
            <a:r>
              <a:rPr lang="zh-CN" altLang="en-US" dirty="0"/>
              <a:t>接口生成：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public class Generator implements </a:t>
            </a:r>
            <a:r>
              <a:rPr lang="en-US" altLang="zh-CN" dirty="0">
                <a:solidFill>
                  <a:srgbClr val="FF0000"/>
                </a:solidFill>
              </a:rPr>
              <a:t>Supplier&lt;String&gt;</a:t>
            </a:r>
            <a:r>
              <a:rPr lang="en-US" altLang="zh-CN" dirty="0"/>
              <a:t>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Random rand = new Random(47);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char[] letters =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"ABCDEFGHIJKLMNOPQRSTUVWXYZ".</a:t>
            </a:r>
            <a:r>
              <a:rPr lang="en-US" altLang="zh-CN" dirty="0" err="1"/>
              <a:t>toCharArray</a:t>
            </a:r>
            <a:r>
              <a:rPr lang="en-US" altLang="zh-CN" dirty="0"/>
              <a:t>();</a:t>
            </a:r>
            <a:endParaRPr lang="en-US" altLang="zh-CN" dirty="0"/>
          </a:p>
          <a:p>
            <a:pPr marL="274320" lvl="1" indent="0">
              <a:buNone/>
            </a:pP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@Override 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public String </a:t>
            </a:r>
            <a:r>
              <a:rPr lang="en-US" altLang="zh-CN" dirty="0">
                <a:solidFill>
                  <a:srgbClr val="FF0000"/>
                </a:solidFill>
              </a:rPr>
              <a:t>get() </a:t>
            </a:r>
            <a:r>
              <a:rPr lang="en-US" altLang="zh-CN" dirty="0"/>
              <a:t>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return “” + letters[</a:t>
            </a:r>
            <a:r>
              <a:rPr lang="en-US" altLang="zh-CN" dirty="0" err="1"/>
              <a:t>rand.nextInt</a:t>
            </a:r>
            <a:r>
              <a:rPr lang="en-US" altLang="zh-CN" dirty="0"/>
              <a:t>(</a:t>
            </a:r>
            <a:r>
              <a:rPr lang="en-US" altLang="zh-CN" dirty="0" err="1"/>
              <a:t>letters.</a:t>
            </a:r>
            <a:r>
              <a:rPr lang="en-US" altLang="zh-CN" dirty="0" err="1">
                <a:solidFill>
                  <a:srgbClr val="FF0000"/>
                </a:solidFill>
              </a:rPr>
              <a:t>length</a:t>
            </a:r>
            <a:r>
              <a:rPr lang="en-US" altLang="zh-CN" dirty="0"/>
              <a:t>)]; </a:t>
            </a:r>
            <a:r>
              <a:rPr lang="en-US" altLang="zh-CN" dirty="0">
                <a:solidFill>
                  <a:srgbClr val="00B050"/>
                </a:solidFill>
              </a:rPr>
              <a:t>//</a:t>
            </a:r>
            <a:r>
              <a:rPr lang="zh-CN" altLang="en-US" dirty="0">
                <a:solidFill>
                  <a:srgbClr val="00B050"/>
                </a:solidFill>
              </a:rPr>
              <a:t>最大随机数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String word = </a:t>
            </a:r>
            <a:r>
              <a:rPr lang="en-US" altLang="zh-CN" dirty="0" err="1"/>
              <a:t>Stream.generate</a:t>
            </a:r>
            <a:r>
              <a:rPr lang="en-US" altLang="zh-CN" dirty="0"/>
              <a:t>(new Generator())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.limit(20) </a:t>
            </a:r>
            <a:r>
              <a:rPr lang="en-US" altLang="zh-CN" dirty="0">
                <a:solidFill>
                  <a:srgbClr val="00B050"/>
                </a:solidFill>
              </a:rPr>
              <a:t>//collect</a:t>
            </a:r>
            <a:r>
              <a:rPr lang="zh-CN" altLang="en-US" dirty="0">
                <a:solidFill>
                  <a:srgbClr val="00B050"/>
                </a:solidFill>
              </a:rPr>
              <a:t>根据参数收集元素，</a:t>
            </a:r>
            <a:r>
              <a:rPr lang="en-US" altLang="zh-CN" dirty="0">
                <a:solidFill>
                  <a:srgbClr val="00B050"/>
                </a:solidFill>
              </a:rPr>
              <a:t>joining</a:t>
            </a:r>
            <a:r>
              <a:rPr lang="zh-CN" altLang="en-US" dirty="0">
                <a:solidFill>
                  <a:srgbClr val="00B050"/>
                </a:solidFill>
              </a:rPr>
              <a:t>表示字符串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   .collect(</a:t>
            </a:r>
            <a:r>
              <a:rPr lang="en-US" altLang="zh-CN" dirty="0" err="1"/>
              <a:t>Collectors.joining</a:t>
            </a:r>
            <a:r>
              <a:rPr lang="en-US" altLang="zh-CN" dirty="0"/>
              <a:t>());  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(word);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}   </a:t>
            </a:r>
            <a:r>
              <a:rPr lang="en-US" altLang="zh-CN" dirty="0">
                <a:solidFill>
                  <a:srgbClr val="00B050"/>
                </a:solidFill>
              </a:rPr>
              <a:t>//YNZBRNYGCFOWZNTCQRGS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0"/>
            <a:ext cx="8075240" cy="6957000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/>
              <a:t>6</a:t>
            </a:r>
            <a:r>
              <a:rPr lang="zh-CN" altLang="en-US" dirty="0"/>
              <a:t>、</a:t>
            </a:r>
            <a:r>
              <a:rPr lang="en-US" altLang="zh-CN" dirty="0" err="1"/>
              <a:t>Stream.iterate</a:t>
            </a:r>
            <a:r>
              <a:rPr lang="zh-CN" altLang="en-US" dirty="0"/>
              <a:t>（）</a:t>
            </a:r>
            <a:r>
              <a:rPr lang="en-US" altLang="zh-CN" dirty="0"/>
              <a:t>static</a:t>
            </a:r>
            <a:r>
              <a:rPr lang="zh-CN" altLang="en-US" dirty="0"/>
              <a:t>方法。以种子（第一个参数）开头，并将其传给方法（第二个参数）。方法的结果将添加到流，并存储作为第一个参数用于下次调用 </a:t>
            </a:r>
            <a:r>
              <a:rPr lang="en-US" altLang="zh-CN" dirty="0"/>
              <a:t>iterate()</a:t>
            </a:r>
            <a:r>
              <a:rPr lang="zh-CN" altLang="en-US" dirty="0"/>
              <a:t>，依次类推。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public class Fibonacci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</a:t>
            </a:r>
            <a:r>
              <a:rPr lang="en-US" altLang="zh-CN" dirty="0" err="1"/>
              <a:t>int</a:t>
            </a:r>
            <a:r>
              <a:rPr lang="en-US" altLang="zh-CN" dirty="0"/>
              <a:t> x = 1;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Stream&lt;Integer&gt; numbers()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return </a:t>
            </a:r>
            <a:r>
              <a:rPr lang="en-US" altLang="zh-CN" dirty="0" err="1"/>
              <a:t>Stream.iterate</a:t>
            </a:r>
            <a:r>
              <a:rPr lang="en-US" altLang="zh-CN" dirty="0"/>
              <a:t>(0, </a:t>
            </a:r>
            <a:r>
              <a:rPr lang="en-US" altLang="zh-CN" dirty="0" err="1"/>
              <a:t>i</a:t>
            </a:r>
            <a:r>
              <a:rPr lang="en-US" altLang="zh-CN" dirty="0"/>
              <a:t> -&gt;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int</a:t>
            </a:r>
            <a:r>
              <a:rPr lang="en-US" altLang="zh-CN" dirty="0"/>
              <a:t> result = x + </a:t>
            </a:r>
            <a:r>
              <a:rPr lang="en-US" altLang="zh-CN" dirty="0" err="1"/>
              <a:t>i</a:t>
            </a:r>
            <a:r>
              <a:rPr lang="en-US" altLang="zh-CN" dirty="0"/>
              <a:t>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x = </a:t>
            </a:r>
            <a:r>
              <a:rPr lang="en-US" altLang="zh-CN" dirty="0" err="1"/>
              <a:t>i</a:t>
            </a:r>
            <a:r>
              <a:rPr lang="en-US" altLang="zh-CN" dirty="0"/>
              <a:t>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return result;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});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new Fibonacci().numbers()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.skip(5) </a:t>
            </a:r>
            <a:r>
              <a:rPr lang="en-US" altLang="zh-CN" dirty="0">
                <a:solidFill>
                  <a:srgbClr val="00B050"/>
                </a:solidFill>
              </a:rPr>
              <a:t>// Don't use the first 5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   .limit(10) </a:t>
            </a:r>
            <a:r>
              <a:rPr lang="en-US" altLang="zh-CN" dirty="0">
                <a:solidFill>
                  <a:srgbClr val="00B050"/>
                </a:solidFill>
              </a:rPr>
              <a:t>// Then take 10 of them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   .</a:t>
            </a:r>
            <a:r>
              <a:rPr lang="en-US" altLang="zh-CN" dirty="0" err="1"/>
              <a:t>forEach</a:t>
            </a:r>
            <a:r>
              <a:rPr lang="en-US" altLang="zh-CN" dirty="0"/>
              <a:t>(</a:t>
            </a:r>
            <a:r>
              <a:rPr lang="en-US" altLang="zh-CN" dirty="0" err="1"/>
              <a:t>System.out</a:t>
            </a:r>
            <a:r>
              <a:rPr lang="en-US" altLang="zh-CN" dirty="0"/>
              <a:t>::</a:t>
            </a:r>
            <a:r>
              <a:rPr lang="en-US" altLang="zh-CN" dirty="0" err="1"/>
              <a:t>println</a:t>
            </a:r>
            <a:r>
              <a:rPr lang="en-US" altLang="zh-CN" dirty="0"/>
              <a:t>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7000"/>
            <a:ext cx="8075240" cy="5760312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/>
              <a:t>7</a:t>
            </a:r>
            <a:r>
              <a:rPr lang="zh-CN" altLang="en-US" dirty="0"/>
              <a:t>、</a:t>
            </a:r>
            <a:r>
              <a:rPr lang="en-US" altLang="zh-CN" dirty="0" err="1"/>
              <a:t>Arrays.stream</a:t>
            </a:r>
            <a:r>
              <a:rPr lang="en-US" altLang="zh-CN" dirty="0"/>
              <a:t>()</a:t>
            </a:r>
            <a:r>
              <a:rPr lang="zh-CN" altLang="en-US" dirty="0"/>
              <a:t>用于把数组转换成为流。</a:t>
            </a:r>
            <a:endParaRPr lang="zh-CN" altLang="en-US" dirty="0"/>
          </a:p>
          <a:p>
            <a:pPr marL="274320" lvl="1" indent="0">
              <a:buNone/>
            </a:pPr>
            <a:r>
              <a:rPr lang="en-US" altLang="zh-CN" dirty="0"/>
              <a:t>public class </a:t>
            </a:r>
            <a:r>
              <a:rPr lang="en-US" altLang="zh-CN" dirty="0" err="1"/>
              <a:t>ArrayStreams</a:t>
            </a:r>
            <a:r>
              <a:rPr lang="en-US" altLang="zh-CN" dirty="0"/>
              <a:t>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Arrays.stream</a:t>
            </a:r>
            <a:r>
              <a:rPr lang="en-US" altLang="zh-CN" dirty="0"/>
              <a:t>(new double[] { 3.14159, 2.718, 1.618 })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    .</a:t>
            </a:r>
            <a:r>
              <a:rPr lang="en-US" altLang="zh-CN" dirty="0" err="1"/>
              <a:t>forEach</a:t>
            </a:r>
            <a:r>
              <a:rPr lang="en-US" altLang="zh-CN" dirty="0"/>
              <a:t>(n -&gt; </a:t>
            </a:r>
            <a:r>
              <a:rPr lang="en-US" altLang="zh-CN" dirty="0" err="1"/>
              <a:t>System.out.format</a:t>
            </a:r>
            <a:r>
              <a:rPr lang="en-US" altLang="zh-CN" dirty="0"/>
              <a:t>("%f ", n));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();</a:t>
            </a:r>
            <a:endParaRPr lang="en-US" altLang="zh-CN" dirty="0"/>
          </a:p>
          <a:p>
            <a:pPr marL="274320" lvl="1" indent="0">
              <a:buNone/>
            </a:pP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Arrays.stream</a:t>
            </a:r>
            <a:r>
              <a:rPr lang="en-US" altLang="zh-CN" dirty="0"/>
              <a:t>(new int[] { 1, 3, 5 })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    .</a:t>
            </a:r>
            <a:r>
              <a:rPr lang="en-US" altLang="zh-CN" dirty="0" err="1"/>
              <a:t>forEach</a:t>
            </a:r>
            <a:r>
              <a:rPr lang="en-US" altLang="zh-CN" dirty="0"/>
              <a:t>(n -&gt; </a:t>
            </a:r>
            <a:r>
              <a:rPr lang="en-US" altLang="zh-CN" dirty="0" err="1"/>
              <a:t>System.out.format</a:t>
            </a:r>
            <a:r>
              <a:rPr lang="en-US" altLang="zh-CN" dirty="0"/>
              <a:t>("%d ", n));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();</a:t>
            </a:r>
            <a:endParaRPr lang="en-US" altLang="zh-CN" dirty="0"/>
          </a:p>
          <a:p>
            <a:pPr marL="274320" lvl="1" indent="0">
              <a:buNone/>
            </a:pP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Arrays.stream</a:t>
            </a:r>
            <a:r>
              <a:rPr lang="en-US" altLang="zh-CN" dirty="0"/>
              <a:t>(new long[] { 11, 22, 44, 66 })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    .</a:t>
            </a:r>
            <a:r>
              <a:rPr lang="en-US" altLang="zh-CN" dirty="0" err="1"/>
              <a:t>forEach</a:t>
            </a:r>
            <a:r>
              <a:rPr lang="en-US" altLang="zh-CN" dirty="0"/>
              <a:t>(n -&gt; </a:t>
            </a:r>
            <a:r>
              <a:rPr lang="en-US" altLang="zh-CN" dirty="0" err="1"/>
              <a:t>System.out.format</a:t>
            </a:r>
            <a:r>
              <a:rPr lang="en-US" altLang="zh-CN" dirty="0"/>
              <a:t>("%d ", n));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();</a:t>
            </a: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4320" lvl="1" indent="0">
              <a:buNone/>
            </a:pPr>
            <a:r>
              <a:rPr lang="zh-CN" altLang="en-US" dirty="0"/>
              <a:t> </a:t>
            </a:r>
            <a:r>
              <a:rPr lang="en-US" altLang="zh-CN" dirty="0">
                <a:solidFill>
                  <a:schemeClr val="accent3">
                    <a:lumMod val="75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accent3">
                    <a:lumMod val="75000"/>
                  </a:schemeClr>
                </a:solidFill>
              </a:rPr>
              <a:t>选择一个子域</a:t>
            </a:r>
            <a:r>
              <a:rPr lang="en-US" altLang="zh-CN" dirty="0">
                <a:solidFill>
                  <a:schemeClr val="accent3">
                    <a:lumMod val="75000"/>
                  </a:schemeClr>
                </a:solidFill>
              </a:rPr>
              <a:t>:</a:t>
            </a:r>
            <a:endParaRPr lang="en-US" altLang="zh-CN" dirty="0">
              <a:solidFill>
                <a:schemeClr val="accent3">
                  <a:lumMod val="75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Arrays.stream</a:t>
            </a:r>
            <a:r>
              <a:rPr lang="en-US" altLang="zh-CN" dirty="0"/>
              <a:t>(new int[] { 1, 3, 5, 7, 15, 28, 37 }, 3, 6)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    .</a:t>
            </a:r>
            <a:r>
              <a:rPr lang="en-US" altLang="zh-CN" dirty="0" err="1"/>
              <a:t>forEach</a:t>
            </a:r>
            <a:r>
              <a:rPr lang="en-US" altLang="zh-CN" dirty="0"/>
              <a:t>(n -&gt; </a:t>
            </a:r>
            <a:r>
              <a:rPr lang="en-US" altLang="zh-CN" dirty="0" err="1"/>
              <a:t>System.out.format</a:t>
            </a:r>
            <a:r>
              <a:rPr lang="en-US" altLang="zh-CN" dirty="0"/>
              <a:t>("%d ", n));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en-US" altLang="zh-CN" dirty="0"/>
          </a:p>
          <a:p>
            <a:pPr marL="274320" lvl="1" indent="0">
              <a:buNone/>
            </a:pPr>
            <a:r>
              <a:rPr lang="zh-CN" altLang="en-US" dirty="0">
                <a:solidFill>
                  <a:schemeClr val="accent3">
                    <a:lumMod val="75000"/>
                  </a:schemeClr>
                </a:solidFill>
              </a:rPr>
              <a:t>输出结果：</a:t>
            </a:r>
            <a:endParaRPr lang="zh-CN" altLang="en-US" dirty="0">
              <a:solidFill>
                <a:schemeClr val="accent3">
                  <a:lumMod val="75000"/>
                </a:schemeClr>
              </a:solidFill>
            </a:endParaRPr>
          </a:p>
          <a:p>
            <a:pPr marL="274320" lvl="1" indent="0">
              <a:buNone/>
            </a:pPr>
            <a:endParaRPr lang="zh-CN" altLang="en-US" dirty="0">
              <a:solidFill>
                <a:schemeClr val="accent3">
                  <a:lumMod val="75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chemeClr val="accent3">
                    <a:lumMod val="75000"/>
                  </a:schemeClr>
                </a:solidFill>
              </a:rPr>
              <a:t>3.141590 2.718000 1.618000</a:t>
            </a:r>
            <a:endParaRPr lang="en-US" altLang="zh-CN" dirty="0">
              <a:solidFill>
                <a:schemeClr val="accent3">
                  <a:lumMod val="75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chemeClr val="accent3">
                    <a:lumMod val="75000"/>
                  </a:schemeClr>
                </a:solidFill>
              </a:rPr>
              <a:t>1 3 5</a:t>
            </a:r>
            <a:endParaRPr lang="en-US" altLang="zh-CN" dirty="0">
              <a:solidFill>
                <a:schemeClr val="accent3">
                  <a:lumMod val="75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chemeClr val="accent3">
                    <a:lumMod val="75000"/>
                  </a:schemeClr>
                </a:solidFill>
              </a:rPr>
              <a:t>11 22 44 66</a:t>
            </a:r>
            <a:endParaRPr lang="en-US" altLang="zh-CN" dirty="0">
              <a:solidFill>
                <a:schemeClr val="accent3">
                  <a:lumMod val="75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chemeClr val="accent3">
                    <a:lumMod val="75000"/>
                  </a:schemeClr>
                </a:solidFill>
              </a:rPr>
              <a:t>7 15 28</a:t>
            </a:r>
            <a:endParaRPr lang="zh-CN" alt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7000"/>
            <a:ext cx="8075240" cy="5760312"/>
          </a:xfrm>
        </p:spPr>
        <p:txBody>
          <a:bodyPr/>
          <a:lstStyle/>
          <a:p>
            <a:r>
              <a:rPr lang="zh-CN" altLang="en-US" dirty="0"/>
              <a:t>再看一个例子：</a:t>
            </a:r>
            <a:endParaRPr lang="zh-CN" altLang="en-US" dirty="0"/>
          </a:p>
          <a:p>
            <a:pPr marL="274320" lvl="1" indent="0">
              <a:buNone/>
            </a:pPr>
            <a:r>
              <a:rPr lang="en-US" altLang="zh-CN" dirty="0"/>
              <a:t>public class MetalWork2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Arrays.stream</a:t>
            </a:r>
            <a:r>
              <a:rPr lang="en-US" altLang="zh-CN" dirty="0"/>
              <a:t>(new Operation[]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() -&gt; </a:t>
            </a:r>
            <a:r>
              <a:rPr lang="en-US" altLang="zh-CN" dirty="0" err="1"/>
              <a:t>Operation.show</a:t>
            </a:r>
            <a:r>
              <a:rPr lang="en-US" altLang="zh-CN" dirty="0"/>
              <a:t>("Heat"),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() -&gt; </a:t>
            </a:r>
            <a:r>
              <a:rPr lang="en-US" altLang="zh-CN" dirty="0" err="1"/>
              <a:t>Operation.show</a:t>
            </a:r>
            <a:r>
              <a:rPr lang="en-US" altLang="zh-CN" dirty="0"/>
              <a:t>("Hammer"),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() -&gt; </a:t>
            </a:r>
            <a:r>
              <a:rPr lang="en-US" altLang="zh-CN" dirty="0" err="1"/>
              <a:t>Operation.show</a:t>
            </a:r>
            <a:r>
              <a:rPr lang="en-US" altLang="zh-CN" dirty="0"/>
              <a:t>("Twist"),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() -&gt; </a:t>
            </a:r>
            <a:r>
              <a:rPr lang="en-US" altLang="zh-CN" dirty="0" err="1"/>
              <a:t>Operation.show</a:t>
            </a:r>
            <a:r>
              <a:rPr lang="en-US" altLang="zh-CN" dirty="0"/>
              <a:t>("Anneal")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}).</a:t>
            </a:r>
            <a:r>
              <a:rPr lang="en-US" altLang="zh-CN" dirty="0" err="1"/>
              <a:t>forEach</a:t>
            </a:r>
            <a:r>
              <a:rPr lang="en-US" altLang="zh-CN" dirty="0"/>
              <a:t>(Operation::execute); 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</a:t>
            </a:r>
            <a:r>
              <a:rPr lang="en-US" altLang="zh-CN" dirty="0">
                <a:solidFill>
                  <a:srgbClr val="00B050"/>
                </a:solidFill>
              </a:rPr>
              <a:t>//</a:t>
            </a:r>
            <a:r>
              <a:rPr lang="zh-CN" altLang="en-US" dirty="0">
                <a:solidFill>
                  <a:srgbClr val="00B050"/>
                </a:solidFill>
              </a:rPr>
              <a:t>可以用  </a:t>
            </a:r>
            <a:r>
              <a:rPr lang="en-US" altLang="zh-CN" dirty="0">
                <a:solidFill>
                  <a:srgbClr val="00B050"/>
                </a:solidFill>
              </a:rPr>
              <a:t>op-&gt;</a:t>
            </a:r>
            <a:r>
              <a:rPr lang="en-US" altLang="zh-CN" dirty="0" err="1">
                <a:solidFill>
                  <a:srgbClr val="00B050"/>
                </a:solidFill>
              </a:rPr>
              <a:t>op.execute</a:t>
            </a:r>
            <a:r>
              <a:rPr lang="en-US" altLang="zh-CN" dirty="0">
                <a:solidFill>
                  <a:srgbClr val="00B050"/>
                </a:solidFill>
              </a:rPr>
              <a:t>()</a:t>
            </a:r>
            <a:r>
              <a:rPr lang="zh-CN" altLang="en-US" dirty="0">
                <a:solidFill>
                  <a:srgbClr val="00B050"/>
                </a:solidFill>
              </a:rPr>
              <a:t>，该抽象方法已在创建数组时实现  </a:t>
            </a:r>
            <a:r>
              <a:rPr lang="en-US" altLang="zh-CN" dirty="0">
                <a:solidFill>
                  <a:srgbClr val="00B050"/>
                </a:solidFill>
              </a:rPr>
              <a:t>() -&gt; </a:t>
            </a:r>
            <a:r>
              <a:rPr lang="en-US" altLang="zh-CN" dirty="0" err="1">
                <a:solidFill>
                  <a:srgbClr val="00B050"/>
                </a:solidFill>
              </a:rPr>
              <a:t>Operation.show</a:t>
            </a:r>
            <a:r>
              <a:rPr lang="en-US" altLang="zh-CN" dirty="0">
                <a:solidFill>
                  <a:srgbClr val="00B050"/>
                </a:solidFill>
              </a:rPr>
              <a:t>("Heat")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4320" lvl="1" indent="0">
              <a:buNone/>
            </a:pPr>
            <a:r>
              <a:rPr lang="en-US" altLang="zh-CN" dirty="0">
                <a:solidFill>
                  <a:schemeClr val="tx2"/>
                </a:solidFill>
              </a:rPr>
              <a:t>public interface Operation {</a:t>
            </a:r>
            <a:endParaRPr lang="en-US" altLang="zh-CN" dirty="0">
              <a:solidFill>
                <a:schemeClr val="tx2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chemeClr val="tx2"/>
                </a:solidFill>
              </a:rPr>
              <a:t>  </a:t>
            </a:r>
            <a:r>
              <a:rPr lang="en-US" altLang="zh-CN" dirty="0">
                <a:solidFill>
                  <a:srgbClr val="FF0000"/>
                </a:solidFill>
              </a:rPr>
              <a:t>void execute();</a:t>
            </a:r>
            <a:endParaRPr lang="en-US" altLang="zh-CN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chemeClr val="tx2"/>
                </a:solidFill>
              </a:rPr>
              <a:t>  static void </a:t>
            </a:r>
            <a:r>
              <a:rPr lang="en-US" altLang="zh-CN" dirty="0" err="1">
                <a:solidFill>
                  <a:schemeClr val="tx2"/>
                </a:solidFill>
              </a:rPr>
              <a:t>runOps</a:t>
            </a:r>
            <a:r>
              <a:rPr lang="en-US" altLang="zh-CN" dirty="0">
                <a:solidFill>
                  <a:schemeClr val="tx2"/>
                </a:solidFill>
              </a:rPr>
              <a:t>(Operation... ops) {</a:t>
            </a:r>
            <a:endParaRPr lang="en-US" altLang="zh-CN" dirty="0">
              <a:solidFill>
                <a:schemeClr val="tx2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chemeClr val="tx2"/>
                </a:solidFill>
              </a:rPr>
              <a:t>    for(Operation op : ops)</a:t>
            </a:r>
            <a:endParaRPr lang="en-US" altLang="zh-CN" dirty="0">
              <a:solidFill>
                <a:schemeClr val="tx2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chemeClr val="tx2"/>
                </a:solidFill>
              </a:rPr>
              <a:t>      </a:t>
            </a:r>
            <a:r>
              <a:rPr lang="en-US" altLang="zh-CN" dirty="0" err="1">
                <a:solidFill>
                  <a:schemeClr val="tx2"/>
                </a:solidFill>
              </a:rPr>
              <a:t>op.execute</a:t>
            </a:r>
            <a:r>
              <a:rPr lang="en-US" altLang="zh-CN" dirty="0">
                <a:solidFill>
                  <a:schemeClr val="tx2"/>
                </a:solidFill>
              </a:rPr>
              <a:t>();</a:t>
            </a:r>
            <a:endParaRPr lang="en-US" altLang="zh-CN" dirty="0">
              <a:solidFill>
                <a:schemeClr val="tx2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chemeClr val="tx2"/>
                </a:solidFill>
              </a:rPr>
              <a:t>  }</a:t>
            </a:r>
            <a:endParaRPr lang="en-US" altLang="zh-CN" dirty="0">
              <a:solidFill>
                <a:schemeClr val="tx2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chemeClr val="tx2"/>
                </a:solidFill>
              </a:rPr>
              <a:t>  static void show(String </a:t>
            </a:r>
            <a:r>
              <a:rPr lang="en-US" altLang="zh-CN" dirty="0" err="1">
                <a:solidFill>
                  <a:schemeClr val="tx2"/>
                </a:solidFill>
              </a:rPr>
              <a:t>msg</a:t>
            </a:r>
            <a:r>
              <a:rPr lang="en-US" altLang="zh-CN" dirty="0">
                <a:solidFill>
                  <a:schemeClr val="tx2"/>
                </a:solidFill>
              </a:rPr>
              <a:t>) {</a:t>
            </a:r>
            <a:endParaRPr lang="en-US" altLang="zh-CN" dirty="0">
              <a:solidFill>
                <a:schemeClr val="tx2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chemeClr val="tx2"/>
                </a:solidFill>
              </a:rPr>
              <a:t>    </a:t>
            </a:r>
            <a:r>
              <a:rPr lang="en-US" altLang="zh-CN" dirty="0" err="1">
                <a:solidFill>
                  <a:schemeClr val="tx2"/>
                </a:solidFill>
              </a:rPr>
              <a:t>System.out.println</a:t>
            </a:r>
            <a:r>
              <a:rPr lang="en-US" altLang="zh-CN" dirty="0">
                <a:solidFill>
                  <a:schemeClr val="tx2"/>
                </a:solidFill>
              </a:rPr>
              <a:t>(</a:t>
            </a:r>
            <a:r>
              <a:rPr lang="en-US" altLang="zh-CN" dirty="0" err="1">
                <a:solidFill>
                  <a:schemeClr val="tx2"/>
                </a:solidFill>
              </a:rPr>
              <a:t>msg</a:t>
            </a:r>
            <a:r>
              <a:rPr lang="en-US" altLang="zh-CN" dirty="0">
                <a:solidFill>
                  <a:schemeClr val="tx2"/>
                </a:solidFill>
              </a:rPr>
              <a:t>);</a:t>
            </a:r>
            <a:endParaRPr lang="en-US" altLang="zh-CN" dirty="0">
              <a:solidFill>
                <a:schemeClr val="tx2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chemeClr val="tx2"/>
                </a:solidFill>
              </a:rPr>
              <a:t>  }</a:t>
            </a:r>
            <a:endParaRPr lang="en-US" altLang="zh-CN" dirty="0">
              <a:solidFill>
                <a:schemeClr val="tx2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chemeClr val="tx2"/>
                </a:solidFill>
              </a:rPr>
              <a:t>}</a:t>
            </a:r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11.3 </a:t>
            </a:r>
            <a:r>
              <a:rPr lang="zh-CN" altLang="en-US" dirty="0"/>
              <a:t>中间操作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所谓中间，是指从一个流中获取对象，并将对象作为另一个流从后端输出，以连接到其他操作。</a:t>
            </a:r>
            <a:endParaRPr lang="en-US" altLang="zh-CN" dirty="0"/>
          </a:p>
          <a:p>
            <a:pPr lvl="1"/>
            <a:r>
              <a:rPr lang="en-US" altLang="zh-CN" dirty="0"/>
              <a:t>peek() </a:t>
            </a:r>
            <a:r>
              <a:rPr lang="zh-CN" altLang="en-US" dirty="0"/>
              <a:t>：目的是帮助调试，它允许无修改地查看流中的元素。</a:t>
            </a:r>
            <a:endParaRPr lang="en-US" altLang="zh-CN" dirty="0"/>
          </a:p>
          <a:p>
            <a:pPr lvl="1"/>
            <a:r>
              <a:rPr lang="en-US" altLang="zh-CN" dirty="0"/>
              <a:t>sorted() </a:t>
            </a:r>
            <a:r>
              <a:rPr lang="zh-CN" altLang="en-US" dirty="0"/>
              <a:t>：默认比较器实现排序。它还有另一种形式的实现：传入一个 </a:t>
            </a:r>
            <a:r>
              <a:rPr lang="en-US" altLang="zh-CN" dirty="0"/>
              <a:t>Comparator </a:t>
            </a:r>
            <a:r>
              <a:rPr lang="zh-CN" altLang="en-US" dirty="0"/>
              <a:t>参数。</a:t>
            </a:r>
            <a:endParaRPr lang="en-US" altLang="zh-CN" dirty="0"/>
          </a:p>
          <a:p>
            <a:pPr lvl="1"/>
            <a:r>
              <a:rPr lang="en-US" altLang="zh-CN" dirty="0"/>
              <a:t>distinct()</a:t>
            </a:r>
            <a:r>
              <a:rPr lang="zh-CN" altLang="en-US" dirty="0"/>
              <a:t>：在 </a:t>
            </a:r>
            <a:r>
              <a:rPr lang="en-US" altLang="zh-CN" dirty="0" err="1"/>
              <a:t>Randoms</a:t>
            </a:r>
            <a:r>
              <a:rPr lang="zh-CN" altLang="en-US" dirty="0"/>
              <a:t>类中的 </a:t>
            </a:r>
            <a:r>
              <a:rPr lang="en-US" altLang="zh-CN" dirty="0"/>
              <a:t>distinct() </a:t>
            </a:r>
            <a:r>
              <a:rPr lang="zh-CN" altLang="en-US" dirty="0"/>
              <a:t>可用于消除流中的重复元素。相比创建一个 </a:t>
            </a:r>
            <a:r>
              <a:rPr lang="en-US" altLang="zh-CN" dirty="0"/>
              <a:t>Set </a:t>
            </a:r>
            <a:r>
              <a:rPr lang="zh-CN" altLang="en-US" dirty="0"/>
              <a:t>集合，该方法的工作量要少得多。</a:t>
            </a:r>
            <a:endParaRPr lang="en-US" altLang="zh-CN" dirty="0"/>
          </a:p>
          <a:p>
            <a:pPr lvl="1"/>
            <a:r>
              <a:rPr lang="en-US" altLang="zh-CN" dirty="0"/>
              <a:t>filter(Predicate)</a:t>
            </a:r>
            <a:r>
              <a:rPr lang="zh-CN" altLang="en-US" dirty="0"/>
              <a:t>：过滤操作，保留与传递进去的过滤器函数计算结果为 </a:t>
            </a:r>
            <a:r>
              <a:rPr lang="en-US" altLang="zh-CN" dirty="0"/>
              <a:t>true </a:t>
            </a:r>
            <a:r>
              <a:rPr lang="zh-CN" altLang="en-US" dirty="0"/>
              <a:t>元素</a:t>
            </a:r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49000"/>
            <a:ext cx="8075240" cy="5688312"/>
          </a:xfrm>
        </p:spPr>
        <p:txBody>
          <a:bodyPr/>
          <a:lstStyle/>
          <a:p>
            <a:pPr lvl="1"/>
            <a:r>
              <a:rPr lang="en-US" altLang="zh-CN" dirty="0"/>
              <a:t>map(Function)</a:t>
            </a:r>
            <a:r>
              <a:rPr lang="zh-CN" altLang="en-US" dirty="0"/>
              <a:t>：将函数操作应用在输入流的元素中，并将返回值传递到输出流中。</a:t>
            </a:r>
            <a:endParaRPr lang="zh-CN" altLang="en-US" dirty="0"/>
          </a:p>
          <a:p>
            <a:pPr lvl="1"/>
            <a:r>
              <a:rPr lang="en-US" altLang="zh-CN" dirty="0" err="1"/>
              <a:t>mapToInt</a:t>
            </a:r>
            <a:r>
              <a:rPr lang="en-US" altLang="zh-CN" dirty="0"/>
              <a:t>(</a:t>
            </a:r>
            <a:r>
              <a:rPr lang="en-US" altLang="zh-CN" dirty="0" err="1"/>
              <a:t>ToIntFunction</a:t>
            </a:r>
            <a:r>
              <a:rPr lang="en-US" altLang="zh-CN" dirty="0"/>
              <a:t>)</a:t>
            </a:r>
            <a:r>
              <a:rPr lang="zh-CN" altLang="en-US" dirty="0"/>
              <a:t>：操作同上，但结果是 </a:t>
            </a:r>
            <a:r>
              <a:rPr lang="en-US" altLang="zh-CN" dirty="0" err="1"/>
              <a:t>IntStream</a:t>
            </a:r>
            <a:r>
              <a:rPr lang="zh-CN" altLang="en-US" dirty="0"/>
              <a:t>。</a:t>
            </a:r>
            <a:endParaRPr lang="zh-CN" altLang="en-US" dirty="0"/>
          </a:p>
          <a:p>
            <a:pPr lvl="1"/>
            <a:r>
              <a:rPr lang="en-US" altLang="zh-CN" dirty="0" err="1"/>
              <a:t>mapToLong</a:t>
            </a:r>
            <a:r>
              <a:rPr lang="en-US" altLang="zh-CN" dirty="0"/>
              <a:t>(</a:t>
            </a:r>
            <a:r>
              <a:rPr lang="en-US" altLang="zh-CN" dirty="0" err="1"/>
              <a:t>ToLongFunction</a:t>
            </a:r>
            <a:r>
              <a:rPr lang="en-US" altLang="zh-CN" dirty="0"/>
              <a:t>)</a:t>
            </a:r>
            <a:r>
              <a:rPr lang="zh-CN" altLang="en-US" dirty="0"/>
              <a:t>：操作同上，但结果是 </a:t>
            </a:r>
            <a:r>
              <a:rPr lang="en-US" altLang="zh-CN" dirty="0" err="1"/>
              <a:t>LongStream</a:t>
            </a:r>
            <a:r>
              <a:rPr lang="zh-CN" altLang="en-US" dirty="0"/>
              <a:t>。</a:t>
            </a:r>
            <a:endParaRPr lang="zh-CN" altLang="en-US" dirty="0"/>
          </a:p>
          <a:p>
            <a:pPr lvl="1"/>
            <a:r>
              <a:rPr lang="en-US" altLang="zh-CN" dirty="0" err="1"/>
              <a:t>mapToDouble</a:t>
            </a:r>
            <a:r>
              <a:rPr lang="en-US" altLang="zh-CN" dirty="0"/>
              <a:t>(</a:t>
            </a:r>
            <a:r>
              <a:rPr lang="en-US" altLang="zh-CN" dirty="0" err="1"/>
              <a:t>ToDoubleFunction</a:t>
            </a:r>
            <a:r>
              <a:rPr lang="en-US" altLang="zh-CN" dirty="0"/>
              <a:t>)</a:t>
            </a:r>
            <a:r>
              <a:rPr lang="zh-CN" altLang="en-US" dirty="0"/>
              <a:t>：操作同上，但结果是 </a:t>
            </a:r>
            <a:r>
              <a:rPr lang="en-US" altLang="zh-CN" dirty="0" err="1"/>
              <a:t>DoubleStream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11.4 Optional</a:t>
            </a:r>
            <a:r>
              <a:rPr lang="zh-CN" altLang="en-US" dirty="0"/>
              <a:t>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Optional</a:t>
            </a:r>
            <a:r>
              <a:rPr lang="zh-CN" altLang="en-US" dirty="0"/>
              <a:t>是</a:t>
            </a:r>
            <a:r>
              <a:rPr lang="en-US" altLang="zh-CN" dirty="0"/>
              <a:t>Java 8</a:t>
            </a:r>
            <a:r>
              <a:rPr lang="zh-CN" altLang="en-US" dirty="0"/>
              <a:t>引入的一个类，用于解决可能会出现空值的情况。在</a:t>
            </a:r>
            <a:r>
              <a:rPr lang="en-US" altLang="zh-CN" dirty="0"/>
              <a:t>Java</a:t>
            </a:r>
            <a:r>
              <a:rPr lang="zh-CN" altLang="en-US" dirty="0"/>
              <a:t>中，当一个方法的返回值可能为空时，通常会使用</a:t>
            </a:r>
            <a:r>
              <a:rPr lang="en-US" altLang="zh-CN" dirty="0"/>
              <a:t>null</a:t>
            </a:r>
            <a:r>
              <a:rPr lang="zh-CN" altLang="en-US" dirty="0"/>
              <a:t>表示空值。但是，使用</a:t>
            </a:r>
            <a:r>
              <a:rPr lang="en-US" altLang="zh-CN" dirty="0"/>
              <a:t>null</a:t>
            </a:r>
            <a:r>
              <a:rPr lang="zh-CN" altLang="en-US" dirty="0"/>
              <a:t>来表示空值存在一些问题，比如容易出现空指针异常。为了解决这个问题，</a:t>
            </a:r>
            <a:r>
              <a:rPr lang="en-US" altLang="zh-CN" dirty="0"/>
              <a:t>Java</a:t>
            </a:r>
            <a:r>
              <a:rPr lang="zh-CN" altLang="en-US" dirty="0"/>
              <a:t>引入了</a:t>
            </a:r>
            <a:r>
              <a:rPr lang="en-US" altLang="zh-CN" dirty="0"/>
              <a:t>Optional</a:t>
            </a:r>
            <a:r>
              <a:rPr lang="zh-CN" altLang="en-US" dirty="0"/>
              <a:t>类。</a:t>
            </a:r>
            <a:endParaRPr lang="en-US" altLang="zh-CN" dirty="0"/>
          </a:p>
          <a:p>
            <a:r>
              <a:rPr lang="en-US" altLang="zh-CN" dirty="0"/>
              <a:t>Optional</a:t>
            </a:r>
            <a:r>
              <a:rPr lang="zh-CN" altLang="en-US" dirty="0"/>
              <a:t>是一个容器对象，可以包含非空的值或空值。它提供了一些方法来处理包含的值，避免了直接使用</a:t>
            </a:r>
            <a:r>
              <a:rPr lang="en-US" altLang="zh-CN" dirty="0"/>
              <a:t>null</a:t>
            </a:r>
            <a:r>
              <a:rPr lang="zh-CN" altLang="en-US" dirty="0"/>
              <a:t>的一些问题。以下是</a:t>
            </a:r>
            <a:r>
              <a:rPr lang="en-US" altLang="zh-CN" dirty="0"/>
              <a:t>Optional</a:t>
            </a:r>
            <a:r>
              <a:rPr lang="zh-CN" altLang="en-US" dirty="0"/>
              <a:t>类的一些常用方法：</a:t>
            </a:r>
            <a:endParaRPr lang="zh-CN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33000"/>
            <a:ext cx="8075240" cy="6264000"/>
          </a:xfrm>
        </p:spPr>
        <p:txBody>
          <a:bodyPr>
            <a:normAutofit lnSpcReduction="10000"/>
          </a:bodyPr>
          <a:lstStyle/>
          <a:p>
            <a:pPr lvl="1"/>
            <a:r>
              <a:rPr lang="en-US" altLang="zh-CN" dirty="0"/>
              <a:t>of(value)</a:t>
            </a:r>
            <a:r>
              <a:rPr lang="zh-CN" altLang="en-US" dirty="0"/>
              <a:t>：创建一个包含指定值的</a:t>
            </a:r>
            <a:r>
              <a:rPr lang="en-US" altLang="zh-CN" dirty="0"/>
              <a:t>Optional</a:t>
            </a:r>
            <a:r>
              <a:rPr lang="zh-CN" altLang="en-US" dirty="0"/>
              <a:t>实例。值不能为</a:t>
            </a:r>
            <a:r>
              <a:rPr lang="en-US" altLang="zh-CN" dirty="0"/>
              <a:t>null</a:t>
            </a:r>
            <a:r>
              <a:rPr lang="zh-CN" altLang="en-US" dirty="0"/>
              <a:t>，否则会抛出</a:t>
            </a:r>
            <a:r>
              <a:rPr lang="en-US" altLang="zh-CN" dirty="0" err="1"/>
              <a:t>NullPointerException</a:t>
            </a:r>
            <a:r>
              <a:rPr lang="zh-CN" altLang="en-US" dirty="0"/>
              <a:t>。</a:t>
            </a:r>
            <a:endParaRPr lang="zh-CN" altLang="en-US" dirty="0"/>
          </a:p>
          <a:p>
            <a:pPr lvl="1"/>
            <a:r>
              <a:rPr lang="en-US" altLang="zh-CN" dirty="0" err="1"/>
              <a:t>ofNullable</a:t>
            </a:r>
            <a:r>
              <a:rPr lang="en-US" altLang="zh-CN" dirty="0"/>
              <a:t>(value)</a:t>
            </a:r>
            <a:r>
              <a:rPr lang="zh-CN" altLang="en-US" dirty="0"/>
              <a:t>：创建一个包含指定值的</a:t>
            </a:r>
            <a:r>
              <a:rPr lang="en-US" altLang="zh-CN" dirty="0"/>
              <a:t>Optional</a:t>
            </a:r>
            <a:r>
              <a:rPr lang="zh-CN" altLang="en-US" dirty="0"/>
              <a:t>实例，值可以是</a:t>
            </a:r>
            <a:r>
              <a:rPr lang="en-US" altLang="zh-CN" dirty="0"/>
              <a:t>null</a:t>
            </a:r>
            <a:r>
              <a:rPr lang="zh-CN" altLang="en-US" dirty="0"/>
              <a:t>。</a:t>
            </a:r>
            <a:endParaRPr lang="zh-CN" altLang="en-US" dirty="0"/>
          </a:p>
          <a:p>
            <a:pPr lvl="1"/>
            <a:r>
              <a:rPr lang="en-US" altLang="zh-CN" dirty="0" err="1"/>
              <a:t>isEmpty</a:t>
            </a:r>
            <a:r>
              <a:rPr lang="en-US" altLang="zh-CN" dirty="0"/>
              <a:t>()</a:t>
            </a:r>
            <a:r>
              <a:rPr lang="zh-CN" altLang="en-US" dirty="0"/>
              <a:t>：检查</a:t>
            </a:r>
            <a:r>
              <a:rPr lang="en-US" altLang="zh-CN" dirty="0"/>
              <a:t>Optional</a:t>
            </a:r>
            <a:r>
              <a:rPr lang="zh-CN" altLang="en-US" dirty="0"/>
              <a:t>是否为空值。</a:t>
            </a:r>
            <a:endParaRPr lang="zh-CN" altLang="en-US" dirty="0"/>
          </a:p>
          <a:p>
            <a:pPr lvl="1"/>
            <a:r>
              <a:rPr lang="en-US" altLang="zh-CN" dirty="0" err="1"/>
              <a:t>isPresent</a:t>
            </a:r>
            <a:r>
              <a:rPr lang="en-US" altLang="zh-CN" dirty="0"/>
              <a:t>()</a:t>
            </a:r>
            <a:r>
              <a:rPr lang="zh-CN" altLang="en-US" dirty="0"/>
              <a:t>：检查</a:t>
            </a:r>
            <a:r>
              <a:rPr lang="en-US" altLang="zh-CN" dirty="0"/>
              <a:t>Optional</a:t>
            </a:r>
            <a:r>
              <a:rPr lang="zh-CN" altLang="en-US" dirty="0"/>
              <a:t>是否包含非空值。</a:t>
            </a:r>
            <a:endParaRPr lang="zh-CN" altLang="en-US" dirty="0"/>
          </a:p>
          <a:p>
            <a:pPr lvl="1"/>
            <a:r>
              <a:rPr lang="en-US" altLang="zh-CN" dirty="0"/>
              <a:t>get()</a:t>
            </a:r>
            <a:r>
              <a:rPr lang="zh-CN" altLang="en-US" dirty="0"/>
              <a:t>：如果</a:t>
            </a:r>
            <a:r>
              <a:rPr lang="en-US" altLang="zh-CN" dirty="0"/>
              <a:t>Optional</a:t>
            </a:r>
            <a:r>
              <a:rPr lang="zh-CN" altLang="en-US" dirty="0"/>
              <a:t>包含非空值，则返回该值，否则抛出</a:t>
            </a:r>
            <a:r>
              <a:rPr lang="en-US" altLang="zh-CN" dirty="0" err="1"/>
              <a:t>NoSuchElementException</a:t>
            </a:r>
            <a:r>
              <a:rPr lang="zh-CN" altLang="en-US" dirty="0"/>
              <a:t>。</a:t>
            </a:r>
            <a:endParaRPr lang="zh-CN" altLang="en-US" dirty="0"/>
          </a:p>
          <a:p>
            <a:pPr lvl="1"/>
            <a:r>
              <a:rPr lang="en-US" altLang="zh-CN" dirty="0" err="1"/>
              <a:t>orElse</a:t>
            </a:r>
            <a:r>
              <a:rPr lang="en-US" altLang="zh-CN" dirty="0"/>
              <a:t>(other)</a:t>
            </a:r>
            <a:r>
              <a:rPr lang="zh-CN" altLang="en-US" dirty="0"/>
              <a:t>：如果</a:t>
            </a:r>
            <a:r>
              <a:rPr lang="en-US" altLang="zh-CN" dirty="0"/>
              <a:t>Optional</a:t>
            </a:r>
            <a:r>
              <a:rPr lang="zh-CN" altLang="en-US" dirty="0"/>
              <a:t>包含非空值，则返回该值，否则返回指定的默认值。</a:t>
            </a:r>
            <a:endParaRPr lang="zh-CN" altLang="en-US" dirty="0"/>
          </a:p>
          <a:p>
            <a:pPr lvl="1"/>
            <a:r>
              <a:rPr lang="en-US" altLang="zh-CN" dirty="0" err="1"/>
              <a:t>orElseGet</a:t>
            </a:r>
            <a:r>
              <a:rPr lang="en-US" altLang="zh-CN" dirty="0"/>
              <a:t>(supplier)</a:t>
            </a:r>
            <a:r>
              <a:rPr lang="zh-CN" altLang="en-US" dirty="0"/>
              <a:t>：如果</a:t>
            </a:r>
            <a:r>
              <a:rPr lang="en-US" altLang="zh-CN" dirty="0"/>
              <a:t>Optional</a:t>
            </a:r>
            <a:r>
              <a:rPr lang="zh-CN" altLang="en-US" dirty="0"/>
              <a:t>包含非空值，则返回该值，否则通过调用提供的</a:t>
            </a:r>
            <a:r>
              <a:rPr lang="en-US" altLang="zh-CN" dirty="0"/>
              <a:t>Supplier</a:t>
            </a:r>
            <a:r>
              <a:rPr lang="zh-CN" altLang="en-US" dirty="0"/>
              <a:t>函数生成一个默认值。</a:t>
            </a:r>
            <a:endParaRPr lang="zh-CN" altLang="en-US" dirty="0"/>
          </a:p>
          <a:p>
            <a:pPr lvl="1"/>
            <a:r>
              <a:rPr lang="en-US" altLang="zh-CN" dirty="0" err="1"/>
              <a:t>orElseThrow</a:t>
            </a:r>
            <a:r>
              <a:rPr lang="en-US" altLang="zh-CN" dirty="0"/>
              <a:t>(</a:t>
            </a:r>
            <a:r>
              <a:rPr lang="en-US" altLang="zh-CN" dirty="0" err="1"/>
              <a:t>exceptionSupplier</a:t>
            </a:r>
            <a:r>
              <a:rPr lang="en-US" altLang="zh-CN" dirty="0"/>
              <a:t>)</a:t>
            </a:r>
            <a:r>
              <a:rPr lang="zh-CN" altLang="en-US" dirty="0"/>
              <a:t>：如果</a:t>
            </a:r>
            <a:r>
              <a:rPr lang="en-US" altLang="zh-CN" dirty="0"/>
              <a:t>Optional</a:t>
            </a:r>
            <a:r>
              <a:rPr lang="zh-CN" altLang="en-US" dirty="0"/>
              <a:t>包含非空值，则返回该值，否则通过调用提供的异常供应函数抛出异常。</a:t>
            </a: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11.5 </a:t>
            </a:r>
            <a:r>
              <a:rPr lang="zh-CN" altLang="en-US" dirty="0"/>
              <a:t>终结操作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接受一个流，并生成一个结果，无法再继续往后传递流。</a:t>
            </a:r>
            <a:endParaRPr lang="en-US" altLang="zh-CN" dirty="0"/>
          </a:p>
          <a:p>
            <a:r>
              <a:rPr lang="zh-CN" altLang="en-US" dirty="0"/>
              <a:t>终结操作总是我们在流管道中所做的最后一件事。</a:t>
            </a:r>
            <a:endParaRPr lang="en-US" altLang="zh-CN" dirty="0"/>
          </a:p>
          <a:p>
            <a:pPr lvl="1"/>
            <a:r>
              <a:rPr lang="zh-CN" altLang="en-US" dirty="0"/>
              <a:t>流转换为数组操作：</a:t>
            </a:r>
            <a:endParaRPr lang="zh-CN" altLang="en-US" dirty="0"/>
          </a:p>
          <a:p>
            <a:pPr lvl="2"/>
            <a:r>
              <a:rPr lang="en-US" altLang="zh-CN" dirty="0" err="1"/>
              <a:t>toArray</a:t>
            </a:r>
            <a:r>
              <a:rPr lang="en-US" altLang="zh-CN" dirty="0"/>
              <a:t>()</a:t>
            </a:r>
            <a:r>
              <a:rPr lang="zh-CN" altLang="en-US" dirty="0"/>
              <a:t>：将流转换成适当类型的数组。</a:t>
            </a:r>
            <a:endParaRPr lang="zh-CN" altLang="en-US" dirty="0"/>
          </a:p>
          <a:p>
            <a:pPr lvl="2"/>
            <a:r>
              <a:rPr lang="en-US" altLang="zh-CN" dirty="0" err="1"/>
              <a:t>toArray</a:t>
            </a:r>
            <a:r>
              <a:rPr lang="en-US" altLang="zh-CN" dirty="0"/>
              <a:t>(generator)</a:t>
            </a:r>
            <a:r>
              <a:rPr lang="zh-CN" altLang="en-US" dirty="0"/>
              <a:t>：在特殊情况下，生成自定义类型的数组。</a:t>
            </a:r>
            <a:endParaRPr lang="en-US" altLang="zh-CN" dirty="0"/>
          </a:p>
          <a:p>
            <a:pPr lvl="1"/>
            <a:r>
              <a:rPr lang="zh-CN" altLang="en-US" dirty="0"/>
              <a:t>循环</a:t>
            </a:r>
            <a:endParaRPr lang="zh-CN" altLang="en-US" dirty="0"/>
          </a:p>
          <a:p>
            <a:pPr lvl="2"/>
            <a:r>
              <a:rPr lang="en-US" altLang="zh-CN" dirty="0" err="1"/>
              <a:t>forEach</a:t>
            </a:r>
            <a:r>
              <a:rPr lang="en-US" altLang="zh-CN" dirty="0"/>
              <a:t>(Consumer)</a:t>
            </a:r>
            <a:r>
              <a:rPr lang="zh-CN" altLang="en-US" dirty="0"/>
              <a:t>常见如 </a:t>
            </a:r>
            <a:r>
              <a:rPr lang="en-US" altLang="zh-CN" dirty="0" err="1"/>
              <a:t>System.out</a:t>
            </a:r>
            <a:r>
              <a:rPr lang="en-US" altLang="zh-CN" dirty="0"/>
              <a:t>::</a:t>
            </a:r>
            <a:r>
              <a:rPr lang="en-US" altLang="zh-CN" dirty="0" err="1"/>
              <a:t>println</a:t>
            </a:r>
            <a:r>
              <a:rPr lang="en-US" altLang="zh-CN" dirty="0"/>
              <a:t> </a:t>
            </a:r>
            <a:r>
              <a:rPr lang="zh-CN" altLang="en-US" dirty="0"/>
              <a:t>作为 </a:t>
            </a:r>
            <a:r>
              <a:rPr lang="en-US" altLang="zh-CN" dirty="0"/>
              <a:t>Consumer </a:t>
            </a:r>
            <a:r>
              <a:rPr lang="zh-CN" altLang="en-US" dirty="0"/>
              <a:t>函数。</a:t>
            </a:r>
            <a:endParaRPr lang="zh-CN" altLang="en-US" dirty="0"/>
          </a:p>
          <a:p>
            <a:pPr lvl="2"/>
            <a:r>
              <a:rPr lang="en-US" altLang="zh-CN" dirty="0" err="1"/>
              <a:t>forEachOrdered</a:t>
            </a:r>
            <a:r>
              <a:rPr lang="en-US" altLang="zh-CN" dirty="0"/>
              <a:t>(Consumer)</a:t>
            </a:r>
            <a:r>
              <a:rPr lang="zh-CN" altLang="en-US" dirty="0"/>
              <a:t>： 保证 </a:t>
            </a:r>
            <a:r>
              <a:rPr lang="en-US" altLang="zh-CN" dirty="0" err="1"/>
              <a:t>forEach</a:t>
            </a:r>
            <a:r>
              <a:rPr lang="en-US" altLang="zh-CN" dirty="0"/>
              <a:t> </a:t>
            </a:r>
            <a:r>
              <a:rPr lang="zh-CN" altLang="en-US" dirty="0"/>
              <a:t>按照原始流顺序操作。</a:t>
            </a:r>
            <a:endParaRPr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CN" altLang="en-US" dirty="0"/>
              <a:t>收集操作</a:t>
            </a:r>
            <a:endParaRPr lang="en-US" altLang="zh-CN" dirty="0"/>
          </a:p>
          <a:p>
            <a:pPr lvl="2"/>
            <a:r>
              <a:rPr lang="en-US" altLang="zh-CN" dirty="0"/>
              <a:t>collect(Collector)</a:t>
            </a:r>
            <a:r>
              <a:rPr lang="zh-CN" altLang="en-US" dirty="0"/>
              <a:t>：使用 </a:t>
            </a:r>
            <a:r>
              <a:rPr lang="en-US" altLang="zh-CN" dirty="0"/>
              <a:t>Collector </a:t>
            </a:r>
            <a:r>
              <a:rPr lang="zh-CN" altLang="en-US" dirty="0"/>
              <a:t>收集流元素到结果集合中。</a:t>
            </a:r>
            <a:endParaRPr lang="zh-CN" altLang="en-US" dirty="0"/>
          </a:p>
          <a:p>
            <a:pPr lvl="2"/>
            <a:r>
              <a:rPr lang="en-US" altLang="zh-CN" dirty="0"/>
              <a:t>collect(Supplier, </a:t>
            </a:r>
            <a:r>
              <a:rPr lang="en-US" altLang="zh-CN" dirty="0" err="1"/>
              <a:t>BiConsumer</a:t>
            </a:r>
            <a:r>
              <a:rPr lang="en-US" altLang="zh-CN" dirty="0"/>
              <a:t>, </a:t>
            </a:r>
            <a:r>
              <a:rPr lang="en-US" altLang="zh-CN" dirty="0" err="1"/>
              <a:t>BiConsumer</a:t>
            </a:r>
            <a:r>
              <a:rPr lang="en-US" altLang="zh-CN" dirty="0"/>
              <a:t>)</a:t>
            </a:r>
            <a:r>
              <a:rPr lang="zh-CN" altLang="en-US" dirty="0"/>
              <a:t>：同上，第一个参数 </a:t>
            </a:r>
            <a:r>
              <a:rPr lang="en-US" altLang="zh-CN" dirty="0"/>
              <a:t>Supplier </a:t>
            </a:r>
            <a:r>
              <a:rPr lang="zh-CN" altLang="en-US" dirty="0"/>
              <a:t>创建了一个新结果集合，第二个参数 </a:t>
            </a:r>
            <a:r>
              <a:rPr lang="en-US" altLang="zh-CN" dirty="0" err="1"/>
              <a:t>BiConsumer</a:t>
            </a:r>
            <a:r>
              <a:rPr lang="en-US" altLang="zh-CN" dirty="0"/>
              <a:t> </a:t>
            </a:r>
            <a:r>
              <a:rPr lang="zh-CN" altLang="en-US" dirty="0"/>
              <a:t>将下一个元素包含到结果中，第三个参数 </a:t>
            </a:r>
            <a:r>
              <a:rPr lang="en-US" altLang="zh-CN" dirty="0" err="1"/>
              <a:t>BiConsumer</a:t>
            </a:r>
            <a:r>
              <a:rPr lang="en-US" altLang="zh-CN" dirty="0"/>
              <a:t> </a:t>
            </a:r>
            <a:r>
              <a:rPr lang="zh-CN" altLang="en-US" dirty="0"/>
              <a:t>用于将两个值组合起来。</a:t>
            </a:r>
            <a:endParaRPr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CN" altLang="en-US" dirty="0"/>
              <a:t>组合所有流元素</a:t>
            </a:r>
            <a:endParaRPr lang="zh-CN" altLang="en-US" dirty="0"/>
          </a:p>
          <a:p>
            <a:pPr lvl="2"/>
            <a:r>
              <a:rPr lang="en-US" altLang="zh-CN" dirty="0"/>
              <a:t>reduce(</a:t>
            </a:r>
            <a:r>
              <a:rPr lang="en-US" altLang="zh-CN" dirty="0" err="1"/>
              <a:t>BinaryOperator</a:t>
            </a:r>
            <a:r>
              <a:rPr lang="en-US" altLang="zh-CN" dirty="0"/>
              <a:t>)</a:t>
            </a:r>
            <a:r>
              <a:rPr lang="zh-CN" altLang="en-US" dirty="0"/>
              <a:t>：使用 </a:t>
            </a:r>
            <a:r>
              <a:rPr lang="en-US" altLang="zh-CN" dirty="0" err="1"/>
              <a:t>BinaryOperator</a:t>
            </a:r>
            <a:r>
              <a:rPr lang="en-US" altLang="zh-CN" dirty="0"/>
              <a:t> </a:t>
            </a:r>
            <a:r>
              <a:rPr lang="zh-CN" altLang="en-US" dirty="0"/>
              <a:t>来组合所有流中的元素。因为流可能为空，其返回值为 </a:t>
            </a:r>
            <a:r>
              <a:rPr lang="en-US" altLang="zh-CN" dirty="0"/>
              <a:t>Optional</a:t>
            </a:r>
            <a:r>
              <a:rPr lang="zh-CN" altLang="en-US" dirty="0"/>
              <a:t>。</a:t>
            </a:r>
            <a:endParaRPr lang="zh-CN" altLang="en-US" dirty="0"/>
          </a:p>
          <a:p>
            <a:pPr lvl="2"/>
            <a:r>
              <a:rPr lang="en-US" altLang="zh-CN" dirty="0"/>
              <a:t>reduce(identity, </a:t>
            </a:r>
            <a:r>
              <a:rPr lang="en-US" altLang="zh-CN" dirty="0" err="1"/>
              <a:t>BinaryOperator</a:t>
            </a:r>
            <a:r>
              <a:rPr lang="en-US" altLang="zh-CN" dirty="0"/>
              <a:t>)</a:t>
            </a:r>
            <a:r>
              <a:rPr lang="zh-CN" altLang="en-US" dirty="0"/>
              <a:t>：功能同上，但是使用 </a:t>
            </a:r>
            <a:r>
              <a:rPr lang="en-US" altLang="zh-CN" dirty="0"/>
              <a:t>identity </a:t>
            </a:r>
            <a:r>
              <a:rPr lang="zh-CN" altLang="en-US" dirty="0"/>
              <a:t>作为其组合的初始值。因此如果流为空，</a:t>
            </a:r>
            <a:r>
              <a:rPr lang="en-US" altLang="zh-CN" dirty="0"/>
              <a:t>identity </a:t>
            </a:r>
            <a:r>
              <a:rPr lang="zh-CN" altLang="en-US" dirty="0"/>
              <a:t>就是结果。</a:t>
            </a:r>
            <a:endParaRPr lang="zh-CN" altLang="en-US" dirty="0"/>
          </a:p>
          <a:p>
            <a:pPr lvl="2"/>
            <a:r>
              <a:rPr lang="en-US" altLang="zh-CN" dirty="0"/>
              <a:t>reduce(identity, </a:t>
            </a:r>
            <a:r>
              <a:rPr lang="en-US" altLang="zh-CN" dirty="0" err="1"/>
              <a:t>BiFunction</a:t>
            </a:r>
            <a:r>
              <a:rPr lang="en-US" altLang="zh-CN" dirty="0"/>
              <a:t>, </a:t>
            </a:r>
            <a:r>
              <a:rPr lang="en-US" altLang="zh-CN" dirty="0" err="1"/>
              <a:t>BinaryOperator</a:t>
            </a:r>
            <a:r>
              <a:rPr lang="en-US" altLang="zh-CN" dirty="0"/>
              <a:t>)</a:t>
            </a:r>
            <a:r>
              <a:rPr lang="zh-CN" altLang="en-US" dirty="0"/>
              <a:t>：更复杂的使用形式。</a:t>
            </a:r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CN" altLang="en-US" dirty="0"/>
              <a:t>匹配</a:t>
            </a:r>
            <a:endParaRPr lang="zh-CN" altLang="en-US" dirty="0"/>
          </a:p>
          <a:p>
            <a:pPr lvl="2"/>
            <a:r>
              <a:rPr lang="en-US" altLang="zh-CN" dirty="0" err="1"/>
              <a:t>allMatch</a:t>
            </a:r>
            <a:r>
              <a:rPr lang="en-US" altLang="zh-CN" dirty="0"/>
              <a:t>(Predicate) </a:t>
            </a:r>
            <a:r>
              <a:rPr lang="zh-CN" altLang="en-US" dirty="0"/>
              <a:t>：如果流的每个元素根据提供的 </a:t>
            </a:r>
            <a:r>
              <a:rPr lang="en-US" altLang="zh-CN" dirty="0"/>
              <a:t>Predicate </a:t>
            </a:r>
            <a:r>
              <a:rPr lang="zh-CN" altLang="en-US" dirty="0"/>
              <a:t>都返回 </a:t>
            </a:r>
            <a:r>
              <a:rPr lang="en-US" altLang="zh-CN" dirty="0"/>
              <a:t>true </a:t>
            </a:r>
            <a:r>
              <a:rPr lang="zh-CN" altLang="en-US" dirty="0"/>
              <a:t>时，结果返回为 </a:t>
            </a:r>
            <a:r>
              <a:rPr lang="en-US" altLang="zh-CN" dirty="0"/>
              <a:t>true</a:t>
            </a:r>
            <a:r>
              <a:rPr lang="zh-CN" altLang="en-US" dirty="0"/>
              <a:t>。在第一个 </a:t>
            </a:r>
            <a:r>
              <a:rPr lang="en-US" altLang="zh-CN" dirty="0"/>
              <a:t>false </a:t>
            </a:r>
            <a:r>
              <a:rPr lang="zh-CN" altLang="en-US" dirty="0"/>
              <a:t>时，则停止执行计算。</a:t>
            </a:r>
            <a:endParaRPr lang="zh-CN" altLang="en-US" dirty="0"/>
          </a:p>
          <a:p>
            <a:pPr lvl="2"/>
            <a:r>
              <a:rPr lang="en-US" altLang="zh-CN" dirty="0" err="1"/>
              <a:t>anyMatch</a:t>
            </a:r>
            <a:r>
              <a:rPr lang="en-US" altLang="zh-CN" dirty="0"/>
              <a:t>(Predicate)</a:t>
            </a:r>
            <a:r>
              <a:rPr lang="zh-CN" altLang="en-US" dirty="0"/>
              <a:t>：如果流中的任意一个元素根据提供的 </a:t>
            </a:r>
            <a:r>
              <a:rPr lang="en-US" altLang="zh-CN" dirty="0"/>
              <a:t>Predicate </a:t>
            </a:r>
            <a:r>
              <a:rPr lang="zh-CN" altLang="en-US" dirty="0"/>
              <a:t>返回 </a:t>
            </a:r>
            <a:r>
              <a:rPr lang="en-US" altLang="zh-CN" dirty="0"/>
              <a:t>true </a:t>
            </a:r>
            <a:r>
              <a:rPr lang="zh-CN" altLang="en-US" dirty="0"/>
              <a:t>时，结果返回为 </a:t>
            </a:r>
            <a:r>
              <a:rPr lang="en-US" altLang="zh-CN" dirty="0"/>
              <a:t>true</a:t>
            </a:r>
            <a:r>
              <a:rPr lang="zh-CN" altLang="en-US" dirty="0"/>
              <a:t>。在第一个 </a:t>
            </a:r>
            <a:r>
              <a:rPr lang="en-US" altLang="zh-CN" dirty="0"/>
              <a:t>false </a:t>
            </a:r>
            <a:r>
              <a:rPr lang="zh-CN" altLang="en-US" dirty="0"/>
              <a:t>是停止执行计算。</a:t>
            </a:r>
            <a:endParaRPr lang="zh-CN" altLang="en-US" dirty="0"/>
          </a:p>
          <a:p>
            <a:pPr lvl="2"/>
            <a:r>
              <a:rPr lang="en-US" altLang="zh-CN" dirty="0" err="1"/>
              <a:t>noneMatch</a:t>
            </a:r>
            <a:r>
              <a:rPr lang="en-US" altLang="zh-CN" dirty="0"/>
              <a:t>(Predicate)</a:t>
            </a:r>
            <a:r>
              <a:rPr lang="zh-CN" altLang="en-US" dirty="0"/>
              <a:t>：如果流的每个元素根据提供的 </a:t>
            </a:r>
            <a:r>
              <a:rPr lang="en-US" altLang="zh-CN" dirty="0"/>
              <a:t>Predicate </a:t>
            </a:r>
            <a:r>
              <a:rPr lang="zh-CN" altLang="en-US" dirty="0"/>
              <a:t>都返回 </a:t>
            </a:r>
            <a:r>
              <a:rPr lang="en-US" altLang="zh-CN" dirty="0"/>
              <a:t>false </a:t>
            </a:r>
            <a:r>
              <a:rPr lang="zh-CN" altLang="en-US" dirty="0"/>
              <a:t>时，结果返回为 </a:t>
            </a:r>
            <a:r>
              <a:rPr lang="en-US" altLang="zh-CN" dirty="0"/>
              <a:t>true</a:t>
            </a:r>
            <a:r>
              <a:rPr lang="zh-CN" altLang="en-US" dirty="0"/>
              <a:t>。在第一个 </a:t>
            </a:r>
            <a:r>
              <a:rPr lang="en-US" altLang="zh-CN" dirty="0"/>
              <a:t>true </a:t>
            </a:r>
            <a:r>
              <a:rPr lang="zh-CN" altLang="en-US" dirty="0"/>
              <a:t>时停止执行计算。</a:t>
            </a:r>
            <a:endParaRPr lang="zh-CN" alt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基本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基本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0</TotalTime>
  <Words>9120</Words>
  <Application>WPS 演示</Application>
  <PresentationFormat>全屏显示(4:3)</PresentationFormat>
  <Paragraphs>331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5" baseType="lpstr">
      <vt:lpstr>Arial</vt:lpstr>
      <vt:lpstr>宋体</vt:lpstr>
      <vt:lpstr>Wingdings</vt:lpstr>
      <vt:lpstr>华文宋体</vt:lpstr>
      <vt:lpstr>Arial Black</vt:lpstr>
      <vt:lpstr>微软雅黑</vt:lpstr>
      <vt:lpstr>汉仪旗黑</vt:lpstr>
      <vt:lpstr>黑体</vt:lpstr>
      <vt:lpstr>汉仪中黑KW</vt:lpstr>
      <vt:lpstr>微软雅黑</vt:lpstr>
      <vt:lpstr>宋体</vt:lpstr>
      <vt:lpstr>Arial Unicode MS</vt:lpstr>
      <vt:lpstr>Calibri</vt:lpstr>
      <vt:lpstr>Helvetica Neue</vt:lpstr>
      <vt:lpstr>汉仪书宋二KW</vt:lpstr>
      <vt:lpstr>基本</vt:lpstr>
      <vt:lpstr>Java 程序设计</vt:lpstr>
      <vt:lpstr>PowerPoint 演示文稿</vt:lpstr>
      <vt:lpstr>11 流式编程</vt:lpstr>
      <vt:lpstr>PowerPoint 演示文稿</vt:lpstr>
      <vt:lpstr>PowerPoint 演示文稿</vt:lpstr>
      <vt:lpstr>PowerPoint 演示文稿</vt:lpstr>
      <vt:lpstr>11.1 java8对流的支持</vt:lpstr>
      <vt:lpstr>PowerPoint 演示文稿</vt:lpstr>
      <vt:lpstr>11.2 流的创建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11.3 中间操作</vt:lpstr>
      <vt:lpstr>PowerPoint 演示文稿</vt:lpstr>
      <vt:lpstr>11.4 Optional类</vt:lpstr>
      <vt:lpstr>PowerPoint 演示文稿</vt:lpstr>
      <vt:lpstr>11.5 终结操作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面向对象程序设计----Java</dc:title>
  <dc:creator>hyq</dc:creator>
  <cp:lastModifiedBy>WPS_1667213079</cp:lastModifiedBy>
  <cp:revision>134</cp:revision>
  <dcterms:created xsi:type="dcterms:W3CDTF">2024-06-15T12:47:07Z</dcterms:created>
  <dcterms:modified xsi:type="dcterms:W3CDTF">2024-06-15T12:47:07Z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2052-6.5.1.8687</vt:lpwstr>
  </property>
  <property fmtid="{D5CDD505-2E9C-101B-9397-08002B2CF9AE}" pid="3" name="ICV">
    <vt:lpwstr>A17EFCC4B93C15EE4B8D6D6648C01127_43</vt:lpwstr>
  </property>
</Properties>
</file>