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82" r:id="rId3"/>
    <p:sldId id="257" r:id="rId4"/>
    <p:sldId id="258" r:id="rId5"/>
    <p:sldId id="259" r:id="rId6"/>
    <p:sldId id="260" r:id="rId7"/>
    <p:sldId id="283" r:id="rId8"/>
    <p:sldId id="261" r:id="rId9"/>
    <p:sldId id="284" r:id="rId10"/>
    <p:sldId id="285" r:id="rId11"/>
    <p:sldId id="286" r:id="rId12"/>
    <p:sldId id="287" r:id="rId13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9" r:id="rId22"/>
    <p:sldId id="295" r:id="rId23"/>
    <p:sldId id="329" r:id="rId24"/>
    <p:sldId id="297" r:id="rId25"/>
    <p:sldId id="298" r:id="rId26"/>
    <p:sldId id="296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 </a:t>
            </a:r>
            <a:r>
              <a:rPr lang="zh-CN" altLang="zh-CN" dirty="0"/>
              <a:t>集合</a:t>
            </a:r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Java 最初版本只为最常用的数据结构提供了很少的一组类：Vector、 Stack、 Hashtable、BitSet 与 Enumeration 接口， 其中的 Enumeration 接口提供了一种用于访问任意容器中各个元素的抽象机制。</a:t>
            </a:r>
            <a:endParaRPr lang="zh-CN" altLang="en-US" dirty="0"/>
          </a:p>
          <a:p>
            <a:r>
              <a:rPr lang="zh-CN" altLang="en-US" dirty="0"/>
              <a:t>随着 Java SE 1.2 的问世，设计人员感到是推出一组功能完善的数据结构的时机了。面对一大堆相互矛盾的设计策略，他们希望让类库规模小且易于学习， 而不希望像 C++ 的“ 标准模版库” （即 STL) 那样复杂，但却又希望能够得到 STL 率先推出的“ 泛型算法” 所具有的优点。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集合中把接口和实现分离开来。</a:t>
            </a:r>
            <a:endParaRPr lang="zh-CN" altLang="en-US" dirty="0"/>
          </a:p>
          <a:p>
            <a:r>
              <a:rPr lang="zh-CN" altLang="en-US" dirty="0"/>
              <a:t>例如，一个队列类，可以设计为接口和实现的分离：</a:t>
            </a:r>
            <a:endParaRPr lang="zh-CN" altLang="en-US" dirty="0"/>
          </a:p>
          <a:p>
            <a:pPr lvl="1"/>
            <a:r>
              <a:rPr lang="zh-CN" altLang="en-US" dirty="0"/>
              <a:t>利用</a:t>
            </a:r>
            <a:r>
              <a:rPr lang="en-US" altLang="zh-CN" dirty="0"/>
              <a:t>Queue</a:t>
            </a:r>
            <a:r>
              <a:rPr lang="zh-CN" altLang="en-US" dirty="0"/>
              <a:t>接口可以完成添加、删除元素，统计元素个数：</a:t>
            </a:r>
            <a:br>
              <a:rPr lang="zh-CN" altLang="en-US" dirty="0"/>
            </a:br>
            <a:r>
              <a:rPr lang="en-US" altLang="zh-CN" dirty="0"/>
              <a:t>public interface Queue&lt;E&gt;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	void add(E element);</a:t>
            </a:r>
            <a:br>
              <a:rPr lang="en-US" altLang="zh-CN" dirty="0"/>
            </a:br>
            <a:r>
              <a:rPr lang="en-US" altLang="zh-CN" dirty="0"/>
              <a:t>	E remove();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size();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而队列的具体实现可以用循环数组，也可以用链表。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520065" y="290830"/>
          <a:ext cx="63957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65"/>
                <a:gridCol w="799465"/>
                <a:gridCol w="799465"/>
                <a:gridCol w="799465"/>
                <a:gridCol w="799465"/>
                <a:gridCol w="799465"/>
                <a:gridCol w="799465"/>
                <a:gridCol w="79946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线形标注 1 5"/>
          <p:cNvSpPr/>
          <p:nvPr/>
        </p:nvSpPr>
        <p:spPr>
          <a:xfrm>
            <a:off x="1591945" y="1035050"/>
            <a:ext cx="792480" cy="360045"/>
          </a:xfrm>
          <a:prstGeom prst="borderCallout1">
            <a:avLst>
              <a:gd name="adj1" fmla="val 1940"/>
              <a:gd name="adj2" fmla="val 23157"/>
              <a:gd name="adj3" fmla="val -138095"/>
              <a:gd name="adj4" fmla="val -166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队尾</a:t>
            </a:r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373380" y="2496820"/>
            <a:ext cx="792480" cy="360045"/>
          </a:xfrm>
          <a:prstGeom prst="borderCallout1">
            <a:avLst>
              <a:gd name="adj1" fmla="val 99647"/>
              <a:gd name="adj2" fmla="val 56730"/>
              <a:gd name="adj3" fmla="val 226984"/>
              <a:gd name="adj4" fmla="val 1156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队头</a:t>
            </a:r>
            <a:endParaRPr lang="zh-CN" altLang="en-US"/>
          </a:p>
        </p:txBody>
      </p:sp>
      <p:graphicFrame>
        <p:nvGraphicFramePr>
          <p:cNvPr id="8" name="表格 7"/>
          <p:cNvGraphicFramePr/>
          <p:nvPr/>
        </p:nvGraphicFramePr>
        <p:xfrm>
          <a:off x="1371600" y="3048000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data1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next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1773555" y="4601210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data2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next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973195" y="2695575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data3</a:t>
                      </a:r>
                      <a:endParaRPr lang="en-US" altLang="zh-C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next</a:t>
                      </a:r>
                      <a:endParaRPr lang="en-US" altLang="zh-C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4034155" y="4846955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data6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next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5840730" y="3684270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data4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next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7249160" y="4654550"/>
          <a:ext cx="107505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data5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next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曲线连接符 13"/>
          <p:cNvCxnSpPr/>
          <p:nvPr/>
        </p:nvCxnSpPr>
        <p:spPr>
          <a:xfrm rot="5400000">
            <a:off x="1594485" y="3875405"/>
            <a:ext cx="946150" cy="464185"/>
          </a:xfrm>
          <a:prstGeom prst="curvedConnector3">
            <a:avLst>
              <a:gd name="adj1" fmla="val 5003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曲线连接符 14"/>
          <p:cNvCxnSpPr/>
          <p:nvPr/>
        </p:nvCxnSpPr>
        <p:spPr>
          <a:xfrm rot="16200000">
            <a:off x="2202815" y="3469005"/>
            <a:ext cx="2193925" cy="124841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/>
          <p:cNvCxnSpPr/>
          <p:nvPr/>
        </p:nvCxnSpPr>
        <p:spPr>
          <a:xfrm>
            <a:off x="4835525" y="3265170"/>
            <a:ext cx="960755" cy="595630"/>
          </a:xfrm>
          <a:prstGeom prst="curvedConnector3">
            <a:avLst>
              <a:gd name="adj1" fmla="val 500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/>
          <p:cNvCxnSpPr/>
          <p:nvPr/>
        </p:nvCxnSpPr>
        <p:spPr>
          <a:xfrm>
            <a:off x="6700520" y="4262120"/>
            <a:ext cx="535940" cy="462915"/>
          </a:xfrm>
          <a:prstGeom prst="curvedConnector3">
            <a:avLst>
              <a:gd name="adj1" fmla="val 5011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/>
          <p:nvPr/>
        </p:nvCxnSpPr>
        <p:spPr>
          <a:xfrm rot="10800000">
            <a:off x="5147945" y="5012690"/>
            <a:ext cx="2849880" cy="202565"/>
          </a:xfrm>
          <a:prstGeom prst="curvedConnector3">
            <a:avLst>
              <a:gd name="adj1" fmla="val 4997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线形标注 1 18"/>
          <p:cNvSpPr/>
          <p:nvPr/>
        </p:nvSpPr>
        <p:spPr>
          <a:xfrm>
            <a:off x="5347970" y="5803900"/>
            <a:ext cx="792480" cy="360045"/>
          </a:xfrm>
          <a:prstGeom prst="borderCallout1">
            <a:avLst>
              <a:gd name="adj1" fmla="val 1940"/>
              <a:gd name="adj2" fmla="val 23157"/>
              <a:gd name="adj3" fmla="val -138095"/>
              <a:gd name="adj4" fmla="val -166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队尾</a:t>
            </a:r>
            <a:endParaRPr lang="zh-CN" altLang="en-US"/>
          </a:p>
        </p:txBody>
      </p:sp>
      <p:sp>
        <p:nvSpPr>
          <p:cNvPr id="20" name="线形标注 1 19"/>
          <p:cNvSpPr/>
          <p:nvPr/>
        </p:nvSpPr>
        <p:spPr>
          <a:xfrm>
            <a:off x="3119120" y="1035050"/>
            <a:ext cx="792480" cy="360045"/>
          </a:xfrm>
          <a:prstGeom prst="borderCallout1">
            <a:avLst>
              <a:gd name="adj1" fmla="val 1940"/>
              <a:gd name="adj2" fmla="val 23157"/>
              <a:gd name="adj3" fmla="val -123809"/>
              <a:gd name="adj4" fmla="val 10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队头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271780" y="2204720"/>
            <a:ext cx="8404860" cy="12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091055" y="1650365"/>
            <a:ext cx="48247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class </a:t>
            </a:r>
            <a:r>
              <a:rPr lang="zh-CN" altLang="en-US" dirty="0">
                <a:solidFill>
                  <a:srgbClr val="FF0000"/>
                </a:solidFill>
              </a:rPr>
              <a:t>CircularArrayQueue</a:t>
            </a:r>
            <a:r>
              <a:rPr lang="zh-CN" altLang="en-US" dirty="0"/>
              <a:t> </a:t>
            </a:r>
            <a:r>
              <a:rPr lang="en-US" altLang="zh-CN" dirty="0"/>
              <a:t>implements Queue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23520" y="5795645"/>
            <a:ext cx="48247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class </a:t>
            </a:r>
            <a:r>
              <a:rPr lang="zh-CN" altLang="en-US">
                <a:solidFill>
                  <a:srgbClr val="FF0000"/>
                </a:solidFill>
              </a:rPr>
              <a:t>LinkedListQueue </a:t>
            </a:r>
            <a:r>
              <a:rPr lang="zh-CN" altLang="en-US"/>
              <a:t> </a:t>
            </a:r>
            <a:r>
              <a:rPr lang="en-US" altLang="zh-CN"/>
              <a:t>implements Queue</a:t>
            </a:r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065" y="568325"/>
            <a:ext cx="8393430" cy="5668645"/>
          </a:xfrm>
        </p:spPr>
        <p:txBody>
          <a:bodyPr/>
          <a:lstStyle/>
          <a:p>
            <a:pPr lvl="1"/>
            <a:r>
              <a:rPr lang="zh-CN" altLang="en-US" dirty="0"/>
              <a:t>可以定义</a:t>
            </a:r>
            <a:r>
              <a:rPr lang="en-US" altLang="zh-CN" dirty="0"/>
              <a:t>Queue</a:t>
            </a:r>
            <a:r>
              <a:rPr lang="zh-CN" altLang="en-US" dirty="0"/>
              <a:t>的变量，用于指向对列的引用。</a:t>
            </a:r>
            <a:endParaRPr lang="zh-CN" altLang="en-US" dirty="0"/>
          </a:p>
          <a:p>
            <a:pPr lvl="1"/>
            <a:r>
              <a:rPr lang="zh-CN" altLang="en-US" dirty="0"/>
              <a:t>如果需要一个循环数组队列， 就可以使用 </a:t>
            </a:r>
            <a:r>
              <a:rPr lang="en-US" altLang="zh-CN" dirty="0"/>
              <a:t>Circular</a:t>
            </a:r>
            <a:r>
              <a:rPr lang="zh-CN" altLang="en-US" dirty="0"/>
              <a:t>Array</a:t>
            </a:r>
            <a:r>
              <a:rPr lang="en-US" altLang="zh-CN" dirty="0"/>
              <a:t>Qu</a:t>
            </a:r>
            <a:r>
              <a:rPr lang="zh-CN" altLang="en-US" dirty="0"/>
              <a:t>eue 类。如果需要一个链表队列， 就直接使用 LinkedList</a:t>
            </a:r>
            <a:r>
              <a:rPr lang="en-US" altLang="zh-CN" dirty="0">
                <a:sym typeface="+mn-ea"/>
              </a:rPr>
              <a:t>Qu</a:t>
            </a:r>
            <a:r>
              <a:rPr lang="zh-CN" altLang="en-US" dirty="0">
                <a:sym typeface="+mn-ea"/>
              </a:rPr>
              <a:t>eue</a:t>
            </a:r>
            <a:r>
              <a:rPr lang="zh-CN" altLang="en-US" dirty="0"/>
              <a:t>类；</a:t>
            </a:r>
            <a:endParaRPr lang="zh-CN" altLang="en-US" dirty="0"/>
          </a:p>
          <a:p>
            <a:pPr lvl="1"/>
            <a:r>
              <a:rPr lang="zh-CN" altLang="en-US" dirty="0"/>
              <a:t>一旦改变了想法， 可以轻松地使用另外一种不同的实现。只需要对程序的一个地方做出修改， 即调用构造器的地方</a:t>
            </a:r>
            <a:r>
              <a:rPr lang="en-US" altLang="zh-CN" dirty="0"/>
              <a:t>: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Queue&lt;Employee&gt; </a:t>
            </a:r>
            <a:r>
              <a:rPr lang="en-US" altLang="zh-CN" dirty="0" err="1"/>
              <a:t>qe</a:t>
            </a:r>
            <a:r>
              <a:rPr lang="en-US" altLang="zh-CN" dirty="0"/>
              <a:t>= new </a:t>
            </a:r>
            <a:r>
              <a:rPr lang="en-US" altLang="zh-CN" dirty="0">
                <a:sym typeface="+mn-ea"/>
              </a:rPr>
              <a:t>Circular</a:t>
            </a:r>
            <a:r>
              <a:rPr lang="zh-CN" altLang="en-US" dirty="0">
                <a:sym typeface="+mn-ea"/>
              </a:rPr>
              <a:t>Array</a:t>
            </a:r>
            <a:r>
              <a:rPr lang="en-US" altLang="zh-CN" dirty="0">
                <a:sym typeface="+mn-ea"/>
              </a:rPr>
              <a:t>Qu</a:t>
            </a:r>
            <a:r>
              <a:rPr lang="zh-CN" altLang="en-US" dirty="0">
                <a:sym typeface="+mn-ea"/>
              </a:rPr>
              <a:t>eue</a:t>
            </a:r>
            <a:r>
              <a:rPr lang="en-US" altLang="zh-CN" dirty="0">
                <a:sym typeface="+mn-ea"/>
              </a:rPr>
              <a:t>&lt;&gt;(100);</a:t>
            </a:r>
            <a:endParaRPr lang="en-US" altLang="zh-CN" dirty="0">
              <a:sym typeface="+mn-ea"/>
            </a:endParaRPr>
          </a:p>
          <a:p>
            <a:pPr marL="274320" lvl="1" indent="0">
              <a:buNone/>
            </a:pPr>
            <a:r>
              <a:rPr lang="en-US" altLang="zh-CN" dirty="0" err="1">
                <a:sym typeface="+mn-ea"/>
              </a:rPr>
              <a:t>qe.add</a:t>
            </a:r>
            <a:r>
              <a:rPr lang="en-US" altLang="zh-CN" dirty="0">
                <a:sym typeface="+mn-ea"/>
              </a:rPr>
              <a:t>(new Employee(...));</a:t>
            </a:r>
            <a:endParaRPr lang="en-US" altLang="zh-CN" dirty="0">
              <a:sym typeface="+mn-ea"/>
            </a:endParaRPr>
          </a:p>
          <a:p>
            <a:pPr marL="274320" lvl="1" indent="0">
              <a:buNone/>
            </a:pPr>
            <a:r>
              <a:rPr lang="en-US" altLang="zh-CN" dirty="0">
                <a:sym typeface="+mn-ea"/>
              </a:rPr>
              <a:t>...</a:t>
            </a:r>
            <a:endParaRPr lang="en-US" altLang="zh-CN" dirty="0">
              <a:sym typeface="+mn-ea"/>
            </a:endParaRPr>
          </a:p>
          <a:p>
            <a:pPr marL="274320" lvl="1" indent="0">
              <a:buNone/>
            </a:pPr>
            <a:r>
              <a:rPr lang="en-US" altLang="zh-CN" dirty="0" err="1">
                <a:sym typeface="+mn-ea"/>
              </a:rPr>
              <a:t>qe</a:t>
            </a:r>
            <a:r>
              <a:rPr lang="en-US" altLang="zh-CN" dirty="0">
                <a:sym typeface="+mn-ea"/>
              </a:rPr>
              <a:t> = new </a:t>
            </a:r>
            <a:r>
              <a:rPr lang="zh-CN" altLang="en-US" dirty="0">
                <a:sym typeface="+mn-ea"/>
              </a:rPr>
              <a:t>LinkedList</a:t>
            </a:r>
            <a:r>
              <a:rPr lang="en-US" altLang="zh-CN" dirty="0">
                <a:sym typeface="+mn-ea"/>
              </a:rPr>
              <a:t>Qu</a:t>
            </a:r>
            <a:r>
              <a:rPr lang="zh-CN" altLang="en-US" dirty="0">
                <a:sym typeface="+mn-ea"/>
              </a:rPr>
              <a:t>eue</a:t>
            </a:r>
            <a:r>
              <a:rPr lang="en-US" altLang="zh-CN" dirty="0">
                <a:sym typeface="+mn-ea"/>
              </a:rPr>
              <a:t>&lt;&gt;();</a:t>
            </a:r>
            <a:endParaRPr lang="en-US" altLang="zh-CN" dirty="0">
              <a:sym typeface="+mn-ea"/>
            </a:endParaRPr>
          </a:p>
          <a:p>
            <a:pPr marL="0" lvl="1" indent="0"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qe.add</a:t>
            </a:r>
            <a:r>
              <a:rPr lang="en-US" altLang="zh-CN" dirty="0">
                <a:sym typeface="+mn-ea"/>
              </a:rPr>
              <a:t>(new Employee(...));</a:t>
            </a:r>
            <a:endParaRPr lang="en-US" altLang="zh-CN" dirty="0">
              <a:sym typeface="+mn-ea"/>
            </a:endParaRPr>
          </a:p>
          <a:p>
            <a:pPr marL="0" lvl="1" indent="0">
              <a:buNone/>
            </a:pPr>
            <a:r>
              <a:rPr lang="en-US" altLang="zh-CN" dirty="0">
                <a:sym typeface="+mn-ea"/>
              </a:rPr>
              <a:t>   ...</a:t>
            </a:r>
            <a:endParaRPr lang="en-US" altLang="zh-CN" dirty="0">
              <a:sym typeface="+mn-ea"/>
            </a:endParaRPr>
          </a:p>
          <a:p>
            <a:pPr marL="274320" lvl="1" indent="0">
              <a:buNone/>
            </a:pP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10.1 Collection</a:t>
            </a:r>
            <a:r>
              <a:rPr lang="zh-CN" altLang="en-US" dirty="0"/>
              <a:t>和</a:t>
            </a:r>
            <a:r>
              <a:rPr lang="en-US" altLang="zh-CN" dirty="0"/>
              <a:t>Map</a:t>
            </a:r>
            <a:r>
              <a:rPr lang="zh-CN" altLang="en-US" dirty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70" y="980440"/>
            <a:ext cx="8289925" cy="5256530"/>
          </a:xfrm>
        </p:spPr>
        <p:txBody>
          <a:bodyPr>
            <a:norm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集合类库采用</a:t>
            </a:r>
            <a:r>
              <a:rPr lang="en-US" altLang="zh-CN" dirty="0"/>
              <a:t>holding objects</a:t>
            </a:r>
            <a:r>
              <a:rPr lang="zh-CN" altLang="en-US" dirty="0"/>
              <a:t>的思想，即保存对象的方式，将其分为两个类库的基本接口：</a:t>
            </a:r>
            <a:endParaRPr lang="zh-CN" altLang="en-US" dirty="0"/>
          </a:p>
          <a:p>
            <a:pPr lvl="1"/>
            <a:r>
              <a:rPr lang="zh-CN" altLang="en-US" b="1" dirty="0"/>
              <a:t>集合（</a:t>
            </a:r>
            <a:r>
              <a:rPr lang="en-US" altLang="zh-CN" b="1" dirty="0"/>
              <a:t>Collection</a:t>
            </a:r>
            <a:r>
              <a:rPr lang="zh-CN" altLang="en-US" b="1" dirty="0"/>
              <a:t>）</a:t>
            </a:r>
            <a:r>
              <a:rPr lang="zh-CN" altLang="en-US" dirty="0"/>
              <a:t> ：一个独立元素的序列，这些元素都服从一条或多条规则。</a:t>
            </a:r>
            <a:r>
              <a:rPr lang="en-US" altLang="zh-CN" b="1" dirty="0"/>
              <a:t>List</a:t>
            </a:r>
            <a:r>
              <a:rPr lang="zh-CN" altLang="en-US" dirty="0"/>
              <a:t> 必须以插入的顺序保存元素， </a:t>
            </a:r>
            <a:r>
              <a:rPr lang="en-US" altLang="zh-CN" b="1" dirty="0"/>
              <a:t>Set</a:t>
            </a:r>
            <a:r>
              <a:rPr lang="zh-CN" altLang="en-US" dirty="0"/>
              <a:t> 不能包含重复元素， </a:t>
            </a:r>
            <a:r>
              <a:rPr lang="en-US" altLang="zh-CN" b="1" dirty="0"/>
              <a:t>Queue</a:t>
            </a:r>
            <a:r>
              <a:rPr lang="zh-CN" altLang="en-US" dirty="0"/>
              <a:t> 按照</a:t>
            </a:r>
            <a:r>
              <a:rPr lang="zh-CN" altLang="en-US" i="1" dirty="0"/>
              <a:t>排队规则</a:t>
            </a:r>
            <a:r>
              <a:rPr lang="zh-CN" altLang="en-US" dirty="0"/>
              <a:t>来确定对象产生的顺序（通常与它们被插入的顺序相同）。</a:t>
            </a:r>
            <a:endParaRPr lang="zh-CN" altLang="en-US" dirty="0"/>
          </a:p>
          <a:p>
            <a:pPr lvl="1"/>
            <a:r>
              <a:rPr lang="zh-CN" altLang="en-US" b="1" dirty="0"/>
              <a:t>映射（</a:t>
            </a:r>
            <a:r>
              <a:rPr lang="en-US" altLang="zh-CN" b="1" dirty="0"/>
              <a:t>Map</a:t>
            </a:r>
            <a:r>
              <a:rPr lang="zh-CN" altLang="en-US" b="1" dirty="0"/>
              <a:t>）</a:t>
            </a:r>
            <a:r>
              <a:rPr lang="zh-CN" altLang="en-US" dirty="0"/>
              <a:t>：一组成对的“键值对”对象，允许使用键来查找值。  </a:t>
            </a:r>
            <a:r>
              <a:rPr lang="en-US" altLang="zh-CN" b="1" dirty="0"/>
              <a:t>map</a:t>
            </a:r>
            <a:r>
              <a:rPr lang="zh-CN" altLang="en-US" dirty="0"/>
              <a:t> 允许使用一个对象来查找另一个对象，它也被称作</a:t>
            </a:r>
            <a:r>
              <a:rPr lang="zh-CN" altLang="en-US" i="1" dirty="0"/>
              <a:t>关联数组</a:t>
            </a:r>
            <a:r>
              <a:rPr lang="zh-CN" altLang="en-US" dirty="0"/>
              <a:t>（</a:t>
            </a:r>
            <a:r>
              <a:rPr lang="en-US" altLang="zh-CN" dirty="0"/>
              <a:t>associative array</a:t>
            </a:r>
            <a:r>
              <a:rPr lang="zh-CN" altLang="en-US" dirty="0"/>
              <a:t>），因为它将对象和其它对象关联在一起；或者称作</a:t>
            </a:r>
            <a:r>
              <a:rPr lang="zh-CN" altLang="en-US" i="1" dirty="0"/>
              <a:t>字典</a:t>
            </a:r>
            <a:r>
              <a:rPr lang="zh-CN" altLang="en-US" dirty="0"/>
              <a:t>（</a:t>
            </a:r>
            <a:r>
              <a:rPr lang="en-US" altLang="zh-CN" dirty="0"/>
              <a:t>dictionary</a:t>
            </a:r>
            <a:r>
              <a:rPr lang="zh-CN" altLang="en-US" dirty="0"/>
              <a:t>），因为可以使用一个键对象来查找值对象。</a:t>
            </a:r>
            <a:endParaRPr lang="zh-CN" altLang="en-US" dirty="0"/>
          </a:p>
          <a:p>
            <a:endParaRPr lang="en-US" altLang="zh-C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70" y="477000"/>
            <a:ext cx="8289925" cy="5759970"/>
          </a:xfrm>
        </p:spPr>
        <p:txBody>
          <a:bodyPr/>
          <a:lstStyle/>
          <a:p>
            <a:pPr marL="274320" lvl="1" indent="0">
              <a:buNone/>
            </a:pP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8000" y="1096067"/>
            <a:ext cx="172800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  <a:sym typeface="+mn-ea"/>
              </a:rPr>
              <a:t>Iterable&lt;E&gt;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903555" y="2417502"/>
            <a:ext cx="1732445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0000"/>
                </a:solidFill>
                <a:sym typeface="+mn-ea"/>
              </a:rPr>
              <a:t>Collection&lt;E&gt;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5" idx="0"/>
            <a:endCxn id="4" idx="2"/>
          </p:cNvCxnSpPr>
          <p:nvPr/>
        </p:nvCxnSpPr>
        <p:spPr>
          <a:xfrm flipV="1">
            <a:off x="2769778" y="1672012"/>
            <a:ext cx="2222" cy="7454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6398" y="4668443"/>
            <a:ext cx="129600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sym typeface="+mn-ea"/>
              </a:rPr>
              <a:t>List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&lt;E&gt;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037980" y="4688342"/>
            <a:ext cx="138202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sym typeface="+mn-ea"/>
              </a:rPr>
              <a:t>Set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&lt;E&gt;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669346" y="4687196"/>
            <a:ext cx="1361578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sym typeface="+mn-ea"/>
              </a:rPr>
              <a:t>Queue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&lt;E&gt;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769777" y="2984227"/>
            <a:ext cx="4445" cy="7454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89075" y="3729717"/>
            <a:ext cx="3222249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89075" y="3729717"/>
            <a:ext cx="0" cy="9281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0" idx="0"/>
          </p:cNvCxnSpPr>
          <p:nvPr/>
        </p:nvCxnSpPr>
        <p:spPr>
          <a:xfrm>
            <a:off x="2728990" y="3738937"/>
            <a:ext cx="0" cy="94940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12" idx="0"/>
          </p:cNvCxnSpPr>
          <p:nvPr/>
        </p:nvCxnSpPr>
        <p:spPr>
          <a:xfrm>
            <a:off x="4311324" y="3709140"/>
            <a:ext cx="38811" cy="9780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652000" y="2417502"/>
            <a:ext cx="172800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sym typeface="+mn-ea"/>
              </a:rPr>
              <a:t>Map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&lt;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V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&gt;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000" y="477000"/>
            <a:ext cx="8075240" cy="5904000"/>
          </a:xfrm>
        </p:spPr>
        <p:txBody>
          <a:bodyPr/>
          <a:lstStyle/>
          <a:p>
            <a:r>
              <a:rPr lang="zh-CN" altLang="en-US" dirty="0"/>
              <a:t>在理想情况下，我们编写的大部分代码都在与这些接口打交道，并且唯一需要指定所使用的精确类型的地方就是在对象创建的时候：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List&lt;Apple&gt; apples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lvl="1"/>
            <a:r>
              <a:rPr lang="zh-CN" altLang="en-US" dirty="0"/>
              <a:t>如果想要改变具体实现，只需在创建时修改它：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List&lt;Apple&gt; apples = new </a:t>
            </a:r>
            <a:r>
              <a:rPr lang="en-US" altLang="zh-CN" dirty="0" err="1"/>
              <a:t>LinkedList</a:t>
            </a:r>
            <a:r>
              <a:rPr lang="en-US" altLang="zh-CN" dirty="0"/>
              <a:t>&lt;&gt;();</a:t>
            </a:r>
            <a:endParaRPr lang="en-US" altLang="zh-CN" dirty="0"/>
          </a:p>
          <a:p>
            <a:r>
              <a:rPr lang="zh-CN" altLang="en-US" dirty="0"/>
              <a:t>应该创建一个具体类的对象，将其向上转型为对应的接口，然后在其余代码中都是用这个接口。</a:t>
            </a:r>
            <a:endParaRPr lang="zh-CN" altLang="en-US" dirty="0"/>
          </a:p>
          <a:p>
            <a:r>
              <a:rPr lang="zh-CN" altLang="en-US" dirty="0"/>
              <a:t>这种方式并非总是有效的，因为某些具体类有额外的功能。例如， </a:t>
            </a:r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具有 </a:t>
            </a:r>
            <a:r>
              <a:rPr lang="en-US" altLang="zh-CN" dirty="0"/>
              <a:t>List </a:t>
            </a:r>
            <a:r>
              <a:rPr lang="zh-CN" altLang="en-US" dirty="0"/>
              <a:t>接口中未包含的额外方法，而 </a:t>
            </a:r>
            <a:r>
              <a:rPr lang="en-US" altLang="zh-CN" dirty="0" err="1"/>
              <a:t>TreeMap</a:t>
            </a:r>
            <a:r>
              <a:rPr lang="en-US" altLang="zh-CN" dirty="0"/>
              <a:t> </a:t>
            </a:r>
            <a:r>
              <a:rPr lang="zh-CN" altLang="en-US" dirty="0"/>
              <a:t>也具有在 </a:t>
            </a:r>
            <a:r>
              <a:rPr lang="en-US" altLang="zh-CN" dirty="0"/>
              <a:t>Map </a:t>
            </a:r>
            <a:r>
              <a:rPr lang="zh-CN" altLang="en-US" dirty="0"/>
              <a:t>接口中未包含的方法。如果需要使用这些方法，就不能将它们向上转型为更通用的接口。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例子：用 </a:t>
            </a:r>
            <a:r>
              <a:rPr lang="en-US" altLang="zh-CN" dirty="0"/>
              <a:t>Integer </a:t>
            </a:r>
            <a:r>
              <a:rPr lang="zh-CN" altLang="en-US" dirty="0"/>
              <a:t>对象填充一个 </a:t>
            </a:r>
            <a:r>
              <a:rPr lang="en-US" altLang="zh-CN" dirty="0"/>
              <a:t>Collection </a:t>
            </a:r>
            <a:r>
              <a:rPr lang="zh-CN" altLang="en-US" dirty="0"/>
              <a:t>（这里用 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表示），然后打印集合中的每个元素：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SimpleCollection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Collection&lt;Integer&gt; c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>
                <a:solidFill>
                  <a:srgbClr val="FF0000"/>
                </a:solidFill>
              </a:rPr>
              <a:t>c.add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使用</a:t>
            </a:r>
            <a:r>
              <a:rPr lang="en-US" altLang="zh-CN" dirty="0" err="1">
                <a:solidFill>
                  <a:srgbClr val="00B050"/>
                </a:solidFill>
              </a:rPr>
              <a:t>Collection.add</a:t>
            </a:r>
            <a:r>
              <a:rPr lang="en-US" altLang="zh-CN" dirty="0">
                <a:solidFill>
                  <a:srgbClr val="00B050"/>
                </a:solidFill>
              </a:rPr>
              <a:t>()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for(Integer </a:t>
            </a:r>
            <a:r>
              <a:rPr lang="en-US" altLang="zh-CN" dirty="0" err="1"/>
              <a:t>i</a:t>
            </a:r>
            <a:r>
              <a:rPr lang="en-US" altLang="zh-CN" dirty="0"/>
              <a:t> : c)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+ ",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注意：</a:t>
            </a:r>
            <a:r>
              <a:rPr lang="en-US" altLang="zh-CN" dirty="0"/>
              <a:t>add</a:t>
            </a:r>
            <a:r>
              <a:rPr lang="zh-CN" altLang="en-US" dirty="0"/>
              <a:t>方法对于</a:t>
            </a:r>
            <a:r>
              <a:rPr lang="en-US" altLang="zh-CN" dirty="0"/>
              <a:t>List</a:t>
            </a:r>
            <a:r>
              <a:rPr lang="zh-CN" altLang="en-US" dirty="0"/>
              <a:t>来说，总是会添加元素，但对于</a:t>
            </a:r>
            <a:r>
              <a:rPr lang="en-US" altLang="zh-CN" dirty="0"/>
              <a:t>set</a:t>
            </a:r>
            <a:r>
              <a:rPr lang="zh-CN" altLang="en-US" dirty="0"/>
              <a:t>来说要保证集合中没有的元素才会添加。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</a:t>
            </a:r>
            <a:r>
              <a:rPr lang="zh-CN" altLang="en-US" dirty="0"/>
              <a:t>添加元素组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/>
              <a:t>java.util</a:t>
            </a:r>
            <a:r>
              <a:rPr lang="en-US" altLang="zh-CN" dirty="0"/>
              <a:t> </a:t>
            </a:r>
            <a:r>
              <a:rPr lang="zh-CN" altLang="en-US" dirty="0"/>
              <a:t>包中的 </a:t>
            </a:r>
            <a:r>
              <a:rPr lang="en-US" altLang="zh-CN" dirty="0"/>
              <a:t>Arrays </a:t>
            </a:r>
            <a:r>
              <a:rPr lang="zh-CN" altLang="en-US" dirty="0"/>
              <a:t>和 </a:t>
            </a:r>
            <a:r>
              <a:rPr lang="en-US" altLang="zh-CN" dirty="0"/>
              <a:t>Collections </a:t>
            </a:r>
            <a:r>
              <a:rPr lang="zh-CN" altLang="en-US" dirty="0"/>
              <a:t>类中有很多实用的方法，可以在一个 </a:t>
            </a:r>
            <a:r>
              <a:rPr lang="en-US" altLang="zh-CN" dirty="0"/>
              <a:t>Collection </a:t>
            </a:r>
            <a:r>
              <a:rPr lang="zh-CN" altLang="en-US" dirty="0"/>
              <a:t>中添加一组元素。</a:t>
            </a:r>
            <a:endParaRPr lang="en-US" altLang="zh-CN" dirty="0"/>
          </a:p>
          <a:p>
            <a:pPr lvl="1"/>
            <a:r>
              <a:rPr lang="en-US" altLang="zh-CN" dirty="0" err="1"/>
              <a:t>Arrays.asList</a:t>
            </a:r>
            <a:r>
              <a:rPr lang="en-US" altLang="zh-CN" dirty="0"/>
              <a:t>() </a:t>
            </a:r>
            <a:r>
              <a:rPr lang="zh-CN" altLang="en-US" dirty="0"/>
              <a:t>方法接受一个数组或是逗号分隔的元素列表（使用可变参数），并将其转换为 </a:t>
            </a:r>
            <a:r>
              <a:rPr lang="en-US" altLang="zh-CN" dirty="0"/>
              <a:t>List </a:t>
            </a:r>
            <a:r>
              <a:rPr lang="zh-CN" altLang="en-US" dirty="0"/>
              <a:t>对象。 </a:t>
            </a:r>
            <a:endParaRPr lang="en-US" altLang="zh-CN" dirty="0"/>
          </a:p>
          <a:p>
            <a:pPr lvl="1"/>
            <a:r>
              <a:rPr lang="en-US" altLang="zh-CN" dirty="0" err="1"/>
              <a:t>Collections.addAll</a:t>
            </a:r>
            <a:r>
              <a:rPr lang="en-US" altLang="zh-CN" dirty="0"/>
              <a:t>() </a:t>
            </a:r>
            <a:r>
              <a:rPr lang="zh-CN" altLang="en-US" dirty="0"/>
              <a:t>方法接受一个 </a:t>
            </a:r>
            <a:r>
              <a:rPr lang="en-US" altLang="zh-CN" dirty="0"/>
              <a:t>Collection </a:t>
            </a:r>
            <a:r>
              <a:rPr lang="zh-CN" altLang="en-US" dirty="0"/>
              <a:t>对象，以及一个数组或是一个逗号分隔的列表，将其中元素添加到 </a:t>
            </a:r>
            <a:r>
              <a:rPr lang="en-US" altLang="zh-CN" dirty="0"/>
              <a:t>Collection </a:t>
            </a:r>
            <a:r>
              <a:rPr lang="zh-CN" altLang="en-US" dirty="0"/>
              <a:t>中。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>
            <a:normAutofit fontScale="775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AddingGroups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Collection&lt;Integer&gt; collection =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</a:t>
            </a:r>
            <a:r>
              <a:rPr lang="en-US" altLang="zh-CN" dirty="0" err="1"/>
              <a:t>Arrays.asList</a:t>
            </a:r>
            <a:r>
              <a:rPr lang="en-US" altLang="zh-CN" dirty="0"/>
              <a:t>(1, 2, 3, 4, 5));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Integer[] </a:t>
            </a:r>
            <a:r>
              <a:rPr lang="en-US" altLang="zh-CN" dirty="0" err="1"/>
              <a:t>moreInts</a:t>
            </a:r>
            <a:r>
              <a:rPr lang="en-US" altLang="zh-CN" dirty="0"/>
              <a:t> = { 6, 7, 8, 9, 10 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collection.addAll</a:t>
            </a:r>
            <a:r>
              <a:rPr lang="en-US" altLang="zh-CN" dirty="0"/>
              <a:t>(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r>
              <a:rPr lang="en-US" altLang="zh-CN" dirty="0" err="1"/>
              <a:t>moreInts</a:t>
            </a:r>
            <a:r>
              <a:rPr lang="en-US" altLang="zh-CN" dirty="0"/>
              <a:t>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// Runs significantly faster, but you can't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// construct a Collection this way: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Collections.addAll</a:t>
            </a:r>
            <a:r>
              <a:rPr lang="en-US" altLang="zh-CN" dirty="0"/>
              <a:t>(collection, 11, 12, 13, 14, 15);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Collections.addAll</a:t>
            </a:r>
            <a:r>
              <a:rPr lang="en-US" altLang="zh-CN" dirty="0"/>
              <a:t>(collection, </a:t>
            </a:r>
            <a:r>
              <a:rPr lang="en-US" altLang="zh-CN" dirty="0" err="1"/>
              <a:t>moreInts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Arrays.asList</a:t>
            </a:r>
            <a:r>
              <a:rPr lang="en-US" altLang="zh-CN" dirty="0">
                <a:solidFill>
                  <a:srgbClr val="00B050"/>
                </a:solidFill>
              </a:rPr>
              <a:t>() </a:t>
            </a:r>
            <a:r>
              <a:rPr lang="zh-CN" altLang="en-US" dirty="0">
                <a:solidFill>
                  <a:srgbClr val="00B050"/>
                </a:solidFill>
              </a:rPr>
              <a:t>的输出可以作为一个 </a:t>
            </a:r>
            <a:r>
              <a:rPr lang="en-US" altLang="zh-CN" dirty="0">
                <a:solidFill>
                  <a:srgbClr val="00B050"/>
                </a:solidFill>
              </a:rPr>
              <a:t>List </a:t>
            </a:r>
            <a:r>
              <a:rPr lang="zh-CN" altLang="en-US" dirty="0">
                <a:solidFill>
                  <a:srgbClr val="00B050"/>
                </a:solidFill>
              </a:rPr>
              <a:t>，但是这里的底层实现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//</a:t>
            </a:r>
            <a:r>
              <a:rPr lang="zh-CN" altLang="en-US" dirty="0">
                <a:solidFill>
                  <a:srgbClr val="00B050"/>
                </a:solidFill>
              </a:rPr>
              <a:t>是数组，不能调整大小</a:t>
            </a:r>
            <a:r>
              <a:rPr lang="en-US" altLang="zh-CN" dirty="0">
                <a:solidFill>
                  <a:srgbClr val="00B050"/>
                </a:solidFill>
              </a:rPr>
              <a:t>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List&lt;Integer&gt; list = </a:t>
            </a:r>
            <a:r>
              <a:rPr lang="en-US" altLang="zh-CN" dirty="0" err="1"/>
              <a:t>Arrays.asList</a:t>
            </a:r>
            <a:r>
              <a:rPr lang="en-US" altLang="zh-CN" dirty="0"/>
              <a:t>(16,17,18,19,20);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list.set</a:t>
            </a:r>
            <a:r>
              <a:rPr lang="en-US" altLang="zh-CN" dirty="0"/>
              <a:t>(1, 99); </a:t>
            </a:r>
            <a:r>
              <a:rPr lang="en-US" altLang="zh-CN" dirty="0">
                <a:solidFill>
                  <a:srgbClr val="00B050"/>
                </a:solidFill>
              </a:rPr>
              <a:t>// OK -- modify an element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list.add</a:t>
            </a:r>
            <a:r>
              <a:rPr lang="en-US" altLang="zh-CN" dirty="0">
                <a:solidFill>
                  <a:srgbClr val="00B050"/>
                </a:solidFill>
              </a:rPr>
              <a:t>(21); // Runtime error; the underlying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                // array cannot be resized.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</a:t>
            </a:r>
            <a:r>
              <a:rPr lang="zh-CN" altLang="en-US" dirty="0"/>
              <a:t>集合打印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数组的打印需调用</a:t>
            </a:r>
            <a:r>
              <a:rPr lang="en-US" altLang="zh-CN" dirty="0" err="1"/>
              <a:t>Arrays.toString</a:t>
            </a:r>
            <a:r>
              <a:rPr lang="en-US" altLang="zh-CN" dirty="0"/>
              <a:t>()</a:t>
            </a:r>
            <a:r>
              <a:rPr lang="zh-CN" altLang="en-US" dirty="0"/>
              <a:t>，如</a:t>
            </a:r>
            <a:r>
              <a:rPr lang="en-US" altLang="zh-CN" dirty="0"/>
              <a:t>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ia</a:t>
            </a:r>
            <a:r>
              <a:rPr lang="en-US" altLang="zh-CN" dirty="0"/>
              <a:t>={1,2,3,4,5};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Arrays.toString</a:t>
            </a:r>
            <a:r>
              <a:rPr lang="en-US" altLang="zh-CN" dirty="0"/>
              <a:t>(</a:t>
            </a:r>
            <a:r>
              <a:rPr lang="en-US" altLang="zh-CN" dirty="0" err="1"/>
              <a:t>ia</a:t>
            </a:r>
            <a:r>
              <a:rPr lang="en-US" altLang="zh-CN" dirty="0"/>
              <a:t>));</a:t>
            </a:r>
            <a:endParaRPr lang="en-US" altLang="zh-CN" dirty="0"/>
          </a:p>
          <a:p>
            <a:r>
              <a:rPr lang="zh-CN" altLang="en-US" dirty="0"/>
              <a:t>打印集合无需任何帮助。这个例子中介绍了基本的</a:t>
            </a:r>
            <a:r>
              <a:rPr lang="en-US" altLang="zh-CN" dirty="0"/>
              <a:t>Java</a:t>
            </a:r>
            <a:r>
              <a:rPr lang="zh-CN" altLang="en-US" dirty="0"/>
              <a:t>集合：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PrintingCollections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static Collection fill(</a:t>
            </a:r>
            <a:r>
              <a:rPr lang="en-US" altLang="zh-CN" dirty="0">
                <a:solidFill>
                  <a:srgbClr val="FF0000"/>
                </a:solidFill>
              </a:rPr>
              <a:t>Collection&lt;String&gt; </a:t>
            </a:r>
            <a:r>
              <a:rPr lang="en-US" altLang="zh-CN" dirty="0"/>
              <a:t>collection)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collection.add</a:t>
            </a:r>
            <a:r>
              <a:rPr lang="en-US" altLang="zh-CN" dirty="0"/>
              <a:t>("rat");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collection.add</a:t>
            </a:r>
            <a:r>
              <a:rPr lang="en-US" altLang="zh-CN" dirty="0"/>
              <a:t>("cat");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collection.add</a:t>
            </a:r>
            <a:r>
              <a:rPr lang="en-US" altLang="zh-CN" dirty="0"/>
              <a:t>("dog");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collection.add</a:t>
            </a:r>
            <a:r>
              <a:rPr lang="en-US" altLang="zh-CN" dirty="0"/>
              <a:t>("dog");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return collection;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9000"/>
            <a:ext cx="8075240" cy="6480000"/>
          </a:xfrm>
        </p:spPr>
        <p:txBody>
          <a:bodyPr>
            <a:normAutofit fontScale="925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 static Map fill(</a:t>
            </a:r>
            <a:r>
              <a:rPr lang="en-US" altLang="zh-CN" dirty="0">
                <a:solidFill>
                  <a:srgbClr val="FF0000"/>
                </a:solidFill>
              </a:rPr>
              <a:t>Map&lt;String, String&gt; </a:t>
            </a:r>
            <a:r>
              <a:rPr lang="en-US" altLang="zh-CN" dirty="0"/>
              <a:t>map)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map.put</a:t>
            </a:r>
            <a:r>
              <a:rPr lang="en-US" altLang="zh-CN" dirty="0"/>
              <a:t>("rat", "Fuzzy");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map.put</a:t>
            </a:r>
            <a:r>
              <a:rPr lang="en-US" altLang="zh-CN" dirty="0"/>
              <a:t>("cat", "Rags");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map.put</a:t>
            </a:r>
            <a:r>
              <a:rPr lang="en-US" altLang="zh-CN" dirty="0"/>
              <a:t>("dog", "Bosco");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map.put</a:t>
            </a:r>
            <a:r>
              <a:rPr lang="en-US" altLang="zh-CN" dirty="0"/>
              <a:t>("dog", "Spot");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return map;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LinkedList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HashSet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TreeSet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LinkedHashSet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HashMap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TreeMap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(fill(new </a:t>
            </a:r>
            <a:r>
              <a:rPr lang="en-US" altLang="zh-CN" dirty="0" err="1"/>
              <a:t>LinkedHashMap</a:t>
            </a:r>
            <a:r>
              <a:rPr lang="en-US" altLang="zh-CN" dirty="0"/>
              <a:t>&lt;&gt;()));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打印结果如下：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[rat, cat, dog, dog]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[rat, cat, dog, dog]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[rat, cat, dog]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[cat, dog, rat]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[rat, cat, dog]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{rat=Fuzzy, cat=Rags, dog=Spot}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键在左边，值在右边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{cat=Rags, dog=Spot, rat=Fuzzy}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{rat=Fuzzy, cat=Rags, dog=Spot}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000"/>
            <a:ext cx="8075240" cy="5904312"/>
          </a:xfrm>
        </p:spPr>
        <p:txBody>
          <a:bodyPr/>
          <a:lstStyle/>
          <a:p>
            <a:r>
              <a:rPr lang="zh-CN" altLang="en-US" dirty="0"/>
              <a:t>结果解读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都按插入顺序保存元素。两者之间的区别不仅在于执行某些类型的操作时的性能，而且 </a:t>
            </a:r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包含的操作多于 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 err="1"/>
              <a:t>HashSet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 err="1"/>
              <a:t>TreeSet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LinkedHashSet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Set </a:t>
            </a:r>
            <a:r>
              <a:rPr lang="zh-CN" altLang="en-US" dirty="0"/>
              <a:t>的类型。</a:t>
            </a:r>
            <a:r>
              <a:rPr lang="en-US" altLang="zh-CN" dirty="0"/>
              <a:t>Set </a:t>
            </a:r>
            <a:r>
              <a:rPr lang="zh-CN" altLang="en-US" dirty="0"/>
              <a:t>仅保存每个相同项中的一个，并且不同的 </a:t>
            </a:r>
            <a:r>
              <a:rPr lang="en-US" altLang="zh-CN" dirty="0"/>
              <a:t>Set </a:t>
            </a:r>
            <a:r>
              <a:rPr lang="zh-CN" altLang="en-US" dirty="0"/>
              <a:t>实现存储元素的方式也不同。</a:t>
            </a:r>
            <a:endParaRPr lang="en-US" altLang="zh-CN" dirty="0"/>
          </a:p>
          <a:p>
            <a:pPr lvl="2"/>
            <a:r>
              <a:rPr lang="en-US" altLang="zh-CN" dirty="0" err="1"/>
              <a:t>HashSet</a:t>
            </a:r>
            <a:r>
              <a:rPr lang="en-US" altLang="zh-CN" dirty="0"/>
              <a:t> </a:t>
            </a:r>
            <a:r>
              <a:rPr lang="zh-CN" altLang="en-US" dirty="0"/>
              <a:t>使用相当复杂的方法存储元素，检索元素最快，存储顺序没有意义（通常只关心某事物是否是 </a:t>
            </a:r>
            <a:r>
              <a:rPr lang="en-US" altLang="zh-CN" dirty="0"/>
              <a:t>Set </a:t>
            </a:r>
            <a:r>
              <a:rPr lang="zh-CN" altLang="en-US" dirty="0"/>
              <a:t>的成员，而存储顺序并不重要）。</a:t>
            </a:r>
            <a:endParaRPr lang="en-US" altLang="zh-CN" dirty="0"/>
          </a:p>
          <a:p>
            <a:pPr lvl="2"/>
            <a:r>
              <a:rPr lang="en-US" altLang="zh-CN" dirty="0" err="1"/>
              <a:t>TreeSet</a:t>
            </a:r>
            <a:r>
              <a:rPr lang="en-US" altLang="zh-CN" dirty="0"/>
              <a:t> </a:t>
            </a:r>
            <a:r>
              <a:rPr lang="zh-CN" altLang="en-US" dirty="0"/>
              <a:t>按比较结果的升序保存对象。</a:t>
            </a:r>
            <a:endParaRPr lang="en-US" altLang="zh-CN" dirty="0"/>
          </a:p>
          <a:p>
            <a:pPr lvl="2"/>
            <a:r>
              <a:rPr lang="zh-CN" altLang="en-US" dirty="0"/>
              <a:t> </a:t>
            </a:r>
            <a:r>
              <a:rPr lang="en-US" altLang="zh-CN" dirty="0" err="1"/>
              <a:t>LinkedHashSet</a:t>
            </a:r>
            <a:r>
              <a:rPr lang="en-US" altLang="zh-CN" dirty="0"/>
              <a:t> </a:t>
            </a:r>
            <a:r>
              <a:rPr lang="zh-CN" altLang="en-US" dirty="0"/>
              <a:t>按照被添加的先后顺序保存对象。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pPr lvl="1"/>
            <a:r>
              <a:rPr lang="en-US" altLang="zh-CN" dirty="0"/>
              <a:t>Map </a:t>
            </a:r>
            <a:r>
              <a:rPr lang="zh-CN" altLang="en-US" dirty="0"/>
              <a:t>（也称为关联数组）使用键来查找对象，所关联的对象称为值。</a:t>
            </a:r>
            <a:endParaRPr lang="en-US" altLang="zh-CN" dirty="0"/>
          </a:p>
          <a:p>
            <a:pPr lvl="1"/>
            <a:r>
              <a:rPr lang="zh-CN" altLang="en-US" dirty="0"/>
              <a:t>每个键</a:t>
            </a:r>
            <a:r>
              <a:rPr lang="en-US" altLang="zh-CN" dirty="0"/>
              <a:t>Map </a:t>
            </a:r>
            <a:r>
              <a:rPr lang="zh-CN" altLang="en-US" dirty="0"/>
              <a:t>只存储一次。</a:t>
            </a:r>
            <a:endParaRPr lang="en-US" altLang="zh-CN" dirty="0"/>
          </a:p>
          <a:p>
            <a:pPr lvl="1"/>
            <a:r>
              <a:rPr lang="en-US" altLang="zh-CN" dirty="0" err="1"/>
              <a:t>Map.put</a:t>
            </a:r>
            <a:r>
              <a:rPr lang="en-US" altLang="zh-CN" dirty="0"/>
              <a:t>(key, value) </a:t>
            </a:r>
            <a:r>
              <a:rPr lang="zh-CN" altLang="en-US" dirty="0"/>
              <a:t>添加一个想要添加的值并将它与一个键（用来查找值）相关联。 </a:t>
            </a:r>
            <a:r>
              <a:rPr lang="en-US" altLang="zh-CN" dirty="0" err="1"/>
              <a:t>Map.get</a:t>
            </a:r>
            <a:r>
              <a:rPr lang="en-US" altLang="zh-CN" dirty="0"/>
              <a:t>(key) </a:t>
            </a:r>
            <a:r>
              <a:rPr lang="zh-CN" altLang="en-US" dirty="0"/>
              <a:t>返回与该键相关联的值。</a:t>
            </a:r>
            <a:endParaRPr lang="en-US" altLang="zh-CN" dirty="0"/>
          </a:p>
          <a:p>
            <a:pPr lvl="2"/>
            <a:r>
              <a:rPr lang="zh-CN" altLang="en-US" dirty="0"/>
              <a:t>键和值保存在 </a:t>
            </a:r>
            <a:r>
              <a:rPr lang="en-US" altLang="zh-CN" dirty="0" err="1"/>
              <a:t>HashMap</a:t>
            </a:r>
            <a:r>
              <a:rPr lang="en-US" altLang="zh-CN" dirty="0"/>
              <a:t> </a:t>
            </a:r>
            <a:r>
              <a:rPr lang="zh-CN" altLang="en-US" dirty="0"/>
              <a:t>中的顺序不是插入顺序，因为 </a:t>
            </a:r>
            <a:r>
              <a:rPr lang="en-US" altLang="zh-CN" dirty="0" err="1"/>
              <a:t>HashMap</a:t>
            </a:r>
            <a:r>
              <a:rPr lang="en-US" altLang="zh-CN" dirty="0"/>
              <a:t> </a:t>
            </a:r>
            <a:r>
              <a:rPr lang="zh-CN" altLang="en-US" dirty="0"/>
              <a:t>实现使用了非常快速的算法来控制顺序。 </a:t>
            </a:r>
            <a:endParaRPr lang="en-US" altLang="zh-CN" dirty="0"/>
          </a:p>
          <a:p>
            <a:pPr lvl="2"/>
            <a:r>
              <a:rPr lang="en-US" altLang="zh-CN" dirty="0" err="1"/>
              <a:t>TreeMap</a:t>
            </a:r>
            <a:r>
              <a:rPr lang="en-US" altLang="zh-CN" dirty="0"/>
              <a:t> </a:t>
            </a:r>
            <a:r>
              <a:rPr lang="zh-CN" altLang="en-US" dirty="0"/>
              <a:t>通过比较结果的升序来保存键。</a:t>
            </a:r>
            <a:endParaRPr lang="en-US" altLang="zh-CN" dirty="0"/>
          </a:p>
          <a:p>
            <a:pPr lvl="2"/>
            <a:r>
              <a:rPr lang="zh-CN" altLang="en-US" dirty="0"/>
              <a:t> </a:t>
            </a:r>
            <a:r>
              <a:rPr lang="en-US" altLang="zh-CN" dirty="0" err="1"/>
              <a:t>LinkedHashMap</a:t>
            </a:r>
            <a:r>
              <a:rPr lang="en-US" altLang="zh-CN" dirty="0"/>
              <a:t> </a:t>
            </a:r>
            <a:r>
              <a:rPr lang="zh-CN" altLang="en-US" dirty="0"/>
              <a:t>在保持 </a:t>
            </a:r>
            <a:r>
              <a:rPr lang="en-US" altLang="zh-CN" dirty="0" err="1"/>
              <a:t>HashMap</a:t>
            </a:r>
            <a:r>
              <a:rPr lang="en-US" altLang="zh-CN" dirty="0"/>
              <a:t> </a:t>
            </a:r>
            <a:r>
              <a:rPr lang="zh-CN" altLang="en-US" dirty="0"/>
              <a:t>查找速度的同时按键的插入顺序保存键。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10.4 List</a:t>
            </a:r>
            <a:r>
              <a:rPr lang="zh-CN" altLang="en-US" b="1" dirty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List </a:t>
            </a:r>
            <a:r>
              <a:rPr lang="zh-CN" altLang="en-US" dirty="0"/>
              <a:t>在 </a:t>
            </a:r>
            <a:r>
              <a:rPr lang="en-US" altLang="zh-CN" dirty="0"/>
              <a:t>Collection </a:t>
            </a:r>
            <a:r>
              <a:rPr lang="zh-CN" altLang="en-US" dirty="0"/>
              <a:t>的基础上添加了许多方法，允许在 </a:t>
            </a:r>
            <a:r>
              <a:rPr lang="en-US" altLang="zh-CN" dirty="0"/>
              <a:t>List </a:t>
            </a:r>
            <a:r>
              <a:rPr lang="zh-CN" altLang="en-US" dirty="0"/>
              <a:t>的中间插入和删除元素。</a:t>
            </a:r>
            <a:r>
              <a:rPr lang="en-US" altLang="zh-CN" dirty="0"/>
              <a:t>List</a:t>
            </a:r>
            <a:r>
              <a:rPr lang="zh-CN" altLang="en-US" dirty="0"/>
              <a:t>有两种类型：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，用数组实现，擅长随机访问元素，但在 </a:t>
            </a:r>
            <a:r>
              <a:rPr lang="en-US" altLang="zh-CN" dirty="0"/>
              <a:t>List </a:t>
            </a:r>
            <a:r>
              <a:rPr lang="zh-CN" altLang="en-US" dirty="0"/>
              <a:t>中间插入和删除元素时速度较慢。</a:t>
            </a:r>
            <a:endParaRPr lang="zh-CN" altLang="en-US" dirty="0"/>
          </a:p>
          <a:p>
            <a:pPr lvl="1"/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，用链表实现，提供了优化的顺序访问性能，在 </a:t>
            </a:r>
            <a:r>
              <a:rPr lang="en-US" altLang="zh-CN" dirty="0"/>
              <a:t>List </a:t>
            </a:r>
            <a:r>
              <a:rPr lang="zh-CN" altLang="en-US" dirty="0"/>
              <a:t>中间进行的插入和删除操作速度较快。 </a:t>
            </a:r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对于随机访问来说相对较慢，但它具有比 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更多的功能。</a:t>
            </a:r>
            <a:endParaRPr lang="en-US" altLang="zh-CN" dirty="0"/>
          </a:p>
          <a:p>
            <a:r>
              <a:rPr lang="zh-CN" altLang="en-US" dirty="0"/>
              <a:t>例子</a:t>
            </a:r>
            <a:r>
              <a:rPr lang="en-US" altLang="zh-CN" dirty="0"/>
              <a:t>ListFeatures.java</a:t>
            </a:r>
            <a:r>
              <a:rPr lang="zh-CN" altLang="en-US" dirty="0"/>
              <a:t>使用了</a:t>
            </a:r>
            <a:r>
              <a:rPr lang="en-US" altLang="zh-CN" dirty="0" err="1"/>
              <a:t>reflection.pets</a:t>
            </a:r>
            <a:r>
              <a:rPr lang="zh-CN" altLang="en-US" dirty="0"/>
              <a:t>包，只需知道其中：</a:t>
            </a:r>
            <a:endParaRPr lang="en-US" altLang="zh-CN" dirty="0"/>
          </a:p>
          <a:p>
            <a:pPr lvl="1"/>
            <a:r>
              <a:rPr lang="zh-CN" altLang="en-US" dirty="0"/>
              <a:t>有一个 </a:t>
            </a:r>
            <a:r>
              <a:rPr lang="en-US" altLang="zh-CN" dirty="0"/>
              <a:t>Pet </a:t>
            </a:r>
            <a:r>
              <a:rPr lang="zh-CN" altLang="en-US" dirty="0"/>
              <a:t>类，以及 </a:t>
            </a:r>
            <a:r>
              <a:rPr lang="en-US" altLang="zh-CN" dirty="0"/>
              <a:t>Pet </a:t>
            </a:r>
            <a:r>
              <a:rPr lang="zh-CN" altLang="en-US" dirty="0"/>
              <a:t>的各种子类型。</a:t>
            </a:r>
            <a:endParaRPr lang="zh-CN" altLang="en-US" dirty="0"/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方法</a:t>
            </a:r>
            <a:r>
              <a:rPr lang="en-US" altLang="zh-CN" dirty="0" err="1"/>
              <a:t>Pets.arrayList</a:t>
            </a:r>
            <a:r>
              <a:rPr lang="en-US" altLang="zh-CN" dirty="0"/>
              <a:t>() </a:t>
            </a:r>
            <a:r>
              <a:rPr lang="zh-CN" altLang="en-US" dirty="0"/>
              <a:t>返回一个填充了随机选取的 </a:t>
            </a:r>
            <a:r>
              <a:rPr lang="en-US" altLang="zh-CN" dirty="0"/>
              <a:t>Pet </a:t>
            </a:r>
            <a:r>
              <a:rPr lang="zh-CN" altLang="en-US" dirty="0"/>
              <a:t>对象的 </a:t>
            </a:r>
            <a:r>
              <a:rPr lang="en-US" altLang="zh-CN" dirty="0" err="1"/>
              <a:t>ArrayList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06" y="405000"/>
            <a:ext cx="6922800" cy="5832312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List&lt;Pet&gt; pets = 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Hamster h = new Hamster();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pets.add</a:t>
            </a:r>
            <a:r>
              <a:rPr lang="en-US" altLang="zh-CN" dirty="0"/>
              <a:t>(h); </a:t>
            </a:r>
            <a:r>
              <a:rPr lang="en-US" altLang="zh-CN" dirty="0">
                <a:solidFill>
                  <a:srgbClr val="00B050"/>
                </a:solidFill>
              </a:rPr>
              <a:t>// Automatically resizes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("2: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("3: " + </a:t>
            </a:r>
            <a:r>
              <a:rPr lang="en-US" altLang="zh-CN" dirty="0" err="1"/>
              <a:t>pets.contains</a:t>
            </a:r>
            <a:r>
              <a:rPr lang="en-US" altLang="zh-CN" dirty="0"/>
              <a:t>(h));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pets.remove</a:t>
            </a:r>
            <a:r>
              <a:rPr lang="en-US" altLang="zh-CN" dirty="0"/>
              <a:t>(h); </a:t>
            </a:r>
            <a:r>
              <a:rPr lang="en-US" altLang="zh-CN" dirty="0">
                <a:solidFill>
                  <a:srgbClr val="00B050"/>
                </a:solidFill>
              </a:rPr>
              <a:t>// Remove by object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Pet p = </a:t>
            </a:r>
            <a:r>
              <a:rPr lang="en-US" altLang="zh-CN" dirty="0" err="1"/>
              <a:t>pets.get</a:t>
            </a:r>
            <a:r>
              <a:rPr lang="en-US" altLang="zh-CN" dirty="0"/>
              <a:t>(2);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    "4: " + p + " " + </a:t>
            </a:r>
            <a:r>
              <a:rPr lang="en-US" altLang="zh-CN" dirty="0" err="1"/>
              <a:t>pets.indexOf</a:t>
            </a:r>
            <a:r>
              <a:rPr lang="en-US" altLang="zh-CN" dirty="0"/>
              <a:t>(p));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Pet </a:t>
            </a:r>
            <a:r>
              <a:rPr lang="en-US" altLang="zh-CN" dirty="0" err="1"/>
              <a:t>cymric</a:t>
            </a:r>
            <a:r>
              <a:rPr lang="en-US" altLang="zh-CN" dirty="0"/>
              <a:t> = new Cymric();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("5: " + </a:t>
            </a:r>
            <a:r>
              <a:rPr lang="en-US" altLang="zh-CN" dirty="0" err="1"/>
              <a:t>pets.indexOf</a:t>
            </a:r>
            <a:r>
              <a:rPr lang="en-US" altLang="zh-CN" dirty="0"/>
              <a:t>(</a:t>
            </a:r>
            <a:r>
              <a:rPr lang="en-US" altLang="zh-CN" dirty="0" err="1"/>
              <a:t>cymric</a:t>
            </a:r>
            <a:r>
              <a:rPr lang="en-US" altLang="zh-CN" dirty="0"/>
              <a:t>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("6: " + </a:t>
            </a:r>
            <a:r>
              <a:rPr lang="en-US" altLang="zh-CN" dirty="0" err="1"/>
              <a:t>pets.remove</a:t>
            </a:r>
            <a:r>
              <a:rPr lang="en-US" altLang="zh-CN" dirty="0"/>
              <a:t>(</a:t>
            </a:r>
            <a:r>
              <a:rPr lang="en-US" altLang="zh-CN" dirty="0" err="1"/>
              <a:t>cymric</a:t>
            </a:r>
            <a:r>
              <a:rPr lang="en-US" altLang="zh-CN" dirty="0"/>
              <a:t>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444000" y="477000"/>
            <a:ext cx="237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1: [Rat, Manx, Cymric, Mutt, Pug, Cymric, Pug]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2: [Rat, Manx, Cymric, Mutt, Pug, Cymric, Pug, Hamster]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3: true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4: Cymric 2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5: -1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6: false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7000"/>
            <a:ext cx="8075240" cy="5400312"/>
          </a:xfrm>
        </p:spPr>
        <p:txBody>
          <a:bodyPr/>
          <a:lstStyle/>
          <a:p>
            <a:pPr lvl="1"/>
            <a:r>
              <a:rPr lang="zh-CN" altLang="en-US" dirty="0"/>
              <a:t>当确定元素是否是属于某个 </a:t>
            </a:r>
            <a:r>
              <a:rPr lang="en-US" altLang="zh-CN" dirty="0"/>
              <a:t>List </a:t>
            </a:r>
            <a:r>
              <a:rPr lang="zh-CN" altLang="en-US" dirty="0"/>
              <a:t>，寻找某个元素的索引，以及通过引用从 </a:t>
            </a:r>
            <a:r>
              <a:rPr lang="en-US" altLang="zh-CN" dirty="0"/>
              <a:t>List </a:t>
            </a:r>
            <a:r>
              <a:rPr lang="zh-CN" altLang="en-US" dirty="0"/>
              <a:t>中删除元素时，都会用到 </a:t>
            </a:r>
            <a:r>
              <a:rPr lang="en-US" altLang="zh-CN" dirty="0"/>
              <a:t>equals() </a:t>
            </a:r>
            <a:r>
              <a:rPr lang="zh-CN" altLang="en-US" dirty="0"/>
              <a:t>方法。</a:t>
            </a:r>
            <a:endParaRPr lang="en-US" altLang="zh-CN" dirty="0"/>
          </a:p>
          <a:p>
            <a:pPr lvl="1"/>
            <a:r>
              <a:rPr lang="en-US" altLang="zh-CN" dirty="0"/>
              <a:t>Pet </a:t>
            </a:r>
            <a:r>
              <a:rPr lang="zh-CN" altLang="en-US" dirty="0"/>
              <a:t>中没有重写</a:t>
            </a:r>
            <a:r>
              <a:rPr lang="en-US" altLang="zh-CN" dirty="0"/>
              <a:t>equals </a:t>
            </a:r>
            <a:r>
              <a:rPr lang="zh-CN" altLang="en-US" dirty="0"/>
              <a:t>，所以即使列表中已经有两个 </a:t>
            </a:r>
            <a:r>
              <a:rPr lang="en-US" altLang="zh-CN" dirty="0" err="1"/>
              <a:t>Cymrics</a:t>
            </a:r>
            <a:r>
              <a:rPr lang="en-US" altLang="zh-CN" dirty="0"/>
              <a:t> </a:t>
            </a:r>
            <a:r>
              <a:rPr lang="zh-CN" altLang="en-US" dirty="0"/>
              <a:t>，如果再创建一个新的 </a:t>
            </a:r>
            <a:r>
              <a:rPr lang="en-US" altLang="zh-CN" dirty="0"/>
              <a:t>Cymric </a:t>
            </a:r>
            <a:r>
              <a:rPr lang="zh-CN" altLang="en-US" dirty="0"/>
              <a:t>对象并将其传递给 </a:t>
            </a:r>
            <a:r>
              <a:rPr lang="en-US" altLang="zh-CN" dirty="0" err="1"/>
              <a:t>indexOf</a:t>
            </a:r>
            <a:r>
              <a:rPr lang="en-US" altLang="zh-CN" dirty="0"/>
              <a:t>() </a:t>
            </a:r>
            <a:r>
              <a:rPr lang="zh-CN" altLang="en-US" dirty="0"/>
              <a:t>方法，结果仍为 </a:t>
            </a:r>
            <a:r>
              <a:rPr lang="en-US" altLang="zh-CN" dirty="0"/>
              <a:t>-1 </a:t>
            </a:r>
            <a:r>
              <a:rPr lang="zh-CN" altLang="en-US" dirty="0"/>
              <a:t>（表示未找到）。</a:t>
            </a:r>
            <a:endParaRPr lang="en-US" altLang="zh-CN" dirty="0"/>
          </a:p>
          <a:p>
            <a:pPr lvl="1"/>
            <a:r>
              <a:rPr lang="zh-CN" altLang="en-US" dirty="0"/>
              <a:t>调用 </a:t>
            </a:r>
            <a:r>
              <a:rPr lang="en-US" altLang="zh-CN" dirty="0"/>
              <a:t>remove() </a:t>
            </a:r>
            <a:r>
              <a:rPr lang="zh-CN" altLang="en-US" dirty="0"/>
              <a:t>方法来删除这个对象将返回 </a:t>
            </a:r>
            <a:r>
              <a:rPr lang="en-US" altLang="zh-CN" dirty="0"/>
              <a:t>false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如果类中的</a:t>
            </a:r>
            <a:r>
              <a:rPr lang="en-US" altLang="zh-CN" dirty="0"/>
              <a:t>equals() </a:t>
            </a:r>
            <a:r>
              <a:rPr lang="zh-CN" altLang="en-US" dirty="0"/>
              <a:t>进行了重写，对象是不是在</a:t>
            </a:r>
            <a:r>
              <a:rPr lang="en-US" altLang="zh-CN" dirty="0"/>
              <a:t>List</a:t>
            </a:r>
            <a:r>
              <a:rPr lang="zh-CN" altLang="en-US" dirty="0"/>
              <a:t>则根据重新定义的</a:t>
            </a:r>
            <a:r>
              <a:rPr lang="en-US" altLang="zh-CN" dirty="0"/>
              <a:t>equals</a:t>
            </a:r>
            <a:r>
              <a:rPr lang="zh-CN" altLang="en-US" dirty="0"/>
              <a:t>确定。</a:t>
            </a:r>
            <a:endParaRPr lang="en-US" altLang="zh-CN" dirty="0"/>
          </a:p>
          <a:p>
            <a:pPr lvl="2"/>
            <a:r>
              <a:rPr lang="zh-CN" altLang="en-US" dirty="0"/>
              <a:t>例如，如果两个 </a:t>
            </a:r>
            <a:r>
              <a:rPr lang="en-US" altLang="zh-CN" dirty="0"/>
              <a:t>String </a:t>
            </a:r>
            <a:r>
              <a:rPr lang="zh-CN" altLang="en-US" dirty="0"/>
              <a:t>的内容相同，则这两个 </a:t>
            </a:r>
            <a:r>
              <a:rPr lang="en-US" altLang="zh-CN" dirty="0"/>
              <a:t>String </a:t>
            </a:r>
            <a:r>
              <a:rPr lang="zh-CN" altLang="en-US" dirty="0"/>
              <a:t>相等。因此，务必注意 </a:t>
            </a:r>
            <a:r>
              <a:rPr lang="en-US" altLang="zh-CN" dirty="0"/>
              <a:t>List </a:t>
            </a:r>
            <a:r>
              <a:rPr lang="zh-CN" altLang="en-US" dirty="0"/>
              <a:t>行为会根据 </a:t>
            </a:r>
            <a:r>
              <a:rPr lang="en-US" altLang="zh-CN" dirty="0"/>
              <a:t>equals() </a:t>
            </a:r>
            <a:r>
              <a:rPr lang="zh-CN" altLang="en-US" dirty="0"/>
              <a:t>行为而发生变化。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94" y="261000"/>
            <a:ext cx="7128000" cy="5976312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("7: " + </a:t>
            </a:r>
            <a:r>
              <a:rPr lang="en-US" altLang="zh-CN" dirty="0" err="1"/>
              <a:t>pets.remove</a:t>
            </a:r>
            <a:r>
              <a:rPr lang="en-US" altLang="zh-CN" dirty="0"/>
              <a:t>(p));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("8: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pets.add</a:t>
            </a:r>
            <a:r>
              <a:rPr lang="en-US" altLang="zh-CN" dirty="0"/>
              <a:t>(3, new Mouse()); </a:t>
            </a:r>
            <a:r>
              <a:rPr lang="en-US" altLang="zh-CN" dirty="0">
                <a:solidFill>
                  <a:srgbClr val="00B050"/>
                </a:solidFill>
              </a:rPr>
              <a:t>// Insert at an index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("9: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List&lt;Pet&gt; sub = </a:t>
            </a:r>
            <a:r>
              <a:rPr lang="en-US" altLang="zh-CN" dirty="0" err="1"/>
              <a:t>pets.subList</a:t>
            </a:r>
            <a:r>
              <a:rPr lang="en-US" altLang="zh-CN" dirty="0"/>
              <a:t>(1, 4);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subList</a:t>
            </a:r>
            <a:r>
              <a:rPr lang="en-US" altLang="zh-CN" dirty="0"/>
              <a:t>: " + sub);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("10: " + </a:t>
            </a:r>
            <a:r>
              <a:rPr lang="en-US" altLang="zh-CN" dirty="0" err="1"/>
              <a:t>pets.containsAll</a:t>
            </a:r>
            <a:r>
              <a:rPr lang="en-US" altLang="zh-CN" dirty="0"/>
              <a:t>(sub));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Collections.sort</a:t>
            </a:r>
            <a:r>
              <a:rPr lang="en-US" altLang="zh-CN" dirty="0"/>
              <a:t>(sub); </a:t>
            </a:r>
            <a:r>
              <a:rPr lang="en-US" altLang="zh-CN" dirty="0">
                <a:solidFill>
                  <a:srgbClr val="00B050"/>
                </a:solidFill>
              </a:rPr>
              <a:t>// In-place sort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("sorted </a:t>
            </a:r>
            <a:r>
              <a:rPr lang="en-US" altLang="zh-CN" dirty="0" err="1"/>
              <a:t>subList</a:t>
            </a:r>
            <a:r>
              <a:rPr lang="en-US" altLang="zh-CN" dirty="0"/>
              <a:t>: " + sub);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Order is not important in </a:t>
            </a:r>
            <a:r>
              <a:rPr lang="en-US" altLang="zh-CN" dirty="0" err="1">
                <a:solidFill>
                  <a:srgbClr val="00B050"/>
                </a:solidFill>
              </a:rPr>
              <a:t>containsAll</a:t>
            </a:r>
            <a:r>
              <a:rPr lang="en-US" altLang="zh-CN" dirty="0">
                <a:solidFill>
                  <a:srgbClr val="00B050"/>
                </a:solidFill>
              </a:rPr>
              <a:t>():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("11: " + </a:t>
            </a:r>
            <a:r>
              <a:rPr lang="en-US" altLang="zh-CN" dirty="0" err="1"/>
              <a:t>pets.containsAll</a:t>
            </a:r>
            <a:r>
              <a:rPr lang="en-US" altLang="zh-CN" dirty="0"/>
              <a:t>(sub));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Collections.shuffle</a:t>
            </a:r>
            <a:r>
              <a:rPr lang="en-US" altLang="zh-CN" dirty="0"/>
              <a:t>(sub, rand);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指定随机次序</a:t>
            </a:r>
            <a:r>
              <a:rPr lang="en-US" altLang="zh-CN" dirty="0" err="1"/>
              <a:t>System.out.println</a:t>
            </a:r>
            <a:r>
              <a:rPr lang="en-US" altLang="zh-CN" dirty="0"/>
              <a:t>("shuffled </a:t>
            </a:r>
            <a:r>
              <a:rPr lang="en-US" altLang="zh-CN" dirty="0" err="1"/>
              <a:t>subList</a:t>
            </a:r>
            <a:r>
              <a:rPr lang="en-US" altLang="zh-CN" dirty="0"/>
              <a:t>: " + sub);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("12: " + </a:t>
            </a:r>
            <a:r>
              <a:rPr lang="en-US" altLang="zh-CN" dirty="0" err="1"/>
              <a:t>pets.containsAll</a:t>
            </a:r>
            <a:r>
              <a:rPr lang="en-US" altLang="zh-CN" dirty="0"/>
              <a:t>(sub));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00" y="605001"/>
            <a:ext cx="1944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7: true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8: [Rat, Manx, Mutt, Pug, Cymric, Pug]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9: [Rat, Manx, Mutt, Mouse, Pug, Cymric, Pug]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subList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: [Manx, Mutt, Mouse]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10: true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sorted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subList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: [Manx, Mouse, Mutt]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11: true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shuffled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subList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: [Mouse, Manx, Mutt]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12: true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subList</a:t>
            </a:r>
            <a:r>
              <a:rPr lang="en-US" altLang="zh-CN" dirty="0"/>
              <a:t>() </a:t>
            </a:r>
            <a:r>
              <a:rPr lang="zh-CN" altLang="en-US" dirty="0"/>
              <a:t>方法可以从列表中创建切片，当将切片结果传递给原来这个较大的列表的 </a:t>
            </a:r>
            <a:r>
              <a:rPr lang="en-US" altLang="zh-CN" dirty="0" err="1"/>
              <a:t>containsAll</a:t>
            </a:r>
            <a:r>
              <a:rPr lang="en-US" altLang="zh-CN" dirty="0"/>
              <a:t>() </a:t>
            </a:r>
            <a:r>
              <a:rPr lang="zh-CN" altLang="en-US" dirty="0"/>
              <a:t>方法时，自然地会得到 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请注意，顺序并不重要，在第 </a:t>
            </a:r>
            <a:r>
              <a:rPr lang="en-US" altLang="zh-CN" dirty="0"/>
              <a:t>11</a:t>
            </a:r>
            <a:r>
              <a:rPr lang="zh-CN" altLang="en-US" dirty="0"/>
              <a:t>、</a:t>
            </a:r>
            <a:r>
              <a:rPr lang="en-US" altLang="zh-CN" dirty="0"/>
              <a:t>12 </a:t>
            </a:r>
            <a:r>
              <a:rPr lang="zh-CN" altLang="en-US" dirty="0"/>
              <a:t>行输出中可以看到，在 </a:t>
            </a:r>
            <a:r>
              <a:rPr lang="en-US" altLang="zh-CN" dirty="0"/>
              <a:t>sub </a:t>
            </a:r>
            <a:r>
              <a:rPr lang="zh-CN" altLang="en-US" dirty="0"/>
              <a:t>上调用</a:t>
            </a:r>
            <a:r>
              <a:rPr lang="en-US" altLang="zh-CN" dirty="0" err="1"/>
              <a:t>Collections.sort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 err="1"/>
              <a:t>Collections.shuffle</a:t>
            </a:r>
            <a:r>
              <a:rPr lang="en-US" altLang="zh-CN" dirty="0"/>
              <a:t>() </a:t>
            </a:r>
            <a:r>
              <a:rPr lang="zh-CN" altLang="en-US" dirty="0"/>
              <a:t>方法，不会影响 </a:t>
            </a:r>
            <a:r>
              <a:rPr lang="en-US" altLang="zh-CN" dirty="0" err="1"/>
              <a:t>containsAll</a:t>
            </a:r>
            <a:r>
              <a:rPr lang="en-US" altLang="zh-CN" dirty="0"/>
              <a:t>() </a:t>
            </a:r>
            <a:r>
              <a:rPr lang="zh-CN" altLang="en-US" dirty="0"/>
              <a:t>的结果。 </a:t>
            </a:r>
            <a:endParaRPr lang="en-US" altLang="zh-CN" dirty="0"/>
          </a:p>
          <a:p>
            <a:pPr lvl="1"/>
            <a:r>
              <a:rPr lang="en-US" altLang="zh-CN" dirty="0" err="1"/>
              <a:t>subList</a:t>
            </a:r>
            <a:r>
              <a:rPr lang="en-US" altLang="zh-CN" dirty="0"/>
              <a:t>() </a:t>
            </a:r>
            <a:r>
              <a:rPr lang="zh-CN" altLang="en-US" dirty="0"/>
              <a:t>所产生的列表的幕后支持就是原始列表。因此，对所返回列表的更改都将会反映在原始列表中，反之亦然。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261000"/>
            <a:ext cx="7128000" cy="597631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CN" dirty="0"/>
              <a:t>List&lt;Pet&gt; copy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sub =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r>
              <a:rPr lang="en-US" altLang="zh-CN" dirty="0" err="1"/>
              <a:t>pets.get</a:t>
            </a:r>
            <a:r>
              <a:rPr lang="en-US" altLang="zh-CN" dirty="0"/>
              <a:t>(1), </a:t>
            </a:r>
            <a:r>
              <a:rPr lang="en-US" altLang="zh-CN" dirty="0" err="1"/>
              <a:t>pets.get</a:t>
            </a:r>
            <a:r>
              <a:rPr lang="en-US" altLang="zh-CN" dirty="0"/>
              <a:t>(4));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("sub: " + sub);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copy.retainAll</a:t>
            </a:r>
            <a:r>
              <a:rPr lang="en-US" altLang="zh-CN" dirty="0"/>
              <a:t>(sub</a:t>
            </a:r>
            <a:r>
              <a:rPr lang="en-US" altLang="zh-CN" dirty="0">
                <a:solidFill>
                  <a:schemeClr val="tx2"/>
                </a:solidFill>
              </a:rPr>
              <a:t>);</a:t>
            </a:r>
            <a:r>
              <a:rPr lang="en-US" altLang="zh-CN" dirty="0">
                <a:solidFill>
                  <a:srgbClr val="00B050"/>
                </a:solidFill>
              </a:rPr>
              <a:t>//copy</a:t>
            </a:r>
            <a:r>
              <a:rPr lang="zh-CN" altLang="en-US" dirty="0">
                <a:solidFill>
                  <a:srgbClr val="00B050"/>
                </a:solidFill>
              </a:rPr>
              <a:t>中仅保留与</a:t>
            </a:r>
            <a:r>
              <a:rPr lang="en-US" altLang="zh-CN" dirty="0">
                <a:solidFill>
                  <a:srgbClr val="00B050"/>
                </a:solidFill>
              </a:rPr>
              <a:t>sub</a:t>
            </a:r>
            <a:r>
              <a:rPr lang="zh-CN" altLang="en-US" dirty="0">
                <a:solidFill>
                  <a:srgbClr val="00B050"/>
                </a:solidFill>
              </a:rPr>
              <a:t>相交部分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("13: " + copy);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copy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&lt;&gt;(pets); </a:t>
            </a:r>
            <a:r>
              <a:rPr lang="en-US" altLang="zh-CN" dirty="0">
                <a:solidFill>
                  <a:srgbClr val="00B050"/>
                </a:solidFill>
              </a:rPr>
              <a:t>// Get a fresh copy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copy.remove</a:t>
            </a:r>
            <a:r>
              <a:rPr lang="en-US" altLang="zh-CN" dirty="0"/>
              <a:t>(2); </a:t>
            </a:r>
            <a:r>
              <a:rPr lang="en-US" altLang="zh-CN" dirty="0">
                <a:solidFill>
                  <a:srgbClr val="00B050"/>
                </a:solidFill>
              </a:rPr>
              <a:t>// Remove by index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("14: " + copy);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copy.removeAll</a:t>
            </a:r>
            <a:r>
              <a:rPr lang="en-US" altLang="zh-CN" dirty="0"/>
              <a:t>(sub); </a:t>
            </a:r>
            <a:r>
              <a:rPr lang="en-US" altLang="zh-CN" dirty="0">
                <a:solidFill>
                  <a:srgbClr val="00B050"/>
                </a:solidFill>
              </a:rPr>
              <a:t>// Only removes exact objects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("15: " + copy);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copy.set</a:t>
            </a:r>
            <a:r>
              <a:rPr lang="en-US" altLang="zh-CN" dirty="0"/>
              <a:t>(1, new Mouse()); </a:t>
            </a:r>
            <a:r>
              <a:rPr lang="en-US" altLang="zh-CN" dirty="0">
                <a:solidFill>
                  <a:srgbClr val="00B050"/>
                </a:solidFill>
              </a:rPr>
              <a:t>// Replace an element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("16: " + copy);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020000" y="981000"/>
            <a:ext cx="180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sub: [Mouse, Pug]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13: [Mouse, Pug]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14: [Rat, Mouse, Mutt, Pug, Cymric, Pug]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15: [Rat, Mutt, Cymric, Pug]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16: [Rat, Mouse, Cymric, Pug]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261000"/>
            <a:ext cx="7128000" cy="597631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CN" dirty="0" err="1"/>
              <a:t>copy.addAll</a:t>
            </a:r>
            <a:r>
              <a:rPr lang="en-US" altLang="zh-CN" dirty="0"/>
              <a:t>(2, sub); </a:t>
            </a:r>
            <a:r>
              <a:rPr lang="en-US" altLang="zh-CN" dirty="0">
                <a:solidFill>
                  <a:srgbClr val="00B050"/>
                </a:solidFill>
              </a:rPr>
              <a:t>// Insert a list in the middle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("17: " + copy);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("18: " + </a:t>
            </a:r>
            <a:r>
              <a:rPr lang="en-US" altLang="zh-CN" dirty="0" err="1"/>
              <a:t>pets.isEmpty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pets.clear</a:t>
            </a:r>
            <a:r>
              <a:rPr lang="en-US" altLang="zh-CN" dirty="0"/>
              <a:t>(); </a:t>
            </a:r>
            <a:r>
              <a:rPr lang="en-US" altLang="zh-CN" dirty="0">
                <a:solidFill>
                  <a:srgbClr val="00B050"/>
                </a:solidFill>
              </a:rPr>
              <a:t>// Remove all elements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("19: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("20: " + </a:t>
            </a:r>
            <a:r>
              <a:rPr lang="en-US" altLang="zh-CN" dirty="0" err="1"/>
              <a:t>pets.isEmpty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pets.addAll</a:t>
            </a:r>
            <a:r>
              <a:rPr lang="en-US" altLang="zh-CN" dirty="0"/>
              <a:t>(new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().list(4));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("21: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Object[] o = </a:t>
            </a:r>
            <a:r>
              <a:rPr lang="en-US" altLang="zh-CN" dirty="0" err="1"/>
              <a:t>pets.toArray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("22: " + o[3]);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Pet[] pa = </a:t>
            </a:r>
            <a:r>
              <a:rPr lang="en-US" altLang="zh-CN" dirty="0" err="1"/>
              <a:t>pets.toArray</a:t>
            </a:r>
            <a:r>
              <a:rPr lang="en-US" altLang="zh-CN" dirty="0"/>
              <a:t>(new Pet[0]);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("23: " + pa[3].id());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00000" y="2421000"/>
            <a:ext cx="2304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17: [Rat, Mouse, Mouse, Pug, Cymric, Pug]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18: false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19: []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20: true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21: [Rat, Manx, Cymric, Mutt]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22: Mutt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23: 14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Iterator</a:t>
            </a:r>
            <a:r>
              <a:rPr lang="zh-CN" altLang="en-US" dirty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迭代器是一个对象，它在一个序列中移动并选择该序列中的每个对象，而客户端程序员不知道或不关心该序列的底层结构。</a:t>
            </a:r>
            <a:endParaRPr lang="en-US" altLang="zh-CN" dirty="0"/>
          </a:p>
          <a:p>
            <a:r>
              <a:rPr lang="en-US" altLang="zh-CN" dirty="0"/>
              <a:t>Java </a:t>
            </a:r>
            <a:r>
              <a:rPr lang="zh-CN" altLang="en-US" dirty="0"/>
              <a:t>的 </a:t>
            </a:r>
            <a:r>
              <a:rPr lang="en-US" altLang="zh-CN" dirty="0"/>
              <a:t>Iterator </a:t>
            </a:r>
            <a:r>
              <a:rPr lang="zh-CN" altLang="en-US" dirty="0"/>
              <a:t>只能单向移动。这个 </a:t>
            </a:r>
            <a:r>
              <a:rPr lang="en-US" altLang="zh-CN" dirty="0"/>
              <a:t>Iterator </a:t>
            </a:r>
            <a:r>
              <a:rPr lang="zh-CN" altLang="en-US" dirty="0"/>
              <a:t>只能用来：</a:t>
            </a:r>
            <a:endParaRPr lang="zh-CN" altLang="en-US" dirty="0"/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iterator() </a:t>
            </a:r>
            <a:r>
              <a:rPr lang="zh-CN" altLang="en-US" dirty="0"/>
              <a:t>方法要求集合返回一个 </a:t>
            </a:r>
            <a:r>
              <a:rPr lang="en-US" altLang="zh-CN" dirty="0"/>
              <a:t>Iterator</a:t>
            </a:r>
            <a:r>
              <a:rPr lang="zh-CN" altLang="en-US" dirty="0"/>
              <a:t>。 </a:t>
            </a:r>
            <a:r>
              <a:rPr lang="en-US" altLang="zh-CN" dirty="0"/>
              <a:t>Iterator </a:t>
            </a:r>
            <a:r>
              <a:rPr lang="zh-CN" altLang="en-US" dirty="0"/>
              <a:t>将准备好返回序列中的第一个元素。</a:t>
            </a:r>
            <a:endParaRPr lang="zh-CN" altLang="en-US" dirty="0"/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next() </a:t>
            </a:r>
            <a:r>
              <a:rPr lang="zh-CN" altLang="en-US" dirty="0"/>
              <a:t>方法获得序列中的下一个元素。</a:t>
            </a:r>
            <a:endParaRPr lang="zh-CN" altLang="en-US" dirty="0"/>
          </a:p>
          <a:p>
            <a:pPr lvl="1"/>
            <a:r>
              <a:rPr lang="zh-CN" altLang="en-US" dirty="0"/>
              <a:t>使用 </a:t>
            </a:r>
            <a:r>
              <a:rPr lang="en-US" altLang="zh-CN" dirty="0" err="1"/>
              <a:t>hasNext</a:t>
            </a:r>
            <a:r>
              <a:rPr lang="en-US" altLang="zh-CN" dirty="0"/>
              <a:t>() </a:t>
            </a:r>
            <a:r>
              <a:rPr lang="zh-CN" altLang="en-US" dirty="0"/>
              <a:t>方法检查序列中是否还有元素。</a:t>
            </a:r>
            <a:endParaRPr lang="zh-CN" altLang="en-US" dirty="0"/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remove() </a:t>
            </a:r>
            <a:r>
              <a:rPr lang="zh-CN" altLang="en-US" dirty="0"/>
              <a:t>方法将迭代器最近返回的那个元素删除。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1000"/>
            <a:ext cx="8075240" cy="5616312"/>
          </a:xfrm>
        </p:spPr>
        <p:txBody>
          <a:bodyPr/>
          <a:lstStyle/>
          <a:p>
            <a:r>
              <a:rPr lang="en-US" altLang="zh-CN" dirty="0" err="1"/>
              <a:t>Iterable</a:t>
            </a:r>
            <a:r>
              <a:rPr lang="zh-CN" altLang="en-US" dirty="0"/>
              <a:t>接口里面封装了 </a:t>
            </a:r>
            <a:r>
              <a:rPr lang="en-US" altLang="zh-CN" dirty="0"/>
              <a:t>Iterator </a:t>
            </a:r>
            <a:r>
              <a:rPr lang="zh-CN" altLang="en-US" dirty="0"/>
              <a:t>接口，所以只要实现了</a:t>
            </a:r>
            <a:r>
              <a:rPr lang="en-US" altLang="zh-CN" dirty="0" err="1"/>
              <a:t>Iterable</a:t>
            </a:r>
            <a:r>
              <a:rPr lang="zh-CN" altLang="en-US" dirty="0"/>
              <a:t>接口的类，就可以使用</a:t>
            </a:r>
            <a:r>
              <a:rPr lang="en-US" altLang="zh-CN" dirty="0"/>
              <a:t>Iterator</a:t>
            </a:r>
            <a:r>
              <a:rPr lang="zh-CN" altLang="en-US" dirty="0"/>
              <a:t>迭代器。</a:t>
            </a:r>
            <a:endParaRPr lang="zh-CN" altLang="en-US" dirty="0"/>
          </a:p>
          <a:p>
            <a:r>
              <a:rPr lang="zh-CN" altLang="en-US" dirty="0"/>
              <a:t>所有实现</a:t>
            </a:r>
            <a:r>
              <a:rPr lang="en-US" altLang="zh-CN" dirty="0"/>
              <a:t>Collection</a:t>
            </a:r>
            <a:r>
              <a:rPr lang="zh-CN" altLang="en-US" dirty="0"/>
              <a:t>接口的集合类都有一个</a:t>
            </a:r>
            <a:r>
              <a:rPr lang="en-US" altLang="zh-CN" dirty="0"/>
              <a:t>iterator</a:t>
            </a:r>
            <a:r>
              <a:rPr lang="zh-CN" altLang="en-US" dirty="0"/>
              <a:t>方法，用于返回一个实现了</a:t>
            </a:r>
            <a:r>
              <a:rPr lang="en-US" altLang="zh-CN" dirty="0"/>
              <a:t>Iterator</a:t>
            </a:r>
            <a:r>
              <a:rPr lang="zh-CN" altLang="en-US" dirty="0"/>
              <a:t>接口的对象（迭代器），用以实现对容器内元素的遍历操作。</a:t>
            </a:r>
            <a:endParaRPr lang="zh-CN" altLang="en-US" dirty="0"/>
          </a:p>
          <a:p>
            <a:r>
              <a:rPr lang="en-US" altLang="zh-CN" dirty="0"/>
              <a:t>Iterator</a:t>
            </a:r>
            <a:r>
              <a:rPr lang="zh-CN" altLang="en-US" dirty="0"/>
              <a:t>接口也是</a:t>
            </a:r>
            <a:r>
              <a:rPr lang="en-US" altLang="zh-CN" dirty="0"/>
              <a:t>Java</a:t>
            </a:r>
            <a:r>
              <a:rPr lang="zh-CN" altLang="en-US" dirty="0"/>
              <a:t>集合框架的成员，但它与</a:t>
            </a:r>
            <a:r>
              <a:rPr lang="en-US" altLang="zh-CN" dirty="0"/>
              <a:t>Collection</a:t>
            </a:r>
            <a:r>
              <a:rPr lang="zh-CN" altLang="en-US" dirty="0"/>
              <a:t>系列、</a:t>
            </a:r>
            <a:r>
              <a:rPr lang="en-US" altLang="zh-CN" dirty="0"/>
              <a:t>Map</a:t>
            </a:r>
            <a:r>
              <a:rPr lang="zh-CN" altLang="en-US" dirty="0"/>
              <a:t>系列的集合不一样</a:t>
            </a:r>
            <a:r>
              <a:rPr lang="en-US" altLang="zh-CN" dirty="0"/>
              <a:t>:Collection</a:t>
            </a:r>
            <a:r>
              <a:rPr lang="zh-CN" altLang="en-US" dirty="0"/>
              <a:t>系列集合、</a:t>
            </a:r>
            <a:r>
              <a:rPr lang="en-US" altLang="zh-CN" dirty="0"/>
              <a:t>Map</a:t>
            </a:r>
            <a:r>
              <a:rPr lang="zh-CN" altLang="en-US" dirty="0"/>
              <a:t>系列集合主要用于盛装其他对象，而</a:t>
            </a:r>
            <a:r>
              <a:rPr lang="en-US" altLang="zh-CN" dirty="0"/>
              <a:t>Iterator</a:t>
            </a:r>
            <a:r>
              <a:rPr lang="zh-CN" altLang="en-US" dirty="0"/>
              <a:t>则主要用于遍历</a:t>
            </a:r>
            <a:r>
              <a:rPr lang="en-US" altLang="zh-CN" dirty="0"/>
              <a:t>(</a:t>
            </a:r>
            <a:r>
              <a:rPr lang="zh-CN" altLang="en-US" dirty="0"/>
              <a:t>即迭代访问</a:t>
            </a:r>
            <a:r>
              <a:rPr lang="en-US" altLang="zh-CN" dirty="0"/>
              <a:t>)Collection</a:t>
            </a:r>
            <a:r>
              <a:rPr lang="zh-CN" altLang="en-US" dirty="0"/>
              <a:t>集合中的元素。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00" y="0"/>
            <a:ext cx="8496440" cy="685800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collections/SimpleIteration.java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List&lt;Pet&gt; pets = 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().list(12);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Iterator&lt;Pet&gt; it = </a:t>
            </a:r>
            <a:r>
              <a:rPr lang="en-US" altLang="zh-CN" dirty="0" err="1"/>
              <a:t>pets.iterator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while(</a:t>
            </a:r>
            <a:r>
              <a:rPr lang="en-US" altLang="zh-CN" dirty="0" err="1"/>
              <a:t>it.hasNext</a:t>
            </a:r>
            <a:r>
              <a:rPr lang="en-US" altLang="zh-CN" dirty="0"/>
              <a:t>())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Pet p = </a:t>
            </a:r>
            <a:r>
              <a:rPr lang="en-US" altLang="zh-CN" dirty="0" err="1"/>
              <a:t>it.next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(p.id() + ":" + p + 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A simpler approach, when possible: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for(Pet p : pets)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(p.id() + ":" + p + 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An Iterator can also remove elements: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it = </a:t>
            </a:r>
            <a:r>
              <a:rPr lang="en-US" altLang="zh-CN" dirty="0" err="1"/>
              <a:t>pets.iterator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6;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it.next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it.remove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(pets);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436000" y="1053000"/>
            <a:ext cx="3168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[Rat, Manx, Cymric, Mutt, Pug, Cymric, Pug, Manx, Cymric, Rat,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EgyptianMau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Hamster]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0:Rat 1:Manx 2:Cymric 3:Mutt 4:Pug 5:Cymric 6:Pug 7:Manx 8:Cymric 9:Rat 10:EgyptianMau 11:Hamster 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0:Rat 1:Manx 2:Cymric 3:Mutt 4:Pug 5:Cymric 6:Pug 7:Manx 8:Cymric 9:Rat 10:EgyptianMau 11:Hamster 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[Pug, Manx, Cymric, Rat,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EgyptianMau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, Hamster]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r>
              <a:rPr lang="zh-CN" altLang="en-US" dirty="0"/>
              <a:t>再看一个例子：</a:t>
            </a:r>
            <a:r>
              <a:rPr lang="en-US" altLang="zh-CN" dirty="0"/>
              <a:t>collections / IteratorTest.java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将迭代器重新指向集合开始处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it = </a:t>
            </a:r>
            <a:r>
              <a:rPr lang="en-US" altLang="zh-CN" dirty="0" err="1"/>
              <a:t>books.iterator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en-US" altLang="zh-CN" dirty="0" err="1">
                <a:solidFill>
                  <a:srgbClr val="00B050"/>
                </a:solidFill>
              </a:rPr>
              <a:t>forEachRemaining</a:t>
            </a:r>
            <a:r>
              <a:rPr lang="zh-CN" altLang="en-US" dirty="0">
                <a:solidFill>
                  <a:srgbClr val="00B050"/>
                </a:solidFill>
              </a:rPr>
              <a:t>方法是</a:t>
            </a:r>
            <a:r>
              <a:rPr lang="en-US" altLang="zh-CN" dirty="0">
                <a:solidFill>
                  <a:srgbClr val="00B050"/>
                </a:solidFill>
              </a:rPr>
              <a:t>Iterator</a:t>
            </a:r>
            <a:r>
              <a:rPr lang="zh-CN" altLang="en-US" dirty="0">
                <a:solidFill>
                  <a:srgbClr val="00B050"/>
                </a:solidFill>
              </a:rPr>
              <a:t>接口中定义的方法，其参数类型是</a:t>
            </a:r>
            <a:r>
              <a:rPr lang="en-US" altLang="zh-CN" dirty="0">
                <a:solidFill>
                  <a:srgbClr val="00B050"/>
                </a:solidFill>
              </a:rPr>
              <a:t>Consumer</a:t>
            </a:r>
            <a:r>
              <a:rPr lang="zh-CN" altLang="en-US" dirty="0">
                <a:solidFill>
                  <a:srgbClr val="00B050"/>
                </a:solidFill>
              </a:rPr>
              <a:t>接口，接受一个参数，没有返回值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void accept(T t);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it.forEachRemaining</a:t>
            </a:r>
            <a:r>
              <a:rPr lang="en-US" altLang="zh-CN" dirty="0"/>
              <a:t>(s-&gt;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库存书籍</a:t>
            </a:r>
            <a:r>
              <a:rPr lang="en-US" altLang="zh-CN" dirty="0"/>
              <a:t>(</a:t>
            </a:r>
            <a:r>
              <a:rPr lang="zh-CN" altLang="en-US" dirty="0"/>
              <a:t>迭代器遍历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"+s));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en-US" altLang="zh-CN" dirty="0" err="1">
                <a:solidFill>
                  <a:srgbClr val="00B050"/>
                </a:solidFill>
              </a:rPr>
              <a:t>forEach</a:t>
            </a:r>
            <a:r>
              <a:rPr lang="zh-CN" altLang="en-US" dirty="0">
                <a:solidFill>
                  <a:srgbClr val="00B050"/>
                </a:solidFill>
              </a:rPr>
              <a:t>方法是</a:t>
            </a:r>
            <a:r>
              <a:rPr lang="en-US" altLang="zh-CN" dirty="0" err="1">
                <a:solidFill>
                  <a:srgbClr val="00B050"/>
                </a:solidFill>
              </a:rPr>
              <a:t>Iterable</a:t>
            </a:r>
            <a:r>
              <a:rPr lang="zh-CN" altLang="en-US" dirty="0">
                <a:solidFill>
                  <a:srgbClr val="00B050"/>
                </a:solidFill>
              </a:rPr>
              <a:t>接口中定义的方法，功能与</a:t>
            </a:r>
            <a:r>
              <a:rPr lang="en-US" altLang="zh-CN" dirty="0" err="1">
                <a:solidFill>
                  <a:srgbClr val="00B050"/>
                </a:solidFill>
              </a:rPr>
              <a:t>forEachRemaining</a:t>
            </a:r>
            <a:r>
              <a:rPr lang="zh-CN" altLang="en-US" dirty="0">
                <a:solidFill>
                  <a:srgbClr val="00B050"/>
                </a:solidFill>
              </a:rPr>
              <a:t>类似，但它不需考虑迭代器的位置，总是可以遍历所有元素</a:t>
            </a:r>
            <a:endParaRPr lang="zh-CN" altLang="en-US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books.forEach</a:t>
            </a:r>
            <a:r>
              <a:rPr lang="en-US" altLang="zh-CN" dirty="0"/>
              <a:t>(s-&gt;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库存书籍</a:t>
            </a:r>
            <a:r>
              <a:rPr lang="en-US" altLang="zh-CN" dirty="0"/>
              <a:t>(</a:t>
            </a:r>
            <a:r>
              <a:rPr lang="zh-CN" altLang="en-US" dirty="0"/>
              <a:t>集合遍历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"+s));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4000" y="1269000"/>
            <a:ext cx="8075613" cy="3828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迭代器的妙处在于它不必知晓集合的确切类型。下面例子中建立一个</a:t>
            </a:r>
            <a:r>
              <a:rPr lang="en-US" altLang="zh-CN" dirty="0"/>
              <a:t>display</a:t>
            </a:r>
            <a:r>
              <a:rPr lang="zh-CN" altLang="en-US" dirty="0"/>
              <a:t>方法，可以遍历不同的集合：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//collections/CrossCollectionIteration.java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public static void display(</a:t>
            </a:r>
            <a:r>
              <a:rPr lang="en-US" altLang="zh-CN" dirty="0">
                <a:solidFill>
                  <a:srgbClr val="FF0000"/>
                </a:solidFill>
              </a:rPr>
              <a:t>Iterator</a:t>
            </a:r>
            <a:r>
              <a:rPr lang="en-US" altLang="zh-CN" dirty="0"/>
              <a:t>&lt;Pet&gt; it)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while(</a:t>
            </a:r>
            <a:r>
              <a:rPr lang="en-US" altLang="zh-CN" dirty="0" err="1"/>
              <a:t>it.hasNext</a:t>
            </a:r>
            <a:r>
              <a:rPr lang="en-US" altLang="zh-CN" dirty="0"/>
              <a:t>())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Pet p = </a:t>
            </a:r>
            <a:r>
              <a:rPr lang="en-US" altLang="zh-CN" dirty="0" err="1"/>
              <a:t>it.next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(p.id() + ":" + p + 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}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000" y="549000"/>
            <a:ext cx="8075240" cy="5688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List&lt;Pet&gt; pets = 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().list(8);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LinkedList</a:t>
            </a:r>
            <a:r>
              <a:rPr lang="en-US" altLang="zh-CN" dirty="0"/>
              <a:t>&lt;Pet&gt; </a:t>
            </a:r>
            <a:r>
              <a:rPr lang="en-US" altLang="zh-CN" dirty="0" err="1"/>
              <a:t>petsLL</a:t>
            </a:r>
            <a:r>
              <a:rPr lang="en-US" altLang="zh-CN" dirty="0"/>
              <a:t> = new </a:t>
            </a:r>
            <a:r>
              <a:rPr lang="en-US" altLang="zh-CN" dirty="0" err="1"/>
              <a:t>LinkedList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HashSet</a:t>
            </a:r>
            <a:r>
              <a:rPr lang="en-US" altLang="zh-CN" dirty="0"/>
              <a:t>&lt;Pet&gt; </a:t>
            </a:r>
            <a:r>
              <a:rPr lang="en-US" altLang="zh-CN" dirty="0" err="1"/>
              <a:t>petsHS</a:t>
            </a:r>
            <a:r>
              <a:rPr lang="en-US" altLang="zh-CN" dirty="0"/>
              <a:t>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TreeSet</a:t>
            </a:r>
            <a:r>
              <a:rPr lang="en-US" altLang="zh-CN" dirty="0"/>
              <a:t>&lt;Pet&gt; </a:t>
            </a:r>
            <a:r>
              <a:rPr lang="en-US" altLang="zh-CN" dirty="0" err="1"/>
              <a:t>petsTS</a:t>
            </a:r>
            <a:r>
              <a:rPr lang="en-US" altLang="zh-CN" dirty="0"/>
              <a:t> = new </a:t>
            </a:r>
            <a:r>
              <a:rPr lang="en-US" altLang="zh-CN" dirty="0" err="1"/>
              <a:t>TreeSet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pets.iterator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petsLL.iterator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petsHS.iterator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petsTS.iterator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r>
              <a:rPr lang="zh-CN" altLang="en-US" dirty="0"/>
              <a:t>既然</a:t>
            </a:r>
            <a:r>
              <a:rPr lang="en-US" altLang="zh-CN" dirty="0"/>
              <a:t>Collection</a:t>
            </a:r>
            <a:r>
              <a:rPr lang="zh-CN" altLang="en-US" dirty="0"/>
              <a:t>都实现了</a:t>
            </a:r>
            <a:r>
              <a:rPr lang="en-US" altLang="zh-CN" dirty="0" err="1"/>
              <a:t>Iterable</a:t>
            </a:r>
            <a:r>
              <a:rPr lang="zh-CN" altLang="en-US" dirty="0"/>
              <a:t>接口，可以直接调用该接口的</a:t>
            </a:r>
            <a:r>
              <a:rPr lang="en-US" altLang="zh-CN" dirty="0"/>
              <a:t>Iterator</a:t>
            </a:r>
            <a:r>
              <a:rPr lang="zh-CN" altLang="en-US" dirty="0"/>
              <a:t>方法，使代码更简洁：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//collections/CrossCollectionIteration2.java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public static void display(</a:t>
            </a:r>
            <a:r>
              <a:rPr lang="en-US" altLang="zh-CN" dirty="0" err="1">
                <a:solidFill>
                  <a:srgbClr val="FF0000"/>
                </a:solidFill>
              </a:rPr>
              <a:t>Iterable</a:t>
            </a:r>
            <a:r>
              <a:rPr lang="en-US" altLang="zh-CN" dirty="0"/>
              <a:t>&lt;Pet&gt; </a:t>
            </a:r>
            <a:r>
              <a:rPr lang="en-US" altLang="zh-CN" dirty="0" err="1"/>
              <a:t>ip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Iterator&lt;Pet&gt; it = </a:t>
            </a:r>
            <a:r>
              <a:rPr lang="en-US" altLang="zh-CN" dirty="0" err="1"/>
              <a:t>ip.iterator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while(</a:t>
            </a:r>
            <a:r>
              <a:rPr lang="en-US" altLang="zh-CN" dirty="0" err="1"/>
              <a:t>it.hasNext</a:t>
            </a:r>
            <a:r>
              <a:rPr lang="en-US" altLang="zh-CN" dirty="0"/>
              <a:t>())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Pet p = </a:t>
            </a:r>
            <a:r>
              <a:rPr lang="en-US" altLang="zh-CN" dirty="0" err="1"/>
              <a:t>it.next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(p.id() + ":" + p + 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1000"/>
            <a:ext cx="8075240" cy="5616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List&lt;Pet&gt; pets = 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().list(8);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LinkedList</a:t>
            </a:r>
            <a:r>
              <a:rPr lang="en-US" altLang="zh-CN" dirty="0"/>
              <a:t>&lt;Pet&gt; </a:t>
            </a:r>
            <a:r>
              <a:rPr lang="en-US" altLang="zh-CN" dirty="0" err="1"/>
              <a:t>petsLL</a:t>
            </a:r>
            <a:r>
              <a:rPr lang="en-US" altLang="zh-CN" dirty="0"/>
              <a:t> = new </a:t>
            </a:r>
            <a:r>
              <a:rPr lang="en-US" altLang="zh-CN" dirty="0" err="1"/>
              <a:t>LinkedList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HashSet</a:t>
            </a:r>
            <a:r>
              <a:rPr lang="en-US" altLang="zh-CN" dirty="0"/>
              <a:t>&lt;Pet&gt; </a:t>
            </a:r>
            <a:r>
              <a:rPr lang="en-US" altLang="zh-CN" dirty="0" err="1"/>
              <a:t>petsHS</a:t>
            </a:r>
            <a:r>
              <a:rPr lang="en-US" altLang="zh-CN" dirty="0"/>
              <a:t>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TreeSet</a:t>
            </a:r>
            <a:r>
              <a:rPr lang="en-US" altLang="zh-CN" dirty="0"/>
              <a:t>&lt;Pet&gt; </a:t>
            </a:r>
            <a:r>
              <a:rPr lang="en-US" altLang="zh-CN" dirty="0" err="1"/>
              <a:t>petsTS</a:t>
            </a:r>
            <a:r>
              <a:rPr lang="en-US" altLang="zh-CN" dirty="0"/>
              <a:t> = new </a:t>
            </a:r>
            <a:r>
              <a:rPr lang="en-US" altLang="zh-CN" dirty="0" err="1"/>
              <a:t>TreeSet</a:t>
            </a:r>
            <a:r>
              <a:rPr lang="en-US" altLang="zh-CN" dirty="0"/>
              <a:t>&lt;&gt;(pets);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>
                <a:solidFill>
                  <a:srgbClr val="FF0000"/>
                </a:solidFill>
              </a:rPr>
              <a:t>pets</a:t>
            </a:r>
            <a:r>
              <a:rPr lang="en-US" altLang="zh-CN" dirty="0"/>
              <a:t>);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所有的集合都是</a:t>
            </a:r>
            <a:r>
              <a:rPr lang="en-US" altLang="zh-CN" dirty="0" err="1">
                <a:solidFill>
                  <a:srgbClr val="00B050"/>
                </a:solidFill>
              </a:rPr>
              <a:t>Iterable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petsLL</a:t>
            </a:r>
            <a:r>
              <a:rPr lang="en-US" altLang="zh-CN" dirty="0"/>
              <a:t>);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所以直接用集合对象做参数即可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petsHS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display(</a:t>
            </a:r>
            <a:r>
              <a:rPr lang="en-US" altLang="zh-CN" dirty="0" err="1">
                <a:solidFill>
                  <a:srgbClr val="FF0000"/>
                </a:solidFill>
              </a:rPr>
              <a:t>petsTS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ListIterator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ListIterator</a:t>
            </a:r>
            <a:r>
              <a:rPr lang="en-US" altLang="zh-CN" dirty="0"/>
              <a:t> </a:t>
            </a:r>
            <a:r>
              <a:rPr lang="zh-CN" altLang="en-US" dirty="0"/>
              <a:t>是一个更强大的 </a:t>
            </a:r>
            <a:r>
              <a:rPr lang="en-US" altLang="zh-CN" dirty="0"/>
              <a:t>Iterator </a:t>
            </a:r>
            <a:r>
              <a:rPr lang="zh-CN" altLang="en-US" dirty="0"/>
              <a:t>子类型，它只能由各种 </a:t>
            </a:r>
            <a:r>
              <a:rPr lang="en-US" altLang="zh-CN" dirty="0"/>
              <a:t>List </a:t>
            </a:r>
            <a:r>
              <a:rPr lang="zh-CN" altLang="en-US" dirty="0"/>
              <a:t>类生成。 </a:t>
            </a:r>
            <a:endParaRPr lang="en-US" altLang="zh-CN" dirty="0"/>
          </a:p>
          <a:p>
            <a:pPr lvl="1"/>
            <a:r>
              <a:rPr lang="en-US" altLang="zh-CN" dirty="0"/>
              <a:t>Iterator </a:t>
            </a:r>
            <a:r>
              <a:rPr lang="zh-CN" altLang="en-US" dirty="0"/>
              <a:t>只能向前移动，而 </a:t>
            </a:r>
            <a:r>
              <a:rPr lang="en-US" altLang="zh-CN" dirty="0" err="1"/>
              <a:t>ListIterator</a:t>
            </a:r>
            <a:r>
              <a:rPr lang="en-US" altLang="zh-CN" dirty="0"/>
              <a:t> </a:t>
            </a:r>
            <a:r>
              <a:rPr lang="zh-CN" altLang="en-US" dirty="0"/>
              <a:t>可以双向移动。</a:t>
            </a:r>
            <a:endParaRPr lang="en-US" altLang="zh-CN" dirty="0"/>
          </a:p>
          <a:p>
            <a:pPr lvl="1"/>
            <a:r>
              <a:rPr lang="zh-CN" altLang="en-US" dirty="0"/>
              <a:t>可以生成迭代器在列表中指向位置的后一个和前一个元素的索引，并且可以使用 </a:t>
            </a:r>
            <a:r>
              <a:rPr lang="en-US" altLang="zh-CN" dirty="0"/>
              <a:t>set() </a:t>
            </a:r>
            <a:r>
              <a:rPr lang="zh-CN" altLang="en-US" dirty="0"/>
              <a:t>方法替换它访问过的最近一个元素。</a:t>
            </a:r>
            <a:endParaRPr lang="en-US" altLang="zh-CN" dirty="0"/>
          </a:p>
          <a:p>
            <a:pPr lvl="1"/>
            <a:r>
              <a:rPr lang="zh-CN" altLang="en-US" dirty="0"/>
              <a:t>可以通过调用 </a:t>
            </a:r>
            <a:r>
              <a:rPr lang="en-US" altLang="zh-CN" dirty="0" err="1"/>
              <a:t>listIterator</a:t>
            </a:r>
            <a:r>
              <a:rPr lang="en-US" altLang="zh-CN" dirty="0"/>
              <a:t>() </a:t>
            </a:r>
            <a:r>
              <a:rPr lang="zh-CN" altLang="en-US" dirty="0"/>
              <a:t>方法来生成指向 </a:t>
            </a:r>
            <a:r>
              <a:rPr lang="en-US" altLang="zh-CN" dirty="0"/>
              <a:t>List </a:t>
            </a:r>
            <a:r>
              <a:rPr lang="zh-CN" altLang="en-US" dirty="0"/>
              <a:t>开头处的 </a:t>
            </a:r>
            <a:r>
              <a:rPr lang="en-US" altLang="zh-CN" dirty="0" err="1"/>
              <a:t>ListIterator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调用 </a:t>
            </a:r>
            <a:r>
              <a:rPr lang="en-US" altLang="zh-CN" dirty="0" err="1"/>
              <a:t>listIterator</a:t>
            </a:r>
            <a:r>
              <a:rPr lang="en-US" altLang="zh-CN" dirty="0"/>
              <a:t>(n) </a:t>
            </a:r>
            <a:r>
              <a:rPr lang="zh-CN" altLang="en-US" dirty="0"/>
              <a:t>创建一个指向列表索引号为 </a:t>
            </a:r>
            <a:r>
              <a:rPr lang="en-US" altLang="zh-CN" dirty="0"/>
              <a:t>n </a:t>
            </a:r>
            <a:r>
              <a:rPr lang="zh-CN" altLang="en-US" dirty="0"/>
              <a:t>的元素处的 </a:t>
            </a:r>
            <a:r>
              <a:rPr lang="en-US" altLang="zh-CN" dirty="0" err="1"/>
              <a:t>ListIterator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一个例子：</a:t>
            </a:r>
            <a:r>
              <a:rPr lang="en-US" altLang="zh-CN" dirty="0"/>
              <a:t>collections/ListIteration.java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10.6 </a:t>
            </a:r>
            <a:r>
              <a:rPr lang="en-US" altLang="zh-CN" dirty="0" err="1"/>
              <a:t>LinkedList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也实现了 </a:t>
            </a:r>
            <a:r>
              <a:rPr lang="en-US" altLang="zh-CN" dirty="0"/>
              <a:t>List </a:t>
            </a:r>
            <a:r>
              <a:rPr lang="zh-CN" altLang="en-US" dirty="0"/>
              <a:t>接口</a:t>
            </a:r>
            <a:endParaRPr lang="en-US" altLang="zh-CN" dirty="0"/>
          </a:p>
          <a:p>
            <a:pPr lvl="1"/>
            <a:r>
              <a:rPr lang="zh-CN" altLang="en-US" dirty="0"/>
              <a:t>它在 </a:t>
            </a:r>
            <a:r>
              <a:rPr lang="en-US" altLang="zh-CN" dirty="0"/>
              <a:t>List </a:t>
            </a:r>
            <a:r>
              <a:rPr lang="zh-CN" altLang="en-US" dirty="0"/>
              <a:t>中间执行插入和删除操作时比 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更高效</a:t>
            </a:r>
            <a:endParaRPr lang="en-US" altLang="zh-CN" dirty="0"/>
          </a:p>
          <a:p>
            <a:pPr lvl="1"/>
            <a:r>
              <a:rPr lang="zh-CN" altLang="en-US" dirty="0"/>
              <a:t>它在随机访问操作效率方面却要逊色于</a:t>
            </a:r>
            <a:r>
              <a:rPr lang="en-US" altLang="zh-CN" dirty="0" err="1"/>
              <a:t>ArrayList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LinkedList</a:t>
            </a:r>
            <a:r>
              <a:rPr lang="en-US" altLang="zh-CN" dirty="0"/>
              <a:t> </a:t>
            </a:r>
            <a:r>
              <a:rPr lang="zh-CN" altLang="en-US" dirty="0"/>
              <a:t>还添加了一些方法，使其可以被用作栈、队列或双端队列（</a:t>
            </a:r>
            <a:r>
              <a:rPr lang="en-US" altLang="zh-CN" dirty="0" err="1"/>
              <a:t>deque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en-US" altLang="zh-CN" dirty="0" err="1"/>
              <a:t>getFirst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/>
              <a:t>element() </a:t>
            </a:r>
            <a:r>
              <a:rPr lang="zh-CN" altLang="en-US" dirty="0"/>
              <a:t>都返回列表的头部（第一个元素）而并不删除它，如果 </a:t>
            </a:r>
            <a:r>
              <a:rPr lang="en-US" altLang="zh-CN" dirty="0"/>
              <a:t>List </a:t>
            </a:r>
            <a:r>
              <a:rPr lang="zh-CN" altLang="en-US" dirty="0"/>
              <a:t>为空，则抛出 </a:t>
            </a:r>
            <a:r>
              <a:rPr lang="en-US" altLang="zh-CN" dirty="0" err="1"/>
              <a:t>NoSuchElementException</a:t>
            </a:r>
            <a:r>
              <a:rPr lang="en-US" altLang="zh-CN" dirty="0"/>
              <a:t> </a:t>
            </a:r>
            <a:r>
              <a:rPr lang="zh-CN" altLang="en-US" dirty="0"/>
              <a:t>异常。 </a:t>
            </a:r>
            <a:r>
              <a:rPr lang="en-US" altLang="zh-CN" dirty="0"/>
              <a:t>peek() </a:t>
            </a:r>
            <a:r>
              <a:rPr lang="zh-CN" altLang="en-US" dirty="0"/>
              <a:t>方法与这两个方法只是稍有差异，它在列表为空时返回 </a:t>
            </a:r>
            <a:r>
              <a:rPr lang="en-US" altLang="zh-CN" dirty="0"/>
              <a:t>null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removeFirst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/>
              <a:t>remove() </a:t>
            </a:r>
            <a:r>
              <a:rPr lang="zh-CN" altLang="en-US" dirty="0"/>
              <a:t>删除并返回列表的头部元素，列表为空时抛出 </a:t>
            </a:r>
            <a:r>
              <a:rPr lang="en-US" altLang="zh-CN" dirty="0" err="1"/>
              <a:t>NoSuchElementException</a:t>
            </a:r>
            <a:r>
              <a:rPr lang="en-US" altLang="zh-CN" dirty="0"/>
              <a:t> </a:t>
            </a:r>
            <a:r>
              <a:rPr lang="zh-CN" altLang="en-US" dirty="0"/>
              <a:t>异常。 </a:t>
            </a:r>
            <a:r>
              <a:rPr lang="en-US" altLang="zh-CN" dirty="0"/>
              <a:t>poll() </a:t>
            </a:r>
            <a:r>
              <a:rPr lang="zh-CN" altLang="en-US" dirty="0"/>
              <a:t>稍有差异，它在列表为空时返回 </a:t>
            </a:r>
            <a:r>
              <a:rPr lang="en-US" altLang="zh-CN" dirty="0"/>
              <a:t>null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 err="1"/>
              <a:t>addFirst</a:t>
            </a:r>
            <a:r>
              <a:rPr lang="en-US" altLang="zh-CN" dirty="0"/>
              <a:t>() </a:t>
            </a:r>
            <a:r>
              <a:rPr lang="zh-CN" altLang="en-US" dirty="0"/>
              <a:t>在列表的开头插入一个元素。</a:t>
            </a:r>
            <a:endParaRPr lang="en-US" altLang="zh-CN" dirty="0"/>
          </a:p>
          <a:p>
            <a:pPr lvl="1"/>
            <a:r>
              <a:rPr lang="en-US" altLang="zh-CN" dirty="0"/>
              <a:t>offer() </a:t>
            </a:r>
            <a:r>
              <a:rPr lang="zh-CN" altLang="en-US" dirty="0"/>
              <a:t>， </a:t>
            </a:r>
            <a:r>
              <a:rPr lang="en-US" altLang="zh-CN" dirty="0"/>
              <a:t>add() </a:t>
            </a:r>
            <a:r>
              <a:rPr lang="zh-CN" altLang="en-US" dirty="0"/>
              <a:t>和 </a:t>
            </a:r>
            <a:r>
              <a:rPr lang="en-US" altLang="zh-CN" dirty="0" err="1"/>
              <a:t>addLast</a:t>
            </a:r>
            <a:r>
              <a:rPr lang="en-US" altLang="zh-CN" dirty="0"/>
              <a:t>() </a:t>
            </a:r>
            <a:r>
              <a:rPr lang="zh-CN" altLang="en-US" dirty="0"/>
              <a:t>相同，都在列表的尾部（末尾）添加一个元素。</a:t>
            </a:r>
            <a:endParaRPr lang="en-US" altLang="zh-CN" dirty="0"/>
          </a:p>
          <a:p>
            <a:pPr lvl="1"/>
            <a:r>
              <a:rPr lang="en-US" altLang="zh-CN" dirty="0" err="1"/>
              <a:t>removeLast</a:t>
            </a:r>
            <a:r>
              <a:rPr lang="en-US" altLang="zh-CN" dirty="0"/>
              <a:t>() </a:t>
            </a:r>
            <a:r>
              <a:rPr lang="zh-CN" altLang="en-US" dirty="0"/>
              <a:t>删除并返回列表的最后一个元素。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下面是一个</a:t>
            </a:r>
            <a:r>
              <a:rPr lang="en-US" altLang="zh-CN" dirty="0" err="1"/>
              <a:t>LinkedList</a:t>
            </a:r>
            <a:r>
              <a:rPr lang="zh-CN" altLang="en-US" dirty="0"/>
              <a:t>操作的实例</a:t>
            </a:r>
            <a:r>
              <a:rPr lang="en-US" altLang="zh-CN" dirty="0"/>
              <a:t>collections/LinkedListFeatures.java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45000"/>
            <a:ext cx="6696000" cy="6480000"/>
          </a:xfrm>
        </p:spPr>
        <p:txBody>
          <a:bodyPr>
            <a:normAutofit fontScale="925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LinkedList</a:t>
            </a:r>
            <a:r>
              <a:rPr lang="en-US" altLang="zh-CN" dirty="0"/>
              <a:t>&lt;Pet&gt; pets =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new </a:t>
            </a:r>
            <a:r>
              <a:rPr lang="en-US" altLang="zh-CN" dirty="0" err="1"/>
              <a:t>LinkedList</a:t>
            </a:r>
            <a:r>
              <a:rPr lang="en-US" altLang="zh-CN" dirty="0"/>
              <a:t>&lt;&gt;(new </a:t>
            </a:r>
            <a:r>
              <a:rPr lang="en-US" altLang="zh-CN" dirty="0" err="1"/>
              <a:t>PetCreator</a:t>
            </a:r>
            <a:r>
              <a:rPr lang="en-US" altLang="zh-CN" dirty="0"/>
              <a:t>().list(5));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Identical: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</a:t>
            </a:r>
            <a:r>
              <a:rPr lang="en-US" altLang="zh-CN" dirty="0" err="1"/>
              <a:t>pets.getFirst</a:t>
            </a:r>
            <a:r>
              <a:rPr lang="en-US" altLang="zh-CN" dirty="0"/>
              <a:t>(): " + </a:t>
            </a:r>
            <a:r>
              <a:rPr lang="en-US" altLang="zh-CN" dirty="0" err="1"/>
              <a:t>pets.getFirst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</a:t>
            </a:r>
            <a:r>
              <a:rPr lang="en-US" altLang="zh-CN" dirty="0" err="1"/>
              <a:t>pets.element</a:t>
            </a:r>
            <a:r>
              <a:rPr lang="en-US" altLang="zh-CN" dirty="0"/>
              <a:t>(): " + </a:t>
            </a:r>
            <a:r>
              <a:rPr lang="en-US" altLang="zh-CN" dirty="0" err="1"/>
              <a:t>pets.element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Only differs in empty-list behavior: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pets.peek</a:t>
            </a:r>
            <a:r>
              <a:rPr lang="en-US" altLang="zh-CN" dirty="0"/>
              <a:t>(): " + </a:t>
            </a:r>
            <a:r>
              <a:rPr lang="en-US" altLang="zh-CN" dirty="0" err="1"/>
              <a:t>pets.peek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Identical; remove and return the first element: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</a:t>
            </a:r>
            <a:r>
              <a:rPr lang="en-US" altLang="zh-CN" dirty="0" err="1"/>
              <a:t>pets.remove</a:t>
            </a:r>
            <a:r>
              <a:rPr lang="en-US" altLang="zh-CN" dirty="0"/>
              <a:t>(): " + </a:t>
            </a:r>
            <a:r>
              <a:rPr lang="en-US" altLang="zh-CN" dirty="0" err="1"/>
              <a:t>pets.remove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</a:t>
            </a:r>
            <a:r>
              <a:rPr lang="en-US" altLang="zh-CN" dirty="0" err="1"/>
              <a:t>pets.removeFirst</a:t>
            </a:r>
            <a:r>
              <a:rPr lang="en-US" altLang="zh-CN" dirty="0"/>
              <a:t>(): " + </a:t>
            </a:r>
            <a:r>
              <a:rPr lang="en-US" altLang="zh-CN" dirty="0" err="1"/>
              <a:t>pets.removeFirst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Only differs in empty-list behavior: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pets.poll</a:t>
            </a:r>
            <a:r>
              <a:rPr lang="en-US" altLang="zh-CN" dirty="0"/>
              <a:t>(): " + </a:t>
            </a:r>
            <a:r>
              <a:rPr lang="en-US" altLang="zh-CN" dirty="0" err="1"/>
              <a:t>pets.poll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(pets);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60000" y="693000"/>
            <a:ext cx="2304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[Rat, Manx, Cymric, Mutt, Pug]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pets.getFirst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Rat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pets.element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Rat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pets.peek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Rat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pets.remove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Rat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pets.removeFirst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Manx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pets.poll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Cymric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[Mutt, Pug]</a:t>
            </a:r>
            <a:endParaRPr lang="zh-CN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000" y="189000"/>
            <a:ext cx="6480000" cy="6048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 err="1"/>
              <a:t>pets.addFirst</a:t>
            </a:r>
            <a:r>
              <a:rPr lang="en-US" altLang="zh-CN" dirty="0"/>
              <a:t>(new Rat());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("After </a:t>
            </a:r>
            <a:r>
              <a:rPr lang="en-US" altLang="zh-CN" dirty="0" err="1"/>
              <a:t>addFirst</a:t>
            </a:r>
            <a:r>
              <a:rPr lang="en-US" altLang="zh-CN" dirty="0"/>
              <a:t>():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pets.offer</a:t>
            </a:r>
            <a:r>
              <a:rPr lang="en-US" altLang="zh-CN" dirty="0"/>
              <a:t>(new </a:t>
            </a:r>
            <a:r>
              <a:rPr lang="en-US" altLang="zh-CN" dirty="0" err="1"/>
              <a:t>PetCreator</a:t>
            </a:r>
            <a:r>
              <a:rPr lang="en-US" altLang="zh-CN" dirty="0"/>
              <a:t>().get());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("After offer():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pets.add</a:t>
            </a:r>
            <a:r>
              <a:rPr lang="en-US" altLang="zh-CN" dirty="0"/>
              <a:t>(new </a:t>
            </a:r>
            <a:r>
              <a:rPr lang="en-US" altLang="zh-CN" dirty="0" err="1"/>
              <a:t>PetCreator</a:t>
            </a:r>
            <a:r>
              <a:rPr lang="en-US" altLang="zh-CN" dirty="0"/>
              <a:t>().get());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("After add():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pets.addLast</a:t>
            </a:r>
            <a:r>
              <a:rPr lang="en-US" altLang="zh-CN" dirty="0"/>
              <a:t>(new Hamster());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("After </a:t>
            </a:r>
            <a:r>
              <a:rPr lang="en-US" altLang="zh-CN" dirty="0" err="1"/>
              <a:t>addLast</a:t>
            </a:r>
            <a:r>
              <a:rPr lang="en-US" altLang="zh-CN" dirty="0"/>
              <a:t>(): " + pets);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"</a:t>
            </a:r>
            <a:r>
              <a:rPr lang="en-US" altLang="zh-CN" dirty="0" err="1"/>
              <a:t>pets.removeLast</a:t>
            </a:r>
            <a:r>
              <a:rPr lang="en-US" altLang="zh-CN" dirty="0"/>
              <a:t>(): " + </a:t>
            </a:r>
            <a:r>
              <a:rPr lang="en-US" altLang="zh-CN" dirty="0" err="1"/>
              <a:t>pets.removeLast</a:t>
            </a:r>
            <a:r>
              <a:rPr lang="en-US" altLang="zh-CN" dirty="0"/>
              <a:t>());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60000" y="4635934"/>
            <a:ext cx="561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After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addFirst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[Rat, Mutt, Pug]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After offer(): [Rat, Mutt, Pug, Rat]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After add(): [Rat, Mutt, Pug, Rat, Rat]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After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addLast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[Rat, Mutt, Pug, Rat, Rat, Hamster]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pets.removeLast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(): Hamster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zh-CN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10.7 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堆栈是“后进先出”（</a:t>
            </a:r>
            <a:r>
              <a:rPr lang="en-US" altLang="zh-CN" dirty="0"/>
              <a:t>LIFO</a:t>
            </a:r>
            <a:r>
              <a:rPr lang="zh-CN" altLang="en-US" dirty="0"/>
              <a:t>）集合。最后“压入”（</a:t>
            </a:r>
            <a:r>
              <a:rPr lang="en-US" altLang="zh-CN" dirty="0"/>
              <a:t>push</a:t>
            </a:r>
            <a:r>
              <a:rPr lang="zh-CN" altLang="en-US" dirty="0"/>
              <a:t>）栈的元素，第一个被“弹出”（</a:t>
            </a:r>
            <a:r>
              <a:rPr lang="en-US" altLang="zh-CN" dirty="0"/>
              <a:t>pop</a:t>
            </a:r>
            <a:r>
              <a:rPr lang="zh-CN" altLang="en-US" dirty="0"/>
              <a:t>）栈。</a:t>
            </a:r>
            <a:endParaRPr lang="en-US" altLang="zh-CN" dirty="0"/>
          </a:p>
          <a:p>
            <a:pPr lvl="1"/>
            <a:r>
              <a:rPr lang="en-US" altLang="zh-CN" dirty="0"/>
              <a:t>Java1.0</a:t>
            </a:r>
            <a:r>
              <a:rPr lang="zh-CN" altLang="en-US" dirty="0"/>
              <a:t>中提供了</a:t>
            </a:r>
            <a:r>
              <a:rPr lang="en-US" altLang="zh-CN" dirty="0"/>
              <a:t>Stack</a:t>
            </a:r>
            <a:r>
              <a:rPr lang="zh-CN" altLang="en-US" dirty="0"/>
              <a:t>类，但是它的设计及其糟糕。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000" y="3141000"/>
            <a:ext cx="349567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3000"/>
            <a:ext cx="8075240" cy="5544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Stack&lt;Integer&gt; stack=new Stack&lt;&gt;();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stack.push</a:t>
            </a:r>
            <a:r>
              <a:rPr lang="en-US" altLang="zh-CN" dirty="0"/>
              <a:t>(10);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stack.push</a:t>
            </a:r>
            <a:r>
              <a:rPr lang="en-US" altLang="zh-CN" dirty="0"/>
              <a:t>(11);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stack.push</a:t>
            </a:r>
            <a:r>
              <a:rPr lang="en-US" altLang="zh-CN" dirty="0"/>
              <a:t>(12);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stack.add</a:t>
            </a:r>
            <a:r>
              <a:rPr lang="en-US" altLang="zh-CN" dirty="0"/>
              <a:t>(2,100);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该方法继承自其父类</a:t>
            </a:r>
            <a:r>
              <a:rPr lang="en-US" altLang="zh-CN" dirty="0">
                <a:solidFill>
                  <a:srgbClr val="00B050"/>
                </a:solidFill>
              </a:rPr>
              <a:t>Vector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System.out.println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stack.pop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());  </a:t>
            </a:r>
            <a:r>
              <a:rPr lang="en-US" altLang="zh-CN" dirty="0">
                <a:solidFill>
                  <a:srgbClr val="00B050"/>
                </a:solidFill>
              </a:rPr>
              <a:t>//12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System.out.println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stack.pop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());  </a:t>
            </a:r>
            <a:r>
              <a:rPr lang="en-US" altLang="zh-CN" dirty="0">
                <a:solidFill>
                  <a:srgbClr val="00B050"/>
                </a:solidFill>
              </a:rPr>
              <a:t>//100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/>
              <a:t>它犯了面向对象设计的一个简单错误：</a:t>
            </a:r>
            <a:r>
              <a:rPr lang="en-US" altLang="zh-CN" dirty="0"/>
              <a:t>Stack </a:t>
            </a:r>
            <a:r>
              <a:rPr lang="zh-CN" altLang="en-US" dirty="0"/>
              <a:t>和 </a:t>
            </a:r>
            <a:r>
              <a:rPr lang="en-US" altLang="zh-CN" dirty="0"/>
              <a:t>Vector </a:t>
            </a:r>
            <a:r>
              <a:rPr lang="zh-CN" altLang="en-US" dirty="0"/>
              <a:t>之间的关系，不应该是继承关系，而应该是组合关系</a:t>
            </a:r>
            <a:endParaRPr lang="en-US" altLang="zh-CN" dirty="0"/>
          </a:p>
          <a:p>
            <a:pPr lvl="1"/>
            <a:r>
              <a:rPr lang="en-US" altLang="zh-CN" dirty="0"/>
              <a:t>Vector</a:t>
            </a:r>
            <a:r>
              <a:rPr lang="zh-CN" altLang="en-US" dirty="0"/>
              <a:t>是动态数组，可以在数组中的任何位置添加或删除元素，</a:t>
            </a:r>
            <a:r>
              <a:rPr lang="en-US" altLang="zh-CN" dirty="0"/>
              <a:t>Stack</a:t>
            </a:r>
            <a:r>
              <a:rPr lang="zh-CN" altLang="en-US" dirty="0"/>
              <a:t>也有了这样的能力。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Java </a:t>
            </a:r>
            <a:r>
              <a:rPr lang="zh-CN" altLang="en-US" dirty="0"/>
              <a:t>官方推荐使用</a:t>
            </a:r>
            <a:r>
              <a:rPr lang="en-US" altLang="zh-CN" dirty="0" err="1"/>
              <a:t>ArrayDeque</a:t>
            </a:r>
            <a:r>
              <a:rPr lang="en-US" altLang="zh-CN" dirty="0"/>
              <a:t> </a:t>
            </a:r>
            <a:r>
              <a:rPr lang="zh-CN" altLang="en-US" dirty="0"/>
              <a:t>，其中包含直接实现堆栈功能的方法：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StackTest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Deque</a:t>
            </a:r>
            <a:r>
              <a:rPr lang="en-US" altLang="zh-CN" dirty="0"/>
              <a:t>&lt;String&gt; stack = new </a:t>
            </a:r>
            <a:r>
              <a:rPr lang="en-US" altLang="zh-CN" dirty="0" err="1"/>
              <a:t>ArrayDeque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for(String s : "My dog has </a:t>
            </a:r>
            <a:r>
              <a:rPr lang="en-US" altLang="zh-CN" dirty="0" err="1"/>
              <a:t>fleas".split</a:t>
            </a:r>
            <a:r>
              <a:rPr lang="en-US" altLang="zh-CN" dirty="0"/>
              <a:t>(" "))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stack.push</a:t>
            </a:r>
            <a:r>
              <a:rPr lang="en-US" altLang="zh-CN" dirty="0"/>
              <a:t>(s);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stack.addFirst</a:t>
            </a:r>
            <a:r>
              <a:rPr lang="en-US" altLang="zh-CN" dirty="0">
                <a:solidFill>
                  <a:srgbClr val="FF0000"/>
                </a:solidFill>
              </a:rPr>
              <a:t>(“Wow”);    //</a:t>
            </a:r>
            <a:r>
              <a:rPr lang="zh-CN" altLang="en-US" dirty="0">
                <a:solidFill>
                  <a:srgbClr val="FF0000"/>
                </a:solidFill>
              </a:rPr>
              <a:t>此操作不符合堆栈结构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while(!</a:t>
            </a:r>
            <a:r>
              <a:rPr lang="en-US" altLang="zh-CN" dirty="0" err="1"/>
              <a:t>stack.isEmpty</a:t>
            </a:r>
            <a:r>
              <a:rPr lang="en-US" altLang="zh-CN" dirty="0"/>
              <a:t>())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</a:t>
            </a:r>
            <a:r>
              <a:rPr lang="en-US" altLang="zh-CN" dirty="0" err="1"/>
              <a:t>stack.pop</a:t>
            </a:r>
            <a:r>
              <a:rPr lang="en-US" altLang="zh-CN" dirty="0"/>
              <a:t>() + 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(stack);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class Stack&lt;T&gt;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private </a:t>
            </a:r>
            <a:r>
              <a:rPr lang="en-US" altLang="zh-CN" dirty="0" err="1"/>
              <a:t>Deque</a:t>
            </a:r>
            <a:r>
              <a:rPr lang="en-US" altLang="zh-CN" dirty="0"/>
              <a:t>&lt;T&gt; storage = new </a:t>
            </a:r>
            <a:r>
              <a:rPr lang="en-US" altLang="zh-CN" dirty="0" err="1"/>
              <a:t>ArrayDeque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void push(T v) { </a:t>
            </a:r>
            <a:r>
              <a:rPr lang="en-US" altLang="zh-CN" dirty="0" err="1"/>
              <a:t>storage.push</a:t>
            </a:r>
            <a:r>
              <a:rPr lang="en-US" altLang="zh-CN" dirty="0"/>
              <a:t>(v);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T peek() { return </a:t>
            </a:r>
            <a:r>
              <a:rPr lang="en-US" altLang="zh-CN" dirty="0" err="1"/>
              <a:t>storage.peek</a:t>
            </a:r>
            <a:r>
              <a:rPr lang="en-US" altLang="zh-CN" dirty="0"/>
              <a:t>();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T pop() { return </a:t>
            </a:r>
            <a:r>
              <a:rPr lang="en-US" altLang="zh-CN" dirty="0" err="1"/>
              <a:t>storage.pop</a:t>
            </a:r>
            <a:r>
              <a:rPr lang="en-US" altLang="zh-CN" dirty="0"/>
              <a:t>();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isEmpty</a:t>
            </a:r>
            <a:r>
              <a:rPr lang="en-US" altLang="zh-CN" dirty="0"/>
              <a:t>() { return </a:t>
            </a:r>
            <a:r>
              <a:rPr lang="en-US" altLang="zh-CN" dirty="0" err="1"/>
              <a:t>storage.isEmpty</a:t>
            </a:r>
            <a:r>
              <a:rPr lang="en-US" altLang="zh-CN" dirty="0"/>
              <a:t>();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@Override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String </a:t>
            </a:r>
            <a:r>
              <a:rPr lang="en-US" altLang="zh-CN" dirty="0" err="1"/>
              <a:t>toString</a:t>
            </a:r>
            <a:r>
              <a:rPr lang="en-US" altLang="zh-CN" dirty="0"/>
              <a:t>()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storage.toString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10.8 Set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Set </a:t>
            </a:r>
            <a:r>
              <a:rPr lang="zh-CN" altLang="en-US" dirty="0"/>
              <a:t>不保存重复的元素。 </a:t>
            </a:r>
            <a:r>
              <a:rPr lang="en-US" altLang="zh-CN" dirty="0"/>
              <a:t>Set </a:t>
            </a:r>
            <a:r>
              <a:rPr lang="zh-CN" altLang="en-US" dirty="0"/>
              <a:t>最常见的用途是测试归属性，可以很轻松地询问某个对象是否在一个 </a:t>
            </a:r>
            <a:r>
              <a:rPr lang="en-US" altLang="zh-CN" dirty="0"/>
              <a:t>Set </a:t>
            </a:r>
            <a:r>
              <a:rPr lang="zh-CN" altLang="en-US" dirty="0"/>
              <a:t>中。</a:t>
            </a:r>
            <a:endParaRPr lang="en-US" altLang="zh-CN" dirty="0"/>
          </a:p>
          <a:p>
            <a:r>
              <a:rPr lang="zh-CN" altLang="en-US" dirty="0"/>
              <a:t>因此查找通常是 </a:t>
            </a:r>
            <a:r>
              <a:rPr lang="en-US" altLang="zh-CN" dirty="0"/>
              <a:t>Set </a:t>
            </a:r>
            <a:r>
              <a:rPr lang="zh-CN" altLang="en-US" dirty="0"/>
              <a:t>最重要的操作，通常会选择 </a:t>
            </a:r>
            <a:r>
              <a:rPr lang="en-US" altLang="zh-CN" dirty="0" err="1"/>
              <a:t>HashSet</a:t>
            </a:r>
            <a:r>
              <a:rPr lang="en-US" altLang="zh-CN" dirty="0"/>
              <a:t> </a:t>
            </a:r>
            <a:r>
              <a:rPr lang="zh-CN" altLang="en-US" dirty="0"/>
              <a:t>实现，该实现针对快速查找进行了优化。</a:t>
            </a:r>
            <a:endParaRPr lang="en-US" altLang="zh-CN" dirty="0"/>
          </a:p>
          <a:p>
            <a:r>
              <a:rPr lang="en-US" altLang="zh-CN" dirty="0"/>
              <a:t>Set </a:t>
            </a:r>
            <a:r>
              <a:rPr lang="zh-CN" altLang="en-US" dirty="0"/>
              <a:t>具有与 </a:t>
            </a:r>
            <a:r>
              <a:rPr lang="en-US" altLang="zh-CN" dirty="0"/>
              <a:t>Collection </a:t>
            </a:r>
            <a:r>
              <a:rPr lang="zh-CN" altLang="en-US" dirty="0"/>
              <a:t>相同的接口，因此没有任何额外的功能，不像前面两种不同类型的 </a:t>
            </a:r>
            <a:r>
              <a:rPr lang="en-US" altLang="zh-CN" dirty="0"/>
              <a:t>List </a:t>
            </a:r>
            <a:r>
              <a:rPr lang="zh-CN" altLang="en-US" dirty="0"/>
              <a:t>那样。实际上， </a:t>
            </a:r>
            <a:r>
              <a:rPr lang="en-US" altLang="zh-CN" dirty="0"/>
              <a:t>Set </a:t>
            </a:r>
            <a:r>
              <a:rPr lang="zh-CN" altLang="en-US" dirty="0"/>
              <a:t>就是一个 </a:t>
            </a:r>
            <a:r>
              <a:rPr lang="en-US" altLang="zh-CN" dirty="0"/>
              <a:t>Collection </a:t>
            </a:r>
            <a:r>
              <a:rPr lang="zh-CN" altLang="en-US" dirty="0"/>
              <a:t>，只是行为不同。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>
            <a:normAutofit/>
          </a:bodyPr>
          <a:lstStyle/>
          <a:p>
            <a:r>
              <a:rPr lang="zh-CN" altLang="en-US" dirty="0"/>
              <a:t>下面是一个容纳</a:t>
            </a:r>
            <a:r>
              <a:rPr lang="en-US" altLang="zh-CN" dirty="0"/>
              <a:t>Integer</a:t>
            </a:r>
            <a:r>
              <a:rPr lang="zh-CN" altLang="en-US" dirty="0"/>
              <a:t>的</a:t>
            </a:r>
            <a:r>
              <a:rPr lang="en-US" altLang="zh-CN" dirty="0"/>
              <a:t>Set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package collections;  </a:t>
            </a:r>
            <a:r>
              <a:rPr lang="en-US" altLang="zh-CN" dirty="0">
                <a:solidFill>
                  <a:srgbClr val="00B050"/>
                </a:solidFill>
              </a:rPr>
              <a:t>// collections/SetOfInteger.java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SetOfInteger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Set&lt;Integer&gt; </a:t>
            </a:r>
            <a:r>
              <a:rPr lang="en-US" altLang="zh-CN" dirty="0" err="1"/>
              <a:t>intSet</a:t>
            </a:r>
            <a:r>
              <a:rPr lang="en-US" altLang="zh-CN" dirty="0"/>
              <a:t>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10000;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intSet.add</a:t>
            </a:r>
            <a:r>
              <a:rPr lang="en-US" altLang="zh-CN" dirty="0"/>
              <a:t>(</a:t>
            </a:r>
            <a:r>
              <a:rPr lang="en-US" altLang="zh-CN" dirty="0" err="1"/>
              <a:t>rand.nextInt</a:t>
            </a:r>
            <a:r>
              <a:rPr lang="en-US" altLang="zh-CN" dirty="0"/>
              <a:t>(30));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intSet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580440" y="3717000"/>
            <a:ext cx="295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/* Output:</a:t>
            </a:r>
            <a:endParaRPr lang="en-US" altLang="zh-CN" sz="2400" dirty="0">
              <a:solidFill>
                <a:srgbClr val="00B0F0"/>
              </a:solidFill>
            </a:endParaRPr>
          </a:p>
          <a:p>
            <a:r>
              <a:rPr lang="en-US" altLang="zh-CN" sz="2400" dirty="0">
                <a:solidFill>
                  <a:srgbClr val="00B0F0"/>
                </a:solidFill>
              </a:rPr>
              <a:t>[0, 1, 2, 3, 4, 5, 6, 7, 8, 9, 10, 11, 12, 13, 14, 15,</a:t>
            </a:r>
            <a:endParaRPr lang="en-US" altLang="zh-CN" sz="2400" dirty="0">
              <a:solidFill>
                <a:srgbClr val="00B0F0"/>
              </a:solidFill>
            </a:endParaRPr>
          </a:p>
          <a:p>
            <a:r>
              <a:rPr lang="en-US" altLang="zh-CN" sz="2400" dirty="0">
                <a:solidFill>
                  <a:srgbClr val="00B0F0"/>
                </a:solidFill>
              </a:rPr>
              <a:t>16, 17, 18, 19, 20, 21, 22, 23, 24, 25, 26, 27, 28, 29]</a:t>
            </a:r>
            <a:endParaRPr lang="en-US" altLang="zh-CN" sz="2400" dirty="0">
              <a:solidFill>
                <a:srgbClr val="00B0F0"/>
              </a:solidFill>
            </a:endParaRPr>
          </a:p>
          <a:p>
            <a:r>
              <a:rPr lang="en-US" altLang="zh-CN" sz="2400" dirty="0">
                <a:solidFill>
                  <a:srgbClr val="00B0F0"/>
                </a:solidFill>
              </a:rPr>
              <a:t>*/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5000"/>
            <a:ext cx="8075240" cy="669600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zh-CN" altLang="en-US" dirty="0"/>
              <a:t>出于对速度的追求， </a:t>
            </a:r>
            <a:r>
              <a:rPr lang="en-US" altLang="zh-CN" dirty="0" err="1"/>
              <a:t>HashSet</a:t>
            </a:r>
            <a:r>
              <a:rPr lang="en-US" altLang="zh-CN" dirty="0"/>
              <a:t> </a:t>
            </a:r>
            <a:r>
              <a:rPr lang="zh-CN" altLang="en-US" dirty="0"/>
              <a:t>使用了散列，早期 </a:t>
            </a:r>
            <a:r>
              <a:rPr lang="en-US" altLang="zh-CN" dirty="0"/>
              <a:t>Java </a:t>
            </a:r>
            <a:r>
              <a:rPr lang="zh-CN" altLang="en-US" dirty="0"/>
              <a:t>版本中的 </a:t>
            </a:r>
            <a:r>
              <a:rPr lang="en-US" altLang="zh-CN" dirty="0" err="1"/>
              <a:t>HashSet</a:t>
            </a:r>
            <a:r>
              <a:rPr lang="en-US" altLang="zh-CN" dirty="0"/>
              <a:t> </a:t>
            </a:r>
            <a:r>
              <a:rPr lang="zh-CN" altLang="en-US" dirty="0"/>
              <a:t>产生的输出没有可辨别的顺序。由于</a:t>
            </a:r>
            <a:r>
              <a:rPr lang="en-US" altLang="zh-CN" dirty="0"/>
              <a:t>hash</a:t>
            </a:r>
            <a:r>
              <a:rPr lang="zh-CN" altLang="en-US" dirty="0"/>
              <a:t>算法的改变，上面例子中的输出有序。但是不应该依赖这种行为：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SetOfString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colors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100;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("Yellow");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("Blue");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("Red");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("Red");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("Orange");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("Yellow");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("Blue");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("Purple");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(colors);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068000" y="4293000"/>
            <a:ext cx="42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</a:rPr>
              <a:t>[Red, Yellow, Blue, Purple, Orange]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要对结果进行排序，一种方法是使用 </a:t>
            </a:r>
            <a:r>
              <a:rPr lang="en-US" altLang="zh-CN" dirty="0" err="1"/>
              <a:t>TreeSet</a:t>
            </a:r>
            <a:r>
              <a:rPr lang="en-US" altLang="zh-CN" dirty="0"/>
              <a:t>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colors = new </a:t>
            </a:r>
            <a:r>
              <a:rPr lang="en-US" altLang="zh-CN" dirty="0" err="1"/>
              <a:t>TreeSet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100;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("Yellow");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("Blue");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("Red");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("Red");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("Orange");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("Yellow");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("Blue");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colors.add</a:t>
            </a:r>
            <a:r>
              <a:rPr lang="en-US" altLang="zh-CN" dirty="0"/>
              <a:t>("Purple");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(colors);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068000" y="5013000"/>
            <a:ext cx="43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</a:rPr>
              <a:t>[Blue, Orange, Purple, Red, Yellow]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571" y="189000"/>
            <a:ext cx="6915429" cy="6480000"/>
          </a:xfrm>
        </p:spPr>
        <p:txBody>
          <a:bodyPr>
            <a:normAutofit/>
          </a:bodyPr>
          <a:lstStyle/>
          <a:p>
            <a:pPr lvl="1"/>
            <a:r>
              <a:rPr lang="en-US" altLang="zh-CN" dirty="0">
                <a:solidFill>
                  <a:srgbClr val="00B050"/>
                </a:solidFill>
              </a:rPr>
              <a:t>// collections/SetOperations.java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SetOperations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set1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Collections.addAll</a:t>
            </a:r>
            <a:r>
              <a:rPr lang="en-US" altLang="zh-CN" dirty="0"/>
              <a:t>(set1,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"A B C D E F G H I J K </a:t>
            </a:r>
            <a:r>
              <a:rPr lang="en-US" altLang="zh-CN" dirty="0" err="1"/>
              <a:t>L".split</a:t>
            </a:r>
            <a:r>
              <a:rPr lang="en-US" altLang="zh-CN" dirty="0"/>
              <a:t>(" 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set1.add("M");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("H: " + set1.contains("H"));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("N: " + set1.contains("N"));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set2 = new </a:t>
            </a:r>
            <a:r>
              <a:rPr lang="en-US" altLang="zh-CN" dirty="0" err="1"/>
              <a:t>HashSet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Collections.addAll</a:t>
            </a:r>
            <a:r>
              <a:rPr lang="en-US" altLang="zh-CN" dirty="0"/>
              <a:t>(set2, "H I J K </a:t>
            </a:r>
            <a:r>
              <a:rPr lang="en-US" altLang="zh-CN" dirty="0" err="1"/>
              <a:t>L".split</a:t>
            </a:r>
            <a:r>
              <a:rPr lang="en-US" altLang="zh-CN" dirty="0"/>
              <a:t>(" 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"set2 in set1: " + set1.containsAll(set2));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948000" y="1989000"/>
            <a:ext cx="1728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dirty="0">
                <a:solidFill>
                  <a:srgbClr val="00B0F0"/>
                </a:solidFill>
              </a:rPr>
              <a:t>H: true</a:t>
            </a:r>
            <a:endParaRPr lang="da-DK" altLang="zh-CN" dirty="0">
              <a:solidFill>
                <a:srgbClr val="00B0F0"/>
              </a:solidFill>
            </a:endParaRPr>
          </a:p>
          <a:p>
            <a:r>
              <a:rPr lang="da-DK" altLang="zh-CN" dirty="0">
                <a:solidFill>
                  <a:srgbClr val="00B0F0"/>
                </a:solidFill>
              </a:rPr>
              <a:t>N: false</a:t>
            </a:r>
            <a:endParaRPr lang="da-DK" altLang="zh-CN" dirty="0">
              <a:solidFill>
                <a:srgbClr val="00B0F0"/>
              </a:solidFill>
            </a:endParaRPr>
          </a:p>
          <a:p>
            <a:r>
              <a:rPr lang="da-DK" altLang="zh-CN" dirty="0">
                <a:solidFill>
                  <a:srgbClr val="00B0F0"/>
                </a:solidFill>
              </a:rPr>
              <a:t>set2 in set1: true</a:t>
            </a:r>
            <a:endParaRPr lang="da-DK" altLang="zh-CN" dirty="0">
              <a:solidFill>
                <a:srgbClr val="00B0F0"/>
              </a:solidFill>
            </a:endParaRPr>
          </a:p>
          <a:p>
            <a:r>
              <a:rPr lang="da-DK" altLang="zh-CN" dirty="0">
                <a:solidFill>
                  <a:srgbClr val="00B0F0"/>
                </a:solidFill>
              </a:rPr>
              <a:t>set1: [A, B, C, D, E, F, G, I, J, K, L]</a:t>
            </a:r>
            <a:endParaRPr lang="da-DK" altLang="zh-CN" dirty="0">
              <a:solidFill>
                <a:srgbClr val="00B0F0"/>
              </a:solidFill>
            </a:endParaRPr>
          </a:p>
          <a:p>
            <a:r>
              <a:rPr lang="da-DK" altLang="zh-CN" dirty="0">
                <a:solidFill>
                  <a:srgbClr val="00B0F0"/>
                </a:solidFill>
              </a:rPr>
              <a:t>set2 in set1: false</a:t>
            </a:r>
            <a:endParaRPr lang="zh-CN" alt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477000"/>
            <a:ext cx="6336000" cy="5760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   set1.remove("H");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("set1: " + set1);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"set2 in set1: " + set1.containsAll(set2));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set1.removeAll(set2);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"set2 removed from set1: " + set1);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Collections.addAll</a:t>
            </a:r>
            <a:r>
              <a:rPr lang="en-US" altLang="zh-CN" dirty="0"/>
              <a:t>(set1, "X Y </a:t>
            </a:r>
            <a:r>
              <a:rPr lang="en-US" altLang="zh-CN" dirty="0" err="1"/>
              <a:t>Z".split</a:t>
            </a:r>
            <a:r>
              <a:rPr lang="en-US" altLang="zh-CN" dirty="0"/>
              <a:t>(" 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"'X Y Z' added to set1: " + set1);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588000" y="1464330"/>
            <a:ext cx="19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</a:rPr>
              <a:t>set1: [A, B, C, D, E, F, G, I, J, K, L]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>
                <a:solidFill>
                  <a:srgbClr val="00B0F0"/>
                </a:solidFill>
              </a:rPr>
              <a:t>set2 in set1: false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>
                <a:solidFill>
                  <a:srgbClr val="00B0F0"/>
                </a:solidFill>
              </a:rPr>
              <a:t>set2 removed from set1: [A, B, C, D, E, F, G]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>
                <a:solidFill>
                  <a:srgbClr val="00B0F0"/>
                </a:solidFill>
              </a:rPr>
              <a:t>'X Y Z' added to set1: [A, B, C, D, E, F, G, X, Y, Z]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10.9 Map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将对象映射到其他对象的能力是解决编程问题的有效方法。</a:t>
            </a:r>
            <a:endParaRPr lang="en-US" altLang="zh-CN" dirty="0"/>
          </a:p>
          <a:p>
            <a:r>
              <a:rPr lang="zh-CN" altLang="en-US" dirty="0"/>
              <a:t>考虑一个程序，它被用来检查 </a:t>
            </a:r>
            <a:r>
              <a:rPr lang="en-US" altLang="zh-CN" dirty="0"/>
              <a:t>Java </a:t>
            </a:r>
            <a:r>
              <a:rPr lang="zh-CN" altLang="en-US" dirty="0"/>
              <a:t>的 </a:t>
            </a:r>
            <a:r>
              <a:rPr lang="en-US" altLang="zh-CN" dirty="0"/>
              <a:t>Random </a:t>
            </a:r>
            <a:r>
              <a:rPr lang="zh-CN" altLang="en-US" dirty="0"/>
              <a:t>类的随机性。</a:t>
            </a:r>
            <a:endParaRPr lang="en-US" altLang="zh-CN" dirty="0"/>
          </a:p>
          <a:p>
            <a:pPr lvl="1"/>
            <a:r>
              <a:rPr lang="zh-CN" altLang="en-US" dirty="0"/>
              <a:t>理想情况下， </a:t>
            </a:r>
            <a:r>
              <a:rPr lang="en-US" altLang="zh-CN" dirty="0"/>
              <a:t>Random </a:t>
            </a:r>
            <a:r>
              <a:rPr lang="zh-CN" altLang="en-US" dirty="0"/>
              <a:t>会产生完美的数字分布。</a:t>
            </a:r>
            <a:endParaRPr lang="en-US" altLang="zh-CN" dirty="0"/>
          </a:p>
          <a:p>
            <a:pPr lvl="1"/>
            <a:r>
              <a:rPr lang="zh-CN" altLang="en-US" dirty="0"/>
              <a:t>为了测试这一点，则需要生成大量的随机数，并计算落在各种范围内的数字个数。 </a:t>
            </a:r>
            <a:endParaRPr lang="en-US" altLang="zh-CN" dirty="0"/>
          </a:p>
          <a:p>
            <a:pPr lvl="1"/>
            <a:r>
              <a:rPr lang="en-US" altLang="zh-CN" dirty="0"/>
              <a:t>Map </a:t>
            </a:r>
            <a:r>
              <a:rPr lang="zh-CN" altLang="en-US" dirty="0"/>
              <a:t>可以很容易地解决这个问题。在本例中，键是 </a:t>
            </a:r>
            <a:r>
              <a:rPr lang="en-US" altLang="zh-CN" dirty="0"/>
              <a:t>Random </a:t>
            </a:r>
            <a:r>
              <a:rPr lang="zh-CN" altLang="en-US" dirty="0"/>
              <a:t>生成的数字，而值是该数字出现的次数：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46" y="477000"/>
            <a:ext cx="6581554" cy="5760312"/>
          </a:xfrm>
        </p:spPr>
        <p:txBody>
          <a:bodyPr>
            <a:normAutofit fontScale="85000" lnSpcReduction="20000"/>
          </a:bodyPr>
          <a:lstStyle/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collections/Statistics.java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Statistics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Map&lt;Integer, Integer&gt; m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10000;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// Produce a number between 0 and 20: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r = </a:t>
            </a:r>
            <a:r>
              <a:rPr lang="en-US" altLang="zh-CN" dirty="0" err="1"/>
              <a:t>rand.nextInt</a:t>
            </a:r>
            <a:r>
              <a:rPr lang="en-US" altLang="zh-CN" dirty="0"/>
              <a:t>(20);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如果键不在集合中，则 </a:t>
            </a:r>
            <a:r>
              <a:rPr lang="en-US" altLang="zh-CN" dirty="0">
                <a:solidFill>
                  <a:srgbClr val="00B050"/>
                </a:solidFill>
              </a:rPr>
              <a:t>get() </a:t>
            </a:r>
            <a:r>
              <a:rPr lang="zh-CN" altLang="en-US" dirty="0">
                <a:solidFill>
                  <a:srgbClr val="00B050"/>
                </a:solidFill>
              </a:rPr>
              <a:t>返回 </a:t>
            </a:r>
            <a:r>
              <a:rPr lang="en-US" altLang="zh-CN" dirty="0">
                <a:solidFill>
                  <a:srgbClr val="00B050"/>
                </a:solidFill>
              </a:rPr>
              <a:t>null</a:t>
            </a:r>
            <a:r>
              <a:rPr lang="zh-CN" altLang="en-US" dirty="0">
                <a:solidFill>
                  <a:srgbClr val="00B050"/>
                </a:solidFill>
              </a:rPr>
              <a:t>，意味着这个数第一次出现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Integer </a:t>
            </a:r>
            <a:r>
              <a:rPr lang="en-US" altLang="zh-CN" dirty="0" err="1"/>
              <a:t>freq</a:t>
            </a:r>
            <a:r>
              <a:rPr lang="en-US" altLang="zh-CN" dirty="0"/>
              <a:t> = </a:t>
            </a:r>
            <a:r>
              <a:rPr lang="en-US" altLang="zh-CN" dirty="0" err="1"/>
              <a:t>m.get</a:t>
            </a:r>
            <a:r>
              <a:rPr lang="en-US" altLang="zh-CN" dirty="0"/>
              <a:t>(r);            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m.put</a:t>
            </a:r>
            <a:r>
              <a:rPr lang="en-US" altLang="zh-CN" dirty="0"/>
              <a:t>(r, </a:t>
            </a:r>
            <a:r>
              <a:rPr lang="en-US" altLang="zh-CN" dirty="0" err="1"/>
              <a:t>freq</a:t>
            </a:r>
            <a:r>
              <a:rPr lang="en-US" altLang="zh-CN" dirty="0"/>
              <a:t> == null ? 1 : </a:t>
            </a:r>
            <a:r>
              <a:rPr lang="en-US" altLang="zh-CN" dirty="0" err="1"/>
              <a:t>freq</a:t>
            </a:r>
            <a:r>
              <a:rPr lang="en-US" altLang="zh-CN" dirty="0"/>
              <a:t> + 1);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(m);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292000" y="3970469"/>
            <a:ext cx="316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{0=481, 1=502, 2=489, 3=508, 4=481, 5=503, 6=519, 7=471, 8=468, 9=549, 10=513, 11=531, 12=521, 13=506, 14=477, 15=497, 16=533, 17=509, 18=478, 19=464}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000" y="117000"/>
            <a:ext cx="8075240" cy="597600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zh-CN" altLang="en-US" dirty="0"/>
              <a:t>下面示例将使用一个 </a:t>
            </a:r>
            <a:r>
              <a:rPr lang="en-US" altLang="zh-CN" dirty="0"/>
              <a:t>String </a:t>
            </a:r>
            <a:r>
              <a:rPr lang="zh-CN" altLang="en-US" dirty="0"/>
              <a:t>描述来查找 </a:t>
            </a:r>
            <a:r>
              <a:rPr lang="en-US" altLang="zh-CN" dirty="0"/>
              <a:t>Pet </a:t>
            </a:r>
            <a:r>
              <a:rPr lang="zh-CN" altLang="en-US" dirty="0"/>
              <a:t>对象。还展示了通过使用 </a:t>
            </a:r>
            <a:r>
              <a:rPr lang="en-US" altLang="zh-CN" dirty="0" err="1"/>
              <a:t>containsKey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 err="1"/>
              <a:t>containsValue</a:t>
            </a:r>
            <a:r>
              <a:rPr lang="en-US" altLang="zh-CN" dirty="0"/>
              <a:t>() </a:t>
            </a:r>
            <a:r>
              <a:rPr lang="zh-CN" altLang="en-US" dirty="0"/>
              <a:t>方法去测试一个 </a:t>
            </a:r>
            <a:r>
              <a:rPr lang="en-US" altLang="zh-CN" dirty="0"/>
              <a:t>Map </a:t>
            </a:r>
            <a:r>
              <a:rPr lang="zh-CN" altLang="en-US" dirty="0"/>
              <a:t>，以查看它是否包含某个键或某个值：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collections/PetMap.java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PetMap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Map&lt;String, Pet&gt; </a:t>
            </a:r>
            <a:r>
              <a:rPr lang="en-US" altLang="zh-CN" dirty="0" err="1"/>
              <a:t>petMap</a:t>
            </a:r>
            <a:r>
              <a:rPr lang="en-US" altLang="zh-CN" dirty="0"/>
              <a:t>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petMap.put</a:t>
            </a:r>
            <a:r>
              <a:rPr lang="en-US" altLang="zh-CN" dirty="0"/>
              <a:t>("My Cat", new Cat("Molly"));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petMap.put</a:t>
            </a:r>
            <a:r>
              <a:rPr lang="en-US" altLang="zh-CN" dirty="0"/>
              <a:t>("My Dog", new Dog("Ginger"));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petMap.put</a:t>
            </a:r>
            <a:r>
              <a:rPr lang="en-US" altLang="zh-CN" dirty="0"/>
              <a:t>("My Hamster", new Hamster("Bosco"));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petMap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Pet dog = </a:t>
            </a:r>
            <a:r>
              <a:rPr lang="en-US" altLang="zh-CN" dirty="0" err="1"/>
              <a:t>petMap.get</a:t>
            </a:r>
            <a:r>
              <a:rPr lang="en-US" altLang="zh-CN" dirty="0"/>
              <a:t>("My Dog");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(dog);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petMap.containsKey</a:t>
            </a:r>
            <a:r>
              <a:rPr lang="en-US" altLang="zh-CN" dirty="0"/>
              <a:t>("My Dog"));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petMap.containsValue</a:t>
            </a:r>
            <a:r>
              <a:rPr lang="en-US" altLang="zh-CN" dirty="0"/>
              <a:t>(dog));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20000" y="5229000"/>
            <a:ext cx="511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{My Dog=Dog Ginger, My Cat=Cat Molly, My Hamster=Hamster Bosco}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Dog Ginger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true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true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000" y="405000"/>
            <a:ext cx="8075240" cy="6048000"/>
          </a:xfrm>
        </p:spPr>
        <p:txBody>
          <a:bodyPr/>
          <a:lstStyle/>
          <a:p>
            <a:pPr lvl="1"/>
            <a:r>
              <a:rPr lang="en-US" altLang="zh-CN" dirty="0"/>
              <a:t>Map </a:t>
            </a:r>
            <a:r>
              <a:rPr lang="zh-CN" altLang="en-US" dirty="0"/>
              <a:t>与数组和其他的 </a:t>
            </a:r>
            <a:r>
              <a:rPr lang="en-US" altLang="zh-CN" dirty="0"/>
              <a:t>Collection </a:t>
            </a:r>
            <a:r>
              <a:rPr lang="zh-CN" altLang="en-US" dirty="0"/>
              <a:t>一样，可以轻松地扩展到多个维度，只需要创建一个值为 </a:t>
            </a:r>
            <a:r>
              <a:rPr lang="en-US" altLang="zh-CN" dirty="0"/>
              <a:t>Map </a:t>
            </a:r>
            <a:r>
              <a:rPr lang="zh-CN" altLang="en-US" dirty="0"/>
              <a:t>的 </a:t>
            </a:r>
            <a:r>
              <a:rPr lang="en-US" altLang="zh-CN" dirty="0"/>
              <a:t>Map</a:t>
            </a:r>
            <a:r>
              <a:rPr lang="zh-CN" altLang="en-US" dirty="0"/>
              <a:t>（这些 </a:t>
            </a:r>
            <a:r>
              <a:rPr lang="en-US" altLang="zh-CN" dirty="0"/>
              <a:t>Map </a:t>
            </a:r>
            <a:r>
              <a:rPr lang="zh-CN" altLang="en-US" dirty="0"/>
              <a:t>的值可以是其他集合，甚至是其他 </a:t>
            </a:r>
            <a:r>
              <a:rPr lang="en-US" altLang="zh-CN" dirty="0"/>
              <a:t>Map</a:t>
            </a:r>
            <a:r>
              <a:rPr lang="zh-CN" altLang="en-US" dirty="0"/>
              <a:t>）。因此，能够很容易地将集合组合起来以快速生成强大的数据结构。例如，你正在追踪有多个宠物的人：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 collections/MapOfList.java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package collections;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reflection.pets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MapOfList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public static final Map&lt;Person, List&lt; ? extends Pet&gt;&gt;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</a:t>
            </a:r>
            <a:r>
              <a:rPr lang="en-US" altLang="zh-CN" dirty="0"/>
              <a:t>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000"/>
            <a:ext cx="8075240" cy="6741000"/>
          </a:xfrm>
        </p:spPr>
        <p:txBody>
          <a:bodyPr>
            <a:normAutofit fontScale="925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 static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petPeople.put</a:t>
            </a:r>
            <a:r>
              <a:rPr lang="en-US" altLang="zh-CN" dirty="0"/>
              <a:t>(new Person("Dawn"),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Cymric("Molly"),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Mutt("Spot")));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petPeople.put</a:t>
            </a:r>
            <a:r>
              <a:rPr lang="en-US" altLang="zh-CN" dirty="0"/>
              <a:t>(new Person("Kate"),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Arrays.asList</a:t>
            </a:r>
            <a:r>
              <a:rPr lang="en-US" altLang="zh-CN" dirty="0"/>
              <a:t>(new Cat("Shackleton"),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Cat("Elsie May"), new Dog("</a:t>
            </a:r>
            <a:r>
              <a:rPr lang="en-US" altLang="zh-CN" dirty="0" err="1"/>
              <a:t>Margrett</a:t>
            </a:r>
            <a:r>
              <a:rPr lang="en-US" altLang="zh-CN" dirty="0"/>
              <a:t>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petPeople.put</a:t>
            </a:r>
            <a:r>
              <a:rPr lang="en-US" altLang="zh-CN" dirty="0"/>
              <a:t>(new Person("Marilyn"),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Pug("Louie aka Louis </a:t>
            </a:r>
            <a:r>
              <a:rPr lang="en-US" altLang="zh-CN" dirty="0" err="1"/>
              <a:t>Snorkelstein</a:t>
            </a:r>
            <a:r>
              <a:rPr lang="en-US" altLang="zh-CN" dirty="0"/>
              <a:t> Dupree"),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Cat("Stanford"),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Cat("</a:t>
            </a:r>
            <a:r>
              <a:rPr lang="en-US" altLang="zh-CN" dirty="0" err="1"/>
              <a:t>Pinkola</a:t>
            </a:r>
            <a:r>
              <a:rPr lang="en-US" altLang="zh-CN" dirty="0"/>
              <a:t>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petPeople.put</a:t>
            </a:r>
            <a:r>
              <a:rPr lang="en-US" altLang="zh-CN" dirty="0"/>
              <a:t>(new Person("Luke"),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new Rat("Fuzzy"), new Rat("Fizzy")));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petPeople.put</a:t>
            </a:r>
            <a:r>
              <a:rPr lang="en-US" altLang="zh-CN" dirty="0"/>
              <a:t>(new Person("Isaac"),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Arrays.asList</a:t>
            </a:r>
            <a:r>
              <a:rPr lang="en-US" altLang="zh-CN" dirty="0"/>
              <a:t>(new Rat("Freckly")));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7000"/>
            <a:ext cx="8075240" cy="5400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("People: " + </a:t>
            </a:r>
            <a:r>
              <a:rPr lang="en-US" altLang="zh-CN" dirty="0" err="1"/>
              <a:t>petPeople.keySet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("Pets: " + </a:t>
            </a:r>
            <a:r>
              <a:rPr lang="en-US" altLang="zh-CN" dirty="0" err="1"/>
              <a:t>petPeople.values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for(Person </a:t>
            </a:r>
            <a:r>
              <a:rPr lang="en-US" altLang="zh-CN" dirty="0" err="1"/>
              <a:t>person</a:t>
            </a:r>
            <a:r>
              <a:rPr lang="en-US" altLang="zh-CN" dirty="0"/>
              <a:t> : </a:t>
            </a:r>
            <a:r>
              <a:rPr lang="en-US" altLang="zh-CN" dirty="0" err="1"/>
              <a:t>petPeople.keySet</a:t>
            </a:r>
            <a:r>
              <a:rPr lang="en-US" altLang="zh-CN" dirty="0"/>
              <a:t>())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(person + " has:");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for(Pet </a:t>
            </a:r>
            <a:r>
              <a:rPr lang="en-US" altLang="zh-CN" dirty="0" err="1"/>
              <a:t>pet</a:t>
            </a:r>
            <a:r>
              <a:rPr lang="en-US" altLang="zh-CN" dirty="0"/>
              <a:t> : </a:t>
            </a:r>
            <a:r>
              <a:rPr lang="en-US" altLang="zh-CN" dirty="0" err="1"/>
              <a:t>petPeople.get</a:t>
            </a:r>
            <a:r>
              <a:rPr lang="en-US" altLang="zh-CN" dirty="0"/>
              <a:t>(person))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    " + pet);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20056</Words>
  <Application>WPS 演示</Application>
  <PresentationFormat>全屏显示(4:3)</PresentationFormat>
  <Paragraphs>705</Paragraphs>
  <Slides>53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9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10 集合</vt:lpstr>
      <vt:lpstr>PowerPoint 演示文稿</vt:lpstr>
      <vt:lpstr>PowerPoint 演示文稿</vt:lpstr>
      <vt:lpstr>PowerPoint 演示文稿</vt:lpstr>
      <vt:lpstr>10.1 Collection和Map接口</vt:lpstr>
      <vt:lpstr>PowerPoint 演示文稿</vt:lpstr>
      <vt:lpstr>PowerPoint 演示文稿</vt:lpstr>
      <vt:lpstr>PowerPoint 演示文稿</vt:lpstr>
      <vt:lpstr>10.2 添加元素组</vt:lpstr>
      <vt:lpstr>PowerPoint 演示文稿</vt:lpstr>
      <vt:lpstr>10.3 集合打印</vt:lpstr>
      <vt:lpstr>PowerPoint 演示文稿</vt:lpstr>
      <vt:lpstr>PowerPoint 演示文稿</vt:lpstr>
      <vt:lpstr>PowerPoint 演示文稿</vt:lpstr>
      <vt:lpstr>PowerPoint 演示文稿</vt:lpstr>
      <vt:lpstr>10.4 List接口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10.5 Iterator接口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ListIterator</vt:lpstr>
      <vt:lpstr>10.6 LinkedList</vt:lpstr>
      <vt:lpstr>PowerPoint 演示文稿</vt:lpstr>
      <vt:lpstr>PowerPoint 演示文稿</vt:lpstr>
      <vt:lpstr>PowerPoint 演示文稿</vt:lpstr>
      <vt:lpstr>10.7 Stack</vt:lpstr>
      <vt:lpstr>PowerPoint 演示文稿</vt:lpstr>
      <vt:lpstr>PowerPoint 演示文稿</vt:lpstr>
      <vt:lpstr>PowerPoint 演示文稿</vt:lpstr>
      <vt:lpstr>10.8 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10.9 Map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100</cp:revision>
  <dcterms:created xsi:type="dcterms:W3CDTF">2024-05-30T06:12:18Z</dcterms:created>
  <dcterms:modified xsi:type="dcterms:W3CDTF">2024-05-30T06:12:18Z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41C2D3BB519EB8D1C21858668A8188BC_43</vt:lpwstr>
  </property>
</Properties>
</file>