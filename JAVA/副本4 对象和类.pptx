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56"/>
  </p:notesMasterIdLst>
  <p:sldIdLst>
    <p:sldId id="34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306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345" r:id="rId27"/>
    <p:sldId id="279" r:id="rId28"/>
    <p:sldId id="280" r:id="rId29"/>
    <p:sldId id="281" r:id="rId30"/>
    <p:sldId id="282" r:id="rId31"/>
    <p:sldId id="347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1" r:id="rId40"/>
    <p:sldId id="292" r:id="rId41"/>
    <p:sldId id="293" r:id="rId42"/>
    <p:sldId id="294" r:id="rId43"/>
    <p:sldId id="295" r:id="rId44"/>
    <p:sldId id="297" r:id="rId45"/>
    <p:sldId id="296" r:id="rId46"/>
    <p:sldId id="298" r:id="rId47"/>
    <p:sldId id="299" r:id="rId48"/>
    <p:sldId id="300" r:id="rId49"/>
    <p:sldId id="301" r:id="rId50"/>
    <p:sldId id="302" r:id="rId51"/>
    <p:sldId id="344" r:id="rId52"/>
    <p:sldId id="303" r:id="rId53"/>
    <p:sldId id="304" r:id="rId54"/>
    <p:sldId id="305" r:id="rId5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6" d="100"/>
          <a:sy n="106" d="100"/>
        </p:scale>
        <p:origin x="176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9" Type="http://schemas.openxmlformats.org/officeDocument/2006/relationships/tableStyles" Target="tableStyles.xml"/><Relationship Id="rId58" Type="http://schemas.openxmlformats.org/officeDocument/2006/relationships/viewProps" Target="viewProps.xml"/><Relationship Id="rId57" Type="http://schemas.openxmlformats.org/officeDocument/2006/relationships/presProps" Target="presProps.xml"/><Relationship Id="rId56" Type="http://schemas.openxmlformats.org/officeDocument/2006/relationships/notesMaster" Target="notesMasters/notesMaster1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9E825A-9DAF-477B-AC5C-4050AFD6B1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C47105-71C5-4BF5-AD58-12C73EDD56E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cap="none" spc="-80" baseline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none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17537"/>
            <a:ext cx="1242239" cy="1035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8075240" cy="683994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8075240" cy="5256584"/>
          </a:xfrm>
        </p:spPr>
        <p:txBody>
          <a:bodyPr/>
          <a:lstStyle>
            <a:lvl1pPr marL="0" indent="0" defTabSz="1080135">
              <a:spcBef>
                <a:spcPts val="600"/>
              </a:spcBef>
              <a:spcAft>
                <a:spcPts val="0"/>
              </a:spcAft>
              <a:buFont typeface="Arial" panose="020B0704020202020204" pitchFamily="34" charset="0"/>
              <a:buChar char="•"/>
              <a:defRPr sz="2800" b="0" i="0" baseline="0">
                <a:solidFill>
                  <a:schemeClr val="tx1"/>
                </a:solidFill>
                <a:ea typeface="华文宋体" panose="02010600040101010101" pitchFamily="2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400" baseline="0">
                <a:solidFill>
                  <a:schemeClr val="tx2">
                    <a:lumMod val="75000"/>
                  </a:schemeClr>
                </a:solidFill>
              </a:defRPr>
            </a:lvl2pPr>
            <a:lvl3pPr>
              <a:spcBef>
                <a:spcPts val="600"/>
              </a:spcBef>
              <a:defRPr sz="2400"/>
            </a:lvl3pPr>
            <a:lvl4pPr>
              <a:lnSpc>
                <a:spcPct val="100000"/>
              </a:lnSpc>
              <a:spcBef>
                <a:spcPts val="600"/>
              </a:spcBef>
              <a:defRPr sz="2400"/>
            </a:lvl4pPr>
            <a:lvl5pPr>
              <a:spcBef>
                <a:spcPts val="600"/>
              </a:spcBef>
              <a:defRPr sz="24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68401-C238-4940-8B37-740CB2A88BB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anose="020B0704020202020204" pitchFamily="34" charset="0"/>
              <a:buNone/>
            </a:pPr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anose="020B0704020202020204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mailto:heyq@cugb.edu.cn" TargetMode="Externa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242445"/>
            <a:ext cx="3976795" cy="2558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11560" y="1628800"/>
            <a:ext cx="4608512" cy="1470025"/>
          </a:xfrm>
        </p:spPr>
        <p:txBody>
          <a:bodyPr>
            <a:normAutofit/>
          </a:bodyPr>
          <a:lstStyle/>
          <a:p>
            <a:r>
              <a:rPr lang="en-US" altLang="zh-CN" sz="4800" dirty="0"/>
              <a:t>Java </a:t>
            </a:r>
            <a:r>
              <a:rPr lang="zh-CN" altLang="en-US" sz="4800" dirty="0"/>
              <a:t>程序设计</a:t>
            </a:r>
            <a:endParaRPr lang="zh-CN" altLang="en-US" sz="48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99592" y="3789040"/>
            <a:ext cx="7772400" cy="1656184"/>
          </a:xfrm>
        </p:spPr>
        <p:txBody>
          <a:bodyPr>
            <a:noAutofit/>
          </a:bodyPr>
          <a:lstStyle/>
          <a:p>
            <a:pPr algn="l"/>
            <a:r>
              <a:rPr lang="zh-CN" altLang="en-US" sz="2800" dirty="0"/>
              <a:t>何勇强</a:t>
            </a:r>
            <a:endParaRPr lang="en-US" altLang="zh-CN" sz="2800" dirty="0"/>
          </a:p>
          <a:p>
            <a:pPr algn="l"/>
            <a:r>
              <a:rPr lang="en-US" altLang="zh-CN" sz="2800" dirty="0">
                <a:hlinkClick r:id="rId2"/>
              </a:rPr>
              <a:t>heyq@cugb.edu.cn</a:t>
            </a:r>
            <a:endParaRPr lang="en-US" altLang="zh-CN" sz="2800" dirty="0"/>
          </a:p>
          <a:p>
            <a:pPr algn="l"/>
            <a:r>
              <a:rPr lang="en-US" altLang="zh-CN" sz="2800" dirty="0"/>
              <a:t>18810819390</a:t>
            </a:r>
            <a:endParaRPr lang="en-US" altLang="zh-CN" sz="2800" dirty="0"/>
          </a:p>
          <a:p>
            <a:pPr algn="l"/>
            <a:r>
              <a:rPr lang="en-US" altLang="zh-CN" sz="2800"/>
              <a:t>                                      2024-2</a:t>
            </a:r>
            <a:endParaRPr lang="zh-CN" alt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5884600" y="2638521"/>
            <a:ext cx="2664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i="1" dirty="0">
                <a:solidFill>
                  <a:srgbClr val="0070C0"/>
                </a:solidFill>
              </a:rPr>
              <a:t>本科生公共课</a:t>
            </a:r>
            <a:endParaRPr lang="zh-CN" altLang="en-US" sz="3200" i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14"/>
          <a:stretch>
            <a:fillRect/>
          </a:stretch>
        </p:blipFill>
        <p:spPr bwMode="auto">
          <a:xfrm>
            <a:off x="2555776" y="2446015"/>
            <a:ext cx="5561125" cy="376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  </a:t>
            </a:r>
            <a:r>
              <a:rPr lang="zh-CN" altLang="en-US" dirty="0"/>
              <a:t>对象和类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zh-CN" dirty="0"/>
              <a:t>Java</a:t>
            </a:r>
            <a:r>
              <a:rPr lang="zh-CN" altLang="en-US" dirty="0"/>
              <a:t>是纯粹的面向对象语言。几乎一切都是对象。</a:t>
            </a:r>
            <a:endParaRPr lang="en-US" altLang="zh-CN" dirty="0"/>
          </a:p>
          <a:p>
            <a:pPr lvl="1"/>
            <a:r>
              <a:rPr lang="zh-CN" altLang="en-US" dirty="0"/>
              <a:t>所有的对象都需要程序员来创建。</a:t>
            </a:r>
            <a:endParaRPr lang="en-US" altLang="zh-CN" dirty="0"/>
          </a:p>
          <a:p>
            <a:pPr lvl="1"/>
            <a:r>
              <a:rPr lang="zh-CN" altLang="en-US" dirty="0"/>
              <a:t>用引用来操作对象，引用和对象之间可以联系，也可以分离。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57139" y="2979415"/>
            <a:ext cx="15106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704020202020204" pitchFamily="34" charset="0"/>
              <a:buChar char="•"/>
            </a:pPr>
            <a:r>
              <a:rPr lang="zh-CN" altLang="en-US" sz="2400" dirty="0"/>
              <a:t>对象和引用有点像电视机和遥控器的关系。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4.1  </a:t>
            </a:r>
            <a:r>
              <a:rPr lang="zh-CN" altLang="en-US" dirty="0"/>
              <a:t>定义一个类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0728"/>
            <a:ext cx="8075240" cy="5544616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定义类的语法格式：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[</a:t>
            </a:r>
            <a:r>
              <a:rPr lang="zh-CN" altLang="en-US" dirty="0"/>
              <a:t>修饰符</a:t>
            </a:r>
            <a:r>
              <a:rPr lang="en-US" altLang="zh-CN" dirty="0"/>
              <a:t>] class </a:t>
            </a:r>
            <a:r>
              <a:rPr lang="zh-CN" altLang="en-US" dirty="0"/>
              <a:t>类名</a:t>
            </a:r>
            <a:br>
              <a:rPr lang="en-US" altLang="zh-CN" dirty="0"/>
            </a:br>
            <a:r>
              <a:rPr lang="en-US" altLang="zh-CN" dirty="0"/>
              <a:t>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</a:t>
            </a:r>
            <a:r>
              <a:rPr lang="zh-CN" altLang="en-US" dirty="0">
                <a:solidFill>
                  <a:srgbClr val="FF0000"/>
                </a:solidFill>
              </a:rPr>
              <a:t>若干域（成员变量），可以是类域和实例域；</a:t>
            </a:r>
            <a:endParaRPr lang="en-US" altLang="zh-CN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	</a:t>
            </a:r>
            <a:r>
              <a:rPr lang="zh-CN" altLang="en-US" dirty="0">
                <a:solidFill>
                  <a:srgbClr val="FF0000"/>
                </a:solidFill>
              </a:rPr>
              <a:t>若干构造器（构造函数）；</a:t>
            </a:r>
            <a:endParaRPr lang="en-US" altLang="zh-CN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	</a:t>
            </a:r>
            <a:r>
              <a:rPr lang="zh-CN" altLang="en-US" dirty="0">
                <a:solidFill>
                  <a:srgbClr val="FF0000"/>
                </a:solidFill>
              </a:rPr>
              <a:t>若干方法，可以是类方法和实例方法；</a:t>
            </a:r>
            <a:endParaRPr lang="en-US" altLang="zh-CN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初始化块；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内部类；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en-US" altLang="zh-CN" dirty="0"/>
          </a:p>
          <a:p>
            <a:pPr lvl="1"/>
            <a:r>
              <a:rPr lang="zh-CN" altLang="en-US" dirty="0"/>
              <a:t>类的修饰符可以是</a:t>
            </a:r>
            <a:r>
              <a:rPr lang="en-US" altLang="zh-CN" dirty="0"/>
              <a:t>public</a:t>
            </a:r>
            <a:r>
              <a:rPr lang="zh-CN" altLang="en-US" dirty="0"/>
              <a:t>，</a:t>
            </a:r>
            <a:r>
              <a:rPr lang="en-US" altLang="zh-CN" dirty="0"/>
              <a:t>(final</a:t>
            </a:r>
            <a:r>
              <a:rPr lang="zh-CN" altLang="en-US" dirty="0"/>
              <a:t>、</a:t>
            </a:r>
            <a:r>
              <a:rPr lang="en-US" altLang="zh-CN" dirty="0"/>
              <a:t>abstract)</a:t>
            </a:r>
            <a:r>
              <a:rPr lang="zh-CN" altLang="en-US" dirty="0"/>
              <a:t>之一，或没有。</a:t>
            </a:r>
            <a:endParaRPr lang="en-US" altLang="zh-CN" dirty="0"/>
          </a:p>
          <a:p>
            <a:pPr lvl="1"/>
            <a:r>
              <a:rPr lang="zh-CN" altLang="en-US" dirty="0"/>
              <a:t>类名习惯上单词首字母大写。</a:t>
            </a:r>
            <a:endParaRPr lang="en-US" altLang="zh-CN" dirty="0"/>
          </a:p>
          <a:p>
            <a:pPr lvl="1"/>
            <a:r>
              <a:rPr lang="zh-CN" altLang="en-US" dirty="0"/>
              <a:t>成员之间顺序无关，可相互访问。</a:t>
            </a:r>
            <a:r>
              <a:rPr lang="en-US" altLang="zh-CN" dirty="0"/>
              <a:t>static</a:t>
            </a:r>
            <a:r>
              <a:rPr lang="zh-CN" altLang="en-US" dirty="0"/>
              <a:t>成员不能访问非</a:t>
            </a:r>
            <a:r>
              <a:rPr lang="en-US" altLang="zh-CN" dirty="0"/>
              <a:t>static</a:t>
            </a:r>
            <a:r>
              <a:rPr lang="zh-CN" altLang="en-US" dirty="0"/>
              <a:t>成员。</a:t>
            </a:r>
            <a:endParaRPr lang="en-US" altLang="zh-CN" dirty="0"/>
          </a:p>
          <a:p>
            <a:pPr lvl="1"/>
            <a:r>
              <a:rPr lang="zh-CN" altLang="en-US" dirty="0"/>
              <a:t>如果没有给出构造器，系统会产生一个默认构造器；如果给出了构造器，系统不再给出默认构造器。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0728"/>
            <a:ext cx="8075240" cy="5544616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其中域（成员变量）的语法格式：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[</a:t>
            </a:r>
            <a:r>
              <a:rPr lang="zh-CN" altLang="en-US" dirty="0">
                <a:solidFill>
                  <a:srgbClr val="FF0000"/>
                </a:solidFill>
              </a:rPr>
              <a:t>修饰符</a:t>
            </a:r>
            <a:r>
              <a:rPr lang="en-US" altLang="zh-CN" dirty="0">
                <a:solidFill>
                  <a:srgbClr val="FF0000"/>
                </a:solidFill>
              </a:rPr>
              <a:t>]  </a:t>
            </a:r>
            <a:r>
              <a:rPr lang="zh-CN" altLang="en-US" dirty="0">
                <a:solidFill>
                  <a:srgbClr val="FF0000"/>
                </a:solidFill>
              </a:rPr>
              <a:t>类型  域的名字  </a:t>
            </a:r>
            <a:r>
              <a:rPr lang="en-US" altLang="zh-CN" dirty="0">
                <a:solidFill>
                  <a:srgbClr val="FF0000"/>
                </a:solidFill>
              </a:rPr>
              <a:t>[ = </a:t>
            </a:r>
            <a:r>
              <a:rPr lang="zh-CN" altLang="en-US" dirty="0">
                <a:solidFill>
                  <a:srgbClr val="FF0000"/>
                </a:solidFill>
              </a:rPr>
              <a:t>默认值 </a:t>
            </a:r>
            <a:r>
              <a:rPr lang="en-US" altLang="zh-CN" dirty="0">
                <a:solidFill>
                  <a:srgbClr val="FF0000"/>
                </a:solidFill>
              </a:rPr>
              <a:t>] </a:t>
            </a:r>
            <a:r>
              <a:rPr lang="zh-CN" altLang="en-US" dirty="0">
                <a:solidFill>
                  <a:srgbClr val="FF0000"/>
                </a:solidFill>
              </a:rPr>
              <a:t>；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修饰符可以是 （</a:t>
            </a:r>
            <a:r>
              <a:rPr lang="en-US" altLang="zh-CN" dirty="0"/>
              <a:t>public</a:t>
            </a:r>
            <a:r>
              <a:rPr lang="zh-CN" altLang="en-US" dirty="0"/>
              <a:t>，</a:t>
            </a:r>
            <a:r>
              <a:rPr lang="en-US" altLang="zh-CN" dirty="0"/>
              <a:t>protected</a:t>
            </a:r>
            <a:r>
              <a:rPr lang="zh-CN" altLang="en-US" dirty="0"/>
              <a:t>，</a:t>
            </a:r>
            <a:r>
              <a:rPr lang="en-US" altLang="zh-CN" dirty="0"/>
              <a:t>private</a:t>
            </a:r>
            <a:r>
              <a:rPr lang="zh-CN" altLang="en-US" dirty="0"/>
              <a:t>之一），</a:t>
            </a:r>
            <a:r>
              <a:rPr lang="en-US" altLang="zh-CN" dirty="0"/>
              <a:t>static</a:t>
            </a:r>
            <a:r>
              <a:rPr lang="zh-CN" altLang="en-US" dirty="0"/>
              <a:t>，</a:t>
            </a:r>
            <a:r>
              <a:rPr lang="en-US" altLang="zh-CN" dirty="0"/>
              <a:t>final</a:t>
            </a:r>
            <a:r>
              <a:rPr lang="zh-CN" altLang="en-US" dirty="0"/>
              <a:t>，或者没有。</a:t>
            </a:r>
            <a:endParaRPr lang="en-US" altLang="zh-CN" dirty="0"/>
          </a:p>
          <a:p>
            <a:pPr lvl="1"/>
            <a:r>
              <a:rPr lang="zh-CN" altLang="en-US" dirty="0"/>
              <a:t>域名习惯上首单词小写，后面的单词首字母大写。</a:t>
            </a:r>
            <a:endParaRPr lang="en-US" altLang="zh-CN" dirty="0"/>
          </a:p>
          <a:p>
            <a:r>
              <a:rPr lang="zh-CN" altLang="en-US" dirty="0"/>
              <a:t>方法的定义格式：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[</a:t>
            </a:r>
            <a:r>
              <a:rPr lang="zh-CN" altLang="en-US" dirty="0">
                <a:solidFill>
                  <a:srgbClr val="FF0000"/>
                </a:solidFill>
              </a:rPr>
              <a:t>修饰符</a:t>
            </a:r>
            <a:r>
              <a:rPr lang="en-US" altLang="zh-CN" dirty="0">
                <a:solidFill>
                  <a:srgbClr val="FF0000"/>
                </a:solidFill>
              </a:rPr>
              <a:t>]  </a:t>
            </a:r>
            <a:r>
              <a:rPr lang="zh-CN" altLang="en-US" dirty="0">
                <a:solidFill>
                  <a:srgbClr val="FF0000"/>
                </a:solidFill>
              </a:rPr>
              <a:t>返回值类型  方法名 （形参列表）</a:t>
            </a:r>
            <a:br>
              <a:rPr lang="en-US" altLang="zh-CN" dirty="0">
                <a:solidFill>
                  <a:srgbClr val="FF0000"/>
                </a:solidFill>
              </a:rPr>
            </a:br>
            <a:r>
              <a:rPr lang="en-US" altLang="zh-CN" dirty="0">
                <a:solidFill>
                  <a:srgbClr val="FF0000"/>
                </a:solidFill>
              </a:rPr>
              <a:t>{</a:t>
            </a:r>
            <a:endParaRPr lang="en-US" altLang="zh-CN" dirty="0">
              <a:solidFill>
                <a:srgbClr val="FF0000"/>
              </a:solidFill>
            </a:endParaRPr>
          </a:p>
          <a:p>
            <a:pPr marL="914400" lvl="2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由语句组成的方法体；</a:t>
            </a:r>
            <a:endParaRPr lang="en-US" altLang="zh-CN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  }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修饰符可以是（</a:t>
            </a:r>
            <a:r>
              <a:rPr lang="en-US" altLang="zh-CN" dirty="0"/>
              <a:t>public</a:t>
            </a:r>
            <a:r>
              <a:rPr lang="zh-CN" altLang="en-US" dirty="0"/>
              <a:t>，</a:t>
            </a:r>
            <a:r>
              <a:rPr lang="en-US" altLang="zh-CN" dirty="0"/>
              <a:t>protected</a:t>
            </a:r>
            <a:r>
              <a:rPr lang="zh-CN" altLang="en-US" dirty="0"/>
              <a:t>，</a:t>
            </a:r>
            <a:r>
              <a:rPr lang="en-US" altLang="zh-CN" dirty="0"/>
              <a:t>private</a:t>
            </a:r>
            <a:r>
              <a:rPr lang="zh-CN" altLang="en-US" dirty="0"/>
              <a:t>之一），</a:t>
            </a:r>
            <a:r>
              <a:rPr lang="en-US" altLang="zh-CN" dirty="0"/>
              <a:t>static</a:t>
            </a:r>
            <a:r>
              <a:rPr lang="zh-CN" altLang="en-US" dirty="0"/>
              <a:t>，（</a:t>
            </a:r>
            <a:r>
              <a:rPr lang="en-US" altLang="zh-CN" dirty="0"/>
              <a:t>final</a:t>
            </a:r>
            <a:r>
              <a:rPr lang="zh-CN" altLang="en-US" dirty="0"/>
              <a:t>，</a:t>
            </a:r>
            <a:r>
              <a:rPr lang="en-US" altLang="zh-CN" dirty="0"/>
              <a:t>abstract</a:t>
            </a:r>
            <a:r>
              <a:rPr lang="zh-CN" altLang="en-US" dirty="0"/>
              <a:t>之一），或者没有。</a:t>
            </a:r>
            <a:endParaRPr lang="en-US" altLang="zh-CN" dirty="0"/>
          </a:p>
          <a:p>
            <a:pPr lvl="1"/>
            <a:r>
              <a:rPr lang="zh-CN" altLang="en-US" dirty="0"/>
              <a:t>方法名的规则与域名相同，建议动词开头。</a:t>
            </a:r>
            <a:endParaRPr lang="en-US" altLang="zh-CN" dirty="0"/>
          </a:p>
          <a:p>
            <a:pPr lvl="1"/>
            <a:r>
              <a:rPr lang="zh-CN" altLang="en-US" dirty="0"/>
              <a:t>方法中的语句按严格顺序从上到下执行。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0728"/>
            <a:ext cx="8075240" cy="5544616"/>
          </a:xfrm>
        </p:spPr>
        <p:txBody>
          <a:bodyPr>
            <a:normAutofit/>
          </a:bodyPr>
          <a:lstStyle/>
          <a:p>
            <a:r>
              <a:rPr lang="zh-CN" altLang="en-US" dirty="0"/>
              <a:t>注意：</a:t>
            </a:r>
            <a:r>
              <a:rPr lang="en-US" altLang="zh-CN" dirty="0"/>
              <a:t>static </a:t>
            </a:r>
            <a:r>
              <a:rPr lang="zh-CN" altLang="en-US" dirty="0"/>
              <a:t>是个特殊的关键字，它表示所修饰的域或方法不属于类的某个实例（对象），而是属于类本身。由</a:t>
            </a:r>
            <a:r>
              <a:rPr lang="en-US" altLang="zh-CN" dirty="0"/>
              <a:t>static</a:t>
            </a:r>
            <a:r>
              <a:rPr lang="zh-CN" altLang="en-US" dirty="0"/>
              <a:t>修饰的域和方法称为</a:t>
            </a:r>
            <a:r>
              <a:rPr lang="zh-CN" altLang="en-US" dirty="0">
                <a:solidFill>
                  <a:srgbClr val="FF0000"/>
                </a:solidFill>
              </a:rPr>
              <a:t>类域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FF0000"/>
                </a:solidFill>
              </a:rPr>
              <a:t>类方法</a:t>
            </a:r>
            <a:r>
              <a:rPr lang="zh-CN" altLang="en-US" dirty="0"/>
              <a:t>，相对的是</a:t>
            </a:r>
            <a:r>
              <a:rPr lang="zh-CN" altLang="en-US" dirty="0">
                <a:solidFill>
                  <a:srgbClr val="FF0000"/>
                </a:solidFill>
              </a:rPr>
              <a:t>实例域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FF0000"/>
                </a:solidFill>
              </a:rPr>
              <a:t>实例方法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构造器是一种特殊方法，定义格式如下：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[</a:t>
            </a:r>
            <a:r>
              <a:rPr lang="zh-CN" altLang="en-US" dirty="0">
                <a:solidFill>
                  <a:srgbClr val="FF0000"/>
                </a:solidFill>
              </a:rPr>
              <a:t>修饰符</a:t>
            </a:r>
            <a:r>
              <a:rPr lang="en-US" altLang="zh-CN" dirty="0">
                <a:solidFill>
                  <a:srgbClr val="FF0000"/>
                </a:solidFill>
              </a:rPr>
              <a:t>]  </a:t>
            </a:r>
            <a:r>
              <a:rPr lang="zh-CN" altLang="en-US" dirty="0">
                <a:solidFill>
                  <a:srgbClr val="FF0000"/>
                </a:solidFill>
              </a:rPr>
              <a:t>构造器名 （形参类表）</a:t>
            </a:r>
            <a:endParaRPr lang="en-US" altLang="zh-CN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  {</a:t>
            </a:r>
            <a:endParaRPr lang="en-US" altLang="zh-CN" dirty="0">
              <a:solidFill>
                <a:srgbClr val="FF0000"/>
              </a:solidFill>
            </a:endParaRPr>
          </a:p>
          <a:p>
            <a:pPr marL="914400" lvl="2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由语句组成的构造器执行体；</a:t>
            </a:r>
            <a:endParaRPr lang="en-US" altLang="zh-CN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  }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修饰符可以省略或是</a:t>
            </a:r>
            <a:r>
              <a:rPr lang="en-US" altLang="zh-CN" dirty="0"/>
              <a:t>public</a:t>
            </a:r>
            <a:r>
              <a:rPr lang="zh-CN" altLang="en-US" dirty="0"/>
              <a:t>，</a:t>
            </a:r>
            <a:r>
              <a:rPr lang="en-US" altLang="zh-CN" dirty="0"/>
              <a:t>protected</a:t>
            </a:r>
            <a:r>
              <a:rPr lang="zh-CN" altLang="en-US" dirty="0"/>
              <a:t>，</a:t>
            </a:r>
            <a:r>
              <a:rPr lang="en-US" altLang="zh-CN" dirty="0"/>
              <a:t>private</a:t>
            </a:r>
            <a:r>
              <a:rPr lang="zh-CN" altLang="en-US" dirty="0"/>
              <a:t>之一。</a:t>
            </a:r>
            <a:endParaRPr lang="en-US" altLang="zh-CN" dirty="0"/>
          </a:p>
          <a:p>
            <a:pPr lvl="1"/>
            <a:r>
              <a:rPr lang="zh-CN" altLang="en-US" dirty="0"/>
              <a:t>构造器名与所处的类类名相同。</a:t>
            </a:r>
            <a:endParaRPr lang="en-US" altLang="zh-CN" dirty="0"/>
          </a:p>
          <a:p>
            <a:pPr lvl="1"/>
            <a:r>
              <a:rPr lang="zh-CN" altLang="en-US" dirty="0"/>
              <a:t>没有返回值，即没有</a:t>
            </a:r>
            <a:r>
              <a:rPr lang="en-US" altLang="zh-CN" dirty="0"/>
              <a:t>return</a:t>
            </a:r>
            <a:r>
              <a:rPr lang="zh-CN" altLang="en-US" dirty="0"/>
              <a:t>语句。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类和文件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Java</a:t>
            </a:r>
            <a:r>
              <a:rPr lang="zh-CN" altLang="en-US" dirty="0"/>
              <a:t>文件名规则：</a:t>
            </a:r>
            <a:endParaRPr lang="en-US" altLang="zh-CN" dirty="0"/>
          </a:p>
          <a:p>
            <a:pPr lvl="1"/>
            <a:r>
              <a:rPr lang="zh-CN" altLang="en-US" dirty="0"/>
              <a:t>提倡一个文件中只定义一个类，规则上也可以有多个类；编译后每个类单独生成一个 </a:t>
            </a:r>
            <a:r>
              <a:rPr lang="en-US" altLang="zh-CN" dirty="0"/>
              <a:t>.class </a:t>
            </a:r>
            <a:r>
              <a:rPr lang="zh-CN" altLang="en-US" dirty="0"/>
              <a:t>文件，与其所在的源文件无关。</a:t>
            </a:r>
            <a:endParaRPr lang="en-US" altLang="zh-CN" dirty="0"/>
          </a:p>
          <a:p>
            <a:pPr lvl="1"/>
            <a:r>
              <a:rPr lang="zh-CN" altLang="en-US" dirty="0"/>
              <a:t>一个文件中最多只能有一个类用</a:t>
            </a:r>
            <a:r>
              <a:rPr lang="en-US" altLang="zh-CN" dirty="0"/>
              <a:t>public</a:t>
            </a:r>
            <a:r>
              <a:rPr lang="zh-CN" altLang="en-US" dirty="0"/>
              <a:t>修饰，如果有，文件名必须与</a:t>
            </a:r>
            <a:r>
              <a:rPr lang="en-US" altLang="zh-CN" dirty="0"/>
              <a:t>public</a:t>
            </a:r>
            <a:r>
              <a:rPr lang="zh-CN" altLang="en-US" dirty="0"/>
              <a:t>修饰的类一致；如果一个文件中没有</a:t>
            </a:r>
            <a:r>
              <a:rPr lang="en-US" altLang="zh-CN" dirty="0"/>
              <a:t>public</a:t>
            </a:r>
            <a:r>
              <a:rPr lang="zh-CN" altLang="en-US" dirty="0"/>
              <a:t>类，则文件名可以任意。</a:t>
            </a:r>
            <a:endParaRPr lang="en-US" altLang="zh-CN" dirty="0"/>
          </a:p>
          <a:p>
            <a:pPr lvl="1"/>
            <a:r>
              <a:rPr lang="zh-CN" altLang="en-US" dirty="0"/>
              <a:t>与</a:t>
            </a:r>
            <a:r>
              <a:rPr lang="en-US" altLang="zh-CN" dirty="0"/>
              <a:t>C++</a:t>
            </a:r>
            <a:r>
              <a:rPr lang="zh-CN" altLang="en-US" dirty="0"/>
              <a:t>不同，</a:t>
            </a:r>
            <a:r>
              <a:rPr lang="en-US" altLang="zh-CN" dirty="0"/>
              <a:t>java</a:t>
            </a:r>
            <a:r>
              <a:rPr lang="zh-CN" altLang="en-US" dirty="0"/>
              <a:t>程序的所有方法，包括</a:t>
            </a:r>
            <a:r>
              <a:rPr lang="en-US" altLang="zh-CN" dirty="0"/>
              <a:t>main</a:t>
            </a:r>
            <a:r>
              <a:rPr lang="zh-CN" altLang="en-US" dirty="0"/>
              <a:t>方法，都是定义在类中的方法，且每个类里都可以有</a:t>
            </a:r>
            <a:r>
              <a:rPr lang="en-US" altLang="zh-CN" dirty="0"/>
              <a:t>main</a:t>
            </a:r>
            <a:r>
              <a:rPr lang="zh-CN" altLang="en-US" dirty="0"/>
              <a:t>方法。在多数情况下，只有一个类中有</a:t>
            </a:r>
            <a:r>
              <a:rPr lang="en-US" altLang="zh-CN" dirty="0"/>
              <a:t>main</a:t>
            </a:r>
            <a:r>
              <a:rPr lang="zh-CN" altLang="en-US" dirty="0"/>
              <a:t>方法，作为程序的入口，而其他类中没有。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0728"/>
            <a:ext cx="8075240" cy="5544616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一个简单的类：</a:t>
            </a:r>
            <a:r>
              <a:rPr lang="en-US" altLang="zh-CN" dirty="0"/>
              <a:t>Student.java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class Student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public String name;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public </a:t>
            </a:r>
            <a:r>
              <a:rPr lang="en-US" altLang="zh-CN" dirty="0" err="1"/>
              <a:t>int</a:t>
            </a:r>
            <a:r>
              <a:rPr lang="en-US" altLang="zh-CN" dirty="0"/>
              <a:t> age;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public String major;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public void say()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System.out.println</a:t>
            </a:r>
            <a:r>
              <a:rPr lang="en-US" altLang="zh-CN" dirty="0"/>
              <a:t>("</a:t>
            </a:r>
            <a:r>
              <a:rPr lang="zh-CN" altLang="en-US" dirty="0"/>
              <a:t>我的名字是</a:t>
            </a:r>
            <a:r>
              <a:rPr lang="en-US" altLang="zh-CN" dirty="0"/>
              <a:t>"+ name 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System.out.println</a:t>
            </a:r>
            <a:r>
              <a:rPr lang="en-US" altLang="zh-CN" dirty="0"/>
              <a:t>("</a:t>
            </a:r>
            <a:r>
              <a:rPr lang="zh-CN" altLang="en-US" dirty="0"/>
              <a:t>我今年</a:t>
            </a:r>
            <a:r>
              <a:rPr lang="en-US" altLang="zh-CN" dirty="0"/>
              <a:t>"+ age +"</a:t>
            </a:r>
            <a:r>
              <a:rPr lang="zh-CN" altLang="en-US" dirty="0"/>
              <a:t>岁</a:t>
            </a:r>
            <a:r>
              <a:rPr lang="en-US" altLang="zh-CN" dirty="0"/>
              <a:t>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System.out.println</a:t>
            </a:r>
            <a:r>
              <a:rPr lang="en-US" altLang="zh-CN" dirty="0"/>
              <a:t>("</a:t>
            </a:r>
            <a:r>
              <a:rPr lang="zh-CN" altLang="en-US" dirty="0"/>
              <a:t>我的专业是</a:t>
            </a:r>
            <a:r>
              <a:rPr lang="en-US" altLang="zh-CN" dirty="0"/>
              <a:t>"+ major);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0728"/>
            <a:ext cx="8075240" cy="5760640"/>
          </a:xfrm>
        </p:spPr>
        <p:txBody>
          <a:bodyPr>
            <a:normAutofit lnSpcReduction="10000"/>
          </a:bodyPr>
          <a:lstStyle/>
          <a:p>
            <a:r>
              <a:rPr lang="en-US" altLang="zh-CN" dirty="0" err="1"/>
              <a:t>StudentTest</a:t>
            </a:r>
            <a:r>
              <a:rPr lang="zh-CN" altLang="en-US" dirty="0"/>
              <a:t>类中的方法使用了</a:t>
            </a:r>
            <a:r>
              <a:rPr lang="en-US" altLang="zh-CN" dirty="0"/>
              <a:t>Student</a:t>
            </a:r>
            <a:r>
              <a:rPr lang="zh-CN" altLang="en-US" dirty="0"/>
              <a:t>类</a:t>
            </a:r>
            <a:endParaRPr lang="en-US" altLang="zh-CN" dirty="0"/>
          </a:p>
          <a:p>
            <a:pPr lvl="1"/>
            <a:r>
              <a:rPr lang="en-US" altLang="zh-CN" dirty="0"/>
              <a:t>// StudentTest.java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public class </a:t>
            </a:r>
            <a:r>
              <a:rPr lang="en-US" altLang="zh-CN" dirty="0" err="1"/>
              <a:t>StudentTest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Student </a:t>
            </a:r>
            <a:r>
              <a:rPr lang="zh-CN" altLang="en-US" dirty="0"/>
              <a:t>李华 </a:t>
            </a:r>
            <a:r>
              <a:rPr lang="en-US" altLang="zh-CN" dirty="0"/>
              <a:t>= new Student();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zh-CN" altLang="en-US" dirty="0"/>
              <a:t>李华</a:t>
            </a:r>
            <a:r>
              <a:rPr lang="en-US" altLang="zh-CN" dirty="0"/>
              <a:t>.name = "</a:t>
            </a:r>
            <a:r>
              <a:rPr lang="zh-CN" altLang="en-US" dirty="0"/>
              <a:t>李华</a:t>
            </a:r>
            <a:r>
              <a:rPr lang="en-US" altLang="zh-CN" dirty="0"/>
              <a:t>";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zh-CN" altLang="en-US" dirty="0"/>
              <a:t>李华</a:t>
            </a:r>
            <a:r>
              <a:rPr lang="en-US" altLang="zh-CN" dirty="0"/>
              <a:t>.age = 21;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zh-CN" altLang="en-US" dirty="0"/>
              <a:t>李华</a:t>
            </a:r>
            <a:r>
              <a:rPr lang="en-US" altLang="zh-CN" dirty="0"/>
              <a:t>.major = "</a:t>
            </a:r>
            <a:r>
              <a:rPr lang="zh-CN" altLang="en-US" dirty="0"/>
              <a:t>软件工程</a:t>
            </a:r>
            <a:r>
              <a:rPr lang="en-US" altLang="zh-CN" dirty="0"/>
              <a:t>";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zh-CN" altLang="en-US" dirty="0"/>
              <a:t>李华</a:t>
            </a:r>
            <a:r>
              <a:rPr lang="en-US" altLang="zh-CN" dirty="0"/>
              <a:t>.say();		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上面的例子中先创建了类的对象“李华”，创建对象使用了系统给出的默认构造器：</a:t>
            </a:r>
            <a:endParaRPr lang="en-US" altLang="zh-CN" dirty="0"/>
          </a:p>
          <a:p>
            <a:pPr lvl="1"/>
            <a:r>
              <a:rPr lang="en-US" altLang="zh-CN" dirty="0"/>
              <a:t>Student </a:t>
            </a:r>
            <a:r>
              <a:rPr lang="zh-CN" altLang="en-US" dirty="0"/>
              <a:t>李华 </a:t>
            </a:r>
            <a:r>
              <a:rPr lang="en-US" altLang="zh-CN" dirty="0"/>
              <a:t>= new Student();</a:t>
            </a:r>
            <a:endParaRPr lang="en-US" altLang="zh-CN" dirty="0"/>
          </a:p>
          <a:p>
            <a:r>
              <a:rPr lang="zh-CN" altLang="en-US" dirty="0"/>
              <a:t>有了对象就可以：</a:t>
            </a:r>
            <a:endParaRPr lang="en-US" altLang="zh-CN" dirty="0"/>
          </a:p>
          <a:p>
            <a:pPr lvl="1"/>
            <a:r>
              <a:rPr lang="zh-CN" altLang="en-US" dirty="0"/>
              <a:t>访问对象的实例域（如果允许）；</a:t>
            </a:r>
            <a:endParaRPr lang="en-US" altLang="zh-CN" dirty="0"/>
          </a:p>
          <a:p>
            <a:pPr lvl="1"/>
            <a:r>
              <a:rPr lang="zh-CN" altLang="en-US" dirty="0"/>
              <a:t>调用对象的方法（如果允许）。</a:t>
            </a:r>
            <a:endParaRPr lang="en-US" altLang="zh-CN" dirty="0"/>
          </a:p>
          <a:p>
            <a:pPr lvl="1"/>
            <a:r>
              <a:rPr lang="en-US" altLang="zh-CN" dirty="0"/>
              <a:t>static </a:t>
            </a:r>
            <a:r>
              <a:rPr lang="zh-CN" altLang="en-US" dirty="0"/>
              <a:t>修饰的成员，可以用类名或对象名调用，非</a:t>
            </a:r>
            <a:r>
              <a:rPr lang="en-US" altLang="zh-CN" dirty="0"/>
              <a:t>static</a:t>
            </a:r>
            <a:r>
              <a:rPr lang="zh-CN" altLang="en-US" dirty="0"/>
              <a:t>成员只能用对象来调用。</a:t>
            </a:r>
            <a:endParaRPr lang="en-US" altLang="zh-CN" dirty="0"/>
          </a:p>
          <a:p>
            <a:pPr lvl="1"/>
            <a:r>
              <a:rPr lang="zh-CN" altLang="en-US" dirty="0"/>
              <a:t>与数组一样，</a:t>
            </a:r>
            <a:r>
              <a:rPr lang="en-US" altLang="zh-CN" dirty="0"/>
              <a:t>new</a:t>
            </a:r>
            <a:r>
              <a:rPr lang="zh-CN" altLang="en-US" dirty="0"/>
              <a:t>创建的对象在堆中，而对象的名字其实是个引用变量，它存在于栈中。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  </a:t>
            </a:r>
            <a:r>
              <a:rPr lang="zh-CN" altLang="en-US" dirty="0"/>
              <a:t>类中的域和方法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0728"/>
            <a:ext cx="8075240" cy="5544616"/>
          </a:xfrm>
        </p:spPr>
        <p:txBody>
          <a:bodyPr>
            <a:normAutofit/>
          </a:bodyPr>
          <a:lstStyle/>
          <a:p>
            <a:r>
              <a:rPr lang="zh-CN" altLang="en-US" dirty="0"/>
              <a:t>前面的</a:t>
            </a:r>
            <a:r>
              <a:rPr lang="en-US" altLang="zh-CN" dirty="0"/>
              <a:t>Student</a:t>
            </a:r>
            <a:r>
              <a:rPr lang="zh-CN" altLang="en-US" dirty="0"/>
              <a:t>类中，所有的成员（域和方法）都用</a:t>
            </a:r>
            <a:r>
              <a:rPr lang="en-US" altLang="zh-CN" dirty="0"/>
              <a:t>public</a:t>
            </a:r>
            <a:r>
              <a:rPr lang="zh-CN" altLang="en-US" dirty="0"/>
              <a:t>修饰，表示</a:t>
            </a:r>
            <a:r>
              <a:rPr lang="zh-CN" altLang="en-US" dirty="0">
                <a:solidFill>
                  <a:srgbClr val="FF0000"/>
                </a:solidFill>
              </a:rPr>
              <a:t>任何类的任何方法</a:t>
            </a:r>
            <a:r>
              <a:rPr lang="zh-CN" altLang="en-US" dirty="0"/>
              <a:t>都可以访问到它们，这样做是不安全的，因为任何方法都可以改变对象的数据。</a:t>
            </a:r>
            <a:endParaRPr lang="en-US" altLang="zh-CN" dirty="0"/>
          </a:p>
          <a:p>
            <a:r>
              <a:rPr lang="zh-CN" altLang="en-US" dirty="0"/>
              <a:t>通常建议类中的</a:t>
            </a:r>
            <a:r>
              <a:rPr lang="zh-CN" altLang="en-US" dirty="0">
                <a:solidFill>
                  <a:srgbClr val="FF0000"/>
                </a:solidFill>
              </a:rPr>
              <a:t>实例域</a:t>
            </a:r>
            <a:r>
              <a:rPr lang="zh-CN" altLang="en-US" dirty="0"/>
              <a:t>（没有用</a:t>
            </a:r>
            <a:r>
              <a:rPr lang="en-US" altLang="zh-CN" dirty="0"/>
              <a:t>static</a:t>
            </a:r>
            <a:r>
              <a:rPr lang="zh-CN" altLang="en-US" dirty="0"/>
              <a:t>修饰的域，它属于一个对象）都用</a:t>
            </a:r>
            <a:r>
              <a:rPr lang="en-US" altLang="zh-CN" dirty="0"/>
              <a:t>private</a:t>
            </a:r>
            <a:r>
              <a:rPr lang="zh-CN" altLang="en-US" dirty="0"/>
              <a:t>修饰，表示只有本类的方法可以访问这些数据，起到封装的作用。</a:t>
            </a:r>
            <a:endParaRPr lang="en-US" altLang="zh-CN" dirty="0"/>
          </a:p>
          <a:p>
            <a:r>
              <a:rPr lang="zh-CN" altLang="en-US" dirty="0"/>
              <a:t>类成员共有</a:t>
            </a:r>
            <a:r>
              <a:rPr lang="en-US" altLang="zh-CN" dirty="0"/>
              <a:t>4</a:t>
            </a:r>
            <a:r>
              <a:rPr lang="zh-CN" altLang="en-US" dirty="0"/>
              <a:t>种访问控制级别：</a:t>
            </a:r>
            <a:endParaRPr lang="en-US" altLang="zh-CN" dirty="0"/>
          </a:p>
          <a:p>
            <a:pPr lvl="1"/>
            <a:r>
              <a:rPr lang="en-US" altLang="zh-CN" dirty="0"/>
              <a:t>private, </a:t>
            </a:r>
            <a:r>
              <a:rPr lang="zh-CN" altLang="en-US" dirty="0"/>
              <a:t>本类可以访问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00B050"/>
                </a:solidFill>
              </a:rPr>
              <a:t>default</a:t>
            </a:r>
            <a:r>
              <a:rPr lang="zh-CN" altLang="en-US" dirty="0">
                <a:solidFill>
                  <a:srgbClr val="00B050"/>
                </a:solidFill>
              </a:rPr>
              <a:t>（不写访问控制关键字）</a:t>
            </a:r>
            <a:r>
              <a:rPr lang="en-US" altLang="zh-CN" dirty="0"/>
              <a:t>, </a:t>
            </a:r>
            <a:r>
              <a:rPr lang="zh-CN" altLang="en-US" dirty="0"/>
              <a:t>本包内可以访问</a:t>
            </a:r>
            <a:r>
              <a:rPr lang="en-US" altLang="zh-CN" dirty="0"/>
              <a:t>   </a:t>
            </a:r>
            <a:endParaRPr lang="en-US" altLang="zh-CN" dirty="0"/>
          </a:p>
          <a:p>
            <a:pPr lvl="1"/>
            <a:r>
              <a:rPr lang="en-US" altLang="zh-CN" dirty="0"/>
              <a:t>protected, </a:t>
            </a:r>
            <a:r>
              <a:rPr lang="zh-CN" altLang="en-US" dirty="0"/>
              <a:t>本包和其他包本类的子类可以访问</a:t>
            </a:r>
            <a:r>
              <a:rPr lang="en-US" altLang="zh-CN" dirty="0"/>
              <a:t>  </a:t>
            </a:r>
            <a:endParaRPr lang="en-US" altLang="zh-CN" dirty="0"/>
          </a:p>
          <a:p>
            <a:pPr lvl="1"/>
            <a:r>
              <a:rPr lang="en-US" altLang="zh-CN" dirty="0"/>
              <a:t>public</a:t>
            </a:r>
            <a:r>
              <a:rPr lang="zh-CN" altLang="en-US" dirty="0"/>
              <a:t>，全局可以访问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0728"/>
            <a:ext cx="8435280" cy="5256584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/>
              <a:t>另一个例子：</a:t>
            </a:r>
            <a:r>
              <a:rPr lang="en-US" altLang="zh-CN" dirty="0"/>
              <a:t>EmployeeTest.java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import </a:t>
            </a:r>
            <a:r>
              <a:rPr lang="en-US" altLang="zh-CN" dirty="0" err="1"/>
              <a:t>java.time</a:t>
            </a:r>
            <a:r>
              <a:rPr lang="en-US" altLang="zh-CN" dirty="0"/>
              <a:t>.*;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class Employee   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private String name;  </a:t>
            </a:r>
            <a:r>
              <a:rPr lang="en-US" altLang="zh-CN" dirty="0">
                <a:solidFill>
                  <a:srgbClr val="00B050"/>
                </a:solidFill>
              </a:rPr>
              <a:t>//</a:t>
            </a:r>
            <a:r>
              <a:rPr lang="zh-CN" altLang="en-US" dirty="0">
                <a:solidFill>
                  <a:srgbClr val="00B050"/>
                </a:solidFill>
              </a:rPr>
              <a:t>私有成员，只有本类内的方法可以访问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private double salary;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private </a:t>
            </a:r>
            <a:r>
              <a:rPr lang="en-US" altLang="zh-CN" dirty="0" err="1"/>
              <a:t>LocalDate</a:t>
            </a:r>
            <a:r>
              <a:rPr lang="en-US" altLang="zh-CN" dirty="0"/>
              <a:t> </a:t>
            </a:r>
            <a:r>
              <a:rPr lang="en-US" altLang="zh-CN" dirty="0" err="1"/>
              <a:t>hireDay</a:t>
            </a:r>
            <a:r>
              <a:rPr lang="en-US" altLang="zh-CN" dirty="0"/>
              <a:t>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>
                <a:solidFill>
                  <a:srgbClr val="00B050"/>
                </a:solidFill>
              </a:rPr>
              <a:t>//</a:t>
            </a:r>
            <a:r>
              <a:rPr lang="zh-CN" altLang="en-US" dirty="0">
                <a:solidFill>
                  <a:srgbClr val="00B050"/>
                </a:solidFill>
              </a:rPr>
              <a:t>公有构造器，全局可以访问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</a:t>
            </a:r>
            <a:r>
              <a:rPr lang="en-US" altLang="zh-CN" dirty="0" err="1"/>
              <a:t>publicEmployee</a:t>
            </a:r>
            <a:r>
              <a:rPr lang="en-US" altLang="zh-CN" dirty="0"/>
              <a:t>(String n, double s, </a:t>
            </a:r>
            <a:r>
              <a:rPr lang="en-US" altLang="zh-CN" dirty="0" err="1"/>
              <a:t>int</a:t>
            </a:r>
            <a:r>
              <a:rPr lang="en-US" altLang="zh-CN" dirty="0"/>
              <a:t> year, </a:t>
            </a:r>
            <a:r>
              <a:rPr lang="en-US" altLang="zh-CN" dirty="0" err="1"/>
              <a:t>int</a:t>
            </a:r>
            <a:r>
              <a:rPr lang="en-US" altLang="zh-CN" dirty="0"/>
              <a:t> month, </a:t>
            </a:r>
            <a:r>
              <a:rPr lang="en-US" altLang="zh-CN" dirty="0" err="1"/>
              <a:t>int</a:t>
            </a:r>
            <a:r>
              <a:rPr lang="en-US" altLang="zh-CN" dirty="0"/>
              <a:t> day)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name = n;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salary = s;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hireDay</a:t>
            </a:r>
            <a:r>
              <a:rPr lang="en-US" altLang="zh-CN" dirty="0"/>
              <a:t> = </a:t>
            </a:r>
            <a:r>
              <a:rPr lang="en-US" altLang="zh-CN" dirty="0" err="1"/>
              <a:t>LocalDate.of</a:t>
            </a:r>
            <a:r>
              <a:rPr lang="en-US" altLang="zh-CN" dirty="0"/>
              <a:t>(year, month, day);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}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0728"/>
            <a:ext cx="8075240" cy="5832648"/>
          </a:xfrm>
        </p:spPr>
        <p:txBody>
          <a:bodyPr>
            <a:normAutofit fontScale="85000" lnSpcReduction="20000"/>
          </a:bodyPr>
          <a:lstStyle/>
          <a:p>
            <a:pPr marL="274320" lvl="1" indent="0">
              <a:buNone/>
            </a:pPr>
            <a:r>
              <a:rPr lang="en-US" altLang="zh-CN" dirty="0"/>
              <a:t> public String </a:t>
            </a:r>
            <a:r>
              <a:rPr lang="en-US" altLang="zh-CN" dirty="0" err="1"/>
              <a:t>getName</a:t>
            </a:r>
            <a:r>
              <a:rPr lang="en-US" altLang="zh-CN" dirty="0"/>
              <a:t>()   </a:t>
            </a:r>
            <a:r>
              <a:rPr lang="en-US" altLang="zh-CN" dirty="0">
                <a:solidFill>
                  <a:srgbClr val="00B050"/>
                </a:solidFill>
              </a:rPr>
              <a:t>//</a:t>
            </a:r>
            <a:r>
              <a:rPr lang="zh-CN" altLang="en-US" dirty="0">
                <a:solidFill>
                  <a:srgbClr val="00B050"/>
                </a:solidFill>
              </a:rPr>
              <a:t>公有方法，全局可以访问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return name;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public double </a:t>
            </a:r>
            <a:r>
              <a:rPr lang="en-US" altLang="zh-CN" dirty="0" err="1"/>
              <a:t>getSalary</a:t>
            </a:r>
            <a:r>
              <a:rPr lang="en-US" altLang="zh-CN" dirty="0"/>
              <a:t>()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return salary;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public </a:t>
            </a:r>
            <a:r>
              <a:rPr lang="en-US" altLang="zh-CN" dirty="0" err="1"/>
              <a:t>LocalDate</a:t>
            </a:r>
            <a:r>
              <a:rPr lang="en-US" altLang="zh-CN" dirty="0"/>
              <a:t> </a:t>
            </a:r>
            <a:r>
              <a:rPr lang="en-US" altLang="zh-CN" dirty="0" err="1"/>
              <a:t>getHireDay</a:t>
            </a:r>
            <a:r>
              <a:rPr lang="en-US" altLang="zh-CN" dirty="0"/>
              <a:t>()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return </a:t>
            </a:r>
            <a:r>
              <a:rPr lang="en-US" altLang="zh-CN" dirty="0" err="1"/>
              <a:t>hireDay</a:t>
            </a:r>
            <a:r>
              <a:rPr lang="en-US" altLang="zh-CN" dirty="0"/>
              <a:t>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public void </a:t>
            </a:r>
            <a:r>
              <a:rPr lang="en-US" altLang="zh-CN" dirty="0" err="1"/>
              <a:t>raiseSalary</a:t>
            </a:r>
            <a:r>
              <a:rPr lang="en-US" altLang="zh-CN" dirty="0"/>
              <a:t>(double </a:t>
            </a:r>
            <a:r>
              <a:rPr lang="en-US" altLang="zh-CN" dirty="0" err="1"/>
              <a:t>byPercent</a:t>
            </a:r>
            <a:r>
              <a:rPr lang="en-US" altLang="zh-CN" dirty="0"/>
              <a:t>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double raise = salary * </a:t>
            </a:r>
            <a:r>
              <a:rPr lang="en-US" altLang="zh-CN" dirty="0" err="1"/>
              <a:t>byPercent</a:t>
            </a:r>
            <a:r>
              <a:rPr lang="en-US" altLang="zh-CN" dirty="0"/>
              <a:t> / 100;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salary += raise;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76672"/>
            <a:ext cx="8075240" cy="5760640"/>
          </a:xfrm>
        </p:spPr>
        <p:txBody>
          <a:bodyPr/>
          <a:lstStyle/>
          <a:p>
            <a:r>
              <a:rPr lang="en-US" altLang="zh-CN" dirty="0" err="1"/>
              <a:t>java.time.LocalDate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取当前日期：</a:t>
            </a:r>
            <a:endParaRPr lang="zh-CN" altLang="en-US" dirty="0">
              <a:solidFill>
                <a:schemeClr val="accent3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 err="1"/>
              <a:t>LocalDate</a:t>
            </a:r>
            <a:r>
              <a:rPr lang="en-US" altLang="zh-CN" dirty="0"/>
              <a:t> today = </a:t>
            </a:r>
            <a:r>
              <a:rPr lang="en-US" altLang="zh-CN" dirty="0" err="1"/>
              <a:t>LocalDate.now</a:t>
            </a:r>
            <a:r>
              <a:rPr lang="en-US" altLang="zh-CN" dirty="0"/>
              <a:t>();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得到当前日期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根据年月日取日期：</a:t>
            </a:r>
            <a:endParaRPr lang="zh-CN" altLang="en-US" dirty="0">
              <a:solidFill>
                <a:schemeClr val="accent3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 err="1"/>
              <a:t>LocalDate</a:t>
            </a:r>
            <a:r>
              <a:rPr lang="en-US" altLang="zh-CN" dirty="0"/>
              <a:t> </a:t>
            </a:r>
            <a:r>
              <a:rPr lang="en-US" altLang="zh-CN" dirty="0" err="1"/>
              <a:t>crischristmas</a:t>
            </a:r>
            <a:r>
              <a:rPr lang="en-US" altLang="zh-CN" dirty="0"/>
              <a:t> = </a:t>
            </a:r>
            <a:r>
              <a:rPr lang="en-US" altLang="zh-CN" dirty="0" err="1"/>
              <a:t>LocalDate.of</a:t>
            </a:r>
            <a:r>
              <a:rPr lang="en-US" altLang="zh-CN" dirty="0"/>
              <a:t>(2018, 12, 25);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 -&gt; 2018-12-25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根据字符串取：</a:t>
            </a:r>
            <a:endParaRPr lang="zh-CN" altLang="en-US" dirty="0">
              <a:solidFill>
                <a:schemeClr val="accent3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 err="1"/>
              <a:t>LocalDate</a:t>
            </a:r>
            <a:r>
              <a:rPr lang="en-US" altLang="zh-CN" dirty="0"/>
              <a:t> </a:t>
            </a:r>
            <a:r>
              <a:rPr lang="en-US" altLang="zh-CN" dirty="0" err="1"/>
              <a:t>endOfFeb</a:t>
            </a:r>
            <a:r>
              <a:rPr lang="en-US" altLang="zh-CN" dirty="0"/>
              <a:t> = </a:t>
            </a:r>
            <a:r>
              <a:rPr lang="en-US" altLang="zh-CN" dirty="0" err="1"/>
              <a:t>LocalDate.parse</a:t>
            </a:r>
            <a:r>
              <a:rPr lang="en-US" altLang="zh-CN" dirty="0"/>
              <a:t>(“2014-02-28”);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严格按照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ISO </a:t>
            </a:r>
            <a:r>
              <a:rPr lang="en-US" altLang="zh-CN" dirty="0" err="1">
                <a:solidFill>
                  <a:schemeClr val="accent3">
                    <a:lumMod val="50000"/>
                  </a:schemeClr>
                </a:solidFill>
              </a:rPr>
              <a:t>yyyy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-MM-</a:t>
            </a:r>
            <a:r>
              <a:rPr lang="en-US" altLang="zh-CN" dirty="0" err="1">
                <a:solidFill>
                  <a:schemeClr val="accent3">
                    <a:lumMod val="50000"/>
                  </a:schemeClr>
                </a:solidFill>
              </a:rPr>
              <a:t>dd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验证，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02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写成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2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不行</a:t>
            </a:r>
            <a:r>
              <a:rPr lang="en-US" altLang="zh-CN" dirty="0" err="1"/>
              <a:t>LocalDate.parse</a:t>
            </a:r>
            <a:r>
              <a:rPr lang="en-US" altLang="zh-CN" dirty="0"/>
              <a:t>("2014-02-29");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无效日期无法通过：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en-US" altLang="zh-CN" dirty="0" err="1">
                <a:solidFill>
                  <a:schemeClr val="accent3">
                    <a:lumMod val="50000"/>
                  </a:schemeClr>
                </a:solidFill>
              </a:rPr>
              <a:t>DateTimeParseException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: Invalid date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980728"/>
            <a:ext cx="8496944" cy="5256584"/>
          </a:xfrm>
        </p:spPr>
        <p:txBody>
          <a:bodyPr>
            <a:normAutofit lnSpcReduction="10000"/>
          </a:bodyPr>
          <a:lstStyle/>
          <a:p>
            <a:pPr marL="274320" lvl="1" indent="0">
              <a:buNone/>
            </a:pPr>
            <a:r>
              <a:rPr lang="en-US" altLang="zh-CN" dirty="0"/>
              <a:t>public class </a:t>
            </a:r>
            <a:r>
              <a:rPr lang="en-US" altLang="zh-CN" dirty="0" err="1"/>
              <a:t>EmployeeTest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>
                <a:solidFill>
                  <a:srgbClr val="00B050"/>
                </a:solidFill>
              </a:rPr>
              <a:t>// fill the staff array with three Employee objects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   Employee[] staff = new Employee[3];</a:t>
            </a:r>
            <a:endParaRPr lang="en-US" altLang="zh-CN" dirty="0"/>
          </a:p>
          <a:p>
            <a:pPr marL="274320" lvl="1" indent="0">
              <a:buNone/>
            </a:pP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staff[0] = new Employee("Carl Cracker", 75000, 1987, 12, 15);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staff[1] = new Employee("Harry Hacker", 50000, 1989, 10, 1);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staff[2] = new Employee("Tony Tester", 40000, 1990, 3, 15);</a:t>
            </a:r>
            <a:endParaRPr lang="en-US" altLang="zh-CN" dirty="0"/>
          </a:p>
          <a:p>
            <a:pPr marL="274320" lvl="1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980728"/>
            <a:ext cx="8352928" cy="5256584"/>
          </a:xfrm>
        </p:spPr>
        <p:txBody>
          <a:bodyPr/>
          <a:lstStyle/>
          <a:p>
            <a:pPr marL="274320" lvl="1" indent="0">
              <a:buNone/>
            </a:pPr>
            <a:r>
              <a:rPr lang="en-US" altLang="zh-CN" dirty="0">
                <a:solidFill>
                  <a:srgbClr val="00B050"/>
                </a:solidFill>
              </a:rPr>
              <a:t> // raise everyone's salary by 5%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   for (Employee e : staff)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 </a:t>
            </a:r>
            <a:r>
              <a:rPr lang="en-US" altLang="zh-CN" dirty="0" err="1"/>
              <a:t>e.raiseSalary</a:t>
            </a:r>
            <a:r>
              <a:rPr lang="en-US" altLang="zh-CN" dirty="0"/>
              <a:t>(5);</a:t>
            </a:r>
            <a:endParaRPr lang="en-US" altLang="zh-CN" dirty="0"/>
          </a:p>
          <a:p>
            <a:pPr marL="274320" lvl="1" indent="0">
              <a:buNone/>
            </a:pP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>
                <a:solidFill>
                  <a:srgbClr val="00B050"/>
                </a:solidFill>
              </a:rPr>
              <a:t>      // print out information about all Employee objects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   for (Employee e : staff)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("name=" + </a:t>
            </a:r>
            <a:r>
              <a:rPr lang="en-US" altLang="zh-CN" dirty="0" err="1"/>
              <a:t>e.getName</a:t>
            </a:r>
            <a:r>
              <a:rPr lang="en-US" altLang="zh-CN" dirty="0"/>
              <a:t>() + ",salary=" + </a:t>
            </a:r>
            <a:r>
              <a:rPr lang="en-US" altLang="zh-CN" dirty="0" err="1"/>
              <a:t>e.getSalary</a:t>
            </a:r>
            <a:r>
              <a:rPr lang="en-US" altLang="zh-CN" dirty="0"/>
              <a:t>() + ",</a:t>
            </a:r>
            <a:r>
              <a:rPr lang="en-US" altLang="zh-CN" dirty="0" err="1"/>
              <a:t>hireDay</a:t>
            </a:r>
            <a:r>
              <a:rPr lang="en-US" altLang="zh-CN" dirty="0"/>
              <a:t>="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       + </a:t>
            </a:r>
            <a:r>
              <a:rPr lang="en-US" altLang="zh-CN" dirty="0" err="1"/>
              <a:t>e.getHireDay</a:t>
            </a:r>
            <a:r>
              <a:rPr lang="en-US" altLang="zh-CN" dirty="0"/>
              <a:t>());</a:t>
            </a:r>
            <a:endParaRPr lang="en-US" altLang="zh-CN" dirty="0"/>
          </a:p>
          <a:p>
            <a:pPr marL="274320" lvl="1" indent="0">
              <a:buNone/>
            </a:pP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例子中的三个实例域都用</a:t>
            </a:r>
            <a:r>
              <a:rPr lang="en-US" altLang="zh-CN" dirty="0"/>
              <a:t>private</a:t>
            </a:r>
            <a:r>
              <a:rPr lang="zh-CN" altLang="en-US" dirty="0"/>
              <a:t>修饰，表示仅有本类中的方法才能访问它们。</a:t>
            </a:r>
            <a:endParaRPr lang="en-US" altLang="zh-CN" dirty="0"/>
          </a:p>
          <a:p>
            <a:r>
              <a:rPr lang="zh-CN" altLang="en-US" dirty="0"/>
              <a:t>构造器是与类同名的特殊方法：</a:t>
            </a:r>
            <a:endParaRPr lang="en-US" altLang="zh-CN" dirty="0"/>
          </a:p>
          <a:p>
            <a:pPr lvl="1"/>
            <a:r>
              <a:rPr lang="zh-CN" altLang="en-US" dirty="0"/>
              <a:t>每个类可有多个构造器</a:t>
            </a:r>
            <a:endParaRPr lang="en-US" altLang="zh-CN" dirty="0"/>
          </a:p>
          <a:p>
            <a:pPr lvl="1"/>
            <a:r>
              <a:rPr lang="zh-CN" altLang="en-US" dirty="0"/>
              <a:t>构造器可以有</a:t>
            </a:r>
            <a:r>
              <a:rPr lang="en-US" altLang="zh-CN" dirty="0"/>
              <a:t>0</a:t>
            </a:r>
            <a:r>
              <a:rPr lang="zh-CN" altLang="en-US" dirty="0"/>
              <a:t>个或多个参数，没有返回值</a:t>
            </a:r>
            <a:endParaRPr lang="en-US" altLang="zh-CN" dirty="0"/>
          </a:p>
          <a:p>
            <a:pPr lvl="1"/>
            <a:r>
              <a:rPr lang="zh-CN" altLang="en-US" dirty="0"/>
              <a:t>总是伴随</a:t>
            </a:r>
            <a:r>
              <a:rPr lang="en-US" altLang="zh-CN" dirty="0"/>
              <a:t>new</a:t>
            </a:r>
            <a:r>
              <a:rPr lang="zh-CN" altLang="en-US" dirty="0"/>
              <a:t>操作被调用</a:t>
            </a:r>
            <a:endParaRPr lang="en-US" altLang="zh-CN" dirty="0"/>
          </a:p>
          <a:p>
            <a:pPr lvl="1"/>
            <a:r>
              <a:rPr lang="zh-CN" altLang="en-US" dirty="0"/>
              <a:t>不能用已经存在的对象调用构造器，如</a:t>
            </a:r>
            <a:br>
              <a:rPr lang="en-US" altLang="zh-CN" dirty="0"/>
            </a:br>
            <a:r>
              <a:rPr lang="en-US" altLang="zh-CN" dirty="0" err="1"/>
              <a:t>james.Employee</a:t>
            </a:r>
            <a:r>
              <a:rPr lang="en-US" altLang="zh-CN" dirty="0"/>
              <a:t>(“Jams Bond”, 25000, 1970, 3, 25);</a:t>
            </a:r>
            <a:endParaRPr lang="en-US" altLang="zh-CN" dirty="0"/>
          </a:p>
          <a:p>
            <a:r>
              <a:rPr lang="zh-CN" altLang="en-US" dirty="0"/>
              <a:t>与</a:t>
            </a:r>
            <a:r>
              <a:rPr lang="en-US" altLang="zh-CN" dirty="0"/>
              <a:t>C++</a:t>
            </a:r>
            <a:r>
              <a:rPr lang="zh-CN" altLang="en-US" dirty="0"/>
              <a:t>不同，</a:t>
            </a:r>
            <a:r>
              <a:rPr lang="en-US" altLang="zh-CN" dirty="0"/>
              <a:t>java</a:t>
            </a:r>
            <a:r>
              <a:rPr lang="zh-CN" altLang="en-US" dirty="0"/>
              <a:t>中所有的方法都是在类内部定义的。</a:t>
            </a:r>
            <a:endParaRPr lang="en-US" altLang="zh-CN" dirty="0"/>
          </a:p>
          <a:p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4.2.1  this</a:t>
            </a:r>
            <a:r>
              <a:rPr lang="zh-CN" altLang="en-US" dirty="0"/>
              <a:t>引用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Java</a:t>
            </a:r>
            <a:r>
              <a:rPr lang="zh-CN" altLang="en-US" dirty="0"/>
              <a:t>中提供了</a:t>
            </a:r>
            <a:r>
              <a:rPr lang="en-US" altLang="zh-CN" dirty="0"/>
              <a:t>this</a:t>
            </a:r>
            <a:r>
              <a:rPr lang="zh-CN" altLang="en-US" dirty="0"/>
              <a:t>关键字，是一个对象的引用：</a:t>
            </a:r>
            <a:endParaRPr lang="en-US" altLang="zh-CN" dirty="0"/>
          </a:p>
          <a:p>
            <a:pPr lvl="1"/>
            <a:r>
              <a:rPr lang="zh-CN" altLang="en-US" dirty="0"/>
              <a:t>在构造器里，</a:t>
            </a:r>
            <a:r>
              <a:rPr lang="en-US" altLang="zh-CN" dirty="0"/>
              <a:t>this</a:t>
            </a:r>
            <a:r>
              <a:rPr lang="zh-CN" altLang="en-US" dirty="0"/>
              <a:t>指向正在被创建的对象</a:t>
            </a:r>
            <a:endParaRPr lang="en-US" altLang="zh-CN" dirty="0"/>
          </a:p>
          <a:p>
            <a:pPr lvl="1"/>
            <a:r>
              <a:rPr lang="zh-CN" altLang="en-US" dirty="0"/>
              <a:t>在非</a:t>
            </a:r>
            <a:r>
              <a:rPr lang="en-US" altLang="zh-CN" dirty="0"/>
              <a:t>static</a:t>
            </a:r>
            <a:r>
              <a:rPr lang="zh-CN" altLang="en-US" dirty="0"/>
              <a:t>方法中，</a:t>
            </a:r>
            <a:r>
              <a:rPr lang="en-US" altLang="zh-CN" dirty="0"/>
              <a:t>this</a:t>
            </a:r>
            <a:r>
              <a:rPr lang="zh-CN" altLang="en-US" dirty="0"/>
              <a:t>指向调用这个方法的对象</a:t>
            </a:r>
            <a:endParaRPr lang="en-US" altLang="zh-CN" dirty="0"/>
          </a:p>
          <a:p>
            <a:pPr lvl="1"/>
            <a:r>
              <a:rPr lang="zh-CN" altLang="en-US" dirty="0"/>
              <a:t>可以认为，</a:t>
            </a:r>
            <a:r>
              <a:rPr lang="en-US" altLang="zh-CN" dirty="0"/>
              <a:t>this</a:t>
            </a:r>
            <a:r>
              <a:rPr lang="zh-CN" altLang="en-US" dirty="0"/>
              <a:t>是存在于方法中的</a:t>
            </a:r>
            <a:r>
              <a:rPr lang="zh-CN" altLang="en-US" dirty="0">
                <a:solidFill>
                  <a:srgbClr val="FF0000"/>
                </a:solidFill>
              </a:rPr>
              <a:t>隐含参数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在</a:t>
            </a:r>
            <a:r>
              <a:rPr lang="en-US" altLang="zh-CN" dirty="0"/>
              <a:t>Student</a:t>
            </a:r>
            <a:r>
              <a:rPr lang="zh-CN" altLang="en-US" dirty="0"/>
              <a:t>类中增加一个构造器：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public Student(String name, </a:t>
            </a:r>
            <a:r>
              <a:rPr lang="en-US" altLang="zh-CN" dirty="0" err="1"/>
              <a:t>int</a:t>
            </a:r>
            <a:r>
              <a:rPr lang="en-US" altLang="zh-CN" dirty="0"/>
              <a:t> age, String major)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>
                <a:solidFill>
                  <a:srgbClr val="FF0000"/>
                </a:solidFill>
              </a:rPr>
              <a:t>this</a:t>
            </a:r>
            <a:r>
              <a:rPr lang="en-US" altLang="zh-CN" dirty="0"/>
              <a:t>.name = name;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>
                <a:solidFill>
                  <a:srgbClr val="FF0000"/>
                </a:solidFill>
              </a:rPr>
              <a:t>this</a:t>
            </a:r>
            <a:r>
              <a:rPr lang="en-US" altLang="zh-CN" dirty="0" err="1"/>
              <a:t>.age</a:t>
            </a:r>
            <a:r>
              <a:rPr lang="en-US" altLang="zh-CN" dirty="0"/>
              <a:t> = age;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>
                <a:solidFill>
                  <a:srgbClr val="FF0000"/>
                </a:solidFill>
              </a:rPr>
              <a:t>this</a:t>
            </a:r>
            <a:r>
              <a:rPr lang="en-US" altLang="zh-CN" dirty="0" err="1"/>
              <a:t>.major</a:t>
            </a:r>
            <a:r>
              <a:rPr lang="en-US" altLang="zh-CN" dirty="0"/>
              <a:t> = major;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}</a:t>
            </a:r>
            <a:endParaRPr lang="en-US" altLang="zh-CN" dirty="0"/>
          </a:p>
          <a:p>
            <a:pPr marL="274320" lvl="1" indent="0">
              <a:buNone/>
            </a:pPr>
            <a:r>
              <a:rPr lang="zh-CN" altLang="en-US" dirty="0"/>
              <a:t>如果不加</a:t>
            </a:r>
            <a:r>
              <a:rPr lang="en-US" altLang="zh-CN" dirty="0"/>
              <a:t>this</a:t>
            </a:r>
            <a:r>
              <a:rPr lang="zh-CN" altLang="en-US" dirty="0"/>
              <a:t>，成员变量名会被局部变量覆盖。</a:t>
            </a:r>
            <a:endParaRPr lang="en-US" altLang="zh-C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32656"/>
            <a:ext cx="8075240" cy="6408712"/>
          </a:xfrm>
        </p:spPr>
        <p:txBody>
          <a:bodyPr>
            <a:normAutofit fontScale="85000" lnSpcReduction="10000"/>
          </a:bodyPr>
          <a:lstStyle/>
          <a:p>
            <a:r>
              <a:rPr lang="zh-CN" altLang="en-US" dirty="0"/>
              <a:t>在方法中：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public class </a:t>
            </a:r>
            <a:r>
              <a:rPr lang="en-US" altLang="zh-CN" dirty="0" err="1"/>
              <a:t>AirPlane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private String </a:t>
            </a:r>
            <a:r>
              <a:rPr lang="en-US" altLang="zh-CN" dirty="0" err="1"/>
              <a:t>airPlaneID</a:t>
            </a:r>
            <a:r>
              <a:rPr lang="en-US" altLang="zh-CN" dirty="0"/>
              <a:t>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public </a:t>
            </a:r>
            <a:r>
              <a:rPr lang="en-US" altLang="zh-CN" dirty="0" err="1"/>
              <a:t>AirPlane</a:t>
            </a:r>
            <a:r>
              <a:rPr lang="en-US" altLang="zh-CN" dirty="0"/>
              <a:t>(String id)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airPlaneID</a:t>
            </a:r>
            <a:r>
              <a:rPr lang="en-US" altLang="zh-CN" dirty="0"/>
              <a:t> = id;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public void taxiing()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r>
              <a:rPr lang="en-US" altLang="zh-CN" dirty="0" err="1"/>
              <a:t>airPlaneID</a:t>
            </a:r>
            <a:r>
              <a:rPr lang="en-US" altLang="zh-CN" dirty="0"/>
              <a:t> + " is taxiing now.");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public void </a:t>
            </a:r>
            <a:r>
              <a:rPr lang="en-US" altLang="zh-CN" dirty="0" err="1"/>
              <a:t>takeOff</a:t>
            </a:r>
            <a:r>
              <a:rPr lang="en-US" altLang="zh-CN" dirty="0"/>
              <a:t>()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>
                <a:solidFill>
                  <a:srgbClr val="FF0000"/>
                </a:solidFill>
              </a:rPr>
              <a:t>this</a:t>
            </a:r>
            <a:r>
              <a:rPr lang="en-US" altLang="zh-CN" dirty="0" err="1"/>
              <a:t>.taxiing</a:t>
            </a:r>
            <a:r>
              <a:rPr lang="en-US" altLang="zh-CN" dirty="0"/>
              <a:t>();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这里的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this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可以省略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r>
              <a:rPr lang="en-US" altLang="zh-CN" dirty="0" err="1"/>
              <a:t>airPlaneID</a:t>
            </a:r>
            <a:r>
              <a:rPr lang="en-US" altLang="zh-CN" dirty="0"/>
              <a:t> + " is taking off now.");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4320" lvl="1" indent="0">
              <a:buNone/>
            </a:pPr>
            <a:r>
              <a:rPr lang="en-US" altLang="zh-CN" dirty="0"/>
              <a:t>class </a:t>
            </a:r>
            <a:r>
              <a:rPr lang="en-US" altLang="zh-CN" dirty="0" err="1"/>
              <a:t>AirPlaneTest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AirPlane</a:t>
            </a:r>
            <a:r>
              <a:rPr lang="en-US" altLang="zh-CN" dirty="0"/>
              <a:t> ap1 = new </a:t>
            </a:r>
            <a:r>
              <a:rPr lang="en-US" altLang="zh-CN" dirty="0" err="1"/>
              <a:t>AirPlane</a:t>
            </a:r>
            <a:r>
              <a:rPr lang="en-US" altLang="zh-CN" dirty="0"/>
              <a:t>("CA1400");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ap1.taxiing();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ap1.takeOff();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注意，由于</a:t>
            </a:r>
            <a:r>
              <a:rPr lang="en-US" altLang="zh-CN" dirty="0">
                <a:solidFill>
                  <a:srgbClr val="FF0000"/>
                </a:solidFill>
              </a:rPr>
              <a:t>this</a:t>
            </a:r>
            <a:r>
              <a:rPr lang="zh-CN" altLang="en-US" dirty="0">
                <a:solidFill>
                  <a:srgbClr val="FF0000"/>
                </a:solidFill>
              </a:rPr>
              <a:t>指向了调用对象（实例），而</a:t>
            </a:r>
            <a:r>
              <a:rPr lang="en-US" altLang="zh-CN" dirty="0">
                <a:solidFill>
                  <a:srgbClr val="FF0000"/>
                </a:solidFill>
              </a:rPr>
              <a:t>static</a:t>
            </a:r>
            <a:r>
              <a:rPr lang="zh-CN" altLang="en-US" dirty="0">
                <a:solidFill>
                  <a:srgbClr val="FF0000"/>
                </a:solidFill>
              </a:rPr>
              <a:t>方法不属于任何对象（实例），所以只能在非</a:t>
            </a:r>
            <a:r>
              <a:rPr lang="en-US" altLang="zh-CN" dirty="0">
                <a:solidFill>
                  <a:srgbClr val="FF0000"/>
                </a:solidFill>
              </a:rPr>
              <a:t>static</a:t>
            </a:r>
            <a:r>
              <a:rPr lang="zh-CN" altLang="en-US" dirty="0">
                <a:solidFill>
                  <a:srgbClr val="FF0000"/>
                </a:solidFill>
              </a:rPr>
              <a:t>方法中使用</a:t>
            </a:r>
            <a:r>
              <a:rPr lang="en-US" altLang="zh-CN" dirty="0">
                <a:solidFill>
                  <a:srgbClr val="FF0000"/>
                </a:solidFill>
              </a:rPr>
              <a:t>this</a:t>
            </a:r>
            <a:r>
              <a:rPr lang="zh-CN" altLang="en-US" dirty="0">
                <a:solidFill>
                  <a:srgbClr val="FF0000"/>
                </a:solidFill>
              </a:rPr>
              <a:t>，并且</a:t>
            </a:r>
            <a:r>
              <a:rPr lang="en-US" altLang="zh-CN" dirty="0">
                <a:solidFill>
                  <a:srgbClr val="FF0000"/>
                </a:solidFill>
              </a:rPr>
              <a:t>static</a:t>
            </a:r>
            <a:r>
              <a:rPr lang="zh-CN" altLang="en-US" dirty="0">
                <a:solidFill>
                  <a:srgbClr val="FF0000"/>
                </a:solidFill>
              </a:rPr>
              <a:t>方法不能访问非</a:t>
            </a:r>
            <a:r>
              <a:rPr lang="en-US" altLang="zh-CN" dirty="0">
                <a:solidFill>
                  <a:srgbClr val="FF0000"/>
                </a:solidFill>
              </a:rPr>
              <a:t>static</a:t>
            </a:r>
            <a:r>
              <a:rPr lang="zh-CN" altLang="en-US" dirty="0">
                <a:solidFill>
                  <a:srgbClr val="FF0000"/>
                </a:solidFill>
              </a:rPr>
              <a:t>成员。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4.2.2  </a:t>
            </a:r>
            <a:r>
              <a:rPr lang="zh-CN" altLang="en-US" dirty="0"/>
              <a:t>封装的优点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764704"/>
            <a:ext cx="8075240" cy="5976664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dirty="0"/>
              <a:t>Student</a:t>
            </a:r>
            <a:r>
              <a:rPr lang="zh-CN" altLang="en-US" dirty="0"/>
              <a:t>类中的域成员是</a:t>
            </a:r>
            <a:r>
              <a:rPr lang="en-US" altLang="zh-CN" dirty="0"/>
              <a:t>public</a:t>
            </a:r>
            <a:r>
              <a:rPr lang="zh-CN" altLang="en-US" dirty="0"/>
              <a:t>的，任何类的任何方法都可以访问，存在不安全隐患。</a:t>
            </a:r>
            <a:endParaRPr lang="en-US" altLang="zh-CN" dirty="0"/>
          </a:p>
          <a:p>
            <a:r>
              <a:rPr lang="en-US" altLang="zh-CN" dirty="0"/>
              <a:t>Employee</a:t>
            </a:r>
            <a:r>
              <a:rPr lang="zh-CN" altLang="en-US" dirty="0"/>
              <a:t>中，实例域都是</a:t>
            </a:r>
            <a:r>
              <a:rPr lang="en-US" altLang="zh-CN" dirty="0"/>
              <a:t>private</a:t>
            </a:r>
            <a:r>
              <a:rPr lang="zh-CN" altLang="en-US" dirty="0"/>
              <a:t>的，而类外可以使用</a:t>
            </a:r>
            <a:r>
              <a:rPr lang="en-US" altLang="zh-CN" dirty="0"/>
              <a:t>public</a:t>
            </a:r>
            <a:r>
              <a:rPr lang="zh-CN" altLang="en-US" dirty="0"/>
              <a:t>方法间接访问实例域：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public String </a:t>
            </a:r>
            <a:r>
              <a:rPr lang="en-US" altLang="zh-CN" dirty="0" err="1"/>
              <a:t>getName</a:t>
            </a:r>
            <a:r>
              <a:rPr lang="en-US" altLang="zh-CN" dirty="0"/>
              <a:t>()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return name;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}</a:t>
            </a:r>
            <a:endParaRPr lang="en-US" altLang="zh-CN" dirty="0"/>
          </a:p>
          <a:p>
            <a:pPr marL="274320" lvl="1" indent="0">
              <a:buNone/>
            </a:pP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public double </a:t>
            </a:r>
            <a:r>
              <a:rPr lang="en-US" altLang="zh-CN" dirty="0" err="1"/>
              <a:t>getSalary</a:t>
            </a:r>
            <a:r>
              <a:rPr lang="en-US" altLang="zh-CN" dirty="0"/>
              <a:t>()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return salary;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}</a:t>
            </a:r>
            <a:endParaRPr lang="en-US" altLang="zh-CN" dirty="0"/>
          </a:p>
          <a:p>
            <a:pPr marL="274320" lvl="1" indent="0">
              <a:buNone/>
            </a:pP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public </a:t>
            </a:r>
            <a:r>
              <a:rPr lang="en-US" altLang="zh-CN" dirty="0" err="1"/>
              <a:t>LocalDate</a:t>
            </a:r>
            <a:r>
              <a:rPr lang="en-US" altLang="zh-CN" dirty="0"/>
              <a:t> </a:t>
            </a:r>
            <a:r>
              <a:rPr lang="en-US" altLang="zh-CN" dirty="0" err="1"/>
              <a:t>getHireDay</a:t>
            </a:r>
            <a:r>
              <a:rPr lang="en-US" altLang="zh-CN" dirty="0"/>
              <a:t>()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return </a:t>
            </a:r>
            <a:r>
              <a:rPr lang="en-US" altLang="zh-CN" dirty="0" err="1"/>
              <a:t>hireDay</a:t>
            </a:r>
            <a:r>
              <a:rPr lang="en-US" altLang="zh-CN" dirty="0"/>
              <a:t>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}</a:t>
            </a:r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0728"/>
            <a:ext cx="8075240" cy="5544616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/>
              <a:t>基于类的访问权限可以访问</a:t>
            </a:r>
            <a:r>
              <a:rPr lang="zh-CN" altLang="en-US" dirty="0">
                <a:solidFill>
                  <a:srgbClr val="FF0000"/>
                </a:solidFill>
              </a:rPr>
              <a:t>本类的所有对象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将</a:t>
            </a:r>
            <a:r>
              <a:rPr lang="en-US" altLang="zh-CN" dirty="0"/>
              <a:t>Student</a:t>
            </a:r>
            <a:r>
              <a:rPr lang="zh-CN" altLang="en-US" dirty="0"/>
              <a:t>类修改，域成员皆为私有（</a:t>
            </a:r>
            <a:r>
              <a:rPr lang="en-US" altLang="zh-CN" dirty="0"/>
              <a:t>StudentTest1.java</a:t>
            </a:r>
            <a:r>
              <a:rPr lang="zh-CN" altLang="en-US" dirty="0"/>
              <a:t>）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private String name;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private </a:t>
            </a:r>
            <a:r>
              <a:rPr lang="en-US" altLang="zh-CN" dirty="0" err="1"/>
              <a:t>int</a:t>
            </a:r>
            <a:r>
              <a:rPr lang="en-US" altLang="zh-CN" dirty="0"/>
              <a:t> age;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private String major;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private String </a:t>
            </a:r>
            <a:r>
              <a:rPr lang="en-US" altLang="zh-CN" dirty="0" err="1"/>
              <a:t>classID</a:t>
            </a:r>
            <a:r>
              <a:rPr lang="en-US" altLang="zh-CN" dirty="0"/>
              <a:t>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public Student() {}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public Student(String name, </a:t>
            </a:r>
            <a:r>
              <a:rPr lang="en-US" altLang="zh-CN" dirty="0" err="1"/>
              <a:t>int</a:t>
            </a:r>
            <a:r>
              <a:rPr lang="en-US" altLang="zh-CN" dirty="0"/>
              <a:t> age, String major, String </a:t>
            </a:r>
            <a:r>
              <a:rPr lang="en-US" altLang="zh-CN" dirty="0" err="1"/>
              <a:t>classID</a:t>
            </a:r>
            <a:r>
              <a:rPr lang="en-US" altLang="zh-CN" dirty="0"/>
              <a:t>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this.name = name;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this.age</a:t>
            </a:r>
            <a:r>
              <a:rPr lang="en-US" altLang="zh-CN" dirty="0"/>
              <a:t> = age;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this.major</a:t>
            </a:r>
            <a:r>
              <a:rPr lang="en-US" altLang="zh-CN" dirty="0"/>
              <a:t> = major;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this.classID</a:t>
            </a:r>
            <a:r>
              <a:rPr lang="en-US" altLang="zh-CN" dirty="0"/>
              <a:t> = </a:t>
            </a:r>
            <a:r>
              <a:rPr lang="en-US" altLang="zh-CN" dirty="0" err="1"/>
              <a:t>classID</a:t>
            </a:r>
            <a:r>
              <a:rPr lang="en-US" altLang="zh-CN" dirty="0"/>
              <a:t>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}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1" indent="0" defTabSz="1080135">
              <a:buClrTx/>
              <a:buNone/>
            </a:pPr>
            <a:r>
              <a:rPr lang="zh-CN" altLang="en-US" dirty="0"/>
              <a:t>增加方法</a:t>
            </a:r>
            <a:br>
              <a:rPr lang="en-US" altLang="zh-CN" dirty="0"/>
            </a:br>
            <a:r>
              <a:rPr lang="en-US" altLang="zh-CN" dirty="0"/>
              <a:t>	public </a:t>
            </a:r>
            <a:r>
              <a:rPr lang="en-US" altLang="zh-CN" dirty="0" err="1"/>
              <a:t>boolean</a:t>
            </a:r>
            <a:r>
              <a:rPr lang="en-US" altLang="zh-CN" dirty="0"/>
              <a:t> </a:t>
            </a:r>
            <a:r>
              <a:rPr lang="en-US" altLang="zh-CN" dirty="0" err="1"/>
              <a:t>inSameClass</a:t>
            </a:r>
            <a:r>
              <a:rPr lang="en-US" altLang="zh-CN" dirty="0"/>
              <a:t>(Student </a:t>
            </a:r>
            <a:r>
              <a:rPr lang="en-US" altLang="zh-CN" dirty="0" err="1"/>
              <a:t>stu</a:t>
            </a:r>
            <a:r>
              <a:rPr lang="en-US" altLang="zh-CN" dirty="0"/>
              <a:t>)</a:t>
            </a:r>
            <a:endParaRPr lang="en-US" altLang="zh-CN" dirty="0"/>
          </a:p>
          <a:p>
            <a:pPr marL="0" lvl="1" indent="0" defTabSz="1080135">
              <a:buClrTx/>
              <a:buNone/>
            </a:pPr>
            <a:r>
              <a:rPr lang="en-US" altLang="zh-CN" dirty="0"/>
              <a:t>	{</a:t>
            </a:r>
            <a:endParaRPr lang="en-US" altLang="zh-CN" dirty="0"/>
          </a:p>
          <a:p>
            <a:pPr marL="0" lvl="1" indent="0" defTabSz="1080135">
              <a:buClrTx/>
              <a:buNone/>
            </a:pPr>
            <a:r>
              <a:rPr lang="en-US" altLang="zh-CN" dirty="0"/>
              <a:t>		if(</a:t>
            </a:r>
            <a:r>
              <a:rPr lang="en-US" altLang="zh-CN" dirty="0" err="1"/>
              <a:t>this.classID</a:t>
            </a:r>
            <a:r>
              <a:rPr lang="en-US" altLang="zh-CN" dirty="0"/>
              <a:t>==</a:t>
            </a:r>
            <a:r>
              <a:rPr lang="en-US" altLang="zh-CN" dirty="0" err="1">
                <a:solidFill>
                  <a:srgbClr val="FF0000"/>
                </a:solidFill>
              </a:rPr>
              <a:t>stu.classID</a:t>
            </a:r>
            <a:r>
              <a:rPr lang="en-US" altLang="zh-CN" dirty="0"/>
              <a:t>)</a:t>
            </a:r>
            <a:endParaRPr lang="en-US" altLang="zh-CN" dirty="0"/>
          </a:p>
          <a:p>
            <a:pPr marL="0" lvl="1" indent="0" defTabSz="1080135">
              <a:buClrTx/>
              <a:buNone/>
            </a:pPr>
            <a:r>
              <a:rPr lang="en-US" altLang="zh-CN" dirty="0"/>
              <a:t>			return true;</a:t>
            </a:r>
            <a:endParaRPr lang="en-US" altLang="zh-CN" dirty="0"/>
          </a:p>
          <a:p>
            <a:pPr marL="0" lvl="1" indent="0" defTabSz="1080135">
              <a:buClrTx/>
              <a:buNone/>
            </a:pPr>
            <a:r>
              <a:rPr lang="en-US" altLang="zh-CN" dirty="0"/>
              <a:t>		else</a:t>
            </a:r>
            <a:endParaRPr lang="en-US" altLang="zh-CN" dirty="0"/>
          </a:p>
          <a:p>
            <a:pPr marL="0" lvl="1" indent="0" defTabSz="1080135">
              <a:buClrTx/>
              <a:buNone/>
            </a:pPr>
            <a:r>
              <a:rPr lang="en-US" altLang="zh-CN" dirty="0"/>
              <a:t>			return false;</a:t>
            </a:r>
            <a:endParaRPr lang="en-US" altLang="zh-CN" dirty="0"/>
          </a:p>
          <a:p>
            <a:pPr marL="0" lvl="1" indent="0" defTabSz="1080135">
              <a:buClrTx/>
              <a:buNone/>
            </a:pPr>
            <a:r>
              <a:rPr lang="en-US" altLang="zh-CN" dirty="0"/>
              <a:t>	}</a:t>
            </a:r>
            <a:endParaRPr lang="en-US" altLang="zh-CN" dirty="0"/>
          </a:p>
          <a:p>
            <a:pPr marL="0" lvl="1" indent="0" algn="l" defTabSz="1080135">
              <a:buClrTx/>
              <a:buNone/>
            </a:pPr>
            <a:r>
              <a:rPr lang="en-US" altLang="zh-CN" dirty="0"/>
              <a:t>	public String </a:t>
            </a:r>
            <a:r>
              <a:rPr lang="en-US" altLang="zh-CN" dirty="0" err="1"/>
              <a:t>getName</a:t>
            </a:r>
            <a:r>
              <a:rPr lang="en-US" altLang="zh-CN" dirty="0"/>
              <a:t>()</a:t>
            </a:r>
            <a:endParaRPr lang="en-US" altLang="zh-CN" dirty="0"/>
          </a:p>
          <a:p>
            <a:pPr marL="0" lvl="1" indent="0" algn="l" defTabSz="1080135">
              <a:buClrTx/>
              <a:buNone/>
            </a:pPr>
            <a:r>
              <a:rPr lang="en-US" altLang="zh-CN" dirty="0"/>
              <a:t>	{</a:t>
            </a:r>
            <a:endParaRPr lang="en-US" altLang="zh-CN" dirty="0"/>
          </a:p>
          <a:p>
            <a:pPr marL="0" lvl="1" indent="0" defTabSz="1080135">
              <a:buClrTx/>
              <a:buNone/>
            </a:pPr>
            <a:r>
              <a:rPr lang="en-US" altLang="zh-CN" dirty="0"/>
              <a:t>		return name;</a:t>
            </a:r>
            <a:endParaRPr lang="en-US" altLang="zh-CN" dirty="0"/>
          </a:p>
          <a:p>
            <a:pPr marL="0" lvl="1" indent="0" defTabSz="1080135">
              <a:buClrTx/>
              <a:buNone/>
            </a:pPr>
            <a:r>
              <a:rPr lang="en-US" altLang="zh-CN" dirty="0"/>
              <a:t>	}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4.2.3  </a:t>
            </a:r>
            <a:r>
              <a:rPr lang="zh-CN" altLang="en-US" dirty="0"/>
              <a:t>私有方法和常量域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在类里，一般将数据设为私有，将方法设为公有。</a:t>
            </a:r>
            <a:endParaRPr lang="en-US" altLang="zh-CN" dirty="0"/>
          </a:p>
          <a:p>
            <a:pPr lvl="1"/>
            <a:r>
              <a:rPr lang="zh-CN" altLang="en-US" dirty="0"/>
              <a:t>在特殊情况下，一个方法是具体的实现细节（或实现细节的一部分），不希望把它当做对外的接口，而是在类内部被调用。</a:t>
            </a:r>
            <a:endParaRPr lang="zh-CN" altLang="en-US" dirty="0"/>
          </a:p>
          <a:p>
            <a:pPr lvl="1"/>
            <a:r>
              <a:rPr lang="zh-CN" altLang="en-US" dirty="0"/>
              <a:t>一个坐标转换的例子，私有方法 </a:t>
            </a:r>
            <a:r>
              <a:rPr lang="en-US" altLang="zh-CN" dirty="0" err="1"/>
              <a:t>cartesianToPolar</a:t>
            </a:r>
            <a:r>
              <a:rPr lang="zh-CN" altLang="en-US" dirty="0"/>
              <a:t>（）</a:t>
            </a:r>
            <a:endParaRPr lang="en-US" altLang="zh-CN" dirty="0"/>
          </a:p>
          <a:p>
            <a:r>
              <a:rPr lang="zh-CN" altLang="en-US" dirty="0"/>
              <a:t>可以将实例域定义为</a:t>
            </a:r>
            <a:r>
              <a:rPr lang="en-US" altLang="zh-CN" dirty="0"/>
              <a:t>final</a:t>
            </a:r>
            <a:r>
              <a:rPr lang="zh-CN" altLang="en-US" dirty="0"/>
              <a:t>，构造器中对它进行初始化，之后它的值不能被改变。例如</a:t>
            </a:r>
            <a:r>
              <a:rPr lang="en-US" altLang="zh-CN" dirty="0"/>
              <a:t>Student</a:t>
            </a:r>
            <a:r>
              <a:rPr lang="zh-CN" altLang="en-US" dirty="0"/>
              <a:t>类的</a:t>
            </a:r>
            <a:r>
              <a:rPr lang="en-US" altLang="zh-CN" dirty="0"/>
              <a:t>name</a:t>
            </a:r>
            <a:r>
              <a:rPr lang="zh-CN" altLang="en-US" dirty="0"/>
              <a:t>可以改为：</a:t>
            </a:r>
            <a:endParaRPr lang="en-US" altLang="zh-CN" dirty="0"/>
          </a:p>
          <a:p>
            <a:pPr lvl="1"/>
            <a:r>
              <a:rPr lang="en-US" altLang="zh-CN" dirty="0"/>
              <a:t>private final String name;</a:t>
            </a:r>
            <a:endParaRPr lang="en-US" altLang="zh-CN" dirty="0"/>
          </a:p>
          <a:p>
            <a:pPr lvl="1"/>
            <a:r>
              <a:rPr lang="zh-CN" altLang="en-US" dirty="0"/>
              <a:t>在构造器中对其初始化后，</a:t>
            </a:r>
            <a:r>
              <a:rPr lang="en-US" altLang="zh-CN" dirty="0"/>
              <a:t>name</a:t>
            </a:r>
            <a:r>
              <a:rPr lang="zh-CN" altLang="en-US" dirty="0"/>
              <a:t>不能再指向其他对象。</a:t>
            </a:r>
            <a:endParaRPr lang="en-US" altLang="zh-CN" dirty="0"/>
          </a:p>
          <a:p>
            <a:pPr lvl="1"/>
            <a:r>
              <a:rPr lang="zh-CN" altLang="en-US" dirty="0"/>
              <a:t>注意，如果是定义一个</a:t>
            </a:r>
            <a:r>
              <a:rPr lang="zh-CN" altLang="en-US" dirty="0">
                <a:solidFill>
                  <a:srgbClr val="FF0000"/>
                </a:solidFill>
              </a:rPr>
              <a:t>方法中的常量</a:t>
            </a:r>
            <a:r>
              <a:rPr lang="zh-CN" altLang="en-US" dirty="0"/>
              <a:t>，必须定义时初始化：</a:t>
            </a:r>
            <a:br>
              <a:rPr lang="en-US" altLang="zh-CN" dirty="0"/>
            </a:br>
            <a:r>
              <a:rPr lang="en-US" altLang="zh-CN" dirty="0"/>
              <a:t>final </a:t>
            </a:r>
            <a:r>
              <a:rPr lang="en-US" altLang="zh-CN" dirty="0" err="1"/>
              <a:t>int</a:t>
            </a:r>
            <a:r>
              <a:rPr lang="en-US" altLang="zh-CN" dirty="0"/>
              <a:t> ARRAY_SIZE  = 50;</a:t>
            </a:r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4.3 static</a:t>
            </a:r>
            <a:r>
              <a:rPr lang="zh-CN" altLang="en-US" dirty="0"/>
              <a:t>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0728"/>
            <a:ext cx="8075240" cy="5688632"/>
          </a:xfrm>
        </p:spPr>
        <p:txBody>
          <a:bodyPr>
            <a:normAutofit/>
          </a:bodyPr>
          <a:lstStyle/>
          <a:p>
            <a:r>
              <a:rPr lang="zh-CN" altLang="en-US" dirty="0"/>
              <a:t>类中的成员（域和方法）如果用</a:t>
            </a:r>
            <a:r>
              <a:rPr lang="en-US" altLang="zh-CN" dirty="0"/>
              <a:t>static</a:t>
            </a:r>
            <a:r>
              <a:rPr lang="zh-CN" altLang="en-US" dirty="0"/>
              <a:t>修饰，表示该成员不是属于某个对象，而是属于类的。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类域</a:t>
            </a:r>
            <a:r>
              <a:rPr lang="zh-CN" altLang="en-US" dirty="0"/>
              <a:t>：用</a:t>
            </a:r>
            <a:r>
              <a:rPr lang="en-US" altLang="zh-CN" dirty="0"/>
              <a:t>static</a:t>
            </a:r>
            <a:r>
              <a:rPr lang="zh-CN" altLang="en-US" dirty="0"/>
              <a:t>修饰的域。每个类只有一个值，所有对象共享它。例如，在</a:t>
            </a:r>
            <a:r>
              <a:rPr lang="en-US" altLang="zh-CN" dirty="0"/>
              <a:t>Employee</a:t>
            </a:r>
            <a:r>
              <a:rPr lang="zh-CN" altLang="en-US" dirty="0"/>
              <a:t>中增加一个</a:t>
            </a:r>
            <a:r>
              <a:rPr lang="en-US" altLang="zh-CN" dirty="0"/>
              <a:t>id</a:t>
            </a:r>
            <a:r>
              <a:rPr lang="zh-CN" altLang="en-US" dirty="0"/>
              <a:t>域和一个</a:t>
            </a:r>
            <a:r>
              <a:rPr lang="en-US" altLang="zh-CN" dirty="0" err="1"/>
              <a:t>nextId</a:t>
            </a:r>
            <a:r>
              <a:rPr lang="zh-CN" altLang="en-US" dirty="0"/>
              <a:t>类域：</a:t>
            </a:r>
            <a:endParaRPr lang="en-US" altLang="zh-CN" dirty="0"/>
          </a:p>
          <a:p>
            <a:pPr lvl="1"/>
            <a:r>
              <a:rPr lang="en-US" altLang="zh-CN" dirty="0"/>
              <a:t>private static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nextId</a:t>
            </a:r>
            <a:r>
              <a:rPr lang="en-US" altLang="zh-CN" dirty="0"/>
              <a:t> = 1;  </a:t>
            </a:r>
            <a:br>
              <a:rPr lang="en-US" altLang="zh-CN" dirty="0"/>
            </a:br>
            <a:r>
              <a:rPr lang="en-US" altLang="zh-CN" dirty="0"/>
              <a:t>private </a:t>
            </a:r>
            <a:r>
              <a:rPr lang="en-US" altLang="zh-CN" dirty="0" err="1"/>
              <a:t>int</a:t>
            </a:r>
            <a:r>
              <a:rPr lang="en-US" altLang="zh-CN" dirty="0"/>
              <a:t> id;</a:t>
            </a:r>
            <a:endParaRPr lang="en-US" altLang="zh-CN" dirty="0"/>
          </a:p>
          <a:p>
            <a:pPr lvl="1"/>
            <a:r>
              <a:rPr lang="zh-CN" altLang="en-US" dirty="0"/>
              <a:t>增加一个方法：</a:t>
            </a:r>
            <a:br>
              <a:rPr lang="en-US" altLang="zh-CN" dirty="0"/>
            </a:br>
            <a:r>
              <a:rPr lang="en-US" altLang="zh-CN" dirty="0"/>
              <a:t>public void </a:t>
            </a:r>
            <a:r>
              <a:rPr lang="en-US" altLang="zh-CN" dirty="0" err="1"/>
              <a:t>setId</a:t>
            </a:r>
            <a:r>
              <a:rPr lang="en-US" altLang="zh-CN" dirty="0"/>
              <a:t>()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id = </a:t>
            </a:r>
            <a:r>
              <a:rPr lang="en-US" altLang="zh-CN" dirty="0" err="1"/>
              <a:t>nextId</a:t>
            </a:r>
            <a:r>
              <a:rPr lang="en-US" altLang="zh-CN" dirty="0"/>
              <a:t>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nextId</a:t>
            </a:r>
            <a:r>
              <a:rPr lang="en-US" altLang="zh-CN" dirty="0"/>
              <a:t>++;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08720"/>
            <a:ext cx="8075240" cy="5544616"/>
          </a:xfrm>
        </p:spPr>
        <p:txBody>
          <a:bodyPr>
            <a:normAutofit/>
          </a:bodyPr>
          <a:lstStyle/>
          <a:p>
            <a:pPr lvl="1"/>
            <a:r>
              <a:rPr lang="zh-CN" altLang="en-US" dirty="0"/>
              <a:t>也可以在构造对象时处理</a:t>
            </a:r>
            <a:r>
              <a:rPr lang="en-US" altLang="zh-CN" dirty="0"/>
              <a:t>ID</a:t>
            </a:r>
            <a:r>
              <a:rPr lang="zh-CN" altLang="en-US" dirty="0"/>
              <a:t>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public Employee(String name, double salary, </a:t>
            </a:r>
            <a:r>
              <a:rPr lang="en-US" altLang="zh-CN" dirty="0" err="1"/>
              <a:t>int</a:t>
            </a:r>
            <a:r>
              <a:rPr lang="en-US" altLang="zh-CN" dirty="0"/>
              <a:t> year, </a:t>
            </a:r>
            <a:r>
              <a:rPr lang="en-US" altLang="zh-CN" dirty="0" err="1"/>
              <a:t>int</a:t>
            </a:r>
            <a:r>
              <a:rPr lang="en-US" altLang="zh-CN" dirty="0"/>
              <a:t> month, </a:t>
            </a:r>
            <a:r>
              <a:rPr lang="en-US" altLang="zh-CN" dirty="0" err="1"/>
              <a:t>int</a:t>
            </a:r>
            <a:r>
              <a:rPr lang="en-US" altLang="zh-CN" dirty="0"/>
              <a:t> day)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this.name = name;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this.salary</a:t>
            </a:r>
            <a:r>
              <a:rPr lang="en-US" altLang="zh-CN" dirty="0"/>
              <a:t> = salary;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hireDay</a:t>
            </a:r>
            <a:r>
              <a:rPr lang="en-US" altLang="zh-CN" dirty="0"/>
              <a:t> = </a:t>
            </a:r>
            <a:r>
              <a:rPr lang="en-US" altLang="zh-CN" dirty="0" err="1"/>
              <a:t>LocalDate.of</a:t>
            </a:r>
            <a:r>
              <a:rPr lang="en-US" altLang="zh-CN" dirty="0"/>
              <a:t>(year, month, day);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id=</a:t>
            </a:r>
            <a:r>
              <a:rPr lang="en-US" altLang="zh-CN" dirty="0" err="1"/>
              <a:t>nextId</a:t>
            </a:r>
            <a:r>
              <a:rPr lang="en-US" altLang="zh-CN" dirty="0"/>
              <a:t>; 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en-US" altLang="zh-CN" dirty="0" err="1">
                <a:solidFill>
                  <a:schemeClr val="accent3">
                    <a:lumMod val="50000"/>
                  </a:schemeClr>
                </a:solidFill>
              </a:rPr>
              <a:t>setId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();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nextId</a:t>
            </a:r>
            <a:r>
              <a:rPr lang="en-US" altLang="zh-CN" dirty="0"/>
              <a:t>++;  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}</a:t>
            </a:r>
            <a:endParaRPr lang="en-US" altLang="zh-CN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CN" altLang="en-US" dirty="0"/>
              <a:t>如果类域是公有的，则可以在类外通过</a:t>
            </a:r>
            <a:r>
              <a:rPr lang="zh-CN" altLang="en-US" dirty="0">
                <a:solidFill>
                  <a:srgbClr val="FF0000"/>
                </a:solidFill>
              </a:rPr>
              <a:t>类名</a:t>
            </a:r>
            <a:r>
              <a:rPr lang="en-US" altLang="zh-CN" dirty="0">
                <a:solidFill>
                  <a:srgbClr val="FF0000"/>
                </a:solidFill>
              </a:rPr>
              <a:t>. </a:t>
            </a:r>
            <a:r>
              <a:rPr lang="zh-CN" altLang="en-US" dirty="0">
                <a:solidFill>
                  <a:srgbClr val="FF0000"/>
                </a:solidFill>
              </a:rPr>
              <a:t>变量名</a:t>
            </a:r>
            <a:r>
              <a:rPr lang="zh-CN" altLang="en-US" dirty="0"/>
              <a:t>的方式调用它，如</a:t>
            </a:r>
            <a:br>
              <a:rPr lang="en-US" altLang="zh-CN" dirty="0"/>
            </a:br>
            <a:r>
              <a:rPr lang="en-US" altLang="zh-CN" dirty="0" err="1"/>
              <a:t>Math.PI</a:t>
            </a:r>
            <a:endParaRPr lang="en-US" altLang="zh-CN" dirty="0"/>
          </a:p>
          <a:p>
            <a:r>
              <a:rPr lang="zh-CN" altLang="en-US" dirty="0"/>
              <a:t>实际上，</a:t>
            </a:r>
            <a:r>
              <a:rPr lang="en-US" altLang="zh-CN" dirty="0" err="1"/>
              <a:t>Math.PI</a:t>
            </a:r>
            <a:r>
              <a:rPr lang="zh-CN" altLang="en-US" dirty="0"/>
              <a:t>被设计为</a:t>
            </a:r>
            <a:r>
              <a:rPr lang="zh-CN" altLang="en-US" dirty="0">
                <a:solidFill>
                  <a:srgbClr val="FF0000"/>
                </a:solidFill>
              </a:rPr>
              <a:t>公有的常量类域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en-US" altLang="zh-CN" dirty="0"/>
              <a:t>public class Math</a:t>
            </a:r>
            <a:br>
              <a:rPr lang="en-US" altLang="zh-CN" dirty="0"/>
            </a:br>
            <a:r>
              <a:rPr lang="en-US" altLang="zh-CN" dirty="0"/>
              <a:t>{</a:t>
            </a:r>
            <a:br>
              <a:rPr lang="en-US" altLang="zh-CN" dirty="0"/>
            </a:br>
            <a:r>
              <a:rPr lang="en-US" altLang="zh-CN" dirty="0"/>
              <a:t>	</a:t>
            </a:r>
            <a:r>
              <a:rPr lang="en-US" altLang="zh-CN" dirty="0">
                <a:solidFill>
                  <a:srgbClr val="FF0000"/>
                </a:solidFill>
              </a:rPr>
              <a:t>public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static final </a:t>
            </a:r>
            <a:r>
              <a:rPr lang="en-US" altLang="zh-CN" dirty="0"/>
              <a:t>PI = 3.14159265358979323846;</a:t>
            </a:r>
            <a:br>
              <a:rPr lang="en-US" altLang="zh-CN" dirty="0"/>
            </a:br>
            <a:r>
              <a:rPr lang="en-US" altLang="zh-CN" dirty="0"/>
              <a:t>}</a:t>
            </a:r>
            <a:br>
              <a:rPr lang="en-US" altLang="zh-CN" dirty="0"/>
            </a:br>
            <a:endParaRPr lang="en-US" altLang="zh-CN" dirty="0"/>
          </a:p>
          <a:p>
            <a:pPr lvl="1"/>
            <a:r>
              <a:rPr lang="zh-CN" altLang="en-US" dirty="0"/>
              <a:t>另一个例子，</a:t>
            </a:r>
            <a:r>
              <a:rPr lang="en-US" altLang="zh-CN" dirty="0" err="1"/>
              <a:t>System.out</a:t>
            </a:r>
            <a:r>
              <a:rPr lang="zh-CN" altLang="en-US" dirty="0"/>
              <a:t>也是一个类常量，不能重新指向其他流对象：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b="1" dirty="0"/>
              <a:t>          </a:t>
            </a:r>
            <a:r>
              <a:rPr lang="en-US" altLang="zh-CN" dirty="0">
                <a:solidFill>
                  <a:srgbClr val="FF0000"/>
                </a:solidFill>
              </a:rPr>
              <a:t>public static final </a:t>
            </a:r>
            <a:r>
              <a:rPr lang="en-US" altLang="zh-CN" dirty="0" err="1"/>
              <a:t>PrintStream</a:t>
            </a:r>
            <a:r>
              <a:rPr lang="en-US" altLang="zh-CN" dirty="0"/>
              <a:t> out = null;</a:t>
            </a:r>
            <a:endParaRPr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4.4  static</a:t>
            </a:r>
            <a:r>
              <a:rPr lang="zh-CN" altLang="en-US" dirty="0"/>
              <a:t>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36712"/>
            <a:ext cx="8075240" cy="5760640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类方法：由</a:t>
            </a:r>
            <a:r>
              <a:rPr lang="en-US" altLang="zh-CN" dirty="0"/>
              <a:t>static</a:t>
            </a:r>
            <a:r>
              <a:rPr lang="zh-CN" altLang="en-US" dirty="0"/>
              <a:t>修饰的方法，不能向对象施加操作，它没有隐式的</a:t>
            </a:r>
            <a:r>
              <a:rPr lang="en-US" altLang="zh-CN" dirty="0"/>
              <a:t>this</a:t>
            </a:r>
            <a:r>
              <a:rPr lang="zh-CN" altLang="en-US" dirty="0"/>
              <a:t>参数。调用时用</a:t>
            </a:r>
            <a:r>
              <a:rPr lang="zh-CN" altLang="en-US" dirty="0">
                <a:solidFill>
                  <a:srgbClr val="FF0000"/>
                </a:solidFill>
              </a:rPr>
              <a:t>类名</a:t>
            </a:r>
            <a:r>
              <a:rPr lang="en-US" altLang="zh-CN" dirty="0">
                <a:solidFill>
                  <a:srgbClr val="FF0000"/>
                </a:solidFill>
              </a:rPr>
              <a:t>.</a:t>
            </a:r>
            <a:r>
              <a:rPr lang="zh-CN" altLang="en-US" dirty="0">
                <a:solidFill>
                  <a:srgbClr val="FF0000"/>
                </a:solidFill>
              </a:rPr>
              <a:t>方法名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en-US" altLang="zh-CN" dirty="0" err="1"/>
              <a:t>Math.pow</a:t>
            </a:r>
            <a:r>
              <a:rPr lang="en-US" altLang="zh-CN" dirty="0"/>
              <a:t>(2, 10);</a:t>
            </a:r>
            <a:endParaRPr lang="en-US" altLang="zh-CN" dirty="0"/>
          </a:p>
          <a:p>
            <a:r>
              <a:rPr lang="zh-CN" altLang="en-US" dirty="0"/>
              <a:t>在</a:t>
            </a:r>
            <a:r>
              <a:rPr lang="en-US" altLang="zh-CN" dirty="0"/>
              <a:t>static</a:t>
            </a:r>
            <a:r>
              <a:rPr lang="zh-CN" altLang="en-US" dirty="0"/>
              <a:t>方法内部不能调用非</a:t>
            </a:r>
            <a:r>
              <a:rPr lang="en-US" altLang="zh-CN" dirty="0"/>
              <a:t>static</a:t>
            </a:r>
            <a:r>
              <a:rPr lang="zh-CN" altLang="en-US" dirty="0"/>
              <a:t>方法，反过来是可以的。可以在没有创建任何对象的前提下通过类本身来调用</a:t>
            </a:r>
            <a:r>
              <a:rPr lang="en-US" altLang="zh-CN" dirty="0"/>
              <a:t>static</a:t>
            </a:r>
            <a:r>
              <a:rPr lang="zh-CN" altLang="en-US" dirty="0"/>
              <a:t>方法。这实际上正是</a:t>
            </a:r>
            <a:r>
              <a:rPr lang="en-US" altLang="zh-CN" dirty="0"/>
              <a:t>static</a:t>
            </a:r>
            <a:r>
              <a:rPr lang="zh-CN" altLang="en-US" dirty="0"/>
              <a:t>方法的主要用途。</a:t>
            </a:r>
            <a:endParaRPr lang="en-US" altLang="zh-CN" dirty="0"/>
          </a:p>
          <a:p>
            <a:r>
              <a:rPr lang="zh-CN" altLang="en-US" dirty="0"/>
              <a:t>在</a:t>
            </a:r>
            <a:r>
              <a:rPr lang="en-US" altLang="zh-CN" dirty="0"/>
              <a:t>Employee</a:t>
            </a:r>
            <a:r>
              <a:rPr lang="zh-CN" altLang="en-US" dirty="0"/>
              <a:t>中添加一个类方法：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public </a:t>
            </a:r>
            <a:r>
              <a:rPr lang="en-US" altLang="zh-CN" dirty="0">
                <a:solidFill>
                  <a:srgbClr val="FF0000"/>
                </a:solidFill>
              </a:rPr>
              <a:t>static</a:t>
            </a:r>
            <a:r>
              <a:rPr lang="en-US" altLang="zh-CN" dirty="0"/>
              <a:t>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getNextId</a:t>
            </a:r>
            <a:r>
              <a:rPr lang="en-US" altLang="zh-CN" dirty="0"/>
              <a:t>()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return </a:t>
            </a:r>
            <a:r>
              <a:rPr lang="en-US" altLang="zh-CN" dirty="0">
                <a:solidFill>
                  <a:srgbClr val="FF0000"/>
                </a:solidFill>
              </a:rPr>
              <a:t>id</a:t>
            </a:r>
            <a:r>
              <a:rPr lang="en-US" altLang="zh-CN" dirty="0"/>
              <a:t>; 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编译错误，类方法不能访问实例域，而</a:t>
            </a:r>
            <a:b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实例方法可以访问类域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   return </a:t>
            </a:r>
            <a:r>
              <a:rPr lang="en-US" altLang="zh-CN" dirty="0" err="1"/>
              <a:t>nextId</a:t>
            </a:r>
            <a:r>
              <a:rPr lang="en-US" altLang="zh-CN" dirty="0"/>
              <a:t>;  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}</a:t>
            </a:r>
            <a:endParaRPr lang="en-US" altLang="zh-CN" dirty="0"/>
          </a:p>
          <a:p>
            <a:pPr marL="274320" lvl="1" indent="0">
              <a:buNone/>
            </a:pPr>
            <a:r>
              <a:rPr lang="zh-CN" altLang="en-US" dirty="0"/>
              <a:t>可以下面这样使用类方法：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= </a:t>
            </a:r>
            <a:r>
              <a:rPr lang="en-US" altLang="zh-CN" dirty="0" err="1"/>
              <a:t>Employee.getNextId</a:t>
            </a:r>
            <a:r>
              <a:rPr lang="en-US" altLang="zh-CN" dirty="0"/>
              <a:t>();</a:t>
            </a:r>
            <a:endParaRPr lang="zh-CN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main</a:t>
            </a:r>
            <a:r>
              <a:rPr lang="zh-CN" altLang="en-US" dirty="0"/>
              <a:t>方法是一个</a:t>
            </a:r>
            <a:r>
              <a:rPr lang="en-US" altLang="zh-CN" dirty="0"/>
              <a:t>static</a:t>
            </a:r>
            <a:r>
              <a:rPr lang="zh-CN" altLang="en-US" dirty="0"/>
              <a:t>方法。</a:t>
            </a:r>
            <a:endParaRPr lang="en-US" altLang="zh-CN" dirty="0"/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java</a:t>
            </a:r>
            <a:r>
              <a:rPr lang="zh-CN" altLang="en-US" dirty="0"/>
              <a:t>程序中，语法上每个类里都可以有</a:t>
            </a:r>
            <a:r>
              <a:rPr lang="en-US" altLang="zh-CN" dirty="0"/>
              <a:t>main</a:t>
            </a:r>
            <a:r>
              <a:rPr lang="zh-CN" altLang="en-US" dirty="0"/>
              <a:t>方法，运行时使用  </a:t>
            </a:r>
            <a:r>
              <a:rPr lang="en-US" altLang="zh-CN" dirty="0">
                <a:solidFill>
                  <a:srgbClr val="FF0000"/>
                </a:solidFill>
              </a:rPr>
              <a:t>java </a:t>
            </a:r>
            <a:r>
              <a:rPr lang="zh-CN" altLang="en-US" dirty="0">
                <a:solidFill>
                  <a:srgbClr val="FF0000"/>
                </a:solidFill>
              </a:rPr>
              <a:t>类名  </a:t>
            </a:r>
            <a:r>
              <a:rPr lang="zh-CN" altLang="en-US" dirty="0"/>
              <a:t>命令格式来指定运行哪一个</a:t>
            </a:r>
            <a:r>
              <a:rPr lang="en-US" altLang="zh-CN" dirty="0"/>
              <a:t>main</a:t>
            </a:r>
            <a:r>
              <a:rPr lang="zh-CN" altLang="en-US" dirty="0"/>
              <a:t>方法。</a:t>
            </a:r>
            <a:endParaRPr lang="en-US" altLang="zh-CN" dirty="0"/>
          </a:p>
          <a:p>
            <a:pPr lvl="1"/>
            <a:r>
              <a:rPr lang="zh-CN" altLang="en-US" dirty="0"/>
              <a:t>一个类里面的</a:t>
            </a:r>
            <a:r>
              <a:rPr lang="en-US" altLang="zh-CN" dirty="0"/>
              <a:t>main</a:t>
            </a:r>
            <a:r>
              <a:rPr lang="zh-CN" altLang="en-US" dirty="0"/>
              <a:t>方法可以访问本类中的类域</a:t>
            </a:r>
            <a:endParaRPr lang="en-US" altLang="zh-CN" dirty="0"/>
          </a:p>
          <a:p>
            <a:pPr lvl="1"/>
            <a:r>
              <a:rPr lang="zh-CN" altLang="en-US" dirty="0"/>
              <a:t>若想访问类里的实例域，必须通过对象访问。</a:t>
            </a:r>
            <a:endParaRPr lang="en-US" altLang="zh-CN" dirty="0"/>
          </a:p>
          <a:p>
            <a:r>
              <a:rPr lang="zh-CN" altLang="en-US" dirty="0"/>
              <a:t>重写的</a:t>
            </a:r>
            <a:r>
              <a:rPr lang="en-US" altLang="zh-CN" dirty="0"/>
              <a:t>Employee</a:t>
            </a:r>
            <a:r>
              <a:rPr lang="zh-CN" altLang="en-US" dirty="0"/>
              <a:t>类，见</a:t>
            </a:r>
            <a:r>
              <a:rPr lang="en-US" altLang="zh-CN" dirty="0"/>
              <a:t>StaticTest.java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再给一个例子，演示</a:t>
            </a:r>
            <a:r>
              <a:rPr lang="en-US" altLang="zh-CN" dirty="0"/>
              <a:t>static</a:t>
            </a:r>
            <a:r>
              <a:rPr lang="zh-CN" altLang="en-US" dirty="0"/>
              <a:t>成员和非</a:t>
            </a:r>
            <a:r>
              <a:rPr lang="en-US" altLang="zh-CN" dirty="0"/>
              <a:t>static</a:t>
            </a:r>
            <a:r>
              <a:rPr lang="zh-CN" altLang="en-US" dirty="0"/>
              <a:t>成员之间的访问关系：</a:t>
            </a:r>
            <a:r>
              <a:rPr lang="en-US" altLang="zh-CN" dirty="0"/>
              <a:t>StaticMember.java</a:t>
            </a:r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4.5  </a:t>
            </a:r>
            <a:r>
              <a:rPr lang="zh-CN" altLang="en-US" dirty="0"/>
              <a:t>方法参数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764704"/>
            <a:ext cx="8075240" cy="5904656"/>
          </a:xfrm>
        </p:spPr>
        <p:txBody>
          <a:bodyPr>
            <a:normAutofit lnSpcReduction="10000"/>
          </a:bodyPr>
          <a:lstStyle/>
          <a:p>
            <a:pPr marL="274320" lvl="1" indent="0">
              <a:buNone/>
            </a:pPr>
            <a:r>
              <a:rPr lang="en-US" altLang="zh-CN" dirty="0"/>
              <a:t>	public static void change(</a:t>
            </a:r>
            <a:r>
              <a:rPr lang="en-US" altLang="zh-CN" dirty="0" err="1"/>
              <a:t>int</a:t>
            </a:r>
            <a:r>
              <a:rPr lang="en-US" altLang="zh-CN" dirty="0"/>
              <a:t> a, </a:t>
            </a:r>
            <a:r>
              <a:rPr lang="en-US" altLang="zh-CN" dirty="0" err="1"/>
              <a:t>int</a:t>
            </a:r>
            <a:r>
              <a:rPr lang="en-US" altLang="zh-CN" dirty="0"/>
              <a:t> b)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int</a:t>
            </a:r>
            <a:r>
              <a:rPr lang="en-US" altLang="zh-CN" dirty="0"/>
              <a:t> temp = b;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b = a;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a = temp;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int</a:t>
            </a:r>
            <a:r>
              <a:rPr lang="en-US" altLang="zh-CN" dirty="0"/>
              <a:t> a = 10;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int</a:t>
            </a:r>
            <a:r>
              <a:rPr lang="en-US" altLang="zh-CN" dirty="0"/>
              <a:t> b = 20;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change(a, b);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System.out.println</a:t>
            </a:r>
            <a:r>
              <a:rPr lang="en-US" altLang="zh-CN" dirty="0"/>
              <a:t>("a="+a);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System.out.println</a:t>
            </a:r>
            <a:r>
              <a:rPr lang="en-US" altLang="zh-CN" dirty="0"/>
              <a:t>("b="+b);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}</a:t>
            </a:r>
            <a:endParaRPr lang="zh-CN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313283"/>
            <a:ext cx="8075240" cy="5976664"/>
          </a:xfrm>
        </p:spPr>
        <p:txBody>
          <a:bodyPr>
            <a:normAutofit/>
          </a:bodyPr>
          <a:lstStyle/>
          <a:p>
            <a:pPr lvl="1"/>
            <a:r>
              <a:rPr lang="zh-CN" altLang="en-US" dirty="0"/>
              <a:t>这个例子中实参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的值不会发生改变。</a:t>
            </a:r>
            <a:endParaRPr lang="en-US" altLang="zh-CN" dirty="0"/>
          </a:p>
          <a:p>
            <a:pPr marL="1371600" lvl="3" indent="0">
              <a:buNone/>
            </a:pPr>
            <a:endParaRPr lang="en-US" altLang="zh-CN" dirty="0"/>
          </a:p>
          <a:p>
            <a:pPr marL="1371600" lvl="3" indent="0">
              <a:buNone/>
            </a:pPr>
            <a:endParaRPr lang="en-US" altLang="zh-CN" dirty="0"/>
          </a:p>
          <a:p>
            <a:pPr marL="1371600" lvl="3" indent="0">
              <a:buNone/>
            </a:pPr>
            <a:endParaRPr lang="en-US" altLang="zh-CN" dirty="0"/>
          </a:p>
          <a:p>
            <a:pPr marL="1371600" lvl="3" indent="0">
              <a:buNone/>
            </a:pPr>
            <a:endParaRPr lang="en-US" altLang="zh-CN" dirty="0"/>
          </a:p>
          <a:p>
            <a:pPr marL="1371600" lvl="3" indent="0">
              <a:buNone/>
            </a:pPr>
            <a:endParaRPr lang="en-US" altLang="zh-CN" dirty="0"/>
          </a:p>
          <a:p>
            <a:pPr marL="1371600" lvl="3" indent="0">
              <a:buNone/>
            </a:pPr>
            <a:endParaRPr lang="en-US" altLang="zh-CN" dirty="0"/>
          </a:p>
          <a:p>
            <a:pPr marL="1371600" lvl="3" indent="0">
              <a:buNone/>
            </a:pPr>
            <a:endParaRPr lang="en-US" altLang="zh-CN" dirty="0"/>
          </a:p>
          <a:p>
            <a:pPr lvl="1"/>
            <a:r>
              <a:rPr lang="zh-CN" altLang="en-US" dirty="0"/>
              <a:t>例子中可以看出，参数传递的是</a:t>
            </a:r>
            <a:r>
              <a:rPr lang="zh-CN" altLang="en-US" dirty="0">
                <a:solidFill>
                  <a:srgbClr val="FF0000"/>
                </a:solidFill>
              </a:rPr>
              <a:t>实参的拷贝</a:t>
            </a:r>
            <a:r>
              <a:rPr lang="zh-CN" altLang="en-US" dirty="0"/>
              <a:t>，不会对实参本身造成影响。这种方式称为值传递。在</a:t>
            </a:r>
            <a:r>
              <a:rPr lang="en-US" altLang="zh-CN" dirty="0"/>
              <a:t>java</a:t>
            </a:r>
            <a:r>
              <a:rPr lang="zh-CN" altLang="en-US" dirty="0"/>
              <a:t>中所有的参数都是值传递。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31" name="矩形 30"/>
          <p:cNvSpPr/>
          <p:nvPr/>
        </p:nvSpPr>
        <p:spPr>
          <a:xfrm>
            <a:off x="1475656" y="2340658"/>
            <a:ext cx="1224136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475656" y="1908610"/>
            <a:ext cx="1224136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20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475656" y="1484784"/>
            <a:ext cx="1224136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1655676" y="2827200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main</a:t>
            </a:r>
            <a:endParaRPr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899592" y="236177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36" name="文本框 35"/>
          <p:cNvSpPr txBox="1"/>
          <p:nvPr/>
        </p:nvSpPr>
        <p:spPr>
          <a:xfrm>
            <a:off x="899592" y="1941685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3527733" y="2332436"/>
            <a:ext cx="1224136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527733" y="1900388"/>
            <a:ext cx="1224136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20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3527733" y="1476562"/>
            <a:ext cx="1224136" cy="43204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20</a:t>
            </a:r>
            <a:endParaRPr lang="zh-CN" altLang="en-US" dirty="0"/>
          </a:p>
        </p:txBody>
      </p:sp>
      <p:sp>
        <p:nvSpPr>
          <p:cNvPr id="41" name="文本框 40"/>
          <p:cNvSpPr txBox="1"/>
          <p:nvPr/>
        </p:nvSpPr>
        <p:spPr>
          <a:xfrm>
            <a:off x="3707753" y="2917342"/>
            <a:ext cx="1044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change</a:t>
            </a:r>
            <a:endParaRPr lang="zh-CN" altLang="en-US" dirty="0"/>
          </a:p>
        </p:txBody>
      </p:sp>
      <p:sp>
        <p:nvSpPr>
          <p:cNvPr id="42" name="文本框 41"/>
          <p:cNvSpPr txBox="1"/>
          <p:nvPr/>
        </p:nvSpPr>
        <p:spPr>
          <a:xfrm>
            <a:off x="4842784" y="222292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3" name="文本框 42"/>
          <p:cNvSpPr txBox="1"/>
          <p:nvPr/>
        </p:nvSpPr>
        <p:spPr>
          <a:xfrm>
            <a:off x="4842784" y="1802835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4" name="文本框 43"/>
          <p:cNvSpPr txBox="1"/>
          <p:nvPr/>
        </p:nvSpPr>
        <p:spPr>
          <a:xfrm>
            <a:off x="4842784" y="1405849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temp</a:t>
            </a:r>
            <a:endParaRPr lang="zh-CN" altLang="en-US" dirty="0"/>
          </a:p>
        </p:txBody>
      </p:sp>
      <p:cxnSp>
        <p:nvCxnSpPr>
          <p:cNvPr id="46" name="曲线连接符 45"/>
          <p:cNvCxnSpPr>
            <a:stCxn id="31" idx="3"/>
          </p:cNvCxnSpPr>
          <p:nvPr/>
        </p:nvCxnSpPr>
        <p:spPr>
          <a:xfrm flipV="1">
            <a:off x="2699792" y="2484674"/>
            <a:ext cx="753331" cy="72008"/>
          </a:xfrm>
          <a:prstGeom prst="curved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曲线连接符 50"/>
          <p:cNvCxnSpPr/>
          <p:nvPr/>
        </p:nvCxnSpPr>
        <p:spPr>
          <a:xfrm flipV="1">
            <a:off x="2707566" y="2052626"/>
            <a:ext cx="812393" cy="72008"/>
          </a:xfrm>
          <a:prstGeom prst="curved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5657141" y="2365511"/>
            <a:ext cx="1224136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20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5657141" y="1933463"/>
            <a:ext cx="1224136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5657141" y="1509637"/>
            <a:ext cx="1224136" cy="43204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20</a:t>
            </a:r>
            <a:endParaRPr lang="zh-CN" altLang="en-US" dirty="0"/>
          </a:p>
        </p:txBody>
      </p:sp>
      <p:sp>
        <p:nvSpPr>
          <p:cNvPr id="60" name="文本框 59"/>
          <p:cNvSpPr txBox="1"/>
          <p:nvPr/>
        </p:nvSpPr>
        <p:spPr>
          <a:xfrm>
            <a:off x="5837161" y="2950417"/>
            <a:ext cx="1044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change</a:t>
            </a:r>
            <a:endParaRPr lang="zh-CN" altLang="en-US" dirty="0"/>
          </a:p>
        </p:txBody>
      </p:sp>
      <p:sp>
        <p:nvSpPr>
          <p:cNvPr id="61" name="文本框 60"/>
          <p:cNvSpPr txBox="1"/>
          <p:nvPr/>
        </p:nvSpPr>
        <p:spPr>
          <a:xfrm>
            <a:off x="6972192" y="2256003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62" name="文本框 61"/>
          <p:cNvSpPr txBox="1"/>
          <p:nvPr/>
        </p:nvSpPr>
        <p:spPr>
          <a:xfrm>
            <a:off x="6972192" y="183591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63" name="文本框 62"/>
          <p:cNvSpPr txBox="1"/>
          <p:nvPr/>
        </p:nvSpPr>
        <p:spPr>
          <a:xfrm>
            <a:off x="6972192" y="1466578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temp</a:t>
            </a:r>
            <a:endParaRPr lang="zh-CN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32656"/>
            <a:ext cx="8075240" cy="6525344"/>
          </a:xfrm>
        </p:spPr>
        <p:txBody>
          <a:bodyPr>
            <a:normAutofit fontScale="92500" lnSpcReduction="10000"/>
          </a:bodyPr>
          <a:lstStyle/>
          <a:p>
            <a:pPr marL="274320" lvl="1" indent="0">
              <a:buNone/>
            </a:pPr>
            <a:r>
              <a:rPr lang="en-US" altLang="zh-CN" dirty="0"/>
              <a:t>class </a:t>
            </a:r>
            <a:r>
              <a:rPr lang="en-US" altLang="zh-CN" dirty="0" err="1"/>
              <a:t>DataChange</a:t>
            </a:r>
            <a:r>
              <a:rPr lang="en-US" altLang="zh-CN" dirty="0"/>
              <a:t> 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private </a:t>
            </a:r>
            <a:r>
              <a:rPr lang="en-US" altLang="zh-CN" dirty="0" err="1"/>
              <a:t>int</a:t>
            </a:r>
            <a:r>
              <a:rPr lang="en-US" altLang="zh-CN" dirty="0"/>
              <a:t> value;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public </a:t>
            </a:r>
            <a:r>
              <a:rPr lang="en-US" altLang="zh-CN" dirty="0" err="1"/>
              <a:t>DataChange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a)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this.value</a:t>
            </a:r>
            <a:r>
              <a:rPr lang="en-US" altLang="zh-CN" dirty="0"/>
              <a:t> = a;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public void change(</a:t>
            </a:r>
            <a:r>
              <a:rPr lang="en-US" altLang="zh-CN" dirty="0" err="1"/>
              <a:t>int</a:t>
            </a:r>
            <a:r>
              <a:rPr lang="en-US" altLang="zh-CN" dirty="0"/>
              <a:t> x)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value*=x;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public void show()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System.out.println</a:t>
            </a:r>
            <a:r>
              <a:rPr lang="en-US" altLang="zh-CN" dirty="0"/>
              <a:t>("value="+ value);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0728"/>
            <a:ext cx="8075240" cy="5544616"/>
          </a:xfrm>
        </p:spPr>
        <p:txBody>
          <a:bodyPr>
            <a:normAutofit lnSpcReduction="10000"/>
          </a:bodyPr>
          <a:lstStyle/>
          <a:p>
            <a:pPr marL="274320" lvl="1" indent="0">
              <a:buNone/>
            </a:pPr>
            <a:r>
              <a:rPr lang="en-US" altLang="zh-CN" dirty="0"/>
              <a:t>public class </a:t>
            </a:r>
            <a:r>
              <a:rPr lang="en-US" altLang="zh-CN" dirty="0" err="1"/>
              <a:t>DataChangeTest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DataChange</a:t>
            </a:r>
            <a:r>
              <a:rPr lang="en-US" altLang="zh-CN" dirty="0"/>
              <a:t> dc = new </a:t>
            </a:r>
            <a:r>
              <a:rPr lang="en-US" altLang="zh-CN" dirty="0" err="1"/>
              <a:t>DataChange</a:t>
            </a:r>
            <a:r>
              <a:rPr lang="en-US" altLang="zh-CN" dirty="0"/>
              <a:t>(5);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fun(dc, 10);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dc.show</a:t>
            </a:r>
            <a:r>
              <a:rPr lang="en-US" altLang="zh-CN" dirty="0"/>
              <a:t>();		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public static void fun(</a:t>
            </a:r>
            <a:r>
              <a:rPr lang="en-US" altLang="zh-CN" dirty="0" err="1"/>
              <a:t>DataChange</a:t>
            </a:r>
            <a:r>
              <a:rPr lang="en-US" altLang="zh-CN" dirty="0"/>
              <a:t> </a:t>
            </a:r>
            <a:r>
              <a:rPr lang="en-US" altLang="zh-CN" dirty="0" err="1"/>
              <a:t>datac,int</a:t>
            </a:r>
            <a:r>
              <a:rPr lang="en-US" altLang="zh-CN" dirty="0"/>
              <a:t> ix)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datac.change</a:t>
            </a:r>
            <a:r>
              <a:rPr lang="en-US" altLang="zh-CN" dirty="0"/>
              <a:t>(ix);		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2627784" y="1484784"/>
            <a:ext cx="3744416" cy="3312368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2372" y="980728"/>
            <a:ext cx="8075240" cy="5760640"/>
          </a:xfrm>
        </p:spPr>
        <p:txBody>
          <a:bodyPr>
            <a:normAutofit lnSpcReduction="10000"/>
          </a:bodyPr>
          <a:lstStyle/>
          <a:p>
            <a:pPr lvl="1"/>
            <a:r>
              <a:rPr lang="zh-CN" altLang="en-US" dirty="0"/>
              <a:t>这个例子中实参</a:t>
            </a:r>
            <a:r>
              <a:rPr lang="en-US" altLang="zh-CN" dirty="0"/>
              <a:t>dc</a:t>
            </a:r>
            <a:r>
              <a:rPr lang="zh-CN" altLang="en-US" dirty="0"/>
              <a:t>的值发生了改变。貌似是传引用参数。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形参</a:t>
            </a:r>
            <a:r>
              <a:rPr lang="en-US" altLang="zh-CN" dirty="0" err="1"/>
              <a:t>datac</a:t>
            </a:r>
            <a:r>
              <a:rPr lang="zh-CN" altLang="en-US" dirty="0"/>
              <a:t>的值是实参</a:t>
            </a:r>
            <a:r>
              <a:rPr lang="en-US" altLang="zh-CN" dirty="0"/>
              <a:t>dc</a:t>
            </a:r>
            <a:r>
              <a:rPr lang="zh-CN" altLang="en-US" dirty="0"/>
              <a:t>的拷贝，它们指向堆中的同一个对象，因而对</a:t>
            </a:r>
            <a:r>
              <a:rPr lang="en-US" altLang="zh-CN" dirty="0" err="1"/>
              <a:t>datac</a:t>
            </a:r>
            <a:r>
              <a:rPr lang="zh-CN" altLang="en-US" dirty="0"/>
              <a:t>的操作会改变</a:t>
            </a:r>
            <a:r>
              <a:rPr lang="en-US" altLang="zh-CN" dirty="0"/>
              <a:t>dc</a:t>
            </a:r>
            <a:r>
              <a:rPr lang="zh-CN" altLang="en-US" dirty="0"/>
              <a:t>的值。注意，这里参数</a:t>
            </a:r>
            <a:r>
              <a:rPr lang="zh-CN" altLang="en-US" dirty="0">
                <a:solidFill>
                  <a:srgbClr val="FF0000"/>
                </a:solidFill>
              </a:rPr>
              <a:t>仍然是值传递</a:t>
            </a:r>
            <a:r>
              <a:rPr lang="zh-CN" altLang="en-US" dirty="0"/>
              <a:t>。这里是对引用变量</a:t>
            </a:r>
            <a:r>
              <a:rPr lang="zh-CN" altLang="en-US" dirty="0">
                <a:solidFill>
                  <a:srgbClr val="FF0000"/>
                </a:solidFill>
              </a:rPr>
              <a:t>指向的对象</a:t>
            </a:r>
            <a:r>
              <a:rPr lang="zh-CN" altLang="en-US" dirty="0"/>
              <a:t>进行操作。</a:t>
            </a:r>
            <a:endParaRPr lang="zh-CN" altLang="en-US" dirty="0"/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1259632" y="2276872"/>
          <a:ext cx="933450" cy="1699260"/>
        </p:xfrm>
        <a:graphic>
          <a:graphicData uri="http://schemas.openxmlformats.org/drawingml/2006/table">
            <a:tbl>
              <a:tblPr/>
              <a:tblGrid>
                <a:gridCol w="933450"/>
              </a:tblGrid>
              <a:tr h="13335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lang="en-US" altLang="zh-CN" dirty="0"/>
                        <a:t>0x1122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83568" y="3573016"/>
            <a:ext cx="504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dc</a:t>
            </a:r>
            <a:endParaRPr lang="zh-CN" altLang="en-US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1187624" y="3973126"/>
            <a:ext cx="10717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main</a:t>
            </a:r>
            <a:r>
              <a:rPr lang="zh-CN" altLang="en-US" sz="2000" dirty="0"/>
              <a:t>栈</a:t>
            </a:r>
            <a:endParaRPr lang="zh-CN" altLang="en-US" sz="2000" dirty="0"/>
          </a:p>
        </p:txBody>
      </p:sp>
      <p:sp>
        <p:nvSpPr>
          <p:cNvPr id="14" name="矩形 13"/>
          <p:cNvSpPr/>
          <p:nvPr/>
        </p:nvSpPr>
        <p:spPr>
          <a:xfrm>
            <a:off x="3851920" y="2636912"/>
            <a:ext cx="1224136" cy="64807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value</a:t>
            </a:r>
            <a:endParaRPr lang="en-US" altLang="zh-CN" dirty="0"/>
          </a:p>
          <a:p>
            <a:pPr algn="ctr"/>
            <a:r>
              <a:rPr lang="en-US" altLang="zh-CN" dirty="0"/>
              <a:t>5</a:t>
            </a:r>
            <a:endParaRPr lang="zh-CN" altLang="en-US" dirty="0"/>
          </a:p>
        </p:txBody>
      </p:sp>
      <p:cxnSp>
        <p:nvCxnSpPr>
          <p:cNvPr id="16" name="直接箭头连接符 15"/>
          <p:cNvCxnSpPr/>
          <p:nvPr/>
        </p:nvCxnSpPr>
        <p:spPr>
          <a:xfrm flipV="1">
            <a:off x="2195736" y="3284984"/>
            <a:ext cx="1656184" cy="48808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表格 16"/>
          <p:cNvGraphicFramePr>
            <a:graphicFrameLocks noGrp="1"/>
          </p:cNvGraphicFramePr>
          <p:nvPr/>
        </p:nvGraphicFramePr>
        <p:xfrm>
          <a:off x="6932984" y="2304029"/>
          <a:ext cx="933450" cy="1699260"/>
        </p:xfrm>
        <a:graphic>
          <a:graphicData uri="http://schemas.openxmlformats.org/drawingml/2006/table">
            <a:tbl>
              <a:tblPr/>
              <a:tblGrid>
                <a:gridCol w="933450"/>
              </a:tblGrid>
              <a:tr h="13335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0x1122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7932712" y="3579645"/>
            <a:ext cx="8157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/>
              <a:t>datac</a:t>
            </a:r>
            <a:endParaRPr lang="zh-CN" altLang="en-US" sz="2000" dirty="0"/>
          </a:p>
        </p:txBody>
      </p:sp>
      <p:sp>
        <p:nvSpPr>
          <p:cNvPr id="19" name="TextBox 18"/>
          <p:cNvSpPr txBox="1"/>
          <p:nvPr/>
        </p:nvSpPr>
        <p:spPr>
          <a:xfrm>
            <a:off x="6860976" y="4000283"/>
            <a:ext cx="10717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fun</a:t>
            </a:r>
            <a:r>
              <a:rPr lang="zh-CN" altLang="en-US" sz="2000" dirty="0"/>
              <a:t>栈</a:t>
            </a:r>
            <a:endParaRPr lang="zh-CN" altLang="en-US" sz="2000" dirty="0"/>
          </a:p>
        </p:txBody>
      </p:sp>
      <p:sp>
        <p:nvSpPr>
          <p:cNvPr id="20" name="TextBox 19"/>
          <p:cNvSpPr txBox="1"/>
          <p:nvPr/>
        </p:nvSpPr>
        <p:spPr>
          <a:xfrm>
            <a:off x="4972236" y="4699565"/>
            <a:ext cx="10717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堆</a:t>
            </a:r>
            <a:endParaRPr lang="zh-CN" altLang="en-US" sz="2000" dirty="0"/>
          </a:p>
        </p:txBody>
      </p:sp>
      <p:cxnSp>
        <p:nvCxnSpPr>
          <p:cNvPr id="21" name="直接箭头连接符 20"/>
          <p:cNvCxnSpPr/>
          <p:nvPr/>
        </p:nvCxnSpPr>
        <p:spPr>
          <a:xfrm flipH="1" flipV="1">
            <a:off x="4067944" y="3284984"/>
            <a:ext cx="2880320" cy="49471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980728"/>
            <a:ext cx="8568952" cy="5256584"/>
          </a:xfrm>
        </p:spPr>
        <p:txBody>
          <a:bodyPr>
            <a:normAutofit fontScale="92500" lnSpcReduction="10000"/>
          </a:bodyPr>
          <a:lstStyle/>
          <a:p>
            <a:pPr lvl="1"/>
            <a:r>
              <a:rPr lang="en-US" altLang="zh-CN" dirty="0" err="1"/>
              <a:t>DataChangeTest</a:t>
            </a:r>
            <a:r>
              <a:rPr lang="zh-CN" altLang="en-US" dirty="0"/>
              <a:t>中增加一个函数：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public static void swap(</a:t>
            </a:r>
            <a:r>
              <a:rPr lang="en-US" altLang="zh-CN" dirty="0" err="1"/>
              <a:t>DataChange</a:t>
            </a:r>
            <a:r>
              <a:rPr lang="en-US" altLang="zh-CN" dirty="0"/>
              <a:t> dc1, </a:t>
            </a:r>
            <a:r>
              <a:rPr lang="en-US" altLang="zh-CN" dirty="0" err="1"/>
              <a:t>DataChange</a:t>
            </a:r>
            <a:r>
              <a:rPr lang="en-US" altLang="zh-CN" dirty="0"/>
              <a:t> dc2)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DataChange</a:t>
            </a:r>
            <a:r>
              <a:rPr lang="en-US" altLang="zh-CN" dirty="0"/>
              <a:t> temp = dc1;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dc1=dc2;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dc2=temp;</a:t>
            </a:r>
            <a:endParaRPr lang="en-US" altLang="zh-CN" dirty="0"/>
          </a:p>
          <a:p>
            <a:pPr marL="274320" lvl="1" indent="0">
              <a:buNone/>
            </a:pP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      </a:t>
            </a:r>
            <a:endParaRPr lang="en-US" altLang="zh-CN" dirty="0"/>
          </a:p>
          <a:p>
            <a:pPr marL="274320" lvl="1" indent="0">
              <a:buNone/>
            </a:pPr>
            <a:r>
              <a:rPr lang="zh-CN" altLang="en-US" dirty="0"/>
              <a:t>运行下面的代码：</a:t>
            </a:r>
            <a:br>
              <a:rPr lang="en-US" altLang="zh-CN" dirty="0"/>
            </a:br>
            <a:r>
              <a:rPr lang="en-US" altLang="zh-CN" dirty="0"/>
              <a:t>	</a:t>
            </a:r>
            <a:r>
              <a:rPr lang="en-US" altLang="zh-CN" dirty="0" err="1"/>
              <a:t>DataChange</a:t>
            </a:r>
            <a:r>
              <a:rPr lang="en-US" altLang="zh-CN" dirty="0"/>
              <a:t> dc1 = new </a:t>
            </a:r>
            <a:r>
              <a:rPr lang="en-US" altLang="zh-CN" dirty="0" err="1"/>
              <a:t>DataChange</a:t>
            </a:r>
            <a:r>
              <a:rPr lang="en-US" altLang="zh-CN" dirty="0"/>
              <a:t>(100);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DataChange</a:t>
            </a:r>
            <a:r>
              <a:rPr lang="en-US" altLang="zh-CN" dirty="0"/>
              <a:t> dc2 = new </a:t>
            </a:r>
            <a:r>
              <a:rPr lang="en-US" altLang="zh-CN" dirty="0" err="1"/>
              <a:t>DataChange</a:t>
            </a:r>
            <a:r>
              <a:rPr lang="en-US" altLang="zh-CN" dirty="0"/>
              <a:t>(200);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swap(dc1,dc2);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dc1.show();  </a:t>
            </a:r>
            <a:r>
              <a:rPr lang="en-US" altLang="zh-CN" dirty="0">
                <a:solidFill>
                  <a:srgbClr val="00B050"/>
                </a:solidFill>
              </a:rPr>
              <a:t>//100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	dc2.show();	</a:t>
            </a:r>
            <a:r>
              <a:rPr lang="en-US" altLang="zh-CN" dirty="0">
                <a:solidFill>
                  <a:srgbClr val="00B050"/>
                </a:solidFill>
              </a:rPr>
              <a:t>//200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4" name="线形标注 1 3"/>
          <p:cNvSpPr/>
          <p:nvPr/>
        </p:nvSpPr>
        <p:spPr>
          <a:xfrm>
            <a:off x="3984625" y="2571750"/>
            <a:ext cx="3672840" cy="1296035"/>
          </a:xfrm>
          <a:prstGeom prst="borderCallout1">
            <a:avLst>
              <a:gd name="adj1" fmla="val 43312"/>
              <a:gd name="adj2" fmla="val -622"/>
              <a:gd name="adj3" fmla="val 56148"/>
              <a:gd name="adj4" fmla="val -68758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这里如果加入代码：</a:t>
            </a:r>
            <a:endParaRPr lang="zh-CN" altLang="zh-CN" dirty="0"/>
          </a:p>
          <a:p>
            <a:pPr algn="ctr"/>
            <a:r>
              <a:rPr lang="en-US" altLang="zh-CN" dirty="0"/>
              <a:t>dc2.change(10);</a:t>
            </a:r>
            <a:endParaRPr lang="en-US" altLang="zh-CN" dirty="0"/>
          </a:p>
          <a:p>
            <a:pPr algn="ctr"/>
            <a:r>
              <a:rPr lang="zh-CN" altLang="zh-CN" dirty="0"/>
              <a:t>输出结果如何？</a:t>
            </a:r>
            <a:endParaRPr lang="zh-CN" altLang="zh-CN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0727"/>
            <a:ext cx="8075240" cy="5688633"/>
          </a:xfrm>
        </p:spPr>
        <p:txBody>
          <a:bodyPr/>
          <a:lstStyle/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Swap</a:t>
            </a:r>
            <a:r>
              <a:rPr lang="zh-CN" altLang="en-US" dirty="0"/>
              <a:t>交换的是形参的值，并不能影响</a:t>
            </a:r>
            <a:br>
              <a:rPr lang="en-US" altLang="zh-CN" dirty="0"/>
            </a:br>
            <a:r>
              <a:rPr lang="en-US" altLang="zh-CN" dirty="0"/>
              <a:t>main</a:t>
            </a:r>
            <a:r>
              <a:rPr lang="zh-CN" altLang="en-US" dirty="0"/>
              <a:t>中的实参的值。这里没有对引用</a:t>
            </a:r>
            <a:br>
              <a:rPr lang="en-US" altLang="zh-CN" dirty="0"/>
            </a:br>
            <a:r>
              <a:rPr lang="zh-CN" altLang="en-US" dirty="0"/>
              <a:t>变量</a:t>
            </a:r>
            <a:r>
              <a:rPr lang="zh-CN" altLang="en-US" dirty="0">
                <a:solidFill>
                  <a:srgbClr val="FF0000"/>
                </a:solidFill>
              </a:rPr>
              <a:t>指向的对象</a:t>
            </a:r>
            <a:r>
              <a:rPr lang="zh-CN" altLang="en-US" dirty="0"/>
              <a:t>进行操作。</a:t>
            </a:r>
            <a:endParaRPr lang="zh-CN" altLang="en-US" dirty="0"/>
          </a:p>
        </p:txBody>
      </p:sp>
      <p:sp>
        <p:nvSpPr>
          <p:cNvPr id="4" name="椭圆 3"/>
          <p:cNvSpPr/>
          <p:nvPr/>
        </p:nvSpPr>
        <p:spPr>
          <a:xfrm>
            <a:off x="2627784" y="1484784"/>
            <a:ext cx="3744416" cy="3312368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259632" y="2276872"/>
          <a:ext cx="933450" cy="2065020"/>
        </p:xfrm>
        <a:graphic>
          <a:graphicData uri="http://schemas.openxmlformats.org/drawingml/2006/table">
            <a:tbl>
              <a:tblPr/>
              <a:tblGrid>
                <a:gridCol w="933450"/>
              </a:tblGrid>
              <a:tr h="13335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lang="en-US" altLang="zh-CN" dirty="0"/>
                        <a:t>0x1068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lang="en-US" altLang="zh-CN" dirty="0"/>
                        <a:t>0x1024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86644" y="3625812"/>
            <a:ext cx="720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dc2</a:t>
            </a:r>
            <a:endParaRPr lang="en-US" altLang="zh-CN" sz="2000" dirty="0"/>
          </a:p>
          <a:p>
            <a:r>
              <a:rPr lang="en-US" altLang="zh-CN" sz="2000" dirty="0"/>
              <a:t>dc1</a:t>
            </a:r>
            <a:endParaRPr lang="zh-CN" alt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1187624" y="4411179"/>
            <a:ext cx="10717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main</a:t>
            </a:r>
            <a:r>
              <a:rPr lang="zh-CN" altLang="en-US" sz="2000" dirty="0"/>
              <a:t>栈</a:t>
            </a:r>
            <a:endParaRPr lang="zh-CN" altLang="en-US" sz="2000" dirty="0"/>
          </a:p>
        </p:txBody>
      </p:sp>
      <p:sp>
        <p:nvSpPr>
          <p:cNvPr id="8" name="矩形 7"/>
          <p:cNvSpPr/>
          <p:nvPr/>
        </p:nvSpPr>
        <p:spPr>
          <a:xfrm>
            <a:off x="3635896" y="3597554"/>
            <a:ext cx="1224136" cy="64807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value</a:t>
            </a:r>
            <a:endParaRPr lang="en-US" altLang="zh-CN" dirty="0"/>
          </a:p>
          <a:p>
            <a:pPr algn="ctr"/>
            <a:r>
              <a:rPr lang="en-US" altLang="zh-CN" dirty="0"/>
              <a:t>100</a:t>
            </a:r>
            <a:endParaRPr lang="zh-CN" altLang="en-US" dirty="0"/>
          </a:p>
        </p:txBody>
      </p:sp>
      <p:cxnSp>
        <p:nvCxnSpPr>
          <p:cNvPr id="9" name="直接箭头连接符 8"/>
          <p:cNvCxnSpPr>
            <a:endCxn id="8" idx="1"/>
          </p:cNvCxnSpPr>
          <p:nvPr/>
        </p:nvCxnSpPr>
        <p:spPr>
          <a:xfrm flipV="1">
            <a:off x="2195736" y="3921590"/>
            <a:ext cx="1440160" cy="24903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6918820" y="486489"/>
          <a:ext cx="933450" cy="2430780"/>
        </p:xfrm>
        <a:graphic>
          <a:graphicData uri="http://schemas.openxmlformats.org/drawingml/2006/table">
            <a:tbl>
              <a:tblPr/>
              <a:tblGrid>
                <a:gridCol w="933450"/>
              </a:tblGrid>
              <a:tr h="13335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7030A0"/>
                          </a:solidFill>
                        </a:rPr>
                        <a:t>0x1068</a:t>
                      </a:r>
                      <a:endParaRPr lang="zh-CN" altLang="en-US" dirty="0">
                        <a:solidFill>
                          <a:srgbClr val="7030A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7030A0"/>
                          </a:solidFill>
                        </a:rPr>
                        <a:t>0x1024</a:t>
                      </a:r>
                      <a:endParaRPr lang="zh-CN" altLang="en-US" dirty="0">
                        <a:solidFill>
                          <a:srgbClr val="7030A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38392" y="1834255"/>
            <a:ext cx="8157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temp</a:t>
            </a:r>
            <a:endParaRPr lang="en-US" altLang="zh-CN" sz="2000" dirty="0"/>
          </a:p>
          <a:p>
            <a:r>
              <a:rPr lang="en-US" altLang="zh-CN" sz="2000" dirty="0"/>
              <a:t>dc2</a:t>
            </a:r>
            <a:endParaRPr lang="en-US" altLang="zh-CN" sz="2000" dirty="0"/>
          </a:p>
          <a:p>
            <a:r>
              <a:rPr lang="en-US" altLang="zh-CN" sz="2000" dirty="0"/>
              <a:t>dc1</a:t>
            </a:r>
            <a:endParaRPr lang="zh-CN" altLang="en-US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7255668" y="6109265"/>
            <a:ext cx="10717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swap</a:t>
            </a:r>
            <a:r>
              <a:rPr lang="zh-CN" altLang="en-US" sz="2000" dirty="0"/>
              <a:t>栈</a:t>
            </a:r>
            <a:endParaRPr lang="zh-CN" altLang="en-US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3423667" y="4853129"/>
            <a:ext cx="10717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堆</a:t>
            </a:r>
            <a:endParaRPr lang="zh-CN" altLang="en-US" sz="2000" dirty="0"/>
          </a:p>
        </p:txBody>
      </p:sp>
      <p:cxnSp>
        <p:nvCxnSpPr>
          <p:cNvPr id="14" name="直接箭头连接符 13"/>
          <p:cNvCxnSpPr>
            <a:endCxn id="8" idx="3"/>
          </p:cNvCxnSpPr>
          <p:nvPr/>
        </p:nvCxnSpPr>
        <p:spPr>
          <a:xfrm flipH="1">
            <a:off x="4860032" y="2744924"/>
            <a:ext cx="2088232" cy="117666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3748100" y="2420888"/>
            <a:ext cx="1224136" cy="64807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value</a:t>
            </a:r>
            <a:endParaRPr lang="en-US" altLang="zh-CN" dirty="0"/>
          </a:p>
          <a:p>
            <a:pPr algn="ctr"/>
            <a:r>
              <a:rPr lang="en-US" altLang="zh-CN" dirty="0"/>
              <a:t>200</a:t>
            </a:r>
            <a:endParaRPr lang="zh-CN" altLang="en-US" dirty="0"/>
          </a:p>
        </p:txBody>
      </p:sp>
      <p:cxnSp>
        <p:nvCxnSpPr>
          <p:cNvPr id="19" name="直接箭头连接符 18"/>
          <p:cNvCxnSpPr>
            <a:endCxn id="18" idx="1"/>
          </p:cNvCxnSpPr>
          <p:nvPr/>
        </p:nvCxnSpPr>
        <p:spPr>
          <a:xfrm flipV="1">
            <a:off x="2195736" y="2744924"/>
            <a:ext cx="1552364" cy="1081553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H="1">
            <a:off x="4972236" y="2342086"/>
            <a:ext cx="1976028" cy="40283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表格 26"/>
          <p:cNvGraphicFramePr>
            <a:graphicFrameLocks noGrp="1"/>
          </p:cNvGraphicFramePr>
          <p:nvPr/>
        </p:nvGraphicFramePr>
        <p:xfrm>
          <a:off x="6972225" y="3395844"/>
          <a:ext cx="933450" cy="2430780"/>
        </p:xfrm>
        <a:graphic>
          <a:graphicData uri="http://schemas.openxmlformats.org/drawingml/2006/table">
            <a:tbl>
              <a:tblPr/>
              <a:tblGrid>
                <a:gridCol w="933450"/>
              </a:tblGrid>
              <a:tr h="13335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0x1024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0x1024</a:t>
                      </a:r>
                      <a:endParaRPr lang="zh-CN" altLang="en-US" dirty="0">
                        <a:solidFill>
                          <a:srgbClr val="7030A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7030A0"/>
                          </a:solidFill>
                        </a:rPr>
                        <a:t>0x1068</a:t>
                      </a:r>
                      <a:endParaRPr lang="zh-CN" altLang="en-US" dirty="0">
                        <a:solidFill>
                          <a:srgbClr val="7030A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7991797" y="4743610"/>
            <a:ext cx="8157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temp</a:t>
            </a:r>
            <a:endParaRPr lang="en-US" altLang="zh-CN" sz="2000" dirty="0"/>
          </a:p>
          <a:p>
            <a:r>
              <a:rPr lang="en-US" altLang="zh-CN" sz="2000" dirty="0"/>
              <a:t>dc2</a:t>
            </a:r>
            <a:endParaRPr lang="en-US" altLang="zh-CN" sz="2000" dirty="0"/>
          </a:p>
          <a:p>
            <a:r>
              <a:rPr lang="en-US" altLang="zh-CN" sz="2000" dirty="0"/>
              <a:t>dc1</a:t>
            </a:r>
            <a:endParaRPr lang="zh-CN" altLang="en-US" sz="2000" dirty="0"/>
          </a:p>
        </p:txBody>
      </p:sp>
      <p:cxnSp>
        <p:nvCxnSpPr>
          <p:cNvPr id="29" name="直接箭头连接符 28"/>
          <p:cNvCxnSpPr/>
          <p:nvPr/>
        </p:nvCxnSpPr>
        <p:spPr>
          <a:xfrm flipH="1" flipV="1">
            <a:off x="4972236" y="2897324"/>
            <a:ext cx="1976028" cy="276392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 flipH="1" flipV="1">
            <a:off x="4860032" y="4046107"/>
            <a:ext cx="2088232" cy="120533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 flipH="1" flipV="1">
            <a:off x="4868205" y="3979756"/>
            <a:ext cx="2088232" cy="873373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右箭头 35"/>
          <p:cNvSpPr/>
          <p:nvPr/>
        </p:nvSpPr>
        <p:spPr>
          <a:xfrm rot="5400000">
            <a:off x="7308304" y="3068960"/>
            <a:ext cx="360040" cy="2642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Java</a:t>
            </a:r>
            <a:r>
              <a:rPr lang="zh-CN" altLang="en-US" dirty="0"/>
              <a:t>中函数参数使用的是值传递方式，即方法的形参值是实参的拷贝，对形参的操作不会影响实参的值。参数有两种类型：</a:t>
            </a:r>
            <a:endParaRPr lang="en-US" altLang="zh-CN" dirty="0"/>
          </a:p>
          <a:p>
            <a:pPr lvl="1"/>
            <a:r>
              <a:rPr lang="zh-CN" altLang="en-US" dirty="0"/>
              <a:t>基本类型</a:t>
            </a:r>
            <a:endParaRPr lang="en-US" altLang="zh-CN" dirty="0"/>
          </a:p>
          <a:p>
            <a:pPr lvl="1"/>
            <a:r>
              <a:rPr lang="zh-CN" altLang="en-US" dirty="0"/>
              <a:t>引用类型</a:t>
            </a:r>
            <a:endParaRPr lang="en-US" altLang="zh-CN" dirty="0"/>
          </a:p>
          <a:p>
            <a:r>
              <a:rPr lang="zh-CN" altLang="en-US" dirty="0"/>
              <a:t>使用方法时其行为总结如下：</a:t>
            </a:r>
            <a:endParaRPr lang="en-US" altLang="zh-CN" dirty="0"/>
          </a:p>
          <a:p>
            <a:pPr lvl="1"/>
            <a:r>
              <a:rPr lang="zh-CN" altLang="en-US" dirty="0"/>
              <a:t>一个方法不能修改基本数据类型的参数；</a:t>
            </a:r>
            <a:endParaRPr lang="en-US" altLang="zh-CN" dirty="0"/>
          </a:p>
          <a:p>
            <a:pPr lvl="1"/>
            <a:r>
              <a:rPr lang="zh-CN" altLang="en-US" dirty="0"/>
              <a:t>一个方法可以改变对象参数的状态；</a:t>
            </a:r>
            <a:endParaRPr lang="en-US" altLang="zh-CN" dirty="0"/>
          </a:p>
          <a:p>
            <a:pPr lvl="1"/>
            <a:r>
              <a:rPr lang="zh-CN" altLang="en-US" dirty="0"/>
              <a:t>一个方法不能让对象参数指向一个新的对象，即不能改变引用实参的值。</a:t>
            </a:r>
            <a:endParaRPr lang="zh-CN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4.6  </a:t>
            </a:r>
            <a:r>
              <a:rPr lang="zh-CN" altLang="en-US" dirty="0"/>
              <a:t>构造对象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0728"/>
            <a:ext cx="8075240" cy="5688632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构造器是一种特殊的方法，</a:t>
            </a:r>
            <a:r>
              <a:rPr lang="en-US" altLang="zh-CN" dirty="0"/>
              <a:t>Java</a:t>
            </a:r>
            <a:r>
              <a:rPr lang="zh-CN" altLang="en-US" dirty="0"/>
              <a:t>提供了多重建立构造器的机制。</a:t>
            </a:r>
            <a:endParaRPr lang="en-US" altLang="zh-CN" dirty="0"/>
          </a:p>
          <a:p>
            <a:r>
              <a:rPr lang="zh-CN" altLang="en-US" dirty="0"/>
              <a:t>所有的方法，包括构造器都可以重载（</a:t>
            </a:r>
            <a:r>
              <a:rPr lang="en-US" altLang="zh-CN" dirty="0"/>
              <a:t>overloading</a:t>
            </a:r>
            <a:r>
              <a:rPr lang="zh-CN" altLang="en-US" dirty="0"/>
              <a:t>）：</a:t>
            </a:r>
            <a:endParaRPr lang="en-US" altLang="zh-CN" dirty="0"/>
          </a:p>
          <a:p>
            <a:pPr lvl="1"/>
            <a:r>
              <a:rPr lang="zh-CN" altLang="en-US" dirty="0"/>
              <a:t>方法的名字相同，参数不同；</a:t>
            </a:r>
            <a:endParaRPr lang="en-US" altLang="zh-CN" dirty="0"/>
          </a:p>
          <a:p>
            <a:pPr lvl="1"/>
            <a:r>
              <a:rPr lang="zh-CN" altLang="en-US" dirty="0"/>
              <a:t>要完整的指出一个方法，要描述其名称及参数类型，这称为方法签名（</a:t>
            </a:r>
            <a:r>
              <a:rPr lang="en-US" altLang="zh-CN" dirty="0"/>
              <a:t>signature</a:t>
            </a:r>
            <a:r>
              <a:rPr lang="zh-CN" altLang="en-US" dirty="0"/>
              <a:t>）；</a:t>
            </a:r>
            <a:endParaRPr lang="en-US" altLang="zh-CN" dirty="0"/>
          </a:p>
          <a:p>
            <a:pPr lvl="1"/>
            <a:r>
              <a:rPr lang="zh-CN" altLang="en-US" dirty="0"/>
              <a:t>返回值类型不是方法签名的组成部分。</a:t>
            </a:r>
            <a:endParaRPr lang="en-US" altLang="zh-CN" dirty="0"/>
          </a:p>
          <a:p>
            <a:pPr marL="914400" lvl="2" indent="0">
              <a:buNone/>
            </a:pPr>
            <a:r>
              <a:rPr lang="en-US" altLang="zh-CN" dirty="0"/>
              <a:t>String(); </a:t>
            </a:r>
            <a:r>
              <a:rPr lang="zh-CN" altLang="en-US" dirty="0"/>
              <a:t>构造一个空字符串对象</a:t>
            </a:r>
            <a:endParaRPr lang="zh-CN" altLang="en-US" dirty="0"/>
          </a:p>
          <a:p>
            <a:pPr marL="914400" lvl="2" indent="0">
              <a:buNone/>
            </a:pPr>
            <a:r>
              <a:rPr lang="en-US" altLang="zh-CN" dirty="0"/>
              <a:t>String(byte[] bytes); </a:t>
            </a:r>
            <a:r>
              <a:rPr lang="zh-CN" altLang="en-US" dirty="0"/>
              <a:t>通过</a:t>
            </a:r>
            <a:r>
              <a:rPr lang="en-US" altLang="zh-CN" dirty="0"/>
              <a:t>byte</a:t>
            </a:r>
            <a:r>
              <a:rPr lang="zh-CN" altLang="en-US" dirty="0"/>
              <a:t>数组构造字符串对象</a:t>
            </a:r>
            <a:endParaRPr lang="zh-CN" altLang="en-US" dirty="0"/>
          </a:p>
          <a:p>
            <a:pPr marL="914400" lvl="2" indent="0">
              <a:buNone/>
            </a:pPr>
            <a:r>
              <a:rPr lang="en-US" altLang="zh-CN" dirty="0"/>
              <a:t>String(byte[] </a:t>
            </a:r>
            <a:r>
              <a:rPr lang="en-US" altLang="zh-CN" dirty="0" err="1"/>
              <a:t>bytes,int</a:t>
            </a:r>
            <a:r>
              <a:rPr lang="en-US" altLang="zh-CN" dirty="0"/>
              <a:t> </a:t>
            </a:r>
            <a:r>
              <a:rPr lang="en-US" altLang="zh-CN" dirty="0" err="1"/>
              <a:t>offset,int</a:t>
            </a:r>
            <a:r>
              <a:rPr lang="en-US" altLang="zh-CN" dirty="0"/>
              <a:t> length);</a:t>
            </a:r>
            <a:r>
              <a:rPr lang="zh-CN" altLang="en-US" dirty="0"/>
              <a:t>通过</a:t>
            </a:r>
            <a:r>
              <a:rPr lang="en-US" altLang="zh-CN" dirty="0"/>
              <a:t>byte</a:t>
            </a:r>
            <a:r>
              <a:rPr lang="zh-CN" altLang="en-US" dirty="0"/>
              <a:t>数组，从</a:t>
            </a:r>
            <a:r>
              <a:rPr lang="en-US" altLang="zh-CN" dirty="0"/>
              <a:t>offset</a:t>
            </a:r>
            <a:r>
              <a:rPr lang="zh-CN" altLang="en-US" dirty="0"/>
              <a:t>开始，总共</a:t>
            </a:r>
            <a:r>
              <a:rPr lang="en-US" altLang="zh-CN" dirty="0"/>
              <a:t>length</a:t>
            </a:r>
            <a:r>
              <a:rPr lang="zh-CN" altLang="en-US" dirty="0"/>
              <a:t>长的字节构造字符串对象</a:t>
            </a:r>
            <a:endParaRPr lang="zh-CN" altLang="en-US" dirty="0"/>
          </a:p>
          <a:p>
            <a:pPr marL="914400" lvl="2" indent="0">
              <a:buNone/>
            </a:pPr>
            <a:r>
              <a:rPr lang="en-US" altLang="zh-CN" dirty="0"/>
              <a:t>String(char[] value); </a:t>
            </a:r>
            <a:r>
              <a:rPr lang="zh-CN" altLang="en-US" dirty="0"/>
              <a:t>通过</a:t>
            </a:r>
            <a:r>
              <a:rPr lang="en-US" altLang="zh-CN" dirty="0"/>
              <a:t>char</a:t>
            </a:r>
            <a:r>
              <a:rPr lang="zh-CN" altLang="en-US" dirty="0"/>
              <a:t>数组构造字符串对象</a:t>
            </a:r>
            <a:endParaRPr lang="zh-CN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4.6.1  </a:t>
            </a:r>
            <a:r>
              <a:rPr lang="zh-CN" altLang="en-US" dirty="0"/>
              <a:t>默认的域初始化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在构造器中如果没有给域赋值，则会自动初始化为默认值：</a:t>
            </a:r>
            <a:endParaRPr lang="en-US" altLang="zh-CN" dirty="0"/>
          </a:p>
          <a:p>
            <a:pPr lvl="1"/>
            <a:r>
              <a:rPr lang="zh-CN" altLang="en-US" dirty="0"/>
              <a:t>数值类型为</a:t>
            </a:r>
            <a:r>
              <a:rPr lang="en-US" altLang="zh-CN" dirty="0"/>
              <a:t>0</a:t>
            </a:r>
            <a:r>
              <a:rPr lang="zh-CN" altLang="en-US" dirty="0"/>
              <a:t>；布尔类型为</a:t>
            </a:r>
            <a:r>
              <a:rPr lang="en-US" altLang="zh-CN" dirty="0"/>
              <a:t>false</a:t>
            </a:r>
            <a:r>
              <a:rPr lang="zh-CN" altLang="en-US" dirty="0"/>
              <a:t>，对象引用为</a:t>
            </a:r>
            <a:r>
              <a:rPr lang="en-US" altLang="zh-CN" dirty="0"/>
              <a:t>null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例如</a:t>
            </a:r>
            <a:r>
              <a:rPr lang="en-US" altLang="zh-CN" dirty="0"/>
              <a:t>Student</a:t>
            </a:r>
            <a:r>
              <a:rPr lang="zh-CN" altLang="en-US" dirty="0"/>
              <a:t>类中，如果没有显示的初始化，则</a:t>
            </a:r>
            <a:r>
              <a:rPr lang="en-US" altLang="zh-CN" dirty="0"/>
              <a:t>age</a:t>
            </a:r>
            <a:r>
              <a:rPr lang="zh-CN" altLang="en-US" dirty="0"/>
              <a:t>默认初始化为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name</a:t>
            </a:r>
            <a:r>
              <a:rPr lang="zh-CN" altLang="en-US" dirty="0"/>
              <a:t>和</a:t>
            </a:r>
            <a:r>
              <a:rPr lang="en-US" altLang="zh-CN" dirty="0"/>
              <a:t>major</a:t>
            </a:r>
            <a:r>
              <a:rPr lang="zh-CN" altLang="en-US" dirty="0"/>
              <a:t>初始化为</a:t>
            </a:r>
            <a:r>
              <a:rPr lang="en-US" altLang="zh-CN" dirty="0"/>
              <a:t>null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不提倡这样的编程手段。</a:t>
            </a:r>
            <a:endParaRPr lang="en-US" altLang="zh-CN" dirty="0"/>
          </a:p>
          <a:p>
            <a:r>
              <a:rPr lang="zh-CN" altLang="en-US" dirty="0"/>
              <a:t>注意：上述机制只限于类中的域，如果是局部变量（方法中的变量），则必须显式的初始化才能使用。</a:t>
            </a:r>
            <a:endParaRPr lang="en-US" altLang="zh-CN" dirty="0"/>
          </a:p>
          <a:p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4.6.2  </a:t>
            </a:r>
            <a:r>
              <a:rPr lang="zh-CN" altLang="en-US" dirty="0"/>
              <a:t>无参数构造器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0728"/>
            <a:ext cx="8075240" cy="5544616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两种方式使用无参数构造器：</a:t>
            </a:r>
            <a:endParaRPr lang="en-US" altLang="zh-CN" dirty="0"/>
          </a:p>
          <a:p>
            <a:pPr lvl="1"/>
            <a:r>
              <a:rPr lang="zh-CN" altLang="en-US" dirty="0"/>
              <a:t>如果类里面没有提供任何构造器，则系统默认添加一个默认的无参数构造器，该构造器的代码为空，即按默认初始化方式初始化域。</a:t>
            </a:r>
            <a:endParaRPr lang="en-US" altLang="zh-CN" dirty="0"/>
          </a:p>
          <a:p>
            <a:pPr lvl="1"/>
            <a:r>
              <a:rPr lang="zh-CN" altLang="en-US" dirty="0"/>
              <a:t>如果类里已经添加了构造器，则系统不再提供默认构造器。此时如果有需要可以手工添加一个无参数构造器，加入代码对域进行初始化。</a:t>
            </a:r>
            <a:br>
              <a:rPr lang="en-US" altLang="zh-CN" dirty="0"/>
            </a:br>
            <a:r>
              <a:rPr lang="en-US" altLang="zh-CN" dirty="0"/>
              <a:t>Student()</a:t>
            </a:r>
            <a:br>
              <a:rPr lang="en-US" altLang="zh-CN" dirty="0"/>
            </a:br>
            <a:r>
              <a:rPr lang="en-US" altLang="zh-CN" dirty="0"/>
              <a:t>{</a:t>
            </a:r>
            <a:br>
              <a:rPr lang="en-US" altLang="zh-CN" dirty="0"/>
            </a:br>
            <a:r>
              <a:rPr lang="en-US" altLang="zh-CN" dirty="0"/>
              <a:t>    name=“</a:t>
            </a:r>
            <a:r>
              <a:rPr lang="zh-CN" altLang="en-US" dirty="0"/>
              <a:t>匿名</a:t>
            </a:r>
            <a:r>
              <a:rPr lang="en-US" altLang="zh-CN" dirty="0"/>
              <a:t>”;</a:t>
            </a:r>
            <a:br>
              <a:rPr lang="en-US" altLang="zh-CN" dirty="0"/>
            </a:br>
            <a:r>
              <a:rPr lang="en-US" altLang="zh-CN" dirty="0"/>
              <a:t>    age=0;</a:t>
            </a:r>
            <a:br>
              <a:rPr lang="en-US" altLang="zh-CN" dirty="0"/>
            </a:br>
            <a:r>
              <a:rPr lang="en-US" altLang="zh-CN" dirty="0"/>
              <a:t>    major=“</a:t>
            </a:r>
            <a:r>
              <a:rPr lang="zh-CN" altLang="en-US" dirty="0"/>
              <a:t>未知</a:t>
            </a:r>
            <a:r>
              <a:rPr lang="en-US" altLang="zh-CN" dirty="0"/>
              <a:t>”;</a:t>
            </a:r>
            <a:br>
              <a:rPr lang="en-US" altLang="zh-CN" dirty="0"/>
            </a:br>
            <a:r>
              <a:rPr lang="en-US" altLang="zh-CN" dirty="0"/>
              <a:t>}</a:t>
            </a:r>
            <a:endParaRPr lang="en-US" altLang="zh-CN" dirty="0"/>
          </a:p>
          <a:p>
            <a:pPr lvl="1"/>
            <a:r>
              <a:rPr lang="zh-CN" altLang="en-US" dirty="0"/>
              <a:t>也可以提供一个没有代码的无参数构造器，按默认初始化方式建立对象。</a:t>
            </a:r>
            <a:endParaRPr lang="zh-CN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4.6.3  </a:t>
            </a:r>
            <a:r>
              <a:rPr lang="zh-CN" altLang="en-US" dirty="0"/>
              <a:t>显式的域初始化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通过</a:t>
            </a:r>
            <a:r>
              <a:rPr lang="zh-CN" altLang="en-US" dirty="0">
                <a:solidFill>
                  <a:srgbClr val="FF0000"/>
                </a:solidFill>
              </a:rPr>
              <a:t>重载类的构造器</a:t>
            </a:r>
            <a:r>
              <a:rPr lang="zh-CN" altLang="en-US" dirty="0"/>
              <a:t>可以采用多种方式对域进行初始化，确保调用任何构造器都能使对象中的域有意义。</a:t>
            </a:r>
            <a:endParaRPr lang="en-US" altLang="zh-CN" dirty="0"/>
          </a:p>
          <a:p>
            <a:r>
              <a:rPr lang="zh-CN" altLang="en-US" dirty="0"/>
              <a:t>也可以在定义类时直接给域赋值，该赋值操作会在执行构造器之前进行：</a:t>
            </a:r>
            <a:endParaRPr lang="en-US" altLang="zh-CN" dirty="0"/>
          </a:p>
          <a:p>
            <a:pPr lvl="1"/>
            <a:r>
              <a:rPr lang="en-US" altLang="zh-CN" dirty="0"/>
              <a:t>class Employee</a:t>
            </a:r>
            <a:br>
              <a:rPr lang="en-US" altLang="zh-CN" dirty="0"/>
            </a:br>
            <a:r>
              <a:rPr lang="en-US" altLang="zh-CN" dirty="0"/>
              <a:t>{</a:t>
            </a:r>
            <a:br>
              <a:rPr lang="en-US" altLang="zh-CN" dirty="0"/>
            </a:br>
            <a:r>
              <a:rPr lang="en-US" altLang="zh-CN" dirty="0"/>
              <a:t>    private String name= “”;  …</a:t>
            </a:r>
            <a:br>
              <a:rPr lang="en-US" altLang="zh-CN" dirty="0"/>
            </a:br>
            <a:r>
              <a:rPr lang="en-US" altLang="zh-CN" dirty="0"/>
              <a:t>}</a:t>
            </a:r>
            <a:endParaRPr lang="en-US" altLang="zh-CN" dirty="0"/>
          </a:p>
          <a:p>
            <a:pPr lvl="1"/>
            <a:r>
              <a:rPr lang="zh-CN" altLang="en-US" dirty="0"/>
              <a:t>此时在构造器中如果没有处理</a:t>
            </a:r>
            <a:r>
              <a:rPr lang="en-US" altLang="zh-CN" dirty="0"/>
              <a:t>name</a:t>
            </a:r>
            <a:r>
              <a:rPr lang="zh-CN" altLang="en-US" dirty="0"/>
              <a:t>的赋值，则其值为空字符串。</a:t>
            </a:r>
            <a:endParaRPr lang="zh-CN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4320" lvl="1" indent="0">
              <a:buNone/>
            </a:pPr>
            <a:r>
              <a:rPr lang="zh-CN" altLang="en-US" dirty="0"/>
              <a:t>还可以调用方法来处理初始化（</a:t>
            </a:r>
            <a:r>
              <a:rPr lang="en-US" altLang="zh-CN" dirty="0"/>
              <a:t>ConstructorTest.java</a:t>
            </a:r>
            <a:r>
              <a:rPr lang="zh-CN" altLang="en-US" dirty="0"/>
              <a:t>）：</a:t>
            </a:r>
            <a:br>
              <a:rPr lang="en-US" altLang="zh-CN" dirty="0"/>
            </a:br>
            <a:r>
              <a:rPr lang="en-US" altLang="zh-CN" dirty="0"/>
              <a:t>class Employee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private static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nextId</a:t>
            </a:r>
            <a:r>
              <a:rPr lang="en-US" altLang="zh-CN" dirty="0"/>
              <a:t>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private </a:t>
            </a:r>
            <a:r>
              <a:rPr lang="en-US" altLang="zh-CN" dirty="0" err="1"/>
              <a:t>int</a:t>
            </a:r>
            <a:r>
              <a:rPr lang="en-US" altLang="zh-CN" dirty="0"/>
              <a:t> id = </a:t>
            </a:r>
            <a:r>
              <a:rPr lang="en-US" altLang="zh-CN" dirty="0" err="1"/>
              <a:t>assignId</a:t>
            </a:r>
            <a:r>
              <a:rPr lang="en-US" altLang="zh-CN" dirty="0"/>
              <a:t>();</a:t>
            </a:r>
            <a:br>
              <a:rPr lang="en-US" altLang="zh-CN" dirty="0"/>
            </a:br>
            <a:r>
              <a:rPr lang="en-US" altLang="zh-CN" dirty="0"/>
              <a:t>    …</a:t>
            </a:r>
            <a:br>
              <a:rPr lang="en-US" altLang="zh-CN" dirty="0"/>
            </a:br>
            <a:r>
              <a:rPr lang="en-US" altLang="zh-CN" dirty="0"/>
              <a:t>   private static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assignId</a:t>
            </a:r>
            <a:r>
              <a:rPr lang="en-US" altLang="zh-CN" dirty="0"/>
              <a:t>()</a:t>
            </a:r>
            <a:br>
              <a:rPr lang="en-US" altLang="zh-CN" dirty="0"/>
            </a:br>
            <a:r>
              <a:rPr lang="en-US" altLang="zh-CN" dirty="0"/>
              <a:t>   {</a:t>
            </a:r>
            <a:br>
              <a:rPr lang="en-US" altLang="zh-CN" dirty="0"/>
            </a:br>
            <a:r>
              <a:rPr lang="en-US" altLang="zh-CN" dirty="0"/>
              <a:t>       </a:t>
            </a:r>
            <a:r>
              <a:rPr lang="en-US" altLang="zh-CN" dirty="0" err="1"/>
              <a:t>int</a:t>
            </a:r>
            <a:r>
              <a:rPr lang="en-US" altLang="zh-CN" dirty="0"/>
              <a:t> r = </a:t>
            </a:r>
            <a:r>
              <a:rPr lang="en-US" altLang="zh-CN" dirty="0" err="1"/>
              <a:t>nextId</a:t>
            </a:r>
            <a:r>
              <a:rPr lang="en-US" altLang="zh-CN" dirty="0"/>
              <a:t>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</a:t>
            </a:r>
            <a:r>
              <a:rPr lang="en-US" altLang="zh-CN" dirty="0" err="1"/>
              <a:t>nextId</a:t>
            </a:r>
            <a:r>
              <a:rPr lang="en-US" altLang="zh-CN" dirty="0"/>
              <a:t>++;</a:t>
            </a:r>
            <a:br>
              <a:rPr lang="en-US" altLang="zh-CN" dirty="0"/>
            </a:br>
            <a:r>
              <a:rPr lang="en-US" altLang="zh-CN" dirty="0"/>
              <a:t>       return r;</a:t>
            </a:r>
            <a:br>
              <a:rPr lang="en-US" altLang="zh-CN" dirty="0"/>
            </a:br>
            <a:r>
              <a:rPr lang="en-US" altLang="zh-CN" dirty="0"/>
              <a:t>   }</a:t>
            </a:r>
            <a:endParaRPr lang="zh-CN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4.6.4  </a:t>
            </a:r>
            <a:r>
              <a:rPr lang="zh-CN" altLang="en-US" dirty="0"/>
              <a:t>带参数的构造器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0728"/>
            <a:ext cx="8075240" cy="5616624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构造器的参数经常用来初始化实例域。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public Employee(String </a:t>
            </a:r>
            <a:r>
              <a:rPr lang="en-US" altLang="zh-CN" dirty="0">
                <a:solidFill>
                  <a:srgbClr val="FF0000"/>
                </a:solidFill>
              </a:rPr>
              <a:t>n</a:t>
            </a:r>
            <a:r>
              <a:rPr lang="en-US" altLang="zh-CN" dirty="0"/>
              <a:t>, double </a:t>
            </a:r>
            <a:r>
              <a:rPr lang="en-US" altLang="zh-CN" dirty="0">
                <a:solidFill>
                  <a:srgbClr val="FF0000"/>
                </a:solidFill>
              </a:rPr>
              <a:t>s</a:t>
            </a:r>
            <a:r>
              <a:rPr lang="en-US" altLang="zh-CN" dirty="0"/>
              <a:t>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name = n;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salary = s;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}</a:t>
            </a:r>
            <a:endParaRPr lang="en-US" altLang="zh-CN" dirty="0"/>
          </a:p>
          <a:p>
            <a:pPr lvl="1"/>
            <a:r>
              <a:rPr lang="zh-CN" altLang="en-US" dirty="0"/>
              <a:t>这里的</a:t>
            </a:r>
            <a:r>
              <a:rPr lang="en-US" altLang="zh-CN" dirty="0"/>
              <a:t>n</a:t>
            </a:r>
            <a:r>
              <a:rPr lang="zh-CN" altLang="en-US" dirty="0"/>
              <a:t>，</a:t>
            </a:r>
            <a:r>
              <a:rPr lang="en-US" altLang="zh-CN" dirty="0"/>
              <a:t>s</a:t>
            </a:r>
            <a:r>
              <a:rPr lang="zh-CN" altLang="en-US" dirty="0"/>
              <a:t>意义不明确，有的人使用</a:t>
            </a:r>
            <a:r>
              <a:rPr lang="en-US" altLang="zh-CN" dirty="0" err="1"/>
              <a:t>aName</a:t>
            </a:r>
            <a:r>
              <a:rPr lang="zh-CN" altLang="en-US" dirty="0"/>
              <a:t>，</a:t>
            </a:r>
            <a:r>
              <a:rPr lang="en-US" altLang="zh-CN" dirty="0" err="1"/>
              <a:t>aSalary</a:t>
            </a:r>
            <a:r>
              <a:rPr lang="zh-CN" altLang="en-US" dirty="0"/>
              <a:t>，还可以使用与实例域名相同的参数名：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public Employee(String </a:t>
            </a:r>
            <a:r>
              <a:rPr lang="en-US" altLang="zh-CN" dirty="0">
                <a:solidFill>
                  <a:srgbClr val="FF0000"/>
                </a:solidFill>
              </a:rPr>
              <a:t>name</a:t>
            </a:r>
            <a:r>
              <a:rPr lang="en-US" altLang="zh-CN" dirty="0"/>
              <a:t>, double </a:t>
            </a:r>
            <a:r>
              <a:rPr lang="en-US" altLang="zh-CN" dirty="0">
                <a:solidFill>
                  <a:srgbClr val="FF0000"/>
                </a:solidFill>
              </a:rPr>
              <a:t>salary</a:t>
            </a:r>
            <a:r>
              <a:rPr lang="en-US" altLang="zh-CN" dirty="0"/>
              <a:t>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this.name = name; </a:t>
            </a:r>
            <a:r>
              <a:rPr lang="en-US" altLang="zh-CN" dirty="0">
                <a:solidFill>
                  <a:srgbClr val="00B050"/>
                </a:solidFill>
              </a:rPr>
              <a:t>//this</a:t>
            </a:r>
            <a:r>
              <a:rPr lang="zh-CN" altLang="en-US" dirty="0">
                <a:solidFill>
                  <a:srgbClr val="00B050"/>
                </a:solidFill>
              </a:rPr>
              <a:t>指向所构造的对象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this.salary</a:t>
            </a:r>
            <a:r>
              <a:rPr lang="en-US" altLang="zh-CN" dirty="0"/>
              <a:t> = salary;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}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在构造器中可以使用</a:t>
            </a:r>
            <a:r>
              <a:rPr lang="en-US" altLang="zh-CN" dirty="0"/>
              <a:t>this</a:t>
            </a:r>
            <a:r>
              <a:rPr lang="zh-CN" altLang="en-US" dirty="0"/>
              <a:t>调用另外一个构造器：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public Employee(double s)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>
                <a:solidFill>
                  <a:srgbClr val="00B050"/>
                </a:solidFill>
              </a:rPr>
              <a:t>// calls the Employee(String, double) constructor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	   this("Employee #" + </a:t>
            </a:r>
            <a:r>
              <a:rPr lang="en-US" altLang="zh-CN" dirty="0" err="1"/>
              <a:t>nextId</a:t>
            </a:r>
            <a:r>
              <a:rPr lang="en-US" altLang="zh-CN" dirty="0"/>
              <a:t>, s);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}</a:t>
            </a:r>
            <a:endParaRPr lang="en-US" altLang="zh-CN" dirty="0"/>
          </a:p>
          <a:p>
            <a:pPr lvl="1"/>
            <a:r>
              <a:rPr lang="en-US" altLang="zh-CN" dirty="0"/>
              <a:t>this</a:t>
            </a:r>
            <a:r>
              <a:rPr lang="zh-CN" altLang="en-US" dirty="0"/>
              <a:t>的这种用法只能在构造器中使用，并且该语句必须是构造器中的第一行代码。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4.6.5  </a:t>
            </a:r>
            <a:r>
              <a:rPr lang="zh-CN" altLang="en-US" dirty="0"/>
              <a:t>初始化块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除了在声明中和构造器中对数据初始化外，还可以使用初始化块：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>
                <a:solidFill>
                  <a:srgbClr val="00B050"/>
                </a:solidFill>
              </a:rPr>
              <a:t>// object initialization block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id = </a:t>
            </a:r>
            <a:r>
              <a:rPr lang="en-US" altLang="zh-CN" dirty="0" err="1"/>
              <a:t>nextId</a:t>
            </a:r>
            <a:r>
              <a:rPr lang="en-US" altLang="zh-CN" dirty="0"/>
              <a:t>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nextId</a:t>
            </a:r>
            <a:r>
              <a:rPr lang="en-US" altLang="zh-CN" dirty="0"/>
              <a:t>++;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}</a:t>
            </a:r>
            <a:endParaRPr lang="en-US" altLang="zh-CN" dirty="0"/>
          </a:p>
          <a:p>
            <a:pPr lvl="1"/>
            <a:r>
              <a:rPr lang="zh-CN" altLang="en-US" dirty="0"/>
              <a:t>初始化块在构造器执行之前被执行。</a:t>
            </a:r>
            <a:endParaRPr lang="en-US" altLang="zh-CN" dirty="0"/>
          </a:p>
          <a:p>
            <a:r>
              <a:rPr lang="zh-CN" altLang="en-US" dirty="0"/>
              <a:t>对于类域，可以使用声明时初始化或静态初始化块：</a:t>
            </a:r>
            <a:endParaRPr lang="en-US" altLang="zh-CN" dirty="0"/>
          </a:p>
          <a:p>
            <a:pPr lvl="1"/>
            <a:r>
              <a:rPr lang="en-US" altLang="zh-CN" dirty="0"/>
              <a:t>private static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nextId</a:t>
            </a:r>
            <a:r>
              <a:rPr lang="en-US" altLang="zh-CN" dirty="0"/>
              <a:t> = 1;  </a:t>
            </a:r>
            <a:r>
              <a:rPr lang="en-US" altLang="zh-CN" dirty="0">
                <a:solidFill>
                  <a:srgbClr val="00B050"/>
                </a:solidFill>
              </a:rPr>
              <a:t>//</a:t>
            </a:r>
            <a:r>
              <a:rPr lang="zh-CN" altLang="en-US" dirty="0">
                <a:solidFill>
                  <a:srgbClr val="00B050"/>
                </a:solidFill>
              </a:rPr>
              <a:t>声明时初始化</a:t>
            </a:r>
            <a:endParaRPr lang="en-US" altLang="zh-CN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4320" lvl="1" indent="0">
              <a:buNone/>
            </a:pP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static</a:t>
            </a:r>
            <a:endParaRPr lang="en-US" altLang="zh-CN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Random generator = new Random();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</a:t>
            </a:r>
            <a:r>
              <a:rPr lang="en-US" altLang="zh-CN" dirty="0">
                <a:solidFill>
                  <a:srgbClr val="00B050"/>
                </a:solidFill>
              </a:rPr>
              <a:t>// set </a:t>
            </a:r>
            <a:r>
              <a:rPr lang="en-US" altLang="zh-CN" dirty="0" err="1">
                <a:solidFill>
                  <a:srgbClr val="00B050"/>
                </a:solidFill>
              </a:rPr>
              <a:t>nextId</a:t>
            </a:r>
            <a:r>
              <a:rPr lang="en-US" altLang="zh-CN" dirty="0">
                <a:solidFill>
                  <a:srgbClr val="00B050"/>
                </a:solidFill>
              </a:rPr>
              <a:t> to a random number between 0 and   9999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nextId</a:t>
            </a:r>
            <a:r>
              <a:rPr lang="en-US" altLang="zh-CN" dirty="0"/>
              <a:t> = </a:t>
            </a:r>
            <a:r>
              <a:rPr lang="en-US" altLang="zh-CN" dirty="0" err="1"/>
              <a:t>generator.nextInt</a:t>
            </a:r>
            <a:r>
              <a:rPr lang="en-US" altLang="zh-CN" dirty="0"/>
              <a:t>(10000);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}</a:t>
            </a:r>
            <a:endParaRPr lang="en-US" altLang="zh-CN" dirty="0"/>
          </a:p>
          <a:p>
            <a:pPr lvl="1"/>
            <a:r>
              <a:rPr lang="zh-CN" altLang="en-US" dirty="0"/>
              <a:t>注意：静态成员不能访问非静态成员，静态初始化块中只能处理类域（静态域）。</a:t>
            </a:r>
            <a:endParaRPr lang="en-US" altLang="zh-CN" dirty="0"/>
          </a:p>
          <a:p>
            <a:pPr lvl="1"/>
            <a:r>
              <a:rPr lang="en-US" altLang="zh-CN" dirty="0"/>
              <a:t>ConstructorTest.java</a:t>
            </a:r>
            <a:r>
              <a:rPr lang="zh-CN" altLang="en-US" dirty="0"/>
              <a:t>是一个完整的例子，使用了多种类的初始化方式。</a:t>
            </a:r>
            <a:endParaRPr lang="zh-CN" alt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4.7  </a:t>
            </a:r>
            <a:r>
              <a:rPr lang="zh-CN" altLang="en-US" dirty="0"/>
              <a:t>包（</a:t>
            </a:r>
            <a:r>
              <a:rPr lang="en-US" altLang="zh-CN" dirty="0"/>
              <a:t>package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Java</a:t>
            </a:r>
            <a:r>
              <a:rPr lang="zh-CN" altLang="en-US" dirty="0"/>
              <a:t>中使用包来组织类。</a:t>
            </a:r>
            <a:r>
              <a:rPr lang="en-US" altLang="zh-CN" dirty="0"/>
              <a:t>Java</a:t>
            </a:r>
            <a:r>
              <a:rPr lang="zh-CN" altLang="en-US" dirty="0"/>
              <a:t>允许将一组功能相关的类放在一个包里，组成逻辑上的类库单元。同一个包中的类名不能重复。</a:t>
            </a:r>
            <a:endParaRPr lang="en-US" altLang="zh-CN" dirty="0"/>
          </a:p>
          <a:p>
            <a:r>
              <a:rPr lang="zh-CN" altLang="en-US" dirty="0"/>
              <a:t>包的机制提供了多层次的名称空间，解决类的名称冲突。</a:t>
            </a:r>
            <a:endParaRPr lang="en-US" altLang="zh-CN" dirty="0"/>
          </a:p>
          <a:p>
            <a:r>
              <a:rPr lang="zh-CN" altLang="en-US" dirty="0"/>
              <a:t>位于包中的类，在文件系统中必须有与包名层次相同的文件结构。</a:t>
            </a:r>
            <a:endParaRPr lang="en-US" altLang="zh-CN" dirty="0"/>
          </a:p>
          <a:p>
            <a:r>
              <a:rPr lang="en-US" altLang="zh-CN" dirty="0"/>
              <a:t>SUN</a:t>
            </a:r>
            <a:r>
              <a:rPr lang="zh-CN" altLang="en-US" dirty="0"/>
              <a:t>公司建议将公司的互联网域名反序作为包的名字。如</a:t>
            </a:r>
            <a:r>
              <a:rPr lang="en-US" altLang="zh-CN" dirty="0" err="1"/>
              <a:t>cn.edu.cugb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5085184"/>
            <a:ext cx="4439571" cy="151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将一个类加入上述包中，需要如下完成：</a:t>
            </a:r>
            <a:endParaRPr lang="en-US" altLang="zh-CN" dirty="0"/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java</a:t>
            </a:r>
            <a:r>
              <a:rPr lang="zh-CN" altLang="en-US" dirty="0"/>
              <a:t>文件的第一个非注释行加入</a:t>
            </a:r>
            <a:br>
              <a:rPr lang="en-US" altLang="zh-CN" dirty="0"/>
            </a:br>
            <a:r>
              <a:rPr lang="en-US" altLang="zh-CN" dirty="0">
                <a:solidFill>
                  <a:srgbClr val="FF0000"/>
                </a:solidFill>
              </a:rPr>
              <a:t>package </a:t>
            </a:r>
            <a:r>
              <a:rPr lang="en-US" altLang="zh-CN" dirty="0" err="1">
                <a:solidFill>
                  <a:srgbClr val="FF0000"/>
                </a:solidFill>
              </a:rPr>
              <a:t>cn.edu.cugb</a:t>
            </a:r>
            <a:r>
              <a:rPr lang="en-US" altLang="zh-CN" dirty="0">
                <a:solidFill>
                  <a:srgbClr val="FF0000"/>
                </a:solidFill>
              </a:rPr>
              <a:t>;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将</a:t>
            </a:r>
            <a:r>
              <a:rPr lang="en-US" altLang="zh-CN" dirty="0"/>
              <a:t>java</a:t>
            </a:r>
            <a:r>
              <a:rPr lang="zh-CN" altLang="en-US" dirty="0"/>
              <a:t>文件放在工作目录中，运行</a:t>
            </a:r>
            <a:br>
              <a:rPr lang="en-US" altLang="zh-CN" dirty="0"/>
            </a:br>
            <a:r>
              <a:rPr lang="en-US" altLang="zh-CN" dirty="0" err="1">
                <a:solidFill>
                  <a:srgbClr val="FF0000"/>
                </a:solidFill>
              </a:rPr>
              <a:t>javac</a:t>
            </a:r>
            <a:r>
              <a:rPr lang="en-US" altLang="zh-CN" dirty="0">
                <a:solidFill>
                  <a:srgbClr val="FF0000"/>
                </a:solidFill>
              </a:rPr>
              <a:t> –d  .  </a:t>
            </a:r>
            <a:r>
              <a:rPr lang="zh-CN" altLang="en-US" dirty="0">
                <a:solidFill>
                  <a:srgbClr val="FF0000"/>
                </a:solidFill>
              </a:rPr>
              <a:t>文件名</a:t>
            </a:r>
            <a:r>
              <a:rPr lang="en-US" altLang="zh-CN" dirty="0">
                <a:solidFill>
                  <a:srgbClr val="FF0000"/>
                </a:solidFill>
              </a:rPr>
              <a:t>.java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编译器会在工作目录下建立</a:t>
            </a:r>
            <a:r>
              <a:rPr lang="en-US" altLang="zh-CN" dirty="0" err="1"/>
              <a:t>cn</a:t>
            </a:r>
            <a:r>
              <a:rPr lang="en-US" altLang="zh-CN" dirty="0"/>
              <a:t>\</a:t>
            </a:r>
            <a:r>
              <a:rPr lang="en-US" altLang="zh-CN" dirty="0" err="1"/>
              <a:t>edu</a:t>
            </a:r>
            <a:r>
              <a:rPr lang="en-US" altLang="zh-CN" dirty="0"/>
              <a:t>\</a:t>
            </a:r>
            <a:r>
              <a:rPr lang="en-US" altLang="zh-CN" dirty="0" err="1"/>
              <a:t>cugb</a:t>
            </a:r>
            <a:r>
              <a:rPr lang="zh-CN" altLang="en-US" dirty="0"/>
              <a:t>目录，并将编译的</a:t>
            </a:r>
            <a:r>
              <a:rPr lang="en-US" altLang="zh-CN" dirty="0"/>
              <a:t>class</a:t>
            </a:r>
            <a:r>
              <a:rPr lang="zh-CN" altLang="en-US" dirty="0"/>
              <a:t>文件放在上述目录之下。</a:t>
            </a:r>
            <a:endParaRPr lang="en-US" altLang="zh-CN" dirty="0"/>
          </a:p>
          <a:p>
            <a:r>
              <a:rPr lang="zh-CN" altLang="en-US" dirty="0"/>
              <a:t>在</a:t>
            </a:r>
            <a:r>
              <a:rPr lang="en-US" altLang="zh-CN" dirty="0"/>
              <a:t>Idea</a:t>
            </a:r>
            <a:r>
              <a:rPr lang="zh-CN" altLang="en-US" dirty="0"/>
              <a:t>下按如下方法：</a:t>
            </a:r>
            <a:endParaRPr lang="en-US" altLang="zh-CN" dirty="0"/>
          </a:p>
          <a:p>
            <a:pPr lvl="1"/>
            <a:r>
              <a:rPr lang="zh-CN" altLang="en-US" dirty="0"/>
              <a:t>建立包，</a:t>
            </a:r>
            <a:r>
              <a:rPr lang="en-US" altLang="zh-CN" dirty="0"/>
              <a:t>Idea</a:t>
            </a:r>
            <a:r>
              <a:rPr lang="zh-CN" altLang="en-US" dirty="0"/>
              <a:t>会自动生成目录结构；</a:t>
            </a:r>
            <a:endParaRPr lang="en-US" altLang="zh-CN" dirty="0"/>
          </a:p>
          <a:p>
            <a:pPr lvl="1"/>
            <a:r>
              <a:rPr lang="zh-CN" altLang="en-US" dirty="0"/>
              <a:t>在该包中建立类文件，文件的第一个非注释行加入</a:t>
            </a:r>
            <a:r>
              <a:rPr lang="en-US" altLang="zh-CN" dirty="0"/>
              <a:t>package</a:t>
            </a:r>
            <a:r>
              <a:rPr lang="zh-CN" altLang="en-US" dirty="0"/>
              <a:t>语句。</a:t>
            </a:r>
            <a:endParaRPr lang="en-US" altLang="zh-CN" dirty="0"/>
          </a:p>
          <a:p>
            <a:r>
              <a:rPr lang="zh-CN" altLang="en-US" dirty="0"/>
              <a:t>注意：如果没有使用</a:t>
            </a:r>
            <a:r>
              <a:rPr lang="en-US" altLang="zh-CN" dirty="0"/>
              <a:t>package</a:t>
            </a:r>
            <a:r>
              <a:rPr lang="zh-CN" altLang="en-US" dirty="0"/>
              <a:t>语句，该类被放入一个默认包（</a:t>
            </a:r>
            <a:r>
              <a:rPr lang="en-US" altLang="zh-CN" dirty="0"/>
              <a:t>default package</a:t>
            </a:r>
            <a:r>
              <a:rPr lang="zh-CN" altLang="en-US" dirty="0"/>
              <a:t>）。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36712"/>
            <a:ext cx="8075240" cy="5616624"/>
          </a:xfrm>
        </p:spPr>
        <p:txBody>
          <a:bodyPr>
            <a:normAutofit fontScale="92500"/>
          </a:bodyPr>
          <a:lstStyle/>
          <a:p>
            <a:r>
              <a:rPr lang="zh-CN" altLang="en-US" dirty="0"/>
              <a:t>一个类可以使用本包中的所有类和其他包中的公有类。</a:t>
            </a:r>
            <a:endParaRPr lang="en-US" altLang="zh-CN" dirty="0"/>
          </a:p>
          <a:p>
            <a:r>
              <a:rPr lang="zh-CN" altLang="en-US" dirty="0"/>
              <a:t>使用其他包中的类，有两种方法：</a:t>
            </a:r>
            <a:endParaRPr lang="en-US" altLang="zh-CN" dirty="0"/>
          </a:p>
          <a:p>
            <a:pPr lvl="1"/>
            <a:r>
              <a:rPr lang="zh-CN" altLang="en-US" dirty="0"/>
              <a:t>使用类的全名，即包含完整的包名和类名：</a:t>
            </a:r>
            <a:br>
              <a:rPr lang="en-US" altLang="zh-CN" dirty="0"/>
            </a:br>
            <a:r>
              <a:rPr lang="en-US" altLang="zh-CN" dirty="0" err="1"/>
              <a:t>java.time.LocalDate</a:t>
            </a:r>
            <a:r>
              <a:rPr lang="en-US" altLang="zh-CN" dirty="0"/>
              <a:t> today = </a:t>
            </a:r>
            <a:r>
              <a:rPr lang="en-US" altLang="zh-CN" dirty="0" err="1"/>
              <a:t>java.time.LocalDate.now</a:t>
            </a:r>
            <a:r>
              <a:rPr lang="en-US" altLang="zh-CN" dirty="0"/>
              <a:t>();</a:t>
            </a:r>
            <a:endParaRPr lang="en-US" altLang="zh-CN" dirty="0"/>
          </a:p>
          <a:p>
            <a:pPr lvl="1"/>
            <a:r>
              <a:rPr lang="zh-CN" altLang="en-US" dirty="0"/>
              <a:t>使用</a:t>
            </a:r>
            <a:r>
              <a:rPr lang="en-US" altLang="zh-CN" dirty="0"/>
              <a:t>import</a:t>
            </a:r>
            <a:r>
              <a:rPr lang="zh-CN" altLang="en-US" dirty="0"/>
              <a:t>语句导入所需的类，</a:t>
            </a:r>
            <a:r>
              <a:rPr lang="en-US" altLang="zh-CN" dirty="0"/>
              <a:t>import</a:t>
            </a:r>
            <a:r>
              <a:rPr lang="zh-CN" altLang="en-US" dirty="0"/>
              <a:t>语句位于源程序的开头，</a:t>
            </a:r>
            <a:r>
              <a:rPr lang="en-US" altLang="zh-CN" dirty="0"/>
              <a:t>package</a:t>
            </a:r>
            <a:r>
              <a:rPr lang="zh-CN" altLang="en-US" dirty="0"/>
              <a:t>语句之后：</a:t>
            </a:r>
            <a:br>
              <a:rPr lang="en-US" altLang="zh-CN" dirty="0"/>
            </a:br>
            <a:r>
              <a:rPr lang="en-US" altLang="zh-CN" dirty="0"/>
              <a:t>import </a:t>
            </a:r>
            <a:r>
              <a:rPr lang="en-US" altLang="zh-CN" dirty="0" err="1"/>
              <a:t>java.time.LocalDate</a:t>
            </a:r>
            <a:r>
              <a:rPr lang="en-US" altLang="zh-CN" dirty="0"/>
              <a:t>; </a:t>
            </a:r>
            <a:br>
              <a:rPr lang="en-US" altLang="zh-CN" dirty="0"/>
            </a:br>
            <a:r>
              <a:rPr lang="zh-CN" altLang="en-US" dirty="0"/>
              <a:t>或者 </a:t>
            </a:r>
            <a:r>
              <a:rPr lang="en-US" altLang="zh-CN" dirty="0"/>
              <a:t>import </a:t>
            </a:r>
            <a:r>
              <a:rPr lang="en-US" altLang="zh-CN" dirty="0" err="1"/>
              <a:t>java.time</a:t>
            </a:r>
            <a:r>
              <a:rPr lang="en-US" altLang="zh-CN" dirty="0"/>
              <a:t>.</a:t>
            </a:r>
            <a:r>
              <a:rPr lang="zh-CN" altLang="en-US" dirty="0"/>
              <a:t>*   引入该包中所有的类。</a:t>
            </a:r>
            <a:endParaRPr lang="en-US" altLang="zh-CN" dirty="0"/>
          </a:p>
          <a:p>
            <a:pPr lvl="1"/>
            <a:r>
              <a:rPr lang="en-US" altLang="zh-CN" dirty="0" err="1"/>
              <a:t>java.lang</a:t>
            </a:r>
            <a:r>
              <a:rPr lang="zh-CN" altLang="en-US" dirty="0"/>
              <a:t>包是</a:t>
            </a:r>
            <a:r>
              <a:rPr lang="en-US" altLang="zh-CN" dirty="0"/>
              <a:t>java</a:t>
            </a:r>
            <a:r>
              <a:rPr lang="zh-CN" altLang="en-US" dirty="0"/>
              <a:t>语言的核心，它提供了</a:t>
            </a:r>
            <a:r>
              <a:rPr lang="en-US" altLang="zh-CN" dirty="0"/>
              <a:t>java</a:t>
            </a:r>
            <a:r>
              <a:rPr lang="zh-CN" altLang="en-US" dirty="0"/>
              <a:t>中的基础类。包括</a:t>
            </a:r>
            <a:r>
              <a:rPr lang="en-US" altLang="zh-CN" dirty="0"/>
              <a:t>Object</a:t>
            </a:r>
            <a:r>
              <a:rPr lang="zh-CN" altLang="en-US" dirty="0"/>
              <a:t>类、</a:t>
            </a:r>
            <a:r>
              <a:rPr lang="en-US" altLang="zh-CN" dirty="0"/>
              <a:t>Class</a:t>
            </a:r>
            <a:r>
              <a:rPr lang="zh-CN" altLang="en-US" dirty="0"/>
              <a:t>类、</a:t>
            </a:r>
            <a:r>
              <a:rPr lang="en-US" altLang="zh-CN" dirty="0"/>
              <a:t>String</a:t>
            </a:r>
            <a:r>
              <a:rPr lang="zh-CN" altLang="en-US" dirty="0"/>
              <a:t>类、基本类型的包装类、基本的数学类等，使用该包中的类不需导入。</a:t>
            </a:r>
            <a:endParaRPr lang="en-US" altLang="zh-CN" dirty="0"/>
          </a:p>
          <a:p>
            <a:r>
              <a:rPr lang="zh-CN" altLang="en-US" dirty="0"/>
              <a:t>注意：如果类中的成员没有使用</a:t>
            </a:r>
            <a:r>
              <a:rPr lang="en-US" altLang="zh-CN" dirty="0"/>
              <a:t>public</a:t>
            </a:r>
            <a:r>
              <a:rPr lang="zh-CN" altLang="en-US" dirty="0"/>
              <a:t>或</a:t>
            </a:r>
            <a:r>
              <a:rPr lang="en-US" altLang="zh-CN" dirty="0"/>
              <a:t>private</a:t>
            </a:r>
            <a:r>
              <a:rPr lang="zh-CN" altLang="en-US" dirty="0"/>
              <a:t>修饰，则它是包作用域：可以被本包中的任何类方法访问。</a:t>
            </a:r>
            <a:endParaRPr lang="zh-CN" alt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下面的例子中，</a:t>
            </a:r>
            <a:r>
              <a:rPr lang="en-US" altLang="zh-CN" dirty="0"/>
              <a:t>Employee</a:t>
            </a:r>
            <a:r>
              <a:rPr lang="zh-CN" altLang="en-US" dirty="0"/>
              <a:t>类放在</a:t>
            </a:r>
            <a:r>
              <a:rPr lang="en-US" altLang="zh-CN" dirty="0" err="1"/>
              <a:t>cn.edu.cugb.javacourse</a:t>
            </a:r>
            <a:r>
              <a:rPr lang="zh-CN" altLang="en-US" dirty="0"/>
              <a:t>包中，</a:t>
            </a:r>
            <a:r>
              <a:rPr lang="en-US" altLang="zh-CN" dirty="0" err="1"/>
              <a:t>PackageTest</a:t>
            </a:r>
            <a:r>
              <a:rPr lang="zh-CN" altLang="en-US" dirty="0"/>
              <a:t>类放在</a:t>
            </a:r>
            <a:r>
              <a:rPr lang="en-US" altLang="zh-CN" dirty="0" err="1"/>
              <a:t>cn.edu.cugb</a:t>
            </a:r>
            <a:r>
              <a:rPr lang="zh-CN" altLang="en-US" dirty="0"/>
              <a:t>包中。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（源文件见</a:t>
            </a:r>
            <a:r>
              <a:rPr lang="en-US" altLang="zh-CN" dirty="0"/>
              <a:t>4.7 </a:t>
            </a:r>
            <a:r>
              <a:rPr lang="en-US" altLang="zh-CN" dirty="0" err="1"/>
              <a:t>packagetest</a:t>
            </a:r>
            <a:r>
              <a:rPr lang="zh-CN" altLang="en-US" dirty="0"/>
              <a:t>）</a:t>
            </a:r>
            <a:endParaRPr lang="zh-CN" altLang="en-US" dirty="0"/>
          </a:p>
          <a:p>
            <a:pPr>
              <a:buNone/>
            </a:pPr>
            <a:endParaRPr lang="zh-CN" altLang="en-US" dirty="0"/>
          </a:p>
          <a:p>
            <a:pPr>
              <a:buNone/>
            </a:pPr>
            <a:endParaRPr lang="zh-CN" altLang="en-US" dirty="0"/>
          </a:p>
          <a:p>
            <a:pPr>
              <a:buNone/>
            </a:pPr>
            <a:endParaRPr lang="zh-CN" altLang="en-US" dirty="0"/>
          </a:p>
          <a:p>
            <a:pPr>
              <a:buNone/>
            </a:pPr>
            <a:endParaRPr lang="zh-CN" altLang="en-US" dirty="0"/>
          </a:p>
          <a:p>
            <a:pPr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37895"/>
            <a:ext cx="8075295" cy="5299075"/>
          </a:xfrm>
        </p:spPr>
        <p:txBody>
          <a:bodyPr/>
          <a:lstStyle/>
          <a:p>
            <a:r>
              <a:rPr lang="zh-CN" altLang="en-US" sz="2800" dirty="0">
                <a:sym typeface="+mn-ea"/>
              </a:rPr>
              <a:t>例子中还使用了静态导入 </a:t>
            </a:r>
            <a:r>
              <a:rPr lang="en-US" altLang="zh-CN" sz="2800" dirty="0">
                <a:sym typeface="+mn-ea"/>
              </a:rPr>
              <a:t>import static ...</a:t>
            </a:r>
            <a:endParaRPr lang="en-US" altLang="zh-CN" sz="2800" dirty="0"/>
          </a:p>
          <a:p>
            <a:pPr lvl="1"/>
            <a:r>
              <a:rPr lang="en-US" altLang="zh-CN" sz="2800" dirty="0">
                <a:solidFill>
                  <a:srgbClr val="FF0000"/>
                </a:solidFill>
                <a:sym typeface="+mn-ea"/>
              </a:rPr>
              <a:t>import static</a:t>
            </a:r>
            <a:r>
              <a:rPr lang="en-US" altLang="zh-CN" sz="2800" dirty="0">
                <a:sym typeface="+mn-ea"/>
              </a:rPr>
              <a:t> java.lang.System.out;</a:t>
            </a:r>
            <a:endParaRPr lang="en-US" altLang="zh-CN" sz="2800" dirty="0"/>
          </a:p>
          <a:p>
            <a:r>
              <a:rPr lang="zh-CN" altLang="zh-CN" dirty="0"/>
              <a:t>这种方法导入的域或方法必须是</a:t>
            </a:r>
            <a:r>
              <a:rPr lang="en-US" altLang="zh-CN" dirty="0"/>
              <a:t>static</a:t>
            </a:r>
            <a:r>
              <a:rPr lang="zh-CN" altLang="en-US" dirty="0"/>
              <a:t>修饰的：</a:t>
            </a:r>
            <a:endParaRPr lang="zh-CN" altLang="en-US" dirty="0"/>
          </a:p>
          <a:p>
            <a:pPr marL="274320" lvl="1" indent="0">
              <a:buNone/>
            </a:pPr>
            <a:r>
              <a:rPr lang="zh-CN" altLang="en-US" dirty="0"/>
              <a:t>import static java.lang.Math.abs;</a:t>
            </a:r>
            <a:endParaRPr lang="zh-CN" altLang="en-US" dirty="0"/>
          </a:p>
          <a:p>
            <a:pPr marL="274320" lvl="1" indent="0">
              <a:buNone/>
            </a:pPr>
            <a:r>
              <a:rPr lang="zh-CN" altLang="en-US" dirty="0"/>
              <a:t>import static java.lang.Math.pow;</a:t>
            </a:r>
            <a:endParaRPr lang="zh-CN" altLang="en-US" dirty="0"/>
          </a:p>
          <a:p>
            <a:pPr marL="274320" lvl="1" indent="0">
              <a:buNone/>
            </a:pPr>
            <a:r>
              <a:rPr lang="zh-CN" altLang="en-US" dirty="0"/>
              <a:t>import static java.lang.Math.max;</a:t>
            </a:r>
            <a:endParaRPr lang="zh-CN" altLang="en-US" dirty="0"/>
          </a:p>
          <a:p>
            <a:pPr marL="274320" lvl="1" indent="0">
              <a:buNone/>
            </a:pPr>
            <a:r>
              <a:rPr lang="zh-CN" altLang="en-US" dirty="0"/>
              <a:t>System.out.println(java.lang.Math.abs(-100));</a:t>
            </a:r>
            <a:endParaRPr lang="zh-CN" altLang="en-US" dirty="0"/>
          </a:p>
          <a:p>
            <a:pPr marL="274320" lvl="1" indent="0">
              <a:buNone/>
            </a:pPr>
            <a:r>
              <a:rPr lang="zh-CN" altLang="en-US" dirty="0"/>
              <a:t>out.println(pow(2, 3));</a:t>
            </a:r>
            <a:endParaRPr lang="zh-CN" altLang="en-US" dirty="0"/>
          </a:p>
          <a:p>
            <a:pPr marL="274320" lvl="1" indent="0">
              <a:buNone/>
            </a:pPr>
            <a:r>
              <a:rPr lang="zh-CN" altLang="en-US" dirty="0"/>
              <a:t>out.println(max(20, 30));</a:t>
            </a:r>
            <a:endParaRPr lang="zh-CN" alt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4.8  </a:t>
            </a:r>
            <a:r>
              <a:rPr lang="zh-CN" altLang="en-US" dirty="0"/>
              <a:t>类设计的建议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一定要保证数据私有。</a:t>
            </a:r>
            <a:endParaRPr lang="en-US" altLang="zh-CN" dirty="0"/>
          </a:p>
          <a:p>
            <a:pPr lvl="1"/>
            <a:r>
              <a:rPr lang="zh-CN" altLang="en-US" dirty="0"/>
              <a:t>不破坏数据的封装。必要时添加访问器或修改器。</a:t>
            </a:r>
            <a:endParaRPr lang="en-US" altLang="zh-CN" dirty="0"/>
          </a:p>
          <a:p>
            <a:pPr lvl="1"/>
            <a:r>
              <a:rPr lang="zh-CN" altLang="en-US" dirty="0"/>
              <a:t>存储形式的变化不会影响用户的使用。</a:t>
            </a:r>
            <a:endParaRPr lang="en-US" altLang="zh-CN" dirty="0"/>
          </a:p>
          <a:p>
            <a:r>
              <a:rPr lang="zh-CN" altLang="en-US" dirty="0"/>
              <a:t>一定要对数据初始化。</a:t>
            </a:r>
            <a:endParaRPr lang="en-US" altLang="zh-CN" dirty="0"/>
          </a:p>
          <a:p>
            <a:pPr lvl="1"/>
            <a:r>
              <a:rPr lang="zh-CN" altLang="en-US" dirty="0"/>
              <a:t>不要依赖于系统的默认初始化。</a:t>
            </a:r>
            <a:endParaRPr lang="en-US" altLang="zh-CN" dirty="0"/>
          </a:p>
          <a:p>
            <a:r>
              <a:rPr lang="zh-CN" altLang="en-US" dirty="0"/>
              <a:t>不要在类中过多使用基本类型。</a:t>
            </a:r>
            <a:endParaRPr lang="en-US" altLang="zh-CN" dirty="0"/>
          </a:p>
          <a:p>
            <a:pPr lvl="1"/>
            <a:r>
              <a:rPr lang="zh-CN" altLang="en-US" dirty="0"/>
              <a:t>例如在</a:t>
            </a:r>
            <a:r>
              <a:rPr lang="en-US" altLang="zh-CN" dirty="0"/>
              <a:t>Customer</a:t>
            </a:r>
            <a:r>
              <a:rPr lang="zh-CN" altLang="en-US" dirty="0"/>
              <a:t>类中需要</a:t>
            </a:r>
            <a:r>
              <a:rPr lang="en-US" altLang="zh-CN" dirty="0"/>
              <a:t>street, city, state, zip</a:t>
            </a:r>
            <a:r>
              <a:rPr lang="zh-CN" altLang="en-US" dirty="0"/>
              <a:t>等信息，可以把它们封装成一个</a:t>
            </a:r>
            <a:r>
              <a:rPr lang="en-US" altLang="zh-CN" dirty="0"/>
              <a:t>Address</a:t>
            </a:r>
            <a:r>
              <a:rPr lang="zh-CN" altLang="en-US" dirty="0"/>
              <a:t>类，前者使用后者的对象作为其成员。</a:t>
            </a:r>
            <a:endParaRPr lang="en-US" altLang="zh-CN" dirty="0"/>
          </a:p>
          <a:p>
            <a:r>
              <a:rPr lang="zh-CN" altLang="en-US" dirty="0"/>
              <a:t>只有必要时才设置域访问器和更改器。</a:t>
            </a:r>
            <a:endParaRPr lang="en-US" altLang="zh-CN" dirty="0"/>
          </a:p>
          <a:p>
            <a:pPr lvl="1"/>
            <a:r>
              <a:rPr lang="zh-CN" altLang="en-US" dirty="0"/>
              <a:t>有的信息不需要更改，或者不希望外界看到。</a:t>
            </a:r>
            <a:endParaRPr lang="zh-CN" alt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将功能过于复杂的类分解。</a:t>
            </a:r>
            <a:endParaRPr lang="en-US" altLang="zh-CN" dirty="0"/>
          </a:p>
          <a:p>
            <a:r>
              <a:rPr lang="zh-CN" altLang="en-US" dirty="0"/>
              <a:t>类名和方法名要体现其功能。</a:t>
            </a:r>
            <a:endParaRPr lang="en-US" altLang="zh-CN" dirty="0"/>
          </a:p>
          <a:p>
            <a:pPr lvl="1"/>
            <a:r>
              <a:rPr lang="zh-CN" altLang="en-US" dirty="0"/>
              <a:t>类名应该用名词，动名词，或加修饰词的名词</a:t>
            </a:r>
            <a:endParaRPr lang="en-US" altLang="zh-CN" dirty="0"/>
          </a:p>
          <a:p>
            <a:pPr lvl="1"/>
            <a:r>
              <a:rPr lang="en-US" altLang="zh-CN" dirty="0"/>
              <a:t>get…</a:t>
            </a:r>
            <a:r>
              <a:rPr lang="zh-CN" altLang="en-US" dirty="0"/>
              <a:t>方法，</a:t>
            </a:r>
            <a:r>
              <a:rPr lang="en-US" altLang="zh-CN" dirty="0"/>
              <a:t>set…</a:t>
            </a:r>
            <a:r>
              <a:rPr lang="zh-CN" altLang="en-US" dirty="0"/>
              <a:t>方法，等等</a:t>
            </a:r>
            <a:endParaRPr lang="en-US" altLang="zh-CN" dirty="0"/>
          </a:p>
          <a:p>
            <a:r>
              <a:rPr lang="zh-CN" altLang="en-US" dirty="0"/>
              <a:t>优先使用不可变类。</a:t>
            </a:r>
            <a:endParaRPr lang="en-US" altLang="zh-CN" dirty="0"/>
          </a:p>
          <a:p>
            <a:pPr lvl="1"/>
            <a:r>
              <a:rPr lang="zh-CN" altLang="en-US" dirty="0"/>
              <a:t>如</a:t>
            </a:r>
            <a:r>
              <a:rPr lang="en-US" altLang="zh-CN" dirty="0" err="1"/>
              <a:t>LocalDate</a:t>
            </a:r>
            <a:r>
              <a:rPr lang="zh-CN" altLang="en-US" dirty="0"/>
              <a:t>，</a:t>
            </a:r>
            <a:r>
              <a:rPr lang="en-US" altLang="zh-CN" dirty="0"/>
              <a:t>String</a:t>
            </a:r>
            <a:r>
              <a:rPr lang="zh-CN" altLang="en-US" dirty="0"/>
              <a:t>均为不可变类，而</a:t>
            </a:r>
            <a:r>
              <a:rPr lang="en-US" altLang="zh-CN" dirty="0"/>
              <a:t>Date</a:t>
            </a:r>
            <a:r>
              <a:rPr lang="zh-CN" altLang="en-US" dirty="0"/>
              <a:t>是可变的。使用不可变类可以防止并发时出现问题。</a:t>
            </a:r>
            <a:endParaRPr lang="en-US" altLang="zh-CN" dirty="0"/>
          </a:p>
          <a:p>
            <a:pPr lvl="1"/>
            <a:r>
              <a:rPr lang="zh-CN" altLang="en-US" dirty="0"/>
              <a:t>不可变类的数据需要变化时，其方法会产生一个新的对象，存放变化了的值。</a:t>
            </a:r>
            <a:endParaRPr lang="en-US" altLang="zh-CN" dirty="0"/>
          </a:p>
          <a:p>
            <a:pPr lvl="1"/>
            <a:r>
              <a:rPr lang="zh-CN" altLang="en-US" dirty="0"/>
              <a:t>有时类应该可变，比如员工的工资增加，若产生一个新的员工对象是不合适的。</a:t>
            </a:r>
            <a:endParaRPr lang="zh-CN" alt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9055" y="4278630"/>
            <a:ext cx="2444750" cy="2261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18135"/>
            <a:ext cx="8075295" cy="5918835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作业</a:t>
            </a:r>
            <a:r>
              <a:rPr lang="en-US" altLang="zh-CN" dirty="0"/>
              <a:t>1</a:t>
            </a:r>
            <a:r>
              <a:rPr lang="zh-CN" altLang="en-US" dirty="0"/>
              <a:t>：设计一个类</a:t>
            </a:r>
            <a:r>
              <a:rPr lang="en-US" altLang="zh-CN" dirty="0"/>
              <a:t>Animal</a:t>
            </a:r>
            <a:r>
              <a:rPr lang="zh-CN" altLang="en-US" dirty="0"/>
              <a:t>，置于</a:t>
            </a:r>
            <a:r>
              <a:rPr lang="en-US" altLang="zh-CN" dirty="0" err="1"/>
              <a:t>packanimal</a:t>
            </a:r>
            <a:r>
              <a:rPr lang="zh-CN" altLang="en-US" dirty="0"/>
              <a:t>包，包含如下功能：</a:t>
            </a:r>
            <a:endParaRPr lang="en-US" altLang="zh-CN" dirty="0"/>
          </a:p>
          <a:p>
            <a:pPr lvl="1"/>
            <a:r>
              <a:rPr lang="zh-CN" altLang="en-US" dirty="0"/>
              <a:t>实例域：动物名称，颜色，体重；类域（静态域）：表示已经创建对象的个数；多种构造器；方法：获取对象的信息，修改对象的颜色，修改对象的体重，显示创建对象的个数等。</a:t>
            </a:r>
            <a:endParaRPr lang="en-US" altLang="zh-CN" dirty="0"/>
          </a:p>
          <a:p>
            <a:pPr lvl="1"/>
            <a:r>
              <a:rPr lang="zh-CN" altLang="en-US" dirty="0"/>
              <a:t>设计一个类</a:t>
            </a:r>
            <a:r>
              <a:rPr lang="en-US" altLang="zh-CN" dirty="0" err="1"/>
              <a:t>AnimalTest</a:t>
            </a:r>
            <a:r>
              <a:rPr lang="zh-CN" altLang="en-US" dirty="0"/>
              <a:t>，置于</a:t>
            </a:r>
            <a:r>
              <a:rPr lang="en-US" altLang="zh-CN" dirty="0" err="1"/>
              <a:t>packanimaltest</a:t>
            </a:r>
            <a:r>
              <a:rPr lang="zh-CN" altLang="en-US" dirty="0"/>
              <a:t>包，使用前述</a:t>
            </a:r>
            <a:r>
              <a:rPr lang="en-US" altLang="zh-CN" dirty="0"/>
              <a:t>Animal</a:t>
            </a:r>
            <a:r>
              <a:rPr lang="zh-CN" altLang="en-US" dirty="0"/>
              <a:t>类。</a:t>
            </a:r>
            <a:endParaRPr lang="en-US" altLang="zh-CN" dirty="0"/>
          </a:p>
          <a:p>
            <a:r>
              <a:rPr lang="zh-CN" altLang="en-US" dirty="0"/>
              <a:t>作业</a:t>
            </a:r>
            <a:r>
              <a:rPr lang="en-US" altLang="zh-CN" dirty="0"/>
              <a:t>2</a:t>
            </a:r>
            <a:r>
              <a:rPr lang="zh-CN" altLang="en-US" dirty="0"/>
              <a:t>：设计一个</a:t>
            </a:r>
            <a:r>
              <a:rPr lang="en-US" altLang="zh-CN" dirty="0"/>
              <a:t>Point</a:t>
            </a:r>
            <a:r>
              <a:rPr lang="zh-CN" altLang="en-US" dirty="0"/>
              <a:t>类，描述平面上的一个点，可以存储直角坐标和极坐标；设计一个直线类</a:t>
            </a:r>
            <a:r>
              <a:rPr lang="en-US" altLang="zh-CN" dirty="0"/>
              <a:t>Line</a:t>
            </a:r>
            <a:r>
              <a:rPr lang="zh-CN" altLang="en-US" dirty="0"/>
              <a:t>，其端点用</a:t>
            </a:r>
            <a:r>
              <a:rPr lang="en-US" altLang="zh-CN" dirty="0"/>
              <a:t>Point</a:t>
            </a:r>
            <a:r>
              <a:rPr lang="zh-CN" altLang="en-US" dirty="0"/>
              <a:t>的对象，存储其斜率，颜色，线宽，长度（应该自动计算产生），设计基本的方法。产生直线可以用两个端点，或一个端点（左下）、斜率和长度。</a:t>
            </a:r>
            <a:endParaRPr lang="zh-CN" alt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基本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基本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0</TotalTime>
  <Words>12172</Words>
  <Application>WPS 演示</Application>
  <PresentationFormat>全屏显示(4:3)</PresentationFormat>
  <Paragraphs>707</Paragraphs>
  <Slides>53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53</vt:i4>
      </vt:variant>
    </vt:vector>
  </HeadingPairs>
  <TitlesOfParts>
    <vt:vector size="69" baseType="lpstr">
      <vt:lpstr>Arial</vt:lpstr>
      <vt:lpstr>宋体</vt:lpstr>
      <vt:lpstr>Wingdings</vt:lpstr>
      <vt:lpstr>华文宋体</vt:lpstr>
      <vt:lpstr>Arial Black</vt:lpstr>
      <vt:lpstr>微软雅黑</vt:lpstr>
      <vt:lpstr>汉仪旗黑</vt:lpstr>
      <vt:lpstr>黑体</vt:lpstr>
      <vt:lpstr>汉仪中黑KW</vt:lpstr>
      <vt:lpstr>微软雅黑</vt:lpstr>
      <vt:lpstr>宋体</vt:lpstr>
      <vt:lpstr>Arial Unicode MS</vt:lpstr>
      <vt:lpstr>Calibri</vt:lpstr>
      <vt:lpstr>Helvetica Neue</vt:lpstr>
      <vt:lpstr>汉仪书宋二KW</vt:lpstr>
      <vt:lpstr>基本</vt:lpstr>
      <vt:lpstr>Java 程序设计</vt:lpstr>
      <vt:lpstr>4  对象和类</vt:lpstr>
      <vt:lpstr>4.1  定义一个类</vt:lpstr>
      <vt:lpstr>PowerPoint 演示文稿</vt:lpstr>
      <vt:lpstr>PowerPoint 演示文稿</vt:lpstr>
      <vt:lpstr>类和文件</vt:lpstr>
      <vt:lpstr>PowerPoint 演示文稿</vt:lpstr>
      <vt:lpstr>PowerPoint 演示文稿</vt:lpstr>
      <vt:lpstr>PowerPoint 演示文稿</vt:lpstr>
      <vt:lpstr>4.2  类中的域和方法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4.2.1  this引用</vt:lpstr>
      <vt:lpstr>PowerPoint 演示文稿</vt:lpstr>
      <vt:lpstr>PowerPoint 演示文稿</vt:lpstr>
      <vt:lpstr>4.2.2  封装的优点</vt:lpstr>
      <vt:lpstr>PowerPoint 演示文稿</vt:lpstr>
      <vt:lpstr>PowerPoint 演示文稿</vt:lpstr>
      <vt:lpstr>4.2.3  私有方法和常量域</vt:lpstr>
      <vt:lpstr>4.3 static域</vt:lpstr>
      <vt:lpstr>PowerPoint 演示文稿</vt:lpstr>
      <vt:lpstr>PowerPoint 演示文稿</vt:lpstr>
      <vt:lpstr>4.4  static方法</vt:lpstr>
      <vt:lpstr>PowerPoint 演示文稿</vt:lpstr>
      <vt:lpstr>4.5  方法参数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4.6  构造对象</vt:lpstr>
      <vt:lpstr>4.6.1  默认的域初始化</vt:lpstr>
      <vt:lpstr>4.6.2  无参数构造器</vt:lpstr>
      <vt:lpstr>4.6.3  显式的域初始化</vt:lpstr>
      <vt:lpstr>PowerPoint 演示文稿</vt:lpstr>
      <vt:lpstr>4.6.4  带参数的构造器</vt:lpstr>
      <vt:lpstr>PowerPoint 演示文稿</vt:lpstr>
      <vt:lpstr>4.6.5  初始化块</vt:lpstr>
      <vt:lpstr>PowerPoint 演示文稿</vt:lpstr>
      <vt:lpstr>4.7  包（package）</vt:lpstr>
      <vt:lpstr>PowerPoint 演示文稿</vt:lpstr>
      <vt:lpstr>PowerPoint 演示文稿</vt:lpstr>
      <vt:lpstr>PowerPoint 演示文稿</vt:lpstr>
      <vt:lpstr>PowerPoint 演示文稿</vt:lpstr>
      <vt:lpstr>4.8  类设计的建议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面向对象程序设计----Java</dc:title>
  <dc:creator>hyq</dc:creator>
  <cp:lastModifiedBy>WPS_1667213079</cp:lastModifiedBy>
  <cp:revision>193</cp:revision>
  <dcterms:created xsi:type="dcterms:W3CDTF">2024-05-21T15:05:38Z</dcterms:created>
  <dcterms:modified xsi:type="dcterms:W3CDTF">2024-05-21T15:05:38Z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2052-6.5.1.8687</vt:lpwstr>
  </property>
  <property fmtid="{D5CDD505-2E9C-101B-9397-08002B2CF9AE}" pid="3" name="ICV">
    <vt:lpwstr>239A201F210AB72442B84C668E6E8E02_43</vt:lpwstr>
  </property>
</Properties>
</file>