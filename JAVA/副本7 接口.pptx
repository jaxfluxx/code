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0"/>
  </p:notesMasterIdLst>
  <p:sldIdLst>
    <p:sldId id="30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301" r:id="rId28"/>
    <p:sldId id="302" r:id="rId29"/>
    <p:sldId id="303" r:id="rId30"/>
    <p:sldId id="281" r:id="rId31"/>
    <p:sldId id="282" r:id="rId32"/>
    <p:sldId id="283" r:id="rId33"/>
    <p:sldId id="284" r:id="rId34"/>
    <p:sldId id="285" r:id="rId35"/>
    <p:sldId id="297" r:id="rId36"/>
    <p:sldId id="298" r:id="rId37"/>
    <p:sldId id="299" r:id="rId38"/>
    <p:sldId id="296" r:id="rId39"/>
    <p:sldId id="286" r:id="rId40"/>
    <p:sldId id="294" r:id="rId41"/>
    <p:sldId id="295" r:id="rId42"/>
    <p:sldId id="287" r:id="rId43"/>
    <p:sldId id="288" r:id="rId44"/>
    <p:sldId id="289" r:id="rId45"/>
    <p:sldId id="290" r:id="rId46"/>
    <p:sldId id="291" r:id="rId47"/>
    <p:sldId id="292" r:id="rId48"/>
    <p:sldId id="293"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6" d="100"/>
          <a:sy n="106" d="100"/>
        </p:scale>
        <p:origin x="176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notesMaster" Target="notesMasters/notesMaster1.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9E825A-9DAF-477B-AC5C-4050AFD6B15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C47105-71C5-4BF5-AD58-12C73EDD56E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cap="none" spc="-80" baseline="0">
                <a:solidFill>
                  <a:schemeClr val="tx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none"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307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40352" y="17537"/>
            <a:ext cx="1242239" cy="1035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152718"/>
            <a:ext cx="8075240" cy="683994"/>
          </a:xfrm>
        </p:spPr>
        <p:txBody>
          <a:bodyPr/>
          <a:lstStyle>
            <a:lvl1pPr>
              <a:defRPr cap="none" baseline="0"/>
            </a:lvl1pPr>
          </a:lstStyle>
          <a:p>
            <a:r>
              <a:rPr lang="zh-CN" altLang="en-US" dirty="0"/>
              <a:t>单击此处编辑母版标题样式</a:t>
            </a:r>
            <a:endParaRPr lang="en-US" dirty="0"/>
          </a:p>
        </p:txBody>
      </p:sp>
      <p:sp>
        <p:nvSpPr>
          <p:cNvPr id="3" name="Content Placeholder 2"/>
          <p:cNvSpPr>
            <a:spLocks noGrp="1"/>
          </p:cNvSpPr>
          <p:nvPr>
            <p:ph idx="1"/>
          </p:nvPr>
        </p:nvSpPr>
        <p:spPr>
          <a:xfrm>
            <a:off x="457200" y="980728"/>
            <a:ext cx="8075240" cy="5256584"/>
          </a:xfrm>
        </p:spPr>
        <p:txBody>
          <a:bodyPr/>
          <a:lstStyle>
            <a:lvl1pPr marL="0" indent="0" defTabSz="1080135">
              <a:spcBef>
                <a:spcPts val="600"/>
              </a:spcBef>
              <a:spcAft>
                <a:spcPts val="0"/>
              </a:spcAft>
              <a:buFont typeface="Arial" panose="020B0704020202020204" pitchFamily="34" charset="0"/>
              <a:buChar char="•"/>
              <a:defRPr sz="2800" b="0" i="0" baseline="0">
                <a:solidFill>
                  <a:schemeClr val="tx1"/>
                </a:solidFill>
                <a:ea typeface="华文宋体" panose="02010600040101010101" pitchFamily="2" charset="-122"/>
              </a:defRPr>
            </a:lvl1pPr>
            <a:lvl2pPr>
              <a:lnSpc>
                <a:spcPct val="100000"/>
              </a:lnSpc>
              <a:spcBef>
                <a:spcPts val="600"/>
              </a:spcBef>
              <a:defRPr sz="2400" baseline="0">
                <a:solidFill>
                  <a:schemeClr val="tx2">
                    <a:lumMod val="75000"/>
                  </a:schemeClr>
                </a:solidFill>
              </a:defRPr>
            </a:lvl2pPr>
            <a:lvl3pPr>
              <a:spcBef>
                <a:spcPts val="600"/>
              </a:spcBef>
              <a:defRPr sz="2400"/>
            </a:lvl3pPr>
            <a:lvl4pPr>
              <a:lnSpc>
                <a:spcPct val="100000"/>
              </a:lnSpc>
              <a:spcBef>
                <a:spcPts val="600"/>
              </a:spcBef>
              <a:defRPr sz="2400"/>
            </a:lvl4pPr>
            <a:lvl5pPr>
              <a:spcBef>
                <a:spcPts val="600"/>
              </a:spcBef>
              <a:defRPr sz="2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灯片编号占位符 11"/>
          <p:cNvSpPr>
            <a:spLocks noGrp="1"/>
          </p:cNvSpPr>
          <p:nvPr>
            <p:ph type="sldNum" sz="quarter" idx="12"/>
          </p:nvPr>
        </p:nvSpPr>
        <p:spPr/>
        <p:txBody>
          <a:bodyPr/>
          <a:lstStyle/>
          <a:p>
            <a:fld id="{94568401-C238-4940-8B37-740CB2A88BB9}"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7" name="Date Placeholder 6"/>
          <p:cNvSpPr>
            <a:spLocks noGrp="1"/>
          </p:cNvSpPr>
          <p:nvPr>
            <p:ph type="dt" sz="half" idx="10"/>
          </p:nvPr>
        </p:nvSpPr>
        <p:spPr/>
        <p:txBody>
          <a:bodyPr/>
          <a:lstStyle/>
          <a:p>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fld>
            <a:endParaRPr lang="zh-CN" altLang="en-US"/>
          </a:p>
        </p:txBody>
      </p:sp>
      <p:sp>
        <p:nvSpPr>
          <p:cNvPr id="9" name="Footer Placeholder 8"/>
          <p:cNvSpPr>
            <a:spLocks noGrp="1"/>
          </p:cNvSpPr>
          <p:nvPr>
            <p:ph type="ftr" sz="quarter" idx="12"/>
          </p:nvPr>
        </p:nvSpPr>
        <p:spPr/>
        <p:txBody>
          <a:bodyPr/>
          <a:lstStyle/>
          <a:p>
            <a:r>
              <a:rPr lang="en-US" altLang="zh-CN"/>
              <a:t>2</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anose="020B0704020202020204" pitchFamily="34" charset="0"/>
              <a:buNone/>
            </a:pPr>
            <a:r>
              <a:rPr lang="zh-CN" altLang="en-US"/>
              <a:t>单击此处编辑母版文本样式</a:t>
            </a:r>
            <a:endParaRPr lang="zh-CN" altLang="en-US"/>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r>
              <a:rPr lang="en-US" altLang="zh-CN"/>
              <a:t>2</a:t>
            </a:r>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r>
              <a:rPr lang="en-US" altLang="zh-CN"/>
              <a:t>2</a:t>
            </a:r>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r>
              <a:rPr lang="en-US" altLang="zh-CN"/>
              <a:t>2</a:t>
            </a:r>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0C913308-F349-4B6D-A68A-DD1791B4A57B}" type="slidenum">
              <a:rPr lang="zh-CN" altLang="en-US" smtClean="0"/>
            </a:fld>
            <a:endParaRPr lang="zh-CN" alt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zh-CN" altLang="en-US"/>
              <a:t>单击此处编辑母版标题样式</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endParaRPr lang="zh-CN" alt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r>
              <a:rPr lang="en-US" altLang="zh-CN"/>
              <a:t>2</a:t>
            </a:r>
            <a:endParaRPr lang="zh-CN" alt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0C913308-F349-4B6D-A68A-DD1791B4A57B}" type="slidenum">
              <a:rPr lang="zh-CN" altLang="en-US" smtClean="0"/>
            </a:fld>
            <a:endParaRPr lang="zh-CN" alt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anose="020B0704020202020204"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anose="020B07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anose="020B07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anose="020B0704020202020204"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mailto:heyq@cugb.edu.cn" TargetMode="Externa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60032" y="242445"/>
            <a:ext cx="3976795" cy="25584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ctrTitle"/>
          </p:nvPr>
        </p:nvSpPr>
        <p:spPr>
          <a:xfrm>
            <a:off x="611560" y="1628800"/>
            <a:ext cx="4608512" cy="1470025"/>
          </a:xfrm>
        </p:spPr>
        <p:txBody>
          <a:bodyPr>
            <a:normAutofit/>
          </a:bodyPr>
          <a:lstStyle/>
          <a:p>
            <a:r>
              <a:rPr lang="en-US" altLang="zh-CN" sz="4800" dirty="0"/>
              <a:t>Java </a:t>
            </a:r>
            <a:r>
              <a:rPr lang="zh-CN" altLang="en-US" sz="4800" dirty="0"/>
              <a:t>程序设计</a:t>
            </a:r>
            <a:endParaRPr lang="zh-CN" altLang="en-US" sz="4800" dirty="0"/>
          </a:p>
        </p:txBody>
      </p:sp>
      <p:sp>
        <p:nvSpPr>
          <p:cNvPr id="3" name="副标题 2"/>
          <p:cNvSpPr>
            <a:spLocks noGrp="1"/>
          </p:cNvSpPr>
          <p:nvPr>
            <p:ph type="subTitle" idx="1"/>
          </p:nvPr>
        </p:nvSpPr>
        <p:spPr>
          <a:xfrm>
            <a:off x="899592" y="3789040"/>
            <a:ext cx="7772400" cy="1656184"/>
          </a:xfrm>
        </p:spPr>
        <p:txBody>
          <a:bodyPr>
            <a:noAutofit/>
          </a:bodyPr>
          <a:lstStyle/>
          <a:p>
            <a:pPr algn="l"/>
            <a:r>
              <a:rPr lang="zh-CN" altLang="en-US" sz="2800" dirty="0"/>
              <a:t>何勇强</a:t>
            </a:r>
            <a:endParaRPr lang="en-US" altLang="zh-CN" sz="2800" dirty="0"/>
          </a:p>
          <a:p>
            <a:pPr algn="l"/>
            <a:r>
              <a:rPr lang="en-US" altLang="zh-CN" sz="2800" dirty="0">
                <a:hlinkClick r:id="rId2"/>
              </a:rPr>
              <a:t>heyq@cugb.edu.cn</a:t>
            </a:r>
            <a:endParaRPr lang="en-US" altLang="zh-CN" sz="2800" dirty="0"/>
          </a:p>
          <a:p>
            <a:pPr algn="l"/>
            <a:r>
              <a:rPr lang="en-US" altLang="zh-CN" sz="2800" dirty="0"/>
              <a:t>18810819390</a:t>
            </a:r>
            <a:endParaRPr lang="en-US" altLang="zh-CN" sz="2800" dirty="0"/>
          </a:p>
          <a:p>
            <a:pPr algn="l"/>
            <a:r>
              <a:rPr lang="en-US" altLang="zh-CN" sz="2800"/>
              <a:t>                                      2024-2</a:t>
            </a:r>
            <a:endParaRPr lang="zh-CN" altLang="en-US" sz="2800" dirty="0"/>
          </a:p>
        </p:txBody>
      </p:sp>
      <p:sp>
        <p:nvSpPr>
          <p:cNvPr id="4" name="TextBox 3"/>
          <p:cNvSpPr txBox="1"/>
          <p:nvPr/>
        </p:nvSpPr>
        <p:spPr>
          <a:xfrm>
            <a:off x="5884600" y="2638521"/>
            <a:ext cx="2664296" cy="584775"/>
          </a:xfrm>
          <a:prstGeom prst="rect">
            <a:avLst/>
          </a:prstGeom>
          <a:noFill/>
        </p:spPr>
        <p:txBody>
          <a:bodyPr wrap="square" rtlCol="0">
            <a:spAutoFit/>
          </a:bodyPr>
          <a:lstStyle/>
          <a:p>
            <a:r>
              <a:rPr lang="zh-CN" altLang="en-US" sz="3200" i="1" dirty="0">
                <a:solidFill>
                  <a:srgbClr val="0070C0"/>
                </a:solidFill>
              </a:rPr>
              <a:t>本科生公共课</a:t>
            </a:r>
            <a:endParaRPr lang="zh-CN" altLang="en-US" sz="3200" i="1"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  </a:t>
            </a:r>
            <a:r>
              <a:rPr lang="zh-CN" altLang="en-US" dirty="0"/>
              <a:t>接口</a:t>
            </a:r>
            <a:endParaRPr lang="zh-CN" altLang="en-US" dirty="0"/>
          </a:p>
        </p:txBody>
      </p:sp>
      <p:sp>
        <p:nvSpPr>
          <p:cNvPr id="3" name="内容占位符 2"/>
          <p:cNvSpPr>
            <a:spLocks noGrp="1"/>
          </p:cNvSpPr>
          <p:nvPr>
            <p:ph idx="1"/>
          </p:nvPr>
        </p:nvSpPr>
        <p:spPr/>
        <p:txBody>
          <a:bodyPr/>
          <a:lstStyle/>
          <a:p>
            <a:r>
              <a:rPr lang="zh-CN" altLang="en-US" dirty="0"/>
              <a:t>接口是</a:t>
            </a:r>
            <a:r>
              <a:rPr lang="en-US" altLang="zh-CN" dirty="0"/>
              <a:t>java</a:t>
            </a:r>
            <a:r>
              <a:rPr lang="zh-CN" altLang="en-US" dirty="0"/>
              <a:t>的重要机制，用于描述类应该具有的功能，而功能的实现留给相应的类，一个类只能直接继承一个类，却可以实现多个接口，给程序设计留下了更大的空间。</a:t>
            </a:r>
            <a:endParaRPr lang="en-US" altLang="zh-CN" dirty="0"/>
          </a:p>
          <a:p>
            <a:r>
              <a:rPr lang="zh-CN" altLang="en-US" dirty="0"/>
              <a:t>接口机制定义了一组规范，填补了</a:t>
            </a:r>
            <a:r>
              <a:rPr lang="en-US" altLang="zh-CN" dirty="0"/>
              <a:t>java</a:t>
            </a:r>
            <a:r>
              <a:rPr lang="zh-CN" altLang="en-US" dirty="0"/>
              <a:t>中没有多重继承的逻辑不足，又使其语法不像</a:t>
            </a:r>
            <a:r>
              <a:rPr lang="en-US" altLang="zh-CN" dirty="0"/>
              <a:t>C++</a:t>
            </a:r>
            <a:r>
              <a:rPr lang="zh-CN" altLang="en-US" dirty="0"/>
              <a:t>那样繁杂。</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a:t>接口概念</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接口（</a:t>
            </a:r>
            <a:r>
              <a:rPr lang="en-US" altLang="zh-CN" dirty="0"/>
              <a:t>Interface</a:t>
            </a:r>
            <a:r>
              <a:rPr lang="zh-CN" altLang="en-US" dirty="0"/>
              <a:t>）是一种抽象类型，是抽象方法的集合，以</a:t>
            </a:r>
            <a:r>
              <a:rPr lang="en-US" altLang="zh-CN" dirty="0"/>
              <a:t>interface</a:t>
            </a:r>
            <a:r>
              <a:rPr lang="zh-CN" altLang="en-US" dirty="0"/>
              <a:t>来声明。一个类通过实现接口的方式，来继承接口的抽象方法。</a:t>
            </a:r>
            <a:endParaRPr lang="zh-CN" altLang="en-US" dirty="0"/>
          </a:p>
          <a:p>
            <a:r>
              <a:rPr lang="zh-CN" altLang="en-US" dirty="0"/>
              <a:t>接口并不是类。类描述对象的属性和方法。而接口是对实现它的类的一组要求，定义了一个实体可能发生的动作，只有声明，没有具体的行为。</a:t>
            </a:r>
            <a:endParaRPr lang="zh-CN" altLang="en-US" dirty="0"/>
          </a:p>
          <a:p>
            <a:r>
              <a:rPr lang="zh-CN" altLang="en-US" dirty="0"/>
              <a:t> 接口里面没有域，只能有</a:t>
            </a:r>
            <a:r>
              <a:rPr lang="en-US" altLang="zh-CN" dirty="0"/>
              <a:t>static</a:t>
            </a:r>
            <a:r>
              <a:rPr lang="zh-CN" altLang="en-US" dirty="0"/>
              <a:t>常量，只能有抽象的方法，没有构造方法。（</a:t>
            </a:r>
            <a:r>
              <a:rPr lang="en-US" altLang="zh-CN" dirty="0"/>
              <a:t>java8</a:t>
            </a:r>
            <a:r>
              <a:rPr lang="zh-CN" altLang="en-US" dirty="0"/>
              <a:t>以后允许有默认方法和类方法）</a:t>
            </a:r>
            <a:endParaRPr lang="en-US" altLang="zh-CN" dirty="0"/>
          </a:p>
          <a:p>
            <a:r>
              <a:rPr lang="zh-CN" altLang="en-US" dirty="0"/>
              <a:t>接口无法被实例化，但接口类型可用来声明一个变量，指向</a:t>
            </a:r>
            <a:r>
              <a:rPr lang="en-US" altLang="zh-CN" dirty="0"/>
              <a:t>null</a:t>
            </a:r>
            <a:r>
              <a:rPr lang="zh-CN" altLang="en-US" dirty="0"/>
              <a:t>或指向一个实现了这个接口的类的对象。</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7.1.1  </a:t>
            </a:r>
            <a:r>
              <a:rPr lang="zh-CN" altLang="en-US" dirty="0"/>
              <a:t>一个简单示例</a:t>
            </a:r>
            <a:endParaRPr lang="zh-CN" altLang="en-US" dirty="0"/>
          </a:p>
        </p:txBody>
      </p:sp>
      <p:sp>
        <p:nvSpPr>
          <p:cNvPr id="3" name="内容占位符 2"/>
          <p:cNvSpPr>
            <a:spLocks noGrp="1"/>
          </p:cNvSpPr>
          <p:nvPr>
            <p:ph idx="1"/>
          </p:nvPr>
        </p:nvSpPr>
        <p:spPr>
          <a:xfrm>
            <a:off x="457200" y="908720"/>
            <a:ext cx="8075240" cy="5616624"/>
          </a:xfrm>
        </p:spPr>
        <p:txBody>
          <a:bodyPr>
            <a:normAutofit lnSpcReduction="10000"/>
          </a:bodyPr>
          <a:lstStyle/>
          <a:p>
            <a:r>
              <a:rPr lang="zh-CN" altLang="en-US" dirty="0"/>
              <a:t>看一个例子：</a:t>
            </a:r>
            <a:endParaRPr lang="en-US" altLang="zh-CN" dirty="0"/>
          </a:p>
          <a:p>
            <a:pPr lvl="1"/>
            <a:r>
              <a:rPr lang="zh-CN" altLang="en-US" dirty="0"/>
              <a:t>所有的门都有</a:t>
            </a:r>
            <a:r>
              <a:rPr lang="en-US" altLang="zh-CN" dirty="0"/>
              <a:t>open( )</a:t>
            </a:r>
            <a:r>
              <a:rPr lang="zh-CN" altLang="en-US" dirty="0"/>
              <a:t>和</a:t>
            </a:r>
            <a:r>
              <a:rPr lang="en-US" altLang="zh-CN" dirty="0"/>
              <a:t>close( )</a:t>
            </a:r>
            <a:r>
              <a:rPr lang="zh-CN" altLang="en-US" dirty="0"/>
              <a:t>两个动作，此时可以通过抽象类来定义这个抽象概念：</a:t>
            </a:r>
            <a:br>
              <a:rPr lang="en-US" altLang="zh-CN" dirty="0"/>
            </a:br>
            <a:r>
              <a:rPr lang="en-US" altLang="zh-CN" dirty="0">
                <a:solidFill>
                  <a:srgbClr val="FF0000"/>
                </a:solidFill>
              </a:rPr>
              <a:t>abstract</a:t>
            </a:r>
            <a:r>
              <a:rPr lang="en-US" altLang="zh-CN" dirty="0"/>
              <a:t> class Door {</a:t>
            </a:r>
            <a:endParaRPr lang="en-US" altLang="zh-CN" dirty="0"/>
          </a:p>
          <a:p>
            <a:pPr marL="274320" lvl="1" indent="0">
              <a:buNone/>
            </a:pPr>
            <a:r>
              <a:rPr lang="en-US" altLang="zh-CN" dirty="0"/>
              <a:t>    public </a:t>
            </a:r>
            <a:r>
              <a:rPr lang="en-US" altLang="zh-CN" dirty="0">
                <a:solidFill>
                  <a:srgbClr val="FF0000"/>
                </a:solidFill>
              </a:rPr>
              <a:t>abstract</a:t>
            </a:r>
            <a:r>
              <a:rPr lang="en-US" altLang="zh-CN" dirty="0"/>
              <a:t> void open();</a:t>
            </a:r>
            <a:endParaRPr lang="en-US" altLang="zh-CN" dirty="0"/>
          </a:p>
          <a:p>
            <a:pPr marL="274320" lvl="1" indent="0">
              <a:buNone/>
            </a:pPr>
            <a:r>
              <a:rPr lang="en-US" altLang="zh-CN" dirty="0"/>
              <a:t>    public </a:t>
            </a:r>
            <a:r>
              <a:rPr lang="en-US" altLang="zh-CN" dirty="0">
                <a:solidFill>
                  <a:srgbClr val="FF0000"/>
                </a:solidFill>
              </a:rPr>
              <a:t>abstract</a:t>
            </a:r>
            <a:r>
              <a:rPr lang="en-US" altLang="zh-CN" dirty="0"/>
              <a:t> void close();</a:t>
            </a:r>
            <a:endParaRPr lang="en-US" altLang="zh-CN" dirty="0"/>
          </a:p>
          <a:p>
            <a:pPr marL="274320" lvl="1" indent="0">
              <a:buNone/>
            </a:pPr>
            <a:r>
              <a:rPr lang="en-US" altLang="zh-CN" dirty="0"/>
              <a:t>  }</a:t>
            </a:r>
            <a:endParaRPr lang="en-US" altLang="zh-CN" dirty="0"/>
          </a:p>
          <a:p>
            <a:pPr lvl="1"/>
            <a:r>
              <a:rPr lang="zh-CN" altLang="en-US" dirty="0"/>
              <a:t>如果需要门具有报警</a:t>
            </a:r>
            <a:r>
              <a:rPr lang="en-US" altLang="zh-CN" dirty="0"/>
              <a:t>alarm( )</a:t>
            </a:r>
            <a:r>
              <a:rPr lang="zh-CN" altLang="en-US" dirty="0"/>
              <a:t> 功能，该如何实现？</a:t>
            </a:r>
            <a:endParaRPr lang="en-US" altLang="zh-CN" dirty="0"/>
          </a:p>
          <a:p>
            <a:pPr marL="274320" lvl="1" indent="0">
              <a:buNone/>
            </a:pPr>
            <a:r>
              <a:rPr lang="en-US" altLang="zh-CN" dirty="0"/>
              <a:t>abstract class Door {</a:t>
            </a:r>
            <a:endParaRPr lang="en-US" altLang="zh-CN" dirty="0"/>
          </a:p>
          <a:p>
            <a:pPr marL="274320" lvl="1" indent="0">
              <a:buNone/>
            </a:pPr>
            <a:r>
              <a:rPr lang="en-US" altLang="zh-CN" dirty="0"/>
              <a:t>    public abstract void open();</a:t>
            </a:r>
            <a:endParaRPr lang="en-US" altLang="zh-CN" dirty="0"/>
          </a:p>
          <a:p>
            <a:pPr marL="274320" lvl="1" indent="0">
              <a:buNone/>
            </a:pPr>
            <a:r>
              <a:rPr lang="en-US" altLang="zh-CN" dirty="0"/>
              <a:t>    public abstract void close();</a:t>
            </a:r>
            <a:endParaRPr lang="en-US" altLang="zh-CN" dirty="0"/>
          </a:p>
          <a:p>
            <a:pPr marL="274320" lvl="1" indent="0">
              <a:buNone/>
            </a:pPr>
            <a:r>
              <a:rPr lang="en-US" altLang="zh-CN" dirty="0"/>
              <a:t>    </a:t>
            </a:r>
            <a:r>
              <a:rPr lang="en-US" altLang="zh-CN" dirty="0">
                <a:solidFill>
                  <a:srgbClr val="FF0000"/>
                </a:solidFill>
              </a:rPr>
              <a:t>public abstract void alarm();</a:t>
            </a:r>
            <a:endParaRPr lang="en-US" altLang="zh-CN" dirty="0">
              <a:solidFill>
                <a:srgbClr val="FF0000"/>
              </a:solidFill>
            </a:endParaRPr>
          </a:p>
          <a:p>
            <a:pPr marL="274320" lvl="1" indent="0">
              <a:buNone/>
            </a:pPr>
            <a:r>
              <a:rPr lang="en-US" altLang="zh-CN" dirty="0"/>
              <a:t>  }</a:t>
            </a:r>
            <a:endParaRPr lang="en-US" altLang="zh-CN" dirty="0"/>
          </a:p>
          <a:p>
            <a:pPr lvl="1"/>
            <a:r>
              <a:rPr lang="zh-CN" altLang="en-US" dirty="0"/>
              <a:t>但是，</a:t>
            </a:r>
            <a:r>
              <a:rPr lang="zh-CN" altLang="en-US" dirty="0">
                <a:solidFill>
                  <a:srgbClr val="FF0000"/>
                </a:solidFill>
              </a:rPr>
              <a:t>并不是</a:t>
            </a:r>
            <a:r>
              <a:rPr lang="zh-CN" altLang="en-US" dirty="0"/>
              <a:t>所有的门都要报警！</a:t>
            </a:r>
            <a:endParaRPr lang="en-US" altLang="zh-CN" dirty="0"/>
          </a:p>
          <a:p>
            <a:pPr lvl="1"/>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lstStyle/>
          <a:p>
            <a:r>
              <a:rPr lang="zh-CN" altLang="en-US" dirty="0"/>
              <a:t>可见，开门，关门和报警属于两个不同范畴内的行为，</a:t>
            </a:r>
            <a:r>
              <a:rPr lang="en-US" altLang="zh-CN" dirty="0"/>
              <a:t>open()</a:t>
            </a:r>
            <a:r>
              <a:rPr lang="zh-CN" altLang="en-US" dirty="0"/>
              <a:t>和</a:t>
            </a:r>
            <a:r>
              <a:rPr lang="en-US" altLang="zh-CN" dirty="0"/>
              <a:t>close()</a:t>
            </a:r>
            <a:r>
              <a:rPr lang="zh-CN" altLang="en-US" dirty="0"/>
              <a:t>属于门本身固有的行为特性，而</a:t>
            </a:r>
            <a:r>
              <a:rPr lang="en-US" altLang="zh-CN" dirty="0"/>
              <a:t>alarm()</a:t>
            </a:r>
            <a:r>
              <a:rPr lang="zh-CN" altLang="en-US" dirty="0"/>
              <a:t>属于延伸的附加行为。</a:t>
            </a:r>
            <a:endParaRPr lang="en-US" altLang="zh-CN" dirty="0"/>
          </a:p>
          <a:p>
            <a:pPr lvl="1"/>
            <a:r>
              <a:rPr lang="zh-CN" altLang="en-US" dirty="0"/>
              <a:t>最好的解决办法是单独将报警设计为一个接口，包含</a:t>
            </a:r>
            <a:r>
              <a:rPr lang="en-US" altLang="zh-CN" dirty="0"/>
              <a:t>alarm()</a:t>
            </a:r>
            <a:r>
              <a:rPr lang="zh-CN" altLang="en-US" dirty="0"/>
              <a:t>行为</a:t>
            </a:r>
            <a:r>
              <a:rPr lang="en-US" altLang="zh-CN" dirty="0"/>
              <a:t>,Door</a:t>
            </a:r>
            <a:r>
              <a:rPr lang="zh-CN" altLang="en-US" dirty="0"/>
              <a:t>设计为单独的一个抽象类，包含</a:t>
            </a:r>
            <a:r>
              <a:rPr lang="en-US" altLang="zh-CN" dirty="0"/>
              <a:t>open</a:t>
            </a:r>
            <a:r>
              <a:rPr lang="zh-CN" altLang="en-US" dirty="0"/>
              <a:t>和</a:t>
            </a:r>
            <a:r>
              <a:rPr lang="en-US" altLang="zh-CN" dirty="0"/>
              <a:t>close</a:t>
            </a:r>
            <a:r>
              <a:rPr lang="zh-CN" altLang="en-US" dirty="0"/>
              <a:t>两种行为。再设计一个报警门继承</a:t>
            </a:r>
            <a:r>
              <a:rPr lang="en-US" altLang="zh-CN" dirty="0"/>
              <a:t>Door</a:t>
            </a:r>
            <a:r>
              <a:rPr lang="zh-CN" altLang="en-US" dirty="0"/>
              <a:t>类和实现</a:t>
            </a:r>
            <a:r>
              <a:rPr lang="en-US" altLang="zh-CN" dirty="0"/>
              <a:t>Alarm</a:t>
            </a:r>
            <a:r>
              <a:rPr lang="zh-CN" altLang="en-US" dirty="0"/>
              <a:t>接口。</a:t>
            </a:r>
            <a:endParaRPr lang="en-US" altLang="zh-CN" dirty="0"/>
          </a:p>
          <a:p>
            <a:pPr lvl="1"/>
            <a:br>
              <a:rPr lang="en-US" altLang="zh-CN" dirty="0"/>
            </a:br>
            <a:r>
              <a:rPr lang="en-US" altLang="zh-CN" dirty="0"/>
              <a:t>public </a:t>
            </a:r>
            <a:r>
              <a:rPr lang="en-US" altLang="zh-CN" dirty="0">
                <a:solidFill>
                  <a:srgbClr val="FF0000"/>
                </a:solidFill>
              </a:rPr>
              <a:t>interface</a:t>
            </a:r>
            <a:r>
              <a:rPr lang="en-US" altLang="zh-CN" dirty="0"/>
              <a:t> Alarm</a:t>
            </a:r>
            <a:endParaRPr lang="en-US" altLang="zh-CN" dirty="0"/>
          </a:p>
          <a:p>
            <a:pPr marL="274320" lvl="1" indent="0">
              <a:buNone/>
            </a:pPr>
            <a:r>
              <a:rPr lang="en-US" altLang="zh-CN" dirty="0"/>
              <a:t>  {</a:t>
            </a:r>
            <a:endParaRPr lang="en-US" altLang="zh-CN" dirty="0"/>
          </a:p>
          <a:p>
            <a:pPr marL="274320" lvl="1" indent="0">
              <a:buNone/>
            </a:pPr>
            <a:r>
              <a:rPr lang="en-US" altLang="zh-CN" dirty="0"/>
              <a:t>	void alarm() throws </a:t>
            </a:r>
            <a:r>
              <a:rPr lang="en-US" altLang="zh-CN" dirty="0" err="1"/>
              <a:t>InterruptedException</a:t>
            </a:r>
            <a:r>
              <a:rPr lang="en-US" altLang="zh-CN" dirty="0"/>
              <a:t>;</a:t>
            </a:r>
            <a:endParaRPr lang="en-US" altLang="zh-CN" dirty="0"/>
          </a:p>
          <a:p>
            <a:pPr marL="274320" lvl="1" indent="0">
              <a:buNone/>
            </a:pPr>
            <a:r>
              <a:rPr lang="en-US" altLang="zh-CN" dirty="0"/>
              <a:t>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075240" cy="6192688"/>
          </a:xfrm>
        </p:spPr>
        <p:txBody>
          <a:bodyPr>
            <a:normAutofit fontScale="85000" lnSpcReduction="20000"/>
          </a:bodyPr>
          <a:lstStyle/>
          <a:p>
            <a:pPr>
              <a:buNone/>
            </a:pPr>
            <a:r>
              <a:rPr lang="en-US" altLang="zh-CN" dirty="0"/>
              <a:t>public abstract class Door</a:t>
            </a:r>
            <a:endParaRPr lang="en-US" altLang="zh-CN" dirty="0"/>
          </a:p>
          <a:p>
            <a:pPr>
              <a:buNone/>
            </a:pPr>
            <a:r>
              <a:rPr lang="en-US" altLang="zh-CN" dirty="0"/>
              <a:t>{</a:t>
            </a:r>
            <a:endParaRPr lang="en-US" altLang="zh-CN" dirty="0"/>
          </a:p>
          <a:p>
            <a:pPr>
              <a:buNone/>
            </a:pPr>
            <a:r>
              <a:rPr lang="en-US" altLang="zh-CN" dirty="0"/>
              <a:t>	private </a:t>
            </a:r>
            <a:r>
              <a:rPr lang="en-US" altLang="zh-CN" dirty="0" err="1"/>
              <a:t>int</a:t>
            </a:r>
            <a:r>
              <a:rPr lang="en-US" altLang="zh-CN" dirty="0"/>
              <a:t> length;</a:t>
            </a:r>
            <a:endParaRPr lang="en-US" altLang="zh-CN" dirty="0"/>
          </a:p>
          <a:p>
            <a:pPr>
              <a:buNone/>
            </a:pPr>
            <a:r>
              <a:rPr lang="en-US" altLang="zh-CN" dirty="0"/>
              <a:t>	private </a:t>
            </a:r>
            <a:r>
              <a:rPr lang="en-US" altLang="zh-CN" dirty="0" err="1"/>
              <a:t>int</a:t>
            </a:r>
            <a:r>
              <a:rPr lang="en-US" altLang="zh-CN" dirty="0"/>
              <a:t> width;</a:t>
            </a:r>
            <a:endParaRPr lang="en-US" altLang="zh-CN" dirty="0"/>
          </a:p>
          <a:p>
            <a:pPr>
              <a:buNone/>
            </a:pPr>
            <a:r>
              <a:rPr lang="en-US" altLang="zh-CN" dirty="0"/>
              <a:t>	private String color;</a:t>
            </a:r>
            <a:endParaRPr lang="en-US" altLang="zh-CN" dirty="0"/>
          </a:p>
          <a:p>
            <a:pPr>
              <a:buNone/>
            </a:pPr>
            <a:r>
              <a:rPr lang="en-US" altLang="zh-CN" dirty="0"/>
              <a:t>	public Door() {}</a:t>
            </a:r>
            <a:endParaRPr lang="en-US" altLang="zh-CN" dirty="0"/>
          </a:p>
          <a:p>
            <a:pPr>
              <a:buNone/>
            </a:pPr>
            <a:r>
              <a:rPr lang="en-US" altLang="zh-CN" dirty="0"/>
              <a:t>	public Door(</a:t>
            </a:r>
            <a:r>
              <a:rPr lang="en-US" altLang="zh-CN" dirty="0" err="1"/>
              <a:t>int</a:t>
            </a:r>
            <a:r>
              <a:rPr lang="en-US" altLang="zh-CN" dirty="0"/>
              <a:t> length, </a:t>
            </a:r>
            <a:r>
              <a:rPr lang="en-US" altLang="zh-CN" dirty="0" err="1"/>
              <a:t>int</a:t>
            </a:r>
            <a:r>
              <a:rPr lang="en-US" altLang="zh-CN" dirty="0"/>
              <a:t> width, String color)</a:t>
            </a:r>
            <a:endParaRPr lang="en-US" altLang="zh-CN" dirty="0"/>
          </a:p>
          <a:p>
            <a:pPr>
              <a:buNone/>
            </a:pPr>
            <a:r>
              <a:rPr lang="en-US" altLang="zh-CN" dirty="0"/>
              <a:t>	{</a:t>
            </a:r>
            <a:endParaRPr lang="en-US" altLang="zh-CN" dirty="0"/>
          </a:p>
          <a:p>
            <a:pPr>
              <a:buNone/>
            </a:pPr>
            <a:r>
              <a:rPr lang="en-US" altLang="zh-CN" dirty="0"/>
              <a:t>		</a:t>
            </a:r>
            <a:r>
              <a:rPr lang="en-US" altLang="zh-CN" dirty="0" err="1"/>
              <a:t>this.length</a:t>
            </a:r>
            <a:r>
              <a:rPr lang="en-US" altLang="zh-CN" dirty="0"/>
              <a:t>=length;</a:t>
            </a:r>
            <a:endParaRPr lang="en-US" altLang="zh-CN" dirty="0"/>
          </a:p>
          <a:p>
            <a:pPr>
              <a:buNone/>
            </a:pPr>
            <a:r>
              <a:rPr lang="en-US" altLang="zh-CN" dirty="0"/>
              <a:t>		</a:t>
            </a:r>
            <a:r>
              <a:rPr lang="en-US" altLang="zh-CN" dirty="0" err="1"/>
              <a:t>this.width</a:t>
            </a:r>
            <a:r>
              <a:rPr lang="en-US" altLang="zh-CN" dirty="0"/>
              <a:t>=width;</a:t>
            </a:r>
            <a:endParaRPr lang="en-US" altLang="zh-CN" dirty="0"/>
          </a:p>
          <a:p>
            <a:pPr>
              <a:buNone/>
            </a:pPr>
            <a:r>
              <a:rPr lang="en-US" altLang="zh-CN" dirty="0"/>
              <a:t>		</a:t>
            </a:r>
            <a:r>
              <a:rPr lang="en-US" altLang="zh-CN" dirty="0" err="1"/>
              <a:t>this.color</a:t>
            </a:r>
            <a:r>
              <a:rPr lang="en-US" altLang="zh-CN" dirty="0"/>
              <a:t>=color;</a:t>
            </a:r>
            <a:endParaRPr lang="en-US" altLang="zh-CN" dirty="0"/>
          </a:p>
          <a:p>
            <a:pPr>
              <a:buNone/>
            </a:pPr>
            <a:r>
              <a:rPr lang="en-US" altLang="zh-CN" dirty="0"/>
              <a:t>	}</a:t>
            </a:r>
            <a:endParaRPr lang="en-US" altLang="zh-CN" dirty="0"/>
          </a:p>
          <a:p>
            <a:pPr>
              <a:buNone/>
            </a:pPr>
            <a:r>
              <a:rPr lang="en-US" altLang="zh-CN" dirty="0"/>
              <a:t>	public abstract void open()throws 			</a:t>
            </a:r>
            <a:r>
              <a:rPr lang="en-US" altLang="zh-CN" dirty="0" err="1"/>
              <a:t>InterruptedException</a:t>
            </a:r>
            <a:r>
              <a:rPr lang="en-US" altLang="zh-CN" dirty="0"/>
              <a:t>;</a:t>
            </a:r>
            <a:endParaRPr lang="en-US" altLang="zh-CN" dirty="0"/>
          </a:p>
          <a:p>
            <a:pPr>
              <a:buNone/>
            </a:pPr>
            <a:r>
              <a:rPr lang="en-US" altLang="zh-CN" dirty="0"/>
              <a:t>             public abstract void close();</a:t>
            </a:r>
            <a:endParaRPr lang="en-US" altLang="zh-CN" dirty="0"/>
          </a:p>
          <a:p>
            <a:pPr>
              <a:buNone/>
            </a:pPr>
            <a:r>
              <a:rPr lang="en-US" altLang="zh-CN" dirty="0"/>
              <a:t>}</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075240" cy="6552728"/>
          </a:xfrm>
        </p:spPr>
        <p:txBody>
          <a:bodyPr>
            <a:normAutofit fontScale="85000" lnSpcReduction="10000"/>
          </a:bodyPr>
          <a:lstStyle/>
          <a:p>
            <a:pPr>
              <a:buNone/>
            </a:pPr>
            <a:r>
              <a:rPr lang="en-US" altLang="zh-CN" dirty="0"/>
              <a:t>public class </a:t>
            </a:r>
            <a:r>
              <a:rPr lang="en-US" altLang="zh-CN" dirty="0" err="1"/>
              <a:t>AlarmDoor</a:t>
            </a:r>
            <a:r>
              <a:rPr lang="en-US" altLang="zh-CN" dirty="0"/>
              <a:t> </a:t>
            </a:r>
            <a:r>
              <a:rPr lang="en-US" altLang="zh-CN" dirty="0">
                <a:solidFill>
                  <a:srgbClr val="FF0000"/>
                </a:solidFill>
              </a:rPr>
              <a:t>extends</a:t>
            </a:r>
            <a:r>
              <a:rPr lang="en-US" altLang="zh-CN" dirty="0"/>
              <a:t> Door </a:t>
            </a:r>
            <a:r>
              <a:rPr lang="en-US" altLang="zh-CN" dirty="0">
                <a:solidFill>
                  <a:srgbClr val="FF0000"/>
                </a:solidFill>
              </a:rPr>
              <a:t>implements</a:t>
            </a:r>
            <a:r>
              <a:rPr lang="en-US" altLang="zh-CN" dirty="0"/>
              <a:t> Alarm</a:t>
            </a:r>
            <a:endParaRPr lang="en-US" altLang="zh-CN" dirty="0"/>
          </a:p>
          <a:p>
            <a:pPr>
              <a:buNone/>
            </a:pPr>
            <a:r>
              <a:rPr lang="en-US" altLang="zh-CN" dirty="0"/>
              <a:t>{</a:t>
            </a:r>
            <a:endParaRPr lang="en-US" altLang="zh-CN" dirty="0"/>
          </a:p>
          <a:p>
            <a:pPr>
              <a:buNone/>
            </a:pPr>
            <a:r>
              <a:rPr lang="en-US" altLang="zh-CN" dirty="0"/>
              <a:t>	private </a:t>
            </a:r>
            <a:r>
              <a:rPr lang="en-US" altLang="zh-CN" dirty="0" err="1"/>
              <a:t>int</a:t>
            </a:r>
            <a:r>
              <a:rPr lang="en-US" altLang="zh-CN" dirty="0"/>
              <a:t> thickness;</a:t>
            </a:r>
            <a:endParaRPr lang="en-US" altLang="zh-CN" dirty="0"/>
          </a:p>
          <a:p>
            <a:pPr>
              <a:buNone/>
            </a:pPr>
            <a:r>
              <a:rPr lang="en-US" altLang="zh-CN" dirty="0"/>
              <a:t>	public </a:t>
            </a:r>
            <a:r>
              <a:rPr lang="en-US" altLang="zh-CN" dirty="0" err="1"/>
              <a:t>AlarmDoor</a:t>
            </a:r>
            <a:r>
              <a:rPr lang="en-US" altLang="zh-CN" dirty="0"/>
              <a:t>() {}</a:t>
            </a:r>
            <a:endParaRPr lang="en-US" altLang="zh-CN" dirty="0"/>
          </a:p>
          <a:p>
            <a:pPr>
              <a:buNone/>
            </a:pPr>
            <a:r>
              <a:rPr lang="en-US" altLang="zh-CN" dirty="0"/>
              <a:t>	public </a:t>
            </a:r>
            <a:r>
              <a:rPr lang="en-US" altLang="zh-CN" dirty="0" err="1"/>
              <a:t>AlarmDoor</a:t>
            </a:r>
            <a:r>
              <a:rPr lang="en-US" altLang="zh-CN" dirty="0"/>
              <a:t>(</a:t>
            </a:r>
            <a:r>
              <a:rPr lang="en-US" altLang="zh-CN" dirty="0" err="1"/>
              <a:t>int</a:t>
            </a:r>
            <a:r>
              <a:rPr lang="en-US" altLang="zh-CN" dirty="0"/>
              <a:t> length, </a:t>
            </a:r>
            <a:r>
              <a:rPr lang="en-US" altLang="zh-CN" dirty="0" err="1"/>
              <a:t>int</a:t>
            </a:r>
            <a:r>
              <a:rPr lang="en-US" altLang="zh-CN" dirty="0"/>
              <a:t> width, String color, 	</a:t>
            </a:r>
            <a:r>
              <a:rPr lang="en-US" altLang="zh-CN" dirty="0" err="1"/>
              <a:t>int</a:t>
            </a:r>
            <a:r>
              <a:rPr lang="en-US" altLang="zh-CN" dirty="0"/>
              <a:t> thickness)</a:t>
            </a:r>
            <a:endParaRPr lang="en-US" altLang="zh-CN" dirty="0"/>
          </a:p>
          <a:p>
            <a:pPr>
              <a:buNone/>
            </a:pPr>
            <a:r>
              <a:rPr lang="en-US" altLang="zh-CN" dirty="0"/>
              <a:t>	{</a:t>
            </a:r>
            <a:endParaRPr lang="en-US" altLang="zh-CN" dirty="0"/>
          </a:p>
          <a:p>
            <a:pPr>
              <a:buNone/>
            </a:pPr>
            <a:r>
              <a:rPr lang="en-US" altLang="zh-CN" dirty="0"/>
              <a:t>		super(length,  width,  color);</a:t>
            </a:r>
            <a:endParaRPr lang="en-US" altLang="zh-CN" dirty="0"/>
          </a:p>
          <a:p>
            <a:pPr>
              <a:buNone/>
            </a:pPr>
            <a:r>
              <a:rPr lang="en-US" altLang="zh-CN" dirty="0"/>
              <a:t>		</a:t>
            </a:r>
            <a:r>
              <a:rPr lang="en-US" altLang="zh-CN" dirty="0" err="1"/>
              <a:t>this.thickness</a:t>
            </a:r>
            <a:r>
              <a:rPr lang="en-US" altLang="zh-CN" dirty="0"/>
              <a:t> =thickness;</a:t>
            </a:r>
            <a:endParaRPr lang="en-US" altLang="zh-CN" dirty="0"/>
          </a:p>
          <a:p>
            <a:pPr>
              <a:buNone/>
            </a:pPr>
            <a:r>
              <a:rPr lang="en-US" altLang="zh-CN" dirty="0"/>
              <a:t>	}</a:t>
            </a:r>
            <a:endParaRPr lang="en-US" altLang="zh-CN" dirty="0"/>
          </a:p>
          <a:p>
            <a:pPr>
              <a:buNone/>
            </a:pPr>
            <a:r>
              <a:rPr lang="en-US" altLang="zh-CN" dirty="0"/>
              <a:t>	@Override</a:t>
            </a:r>
            <a:endParaRPr lang="en-US" altLang="zh-CN" dirty="0"/>
          </a:p>
          <a:p>
            <a:pPr>
              <a:buNone/>
            </a:pPr>
            <a:r>
              <a:rPr lang="en-US" altLang="zh-CN" dirty="0"/>
              <a:t>	public void open() </a:t>
            </a:r>
            <a:r>
              <a:rPr lang="en-US" altLang="zh-CN" dirty="0">
                <a:solidFill>
                  <a:srgbClr val="FF0000"/>
                </a:solidFill>
              </a:rPr>
              <a:t>throws </a:t>
            </a:r>
            <a:r>
              <a:rPr lang="en-US" altLang="zh-CN" dirty="0" err="1">
                <a:solidFill>
                  <a:srgbClr val="FF0000"/>
                </a:solidFill>
              </a:rPr>
              <a:t>InterruptedException</a:t>
            </a:r>
            <a:endParaRPr lang="en-US" altLang="zh-CN" dirty="0">
              <a:solidFill>
                <a:srgbClr val="FF0000"/>
              </a:solidFill>
            </a:endParaRPr>
          </a:p>
          <a:p>
            <a:pPr>
              <a:buNone/>
            </a:pPr>
            <a:r>
              <a:rPr lang="en-US" altLang="zh-CN" dirty="0"/>
              <a:t>	{</a:t>
            </a:r>
            <a:endParaRPr lang="en-US" altLang="zh-CN" dirty="0"/>
          </a:p>
          <a:p>
            <a:pPr>
              <a:buNone/>
            </a:pPr>
            <a:r>
              <a:rPr lang="en-US" altLang="zh-CN" dirty="0"/>
              <a:t>		</a:t>
            </a:r>
            <a:r>
              <a:rPr lang="en-US" altLang="zh-CN" dirty="0" err="1"/>
              <a:t>System.out.println</a:t>
            </a:r>
            <a:r>
              <a:rPr lang="en-US" altLang="zh-CN" dirty="0"/>
              <a:t>("The door is opening.");</a:t>
            </a:r>
            <a:endParaRPr lang="en-US" altLang="zh-CN" dirty="0"/>
          </a:p>
          <a:p>
            <a:pPr>
              <a:buNone/>
            </a:pPr>
            <a:r>
              <a:rPr lang="en-US" altLang="zh-CN" dirty="0"/>
              <a:t>		</a:t>
            </a:r>
            <a:r>
              <a:rPr lang="en-US" altLang="zh-CN" dirty="0">
                <a:solidFill>
                  <a:srgbClr val="FF0000"/>
                </a:solidFill>
              </a:rPr>
              <a:t>alarm</a:t>
            </a:r>
            <a:r>
              <a:rPr lang="en-US" altLang="zh-CN" dirty="0"/>
              <a:t>();</a:t>
            </a:r>
            <a:endParaRPr lang="en-US" altLang="zh-CN" dirty="0"/>
          </a:p>
          <a:p>
            <a:pPr>
              <a:buNone/>
            </a:pPr>
            <a:r>
              <a:rPr lang="en-US" altLang="zh-CN" dirty="0"/>
              <a:t>	}</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normAutofit fontScale="77500" lnSpcReduction="20000"/>
          </a:bodyPr>
          <a:lstStyle/>
          <a:p>
            <a:pPr>
              <a:buNone/>
            </a:pPr>
            <a:r>
              <a:rPr lang="en-US" altLang="zh-CN" dirty="0"/>
              <a:t>	@Override</a:t>
            </a:r>
            <a:endParaRPr lang="en-US" altLang="zh-CN" dirty="0"/>
          </a:p>
          <a:p>
            <a:pPr>
              <a:buNone/>
            </a:pPr>
            <a:r>
              <a:rPr lang="en-US" altLang="zh-CN" dirty="0"/>
              <a:t>	public void close()</a:t>
            </a:r>
            <a:endParaRPr lang="en-US" altLang="zh-CN" dirty="0"/>
          </a:p>
          <a:p>
            <a:pPr>
              <a:buNone/>
            </a:pPr>
            <a:r>
              <a:rPr lang="en-US" altLang="zh-CN" dirty="0"/>
              <a:t>	{</a:t>
            </a:r>
            <a:endParaRPr lang="en-US" altLang="zh-CN" dirty="0"/>
          </a:p>
          <a:p>
            <a:pPr>
              <a:buNone/>
            </a:pPr>
            <a:r>
              <a:rPr lang="en-US" altLang="zh-CN" dirty="0"/>
              <a:t>		</a:t>
            </a:r>
            <a:r>
              <a:rPr lang="en-US" altLang="zh-CN" dirty="0" err="1"/>
              <a:t>System.out.println</a:t>
            </a:r>
            <a:r>
              <a:rPr lang="en-US" altLang="zh-CN" dirty="0"/>
              <a:t>("The door is closed.");</a:t>
            </a:r>
            <a:endParaRPr lang="en-US" altLang="zh-CN" dirty="0"/>
          </a:p>
          <a:p>
            <a:pPr>
              <a:buNone/>
            </a:pPr>
            <a:r>
              <a:rPr lang="en-US" altLang="zh-CN" dirty="0"/>
              <a:t>	}</a:t>
            </a:r>
            <a:endParaRPr lang="en-US" altLang="zh-CN" dirty="0"/>
          </a:p>
          <a:p>
            <a:pPr>
              <a:buNone/>
            </a:pPr>
            <a:r>
              <a:rPr lang="en-US" altLang="zh-CN" dirty="0"/>
              <a:t>	@Override</a:t>
            </a:r>
            <a:endParaRPr lang="en-US" altLang="zh-CN" dirty="0"/>
          </a:p>
          <a:p>
            <a:pPr>
              <a:buNone/>
            </a:pPr>
            <a:r>
              <a:rPr lang="en-US" altLang="zh-CN" dirty="0"/>
              <a:t>	public void alarm() throws </a:t>
            </a:r>
            <a:r>
              <a:rPr lang="en-US" altLang="zh-CN" dirty="0" err="1"/>
              <a:t>InterruptedException</a:t>
            </a:r>
            <a:r>
              <a:rPr lang="en-US" altLang="zh-CN" dirty="0"/>
              <a:t> </a:t>
            </a:r>
            <a:endParaRPr lang="en-US" altLang="zh-CN" dirty="0"/>
          </a:p>
          <a:p>
            <a:pPr>
              <a:buNone/>
            </a:pPr>
            <a:r>
              <a:rPr lang="en-US" altLang="zh-CN" dirty="0"/>
              <a:t>	{</a:t>
            </a:r>
            <a:endParaRPr lang="en-US" altLang="zh-CN" dirty="0"/>
          </a:p>
          <a:p>
            <a:pPr>
              <a:buNone/>
            </a:pPr>
            <a:r>
              <a:rPr lang="en-US" altLang="zh-CN" dirty="0"/>
              <a:t>		for (</a:t>
            </a:r>
            <a:r>
              <a:rPr lang="en-US" altLang="zh-CN" dirty="0" err="1"/>
              <a:t>int</a:t>
            </a:r>
            <a:r>
              <a:rPr lang="en-US" altLang="zh-CN" dirty="0"/>
              <a:t> </a:t>
            </a:r>
            <a:r>
              <a:rPr lang="en-US" altLang="zh-CN" dirty="0" err="1"/>
              <a:t>i</a:t>
            </a:r>
            <a:r>
              <a:rPr lang="en-US" altLang="zh-CN" dirty="0"/>
              <a:t> = 0;i&lt;20;i++) {</a:t>
            </a:r>
            <a:endParaRPr lang="en-US" altLang="zh-CN" dirty="0"/>
          </a:p>
          <a:p>
            <a:pPr>
              <a:buNone/>
            </a:pPr>
            <a:r>
              <a:rPr lang="en-US" altLang="zh-CN" dirty="0"/>
              <a:t>			  </a:t>
            </a:r>
            <a:r>
              <a:rPr lang="en-US" altLang="zh-CN" dirty="0" err="1"/>
              <a:t>Toolkit.getDefaultToolkit</a:t>
            </a:r>
            <a:r>
              <a:rPr lang="en-US" altLang="zh-CN" dirty="0"/>
              <a:t>().beep();</a:t>
            </a:r>
            <a:endParaRPr lang="en-US" altLang="zh-CN" dirty="0"/>
          </a:p>
          <a:p>
            <a:pPr>
              <a:buNone/>
            </a:pPr>
            <a:r>
              <a:rPr lang="en-US" altLang="zh-CN" dirty="0"/>
              <a:t>			  </a:t>
            </a:r>
            <a:r>
              <a:rPr lang="en-US" altLang="zh-CN" dirty="0" err="1"/>
              <a:t>Thread.sleep</a:t>
            </a:r>
            <a:r>
              <a:rPr lang="en-US" altLang="zh-CN" dirty="0"/>
              <a:t>(600);</a:t>
            </a:r>
            <a:endParaRPr lang="en-US" altLang="zh-CN" dirty="0"/>
          </a:p>
          <a:p>
            <a:pPr>
              <a:buNone/>
            </a:pPr>
            <a:r>
              <a:rPr lang="en-US" altLang="zh-CN" dirty="0"/>
              <a:t>			}</a:t>
            </a:r>
            <a:endParaRPr lang="en-US" altLang="zh-CN" dirty="0"/>
          </a:p>
          <a:p>
            <a:pPr>
              <a:buNone/>
            </a:pPr>
            <a:r>
              <a:rPr lang="en-US" altLang="zh-CN" dirty="0"/>
              <a:t>	}</a:t>
            </a:r>
            <a:endParaRPr lang="en-US" altLang="zh-CN" dirty="0"/>
          </a:p>
          <a:p>
            <a:pPr>
              <a:buNone/>
            </a:pPr>
            <a:r>
              <a:rPr lang="en-US" altLang="zh-CN" dirty="0"/>
              <a:t>}</a:t>
            </a:r>
            <a:endParaRPr lang="en-US" altLang="zh-CN" dirty="0"/>
          </a:p>
          <a:p>
            <a:pPr marL="457200" indent="-457200"/>
            <a:r>
              <a:rPr lang="zh-CN" altLang="en-US" dirty="0"/>
              <a:t>注：</a:t>
            </a:r>
            <a:r>
              <a:rPr lang="en-US" altLang="zh-CN" dirty="0">
                <a:solidFill>
                  <a:schemeClr val="accent3">
                    <a:lumMod val="50000"/>
                  </a:schemeClr>
                </a:solidFill>
              </a:rPr>
              <a:t> </a:t>
            </a:r>
            <a:r>
              <a:rPr lang="en-US" altLang="zh-CN" dirty="0"/>
              <a:t>Toolkit</a:t>
            </a:r>
            <a:r>
              <a:rPr lang="zh-CN" altLang="en-US" dirty="0"/>
              <a:t>是抽象类，</a:t>
            </a:r>
            <a:r>
              <a:rPr lang="zh-CN" altLang="zh-CN" dirty="0">
                <a:latin typeface="Arial" panose="020B0704020202020204" pitchFamily="34" charset="0"/>
                <a:cs typeface="Arial" panose="020B0704020202020204" pitchFamily="34" charset="0"/>
              </a:rPr>
              <a:t>getDefaultToolkit()方法是通过反射机制获得的Toolkit类的对象</a:t>
            </a:r>
            <a:r>
              <a:rPr lang="zh-CN" altLang="zh-CN" sz="800" dirty="0"/>
              <a:t> </a:t>
            </a:r>
            <a:endParaRPr lang="zh-CN" altLang="en-US" dirty="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7.1.2  Comparable</a:t>
            </a:r>
            <a:r>
              <a:rPr lang="zh-CN" altLang="en-US" dirty="0"/>
              <a:t>接口</a:t>
            </a:r>
            <a:endParaRPr lang="zh-CN" altLang="en-US" dirty="0"/>
          </a:p>
        </p:txBody>
      </p:sp>
      <p:sp>
        <p:nvSpPr>
          <p:cNvPr id="3" name="内容占位符 2"/>
          <p:cNvSpPr>
            <a:spLocks noGrp="1"/>
          </p:cNvSpPr>
          <p:nvPr>
            <p:ph idx="1"/>
          </p:nvPr>
        </p:nvSpPr>
        <p:spPr>
          <a:xfrm>
            <a:off x="457200" y="980728"/>
            <a:ext cx="8075240" cy="5544616"/>
          </a:xfrm>
        </p:spPr>
        <p:txBody>
          <a:bodyPr/>
          <a:lstStyle/>
          <a:p>
            <a:r>
              <a:rPr lang="zh-CN" altLang="en-US" dirty="0"/>
              <a:t>回想</a:t>
            </a:r>
            <a:r>
              <a:rPr lang="en-US" altLang="zh-CN" dirty="0"/>
              <a:t>Integer</a:t>
            </a:r>
            <a:r>
              <a:rPr lang="zh-CN" altLang="en-US" dirty="0"/>
              <a:t>和</a:t>
            </a:r>
            <a:r>
              <a:rPr lang="en-US" altLang="zh-CN" dirty="0"/>
              <a:t>String</a:t>
            </a:r>
            <a:r>
              <a:rPr lang="zh-CN" altLang="en-US" dirty="0"/>
              <a:t>中的方法</a:t>
            </a:r>
            <a:endParaRPr lang="en-US" altLang="zh-CN" dirty="0"/>
          </a:p>
          <a:p>
            <a:pPr marL="274320" lvl="1" indent="0">
              <a:buNone/>
            </a:pPr>
            <a:r>
              <a:rPr lang="en-US" altLang="zh-CN" dirty="0"/>
              <a:t>String s1="disk";</a:t>
            </a:r>
            <a:endParaRPr lang="en-US" altLang="zh-CN" dirty="0"/>
          </a:p>
          <a:p>
            <a:pPr marL="274320" lvl="1" indent="0">
              <a:buNone/>
            </a:pPr>
            <a:r>
              <a:rPr lang="en-US" altLang="zh-CN" dirty="0"/>
              <a:t>String s2="dock";</a:t>
            </a:r>
            <a:endParaRPr lang="en-US" altLang="zh-CN" dirty="0"/>
          </a:p>
          <a:p>
            <a:pPr marL="274320" lvl="1" indent="0">
              <a:buNone/>
            </a:pPr>
            <a:r>
              <a:rPr lang="en-US" altLang="zh-CN" dirty="0" err="1"/>
              <a:t>System.</a:t>
            </a:r>
            <a:r>
              <a:rPr lang="en-US" altLang="zh-CN" b="1" i="1" dirty="0" err="1"/>
              <a:t>out.println</a:t>
            </a:r>
            <a:r>
              <a:rPr lang="en-US" altLang="zh-CN" b="1" i="1" dirty="0"/>
              <a:t>(s1.</a:t>
            </a:r>
            <a:r>
              <a:rPr lang="en-US" altLang="zh-CN" b="1" i="1" dirty="0">
                <a:solidFill>
                  <a:srgbClr val="FF0000"/>
                </a:solidFill>
              </a:rPr>
              <a:t>compareTo</a:t>
            </a:r>
            <a:r>
              <a:rPr lang="en-US" altLang="zh-CN" b="1" i="1" dirty="0"/>
              <a:t>(s2));     </a:t>
            </a:r>
            <a:r>
              <a:rPr lang="en-US" altLang="zh-CN" dirty="0">
                <a:solidFill>
                  <a:schemeClr val="accent3">
                    <a:lumMod val="50000"/>
                  </a:schemeClr>
                </a:solidFill>
              </a:rPr>
              <a:t>//-6</a:t>
            </a:r>
            <a:endParaRPr lang="en-US" altLang="zh-CN" dirty="0">
              <a:solidFill>
                <a:schemeClr val="accent3">
                  <a:lumMod val="50000"/>
                </a:schemeClr>
              </a:solidFill>
            </a:endParaRPr>
          </a:p>
          <a:p>
            <a:pPr marL="274320" lvl="1" indent="0">
              <a:buNone/>
            </a:pPr>
            <a:r>
              <a:rPr lang="en-US" altLang="zh-CN" dirty="0"/>
              <a:t>Integer i1=16; </a:t>
            </a:r>
            <a:endParaRPr lang="en-US" altLang="zh-CN" dirty="0"/>
          </a:p>
          <a:p>
            <a:pPr marL="274320" lvl="1" indent="0">
              <a:buNone/>
            </a:pPr>
            <a:r>
              <a:rPr lang="en-US" altLang="zh-CN" dirty="0"/>
              <a:t>Integer i2=13;</a:t>
            </a:r>
            <a:endParaRPr lang="en-US" altLang="zh-CN" dirty="0"/>
          </a:p>
          <a:p>
            <a:pPr marL="274320" lvl="1" indent="0">
              <a:buNone/>
            </a:pPr>
            <a:r>
              <a:rPr lang="en-US" altLang="zh-CN" dirty="0" err="1"/>
              <a:t>System.</a:t>
            </a:r>
            <a:r>
              <a:rPr lang="en-US" altLang="zh-CN" b="1" i="1" dirty="0" err="1"/>
              <a:t>out.println</a:t>
            </a:r>
            <a:r>
              <a:rPr lang="en-US" altLang="zh-CN" b="1" i="1" dirty="0"/>
              <a:t>(i1.</a:t>
            </a:r>
            <a:r>
              <a:rPr lang="en-US" altLang="zh-CN" b="1" i="1" dirty="0">
                <a:solidFill>
                  <a:srgbClr val="FF0000"/>
                </a:solidFill>
              </a:rPr>
              <a:t>compareTo</a:t>
            </a:r>
            <a:r>
              <a:rPr lang="en-US" altLang="zh-CN" b="1" i="1" dirty="0"/>
              <a:t>(i2));        </a:t>
            </a:r>
            <a:r>
              <a:rPr lang="en-US" altLang="zh-CN" dirty="0">
                <a:solidFill>
                  <a:schemeClr val="accent3">
                    <a:lumMod val="50000"/>
                  </a:schemeClr>
                </a:solidFill>
              </a:rPr>
              <a:t>//1</a:t>
            </a:r>
            <a:endParaRPr lang="en-US" altLang="zh-CN" dirty="0">
              <a:solidFill>
                <a:schemeClr val="accent3">
                  <a:lumMod val="50000"/>
                </a:schemeClr>
              </a:solidFill>
            </a:endParaRPr>
          </a:p>
          <a:p>
            <a:pPr lvl="1"/>
            <a:r>
              <a:rPr lang="zh-CN" altLang="en-US" dirty="0"/>
              <a:t>其中的</a:t>
            </a:r>
            <a:r>
              <a:rPr lang="en-US" altLang="zh-CN" dirty="0" err="1"/>
              <a:t>compareTo</a:t>
            </a:r>
            <a:r>
              <a:rPr lang="zh-CN" altLang="en-US" dirty="0"/>
              <a:t>方法都是来源于同一个接口</a:t>
            </a:r>
            <a:r>
              <a:rPr lang="en-US" altLang="zh-CN" i="1" dirty="0">
                <a:solidFill>
                  <a:srgbClr val="FF0000"/>
                </a:solidFill>
              </a:rPr>
              <a:t>Comparable</a:t>
            </a:r>
            <a:r>
              <a:rPr lang="zh-CN" altLang="en-US" i="1" dirty="0">
                <a:solidFill>
                  <a:srgbClr val="002060"/>
                </a:solidFill>
              </a:rPr>
              <a:t>，</a:t>
            </a:r>
            <a:r>
              <a:rPr lang="en-US" altLang="zh-CN" dirty="0">
                <a:solidFill>
                  <a:srgbClr val="002060"/>
                </a:solidFill>
              </a:rPr>
              <a:t>Integer</a:t>
            </a:r>
            <a:r>
              <a:rPr lang="zh-CN" altLang="en-US" dirty="0">
                <a:solidFill>
                  <a:srgbClr val="002060"/>
                </a:solidFill>
              </a:rPr>
              <a:t>的定义如下：</a:t>
            </a:r>
            <a:br>
              <a:rPr lang="en-US" altLang="zh-CN" dirty="0">
                <a:solidFill>
                  <a:srgbClr val="002060"/>
                </a:solidFill>
              </a:rPr>
            </a:br>
            <a:r>
              <a:rPr lang="en-US" altLang="zh-CN" dirty="0">
                <a:solidFill>
                  <a:srgbClr val="002060"/>
                </a:solidFill>
              </a:rPr>
              <a:t>public final class Integer extends Number </a:t>
            </a:r>
            <a:r>
              <a:rPr lang="en-US" altLang="zh-CN" dirty="0">
                <a:solidFill>
                  <a:srgbClr val="FF0000"/>
                </a:solidFill>
              </a:rPr>
              <a:t>implements Comparable&lt;Integer&gt;</a:t>
            </a:r>
            <a:br>
              <a:rPr lang="en-US" altLang="zh-CN" dirty="0">
                <a:solidFill>
                  <a:srgbClr val="002060"/>
                </a:solidFill>
              </a:rPr>
            </a:br>
            <a:r>
              <a:rPr lang="en-US" altLang="zh-CN" dirty="0">
                <a:solidFill>
                  <a:srgbClr val="002060"/>
                </a:solidFill>
              </a:rPr>
              <a:t>{…}</a:t>
            </a:r>
            <a:endParaRPr lang="en-US" altLang="zh-CN" i="1" dirty="0">
              <a:solidFill>
                <a:srgbClr val="FF0000"/>
              </a:solidFill>
            </a:endParaRPr>
          </a:p>
          <a:p>
            <a:pPr lvl="1"/>
            <a:r>
              <a:rPr lang="en-US" altLang="zh-CN" dirty="0" err="1"/>
              <a:t>Arrays.sort</a:t>
            </a:r>
            <a:r>
              <a:rPr lang="zh-CN" altLang="en-US" dirty="0"/>
              <a:t>方法可以对数组排序，也依赖于</a:t>
            </a:r>
            <a:r>
              <a:rPr lang="en-US" altLang="zh-CN" dirty="0" err="1"/>
              <a:t>compareTo</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lstStyle/>
          <a:p>
            <a:r>
              <a:rPr lang="en-US" altLang="zh-CN" b="1" dirty="0"/>
              <a:t>Comparable</a:t>
            </a:r>
            <a:r>
              <a:rPr lang="zh-CN" altLang="en-US" b="1" dirty="0"/>
              <a:t>接口的定义非常简单：</a:t>
            </a:r>
            <a:endParaRPr lang="en-US" altLang="zh-CN" dirty="0"/>
          </a:p>
          <a:p>
            <a:pPr lvl="1"/>
            <a:r>
              <a:rPr lang="en-US" altLang="zh-CN" b="1" dirty="0"/>
              <a:t>public interface Comparable&lt;T&gt;   </a:t>
            </a:r>
            <a:r>
              <a:rPr lang="en-US" altLang="zh-CN" b="1" dirty="0">
                <a:solidFill>
                  <a:schemeClr val="accent3">
                    <a:lumMod val="50000"/>
                  </a:schemeClr>
                </a:solidFill>
              </a:rPr>
              <a:t>//T</a:t>
            </a:r>
            <a:r>
              <a:rPr lang="zh-CN" altLang="en-US" b="1" dirty="0">
                <a:solidFill>
                  <a:schemeClr val="accent3">
                    <a:lumMod val="50000"/>
                  </a:schemeClr>
                </a:solidFill>
              </a:rPr>
              <a:t>是类型名</a:t>
            </a:r>
            <a:br>
              <a:rPr lang="en-US" altLang="zh-CN" b="1" dirty="0">
                <a:solidFill>
                  <a:schemeClr val="accent3">
                    <a:lumMod val="50000"/>
                  </a:schemeClr>
                </a:solidFill>
              </a:rPr>
            </a:br>
            <a:r>
              <a:rPr lang="en-US" altLang="zh-CN" b="1" dirty="0"/>
              <a:t> {</a:t>
            </a:r>
            <a:br>
              <a:rPr lang="en-US" altLang="zh-CN" b="1" dirty="0"/>
            </a:br>
            <a:r>
              <a:rPr lang="en-US" altLang="zh-CN" b="1" dirty="0"/>
              <a:t>        public </a:t>
            </a:r>
            <a:r>
              <a:rPr lang="en-US" altLang="zh-CN" b="1" dirty="0" err="1"/>
              <a:t>int</a:t>
            </a:r>
            <a:r>
              <a:rPr lang="en-US" altLang="zh-CN" b="1" dirty="0"/>
              <a:t> </a:t>
            </a:r>
            <a:r>
              <a:rPr lang="en-US" altLang="zh-CN" b="1" dirty="0" err="1"/>
              <a:t>compareTo</a:t>
            </a:r>
            <a:r>
              <a:rPr lang="en-US" altLang="zh-CN" b="1" dirty="0"/>
              <a:t>(T other);</a:t>
            </a:r>
            <a:endParaRPr lang="en-US" altLang="zh-CN" b="1" dirty="0"/>
          </a:p>
          <a:p>
            <a:pPr marL="274320" lvl="1" indent="0">
              <a:buNone/>
            </a:pPr>
            <a:r>
              <a:rPr lang="en-US" altLang="zh-CN" b="1" dirty="0"/>
              <a:t>   }</a:t>
            </a:r>
            <a:endParaRPr lang="en-US" altLang="zh-CN" b="1" dirty="0"/>
          </a:p>
          <a:p>
            <a:r>
              <a:rPr lang="zh-CN" altLang="en-US" dirty="0"/>
              <a:t>使用接口需注意以下几点：</a:t>
            </a:r>
            <a:endParaRPr lang="en-US" altLang="zh-CN" dirty="0"/>
          </a:p>
          <a:p>
            <a:pPr lvl="1"/>
            <a:r>
              <a:rPr lang="zh-CN" altLang="en-US" dirty="0">
                <a:solidFill>
                  <a:srgbClr val="002060"/>
                </a:solidFill>
              </a:rPr>
              <a:t>接口的修饰符只能是</a:t>
            </a:r>
            <a:r>
              <a:rPr lang="en-US" altLang="zh-CN" dirty="0">
                <a:solidFill>
                  <a:srgbClr val="002060"/>
                </a:solidFill>
              </a:rPr>
              <a:t>public</a:t>
            </a:r>
            <a:r>
              <a:rPr lang="zh-CN" altLang="en-US" dirty="0">
                <a:solidFill>
                  <a:srgbClr val="002060"/>
                </a:solidFill>
              </a:rPr>
              <a:t>或默认。</a:t>
            </a:r>
            <a:endParaRPr lang="en-US" altLang="zh-CN" dirty="0">
              <a:solidFill>
                <a:srgbClr val="002060"/>
              </a:solidFill>
            </a:endParaRPr>
          </a:p>
          <a:p>
            <a:pPr lvl="1"/>
            <a:r>
              <a:rPr lang="zh-CN" altLang="en-US" dirty="0">
                <a:solidFill>
                  <a:srgbClr val="002060"/>
                </a:solidFill>
              </a:rPr>
              <a:t>接口可以有多个父接口，不能有父类</a:t>
            </a:r>
            <a:br>
              <a:rPr lang="en-US" altLang="zh-CN" dirty="0">
                <a:solidFill>
                  <a:srgbClr val="002060"/>
                </a:solidFill>
              </a:rPr>
            </a:br>
            <a:r>
              <a:rPr lang="en-US" altLang="zh-CN" dirty="0">
                <a:solidFill>
                  <a:schemeClr val="accent3">
                    <a:lumMod val="50000"/>
                  </a:schemeClr>
                </a:solidFill>
              </a:rPr>
              <a:t>public interface </a:t>
            </a:r>
            <a:r>
              <a:rPr lang="zh-CN" altLang="en-US" dirty="0">
                <a:solidFill>
                  <a:schemeClr val="accent3">
                    <a:lumMod val="50000"/>
                  </a:schemeClr>
                </a:solidFill>
              </a:rPr>
              <a:t>接口名 </a:t>
            </a:r>
            <a:r>
              <a:rPr lang="en-US" altLang="zh-CN" dirty="0">
                <a:solidFill>
                  <a:schemeClr val="accent3">
                    <a:lumMod val="50000"/>
                  </a:schemeClr>
                </a:solidFill>
              </a:rPr>
              <a:t>extends </a:t>
            </a:r>
            <a:r>
              <a:rPr lang="zh-CN" altLang="en-US" dirty="0">
                <a:solidFill>
                  <a:schemeClr val="accent3">
                    <a:lumMod val="50000"/>
                  </a:schemeClr>
                </a:solidFill>
              </a:rPr>
              <a:t>父接口</a:t>
            </a:r>
            <a:r>
              <a:rPr lang="en-US" altLang="zh-CN" dirty="0">
                <a:solidFill>
                  <a:schemeClr val="accent3">
                    <a:lumMod val="50000"/>
                  </a:schemeClr>
                </a:solidFill>
              </a:rPr>
              <a:t>1</a:t>
            </a:r>
            <a:r>
              <a:rPr lang="zh-CN" altLang="en-US" dirty="0">
                <a:solidFill>
                  <a:schemeClr val="accent3">
                    <a:lumMod val="50000"/>
                  </a:schemeClr>
                </a:solidFill>
              </a:rPr>
              <a:t>，父接口</a:t>
            </a:r>
            <a:r>
              <a:rPr lang="en-US" altLang="zh-CN" dirty="0">
                <a:solidFill>
                  <a:schemeClr val="accent3">
                    <a:lumMod val="50000"/>
                  </a:schemeClr>
                </a:solidFill>
              </a:rPr>
              <a:t>2…</a:t>
            </a:r>
            <a:endParaRPr lang="en-US" altLang="zh-CN" dirty="0">
              <a:solidFill>
                <a:schemeClr val="accent3">
                  <a:lumMod val="50000"/>
                </a:schemeClr>
              </a:solidFill>
            </a:endParaRPr>
          </a:p>
          <a:p>
            <a:pPr lvl="1"/>
            <a:r>
              <a:rPr lang="zh-CN" altLang="en-US" dirty="0">
                <a:solidFill>
                  <a:srgbClr val="002060"/>
                </a:solidFill>
              </a:rPr>
              <a:t>接口中的抽象方法会自动设置为</a:t>
            </a:r>
            <a:r>
              <a:rPr lang="en-US" altLang="zh-CN" dirty="0">
                <a:solidFill>
                  <a:srgbClr val="002060"/>
                </a:solidFill>
              </a:rPr>
              <a:t>public abstract</a:t>
            </a:r>
            <a:r>
              <a:rPr lang="zh-CN" altLang="en-US" dirty="0"/>
              <a:t>。</a:t>
            </a:r>
            <a:endParaRPr lang="en-US" altLang="zh-CN" dirty="0"/>
          </a:p>
          <a:p>
            <a:pPr lvl="1"/>
            <a:r>
              <a:rPr lang="zh-CN" altLang="en-US" dirty="0"/>
              <a:t>接口中可以定义常量，自动设置为</a:t>
            </a:r>
            <a:r>
              <a:rPr lang="en-US" altLang="zh-CN" dirty="0"/>
              <a:t>public static final</a:t>
            </a:r>
            <a:r>
              <a:rPr lang="zh-CN" altLang="en-US" dirty="0"/>
              <a:t>。</a:t>
            </a:r>
            <a:endParaRPr lang="en-US" altLang="zh-CN" dirty="0"/>
          </a:p>
          <a:p>
            <a:pPr lvl="1"/>
            <a:r>
              <a:rPr lang="en-US" altLang="zh-CN" dirty="0"/>
              <a:t>Java8</a:t>
            </a:r>
            <a:r>
              <a:rPr lang="zh-CN" altLang="en-US" dirty="0"/>
              <a:t>允许接口中定义</a:t>
            </a:r>
            <a:r>
              <a:rPr lang="zh-CN" altLang="en-US" dirty="0">
                <a:solidFill>
                  <a:srgbClr val="FF0000"/>
                </a:solidFill>
              </a:rPr>
              <a:t>带方法体</a:t>
            </a:r>
            <a:r>
              <a:rPr lang="zh-CN" altLang="en-US" dirty="0"/>
              <a:t>的</a:t>
            </a:r>
            <a:r>
              <a:rPr lang="en-US" altLang="zh-CN" dirty="0"/>
              <a:t>default</a:t>
            </a:r>
            <a:r>
              <a:rPr lang="zh-CN" altLang="en-US" dirty="0"/>
              <a:t>方法和自动公有的类方法。</a:t>
            </a:r>
            <a:r>
              <a:rPr lang="en-US" altLang="zh-CN" dirty="0"/>
              <a:t>Java9</a:t>
            </a:r>
            <a:r>
              <a:rPr lang="zh-CN" altLang="en-US" dirty="0"/>
              <a:t>添加了私有方法。</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lstStyle/>
          <a:p>
            <a:r>
              <a:rPr lang="en-US" altLang="zh-CN" dirty="0"/>
              <a:t>Comparable</a:t>
            </a:r>
            <a:r>
              <a:rPr lang="zh-CN" altLang="en-US" dirty="0"/>
              <a:t>接口是一个泛型设计，需用</a:t>
            </a:r>
            <a:r>
              <a:rPr lang="en-US" altLang="zh-CN" dirty="0"/>
              <a:t>&lt;&gt;</a:t>
            </a:r>
            <a:r>
              <a:rPr lang="zh-CN" altLang="en-US" dirty="0"/>
              <a:t>给出接口中参数的类型。</a:t>
            </a:r>
            <a:endParaRPr lang="en-US" altLang="zh-CN" dirty="0"/>
          </a:p>
          <a:p>
            <a:pPr lvl="1"/>
            <a:r>
              <a:rPr lang="zh-CN" altLang="en-US" dirty="0"/>
              <a:t>若想实现</a:t>
            </a:r>
            <a:r>
              <a:rPr lang="en-US" altLang="zh-CN" dirty="0" err="1">
                <a:solidFill>
                  <a:srgbClr val="FF0000"/>
                </a:solidFill>
              </a:rPr>
              <a:t>Arrays.sort</a:t>
            </a:r>
            <a:r>
              <a:rPr lang="zh-CN" altLang="en-US" dirty="0"/>
              <a:t>对</a:t>
            </a:r>
            <a:r>
              <a:rPr lang="en-US" altLang="zh-CN" dirty="0"/>
              <a:t>Employee</a:t>
            </a:r>
            <a:r>
              <a:rPr lang="zh-CN" altLang="en-US" dirty="0"/>
              <a:t>对象的排序，则</a:t>
            </a:r>
            <a:r>
              <a:rPr lang="en-US" altLang="zh-CN" dirty="0"/>
              <a:t>Employee</a:t>
            </a:r>
            <a:r>
              <a:rPr lang="zh-CN" altLang="en-US" dirty="0"/>
              <a:t>类必须实现</a:t>
            </a:r>
            <a:r>
              <a:rPr lang="en-US" altLang="zh-CN" dirty="0"/>
              <a:t>Comparable&lt;Employee&gt;</a:t>
            </a:r>
            <a:r>
              <a:rPr lang="zh-CN" altLang="en-US" dirty="0"/>
              <a:t>接口，该接口中的方法则为</a:t>
            </a:r>
            <a:br>
              <a:rPr lang="en-US" altLang="zh-CN" dirty="0"/>
            </a:br>
            <a:r>
              <a:rPr lang="en-US" altLang="zh-CN" dirty="0" err="1"/>
              <a:t>int</a:t>
            </a:r>
            <a:r>
              <a:rPr lang="en-US" altLang="zh-CN" dirty="0"/>
              <a:t>  </a:t>
            </a:r>
            <a:r>
              <a:rPr lang="en-US" altLang="zh-CN" dirty="0" err="1"/>
              <a:t>compareTo</a:t>
            </a:r>
            <a:r>
              <a:rPr lang="en-US" altLang="zh-CN" dirty="0"/>
              <a:t>(Employee other)</a:t>
            </a:r>
            <a:endParaRPr lang="en-US" altLang="zh-CN" dirty="0"/>
          </a:p>
          <a:p>
            <a:pPr lvl="1"/>
            <a:r>
              <a:rPr lang="zh-CN" altLang="en-US" dirty="0"/>
              <a:t>该接口中隐含要求实现的</a:t>
            </a:r>
            <a:r>
              <a:rPr lang="en-US" altLang="zh-CN" dirty="0" err="1"/>
              <a:t>compareTo</a:t>
            </a:r>
            <a:r>
              <a:rPr lang="zh-CN" altLang="en-US" dirty="0"/>
              <a:t>方法中定义比较两个对象，并返回一个整数结果：</a:t>
            </a:r>
            <a:br>
              <a:rPr lang="en-US" altLang="zh-CN" dirty="0"/>
            </a:br>
            <a:r>
              <a:rPr lang="en-US" altLang="zh-CN" dirty="0" err="1"/>
              <a:t>a.compareTo</a:t>
            </a:r>
            <a:r>
              <a:rPr lang="en-US" altLang="zh-CN" dirty="0"/>
              <a:t>(b)  </a:t>
            </a:r>
            <a:br>
              <a:rPr lang="en-US" altLang="zh-CN" dirty="0"/>
            </a:br>
            <a:r>
              <a:rPr lang="en-US" altLang="zh-CN" dirty="0"/>
              <a:t>a</a:t>
            </a:r>
            <a:r>
              <a:rPr lang="zh-CN" altLang="en-US" dirty="0"/>
              <a:t>小于</a:t>
            </a:r>
            <a:r>
              <a:rPr lang="en-US" altLang="zh-CN" dirty="0"/>
              <a:t>b</a:t>
            </a:r>
            <a:r>
              <a:rPr lang="zh-CN" altLang="en-US" dirty="0"/>
              <a:t>时返回负数，相等返回</a:t>
            </a:r>
            <a:r>
              <a:rPr lang="en-US" altLang="zh-CN" dirty="0"/>
              <a:t>0</a:t>
            </a:r>
            <a:r>
              <a:rPr lang="zh-CN" altLang="en-US" dirty="0"/>
              <a:t>，</a:t>
            </a:r>
            <a:r>
              <a:rPr lang="en-US" altLang="zh-CN" dirty="0"/>
              <a:t>a</a:t>
            </a:r>
            <a:r>
              <a:rPr lang="zh-CN" altLang="en-US" dirty="0"/>
              <a:t>大于</a:t>
            </a:r>
            <a:r>
              <a:rPr lang="en-US" altLang="zh-CN" dirty="0"/>
              <a:t>b</a:t>
            </a:r>
            <a:r>
              <a:rPr lang="zh-CN" altLang="en-US" dirty="0"/>
              <a:t>返回正数。</a:t>
            </a:r>
            <a:endParaRPr lang="en-US" altLang="zh-CN" dirty="0"/>
          </a:p>
          <a:p>
            <a:r>
              <a:rPr lang="zh-CN" altLang="en-US" dirty="0"/>
              <a:t>让类实现一个接口，需要做：</a:t>
            </a:r>
            <a:endParaRPr lang="en-US" altLang="zh-CN" dirty="0"/>
          </a:p>
          <a:p>
            <a:pPr lvl="1"/>
            <a:r>
              <a:rPr lang="zh-CN" altLang="en-US" dirty="0"/>
              <a:t>将类声明为实现给定的接口</a:t>
            </a:r>
            <a:endParaRPr lang="en-US" altLang="zh-CN" dirty="0"/>
          </a:p>
          <a:p>
            <a:pPr lvl="1"/>
            <a:r>
              <a:rPr lang="zh-CN" altLang="en-US" dirty="0"/>
              <a:t>类中对接口中的所有方法进行定义</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lstStyle/>
          <a:p>
            <a:r>
              <a:rPr lang="zh-CN" altLang="en-US" dirty="0"/>
              <a:t>假定</a:t>
            </a:r>
            <a:r>
              <a:rPr lang="en-US" altLang="zh-CN" dirty="0"/>
              <a:t>sort</a:t>
            </a:r>
            <a:r>
              <a:rPr lang="zh-CN" altLang="en-US" dirty="0"/>
              <a:t>方法要按雇员的薪水排序：</a:t>
            </a:r>
            <a:endParaRPr lang="en-US" altLang="zh-CN" dirty="0"/>
          </a:p>
          <a:p>
            <a:pPr lvl="1"/>
            <a:r>
              <a:rPr lang="en-US" altLang="zh-CN" b="1" dirty="0"/>
              <a:t>public class Employee </a:t>
            </a:r>
            <a:r>
              <a:rPr lang="en-US" altLang="zh-CN" b="1" dirty="0">
                <a:solidFill>
                  <a:srgbClr val="FF0000"/>
                </a:solidFill>
              </a:rPr>
              <a:t>implements</a:t>
            </a:r>
            <a:r>
              <a:rPr lang="en-US" altLang="zh-CN" b="1" dirty="0"/>
              <a:t> Comparable&lt;</a:t>
            </a:r>
            <a:r>
              <a:rPr lang="en-US" altLang="zh-CN" b="1" dirty="0">
                <a:solidFill>
                  <a:srgbClr val="FF0000"/>
                </a:solidFill>
              </a:rPr>
              <a:t>Employee</a:t>
            </a:r>
            <a:r>
              <a:rPr lang="en-US" altLang="zh-CN" b="1" dirty="0"/>
              <a:t>&gt;</a:t>
            </a:r>
            <a:br>
              <a:rPr lang="en-US" altLang="zh-CN" b="1" dirty="0"/>
            </a:br>
            <a:r>
              <a:rPr lang="en-US" altLang="zh-CN" b="1" dirty="0"/>
              <a:t>{</a:t>
            </a:r>
            <a:br>
              <a:rPr lang="en-US" altLang="zh-CN" b="1" dirty="0"/>
            </a:br>
            <a:r>
              <a:rPr lang="en-US" altLang="zh-CN" b="1" dirty="0"/>
              <a:t>	…</a:t>
            </a:r>
            <a:br>
              <a:rPr lang="en-US" altLang="zh-CN" b="1" dirty="0"/>
            </a:br>
            <a:r>
              <a:rPr lang="en-US" altLang="zh-CN" b="1" dirty="0"/>
              <a:t>	 public </a:t>
            </a:r>
            <a:r>
              <a:rPr lang="en-US" altLang="zh-CN" b="1" dirty="0" err="1"/>
              <a:t>int</a:t>
            </a:r>
            <a:r>
              <a:rPr lang="en-US" altLang="zh-CN" b="1" dirty="0"/>
              <a:t> </a:t>
            </a:r>
            <a:r>
              <a:rPr lang="en-US" altLang="zh-CN" b="1" dirty="0" err="1"/>
              <a:t>compareTo</a:t>
            </a:r>
            <a:r>
              <a:rPr lang="en-US" altLang="zh-CN" b="1" dirty="0"/>
              <a:t>(</a:t>
            </a:r>
            <a:r>
              <a:rPr lang="en-US" altLang="zh-CN" b="1" dirty="0">
                <a:solidFill>
                  <a:srgbClr val="FF0000"/>
                </a:solidFill>
              </a:rPr>
              <a:t>Employee</a:t>
            </a:r>
            <a:r>
              <a:rPr lang="en-US" altLang="zh-CN" b="1" dirty="0"/>
              <a:t> other)</a:t>
            </a:r>
            <a:endParaRPr lang="en-US" altLang="zh-CN" b="1" dirty="0"/>
          </a:p>
          <a:p>
            <a:pPr marL="274320" lvl="1" indent="0">
              <a:buNone/>
            </a:pPr>
            <a:r>
              <a:rPr lang="en-US" altLang="zh-CN" b="1" dirty="0"/>
              <a:t>        {</a:t>
            </a:r>
            <a:endParaRPr lang="en-US" altLang="zh-CN" b="1" dirty="0"/>
          </a:p>
          <a:p>
            <a:pPr marL="274320" lvl="1" indent="0">
              <a:buNone/>
            </a:pPr>
            <a:r>
              <a:rPr lang="en-US" altLang="zh-CN" b="1" dirty="0"/>
              <a:t>            return </a:t>
            </a:r>
            <a:r>
              <a:rPr lang="en-US" altLang="zh-CN" b="1" dirty="0" err="1"/>
              <a:t>Double.compare</a:t>
            </a:r>
            <a:r>
              <a:rPr lang="en-US" altLang="zh-CN" b="1" dirty="0"/>
              <a:t>(salary, </a:t>
            </a:r>
            <a:r>
              <a:rPr lang="en-US" altLang="zh-CN" b="1" dirty="0" err="1"/>
              <a:t>other.salary</a:t>
            </a:r>
            <a:r>
              <a:rPr lang="en-US" altLang="zh-CN" b="1" dirty="0"/>
              <a:t>);</a:t>
            </a:r>
            <a:endParaRPr lang="en-US" altLang="zh-CN" b="1" dirty="0"/>
          </a:p>
          <a:p>
            <a:pPr marL="274320" lvl="1" indent="0">
              <a:buNone/>
            </a:pPr>
            <a:r>
              <a:rPr lang="en-US" altLang="zh-CN" b="1" dirty="0"/>
              <a:t>        }</a:t>
            </a:r>
            <a:br>
              <a:rPr lang="en-US" altLang="zh-CN" b="1" dirty="0"/>
            </a:br>
            <a:r>
              <a:rPr lang="en-US" altLang="zh-CN" b="1" dirty="0"/>
              <a:t>}</a:t>
            </a:r>
            <a:endParaRPr lang="en-US" altLang="zh-CN" b="1" dirty="0"/>
          </a:p>
          <a:p>
            <a:pPr lvl="1"/>
            <a:r>
              <a:rPr lang="zh-CN" altLang="en-US" dirty="0"/>
              <a:t>注意：接口中的方法自动是公有的，但在实现中必须手动给出</a:t>
            </a:r>
            <a:r>
              <a:rPr lang="en-US" altLang="zh-CN" dirty="0"/>
              <a:t>public</a:t>
            </a:r>
            <a:r>
              <a:rPr lang="zh-CN" altLang="en-US" dirty="0"/>
              <a:t>关键字</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075240" cy="6552728"/>
          </a:xfrm>
        </p:spPr>
        <p:txBody>
          <a:bodyPr>
            <a:normAutofit/>
          </a:bodyPr>
          <a:lstStyle/>
          <a:p>
            <a:pPr lvl="1"/>
            <a:r>
              <a:rPr lang="zh-CN" altLang="en-US" b="1" dirty="0"/>
              <a:t>类方法</a:t>
            </a:r>
            <a:r>
              <a:rPr lang="en-US" altLang="zh-CN" b="1" dirty="0" err="1"/>
              <a:t>Double.compare</a:t>
            </a:r>
            <a:r>
              <a:rPr lang="en-US" altLang="zh-CN" b="1" dirty="0"/>
              <a:t>(a, b) </a:t>
            </a:r>
            <a:r>
              <a:rPr lang="zh-CN" altLang="en-US" b="1" dirty="0"/>
              <a:t>返回</a:t>
            </a:r>
            <a:r>
              <a:rPr lang="en-US" altLang="zh-CN" b="1" dirty="0"/>
              <a:t>-1,0</a:t>
            </a:r>
            <a:r>
              <a:rPr lang="zh-CN" altLang="en-US" b="1" dirty="0"/>
              <a:t>或</a:t>
            </a:r>
            <a:r>
              <a:rPr lang="en-US" altLang="zh-CN" b="1" dirty="0"/>
              <a:t>1</a:t>
            </a:r>
            <a:r>
              <a:rPr lang="zh-CN" altLang="en-US" b="1" dirty="0"/>
              <a:t>。</a:t>
            </a:r>
            <a:endParaRPr lang="en-US" altLang="zh-CN" b="1" dirty="0"/>
          </a:p>
          <a:p>
            <a:pPr lvl="1"/>
            <a:r>
              <a:rPr lang="zh-CN" altLang="en-US" dirty="0"/>
              <a:t>如果是整数比较，调用</a:t>
            </a:r>
            <a:r>
              <a:rPr lang="en-US" altLang="zh-CN" dirty="0" err="1"/>
              <a:t>Integer.compare</a:t>
            </a:r>
            <a:r>
              <a:rPr lang="en-US" altLang="zh-CN" dirty="0"/>
              <a:t>(),</a:t>
            </a:r>
            <a:r>
              <a:rPr lang="zh-CN" altLang="en-US" dirty="0"/>
              <a:t>在确保不会溢出的情况下也可以用</a:t>
            </a:r>
            <a:r>
              <a:rPr lang="en-US" altLang="zh-CN" dirty="0"/>
              <a:t>return a-b</a:t>
            </a:r>
            <a:r>
              <a:rPr lang="zh-CN" altLang="en-US" dirty="0"/>
              <a:t>的方式。</a:t>
            </a:r>
            <a:endParaRPr lang="en-US" altLang="zh-CN" dirty="0"/>
          </a:p>
          <a:p>
            <a:pPr lvl="1"/>
            <a:r>
              <a:rPr lang="zh-CN" altLang="en-US" dirty="0"/>
              <a:t>如果要按姓名排序，由于</a:t>
            </a:r>
            <a:r>
              <a:rPr lang="en-US" altLang="zh-CN" dirty="0"/>
              <a:t>String</a:t>
            </a:r>
            <a:r>
              <a:rPr lang="zh-CN" altLang="en-US" dirty="0"/>
              <a:t>类已经实现了</a:t>
            </a:r>
            <a:r>
              <a:rPr lang="en-US" altLang="zh-CN" dirty="0" err="1"/>
              <a:t>compareTo</a:t>
            </a:r>
            <a:r>
              <a:rPr lang="zh-CN" altLang="en-US" dirty="0"/>
              <a:t>方法，可以直接调用：</a:t>
            </a:r>
            <a:br>
              <a:rPr lang="en-US" altLang="zh-CN" dirty="0"/>
            </a:br>
            <a:r>
              <a:rPr lang="en-US" altLang="zh-CN" dirty="0">
                <a:solidFill>
                  <a:srgbClr val="002060"/>
                </a:solidFill>
              </a:rPr>
              <a:t> public </a:t>
            </a:r>
            <a:r>
              <a:rPr lang="en-US" altLang="zh-CN" dirty="0" err="1">
                <a:solidFill>
                  <a:srgbClr val="002060"/>
                </a:solidFill>
              </a:rPr>
              <a:t>int</a:t>
            </a:r>
            <a:r>
              <a:rPr lang="en-US" altLang="zh-CN" dirty="0">
                <a:solidFill>
                  <a:srgbClr val="002060"/>
                </a:solidFill>
              </a:rPr>
              <a:t> </a:t>
            </a:r>
            <a:r>
              <a:rPr lang="en-US" altLang="zh-CN" dirty="0" err="1">
                <a:solidFill>
                  <a:srgbClr val="002060"/>
                </a:solidFill>
              </a:rPr>
              <a:t>compareTo</a:t>
            </a:r>
            <a:r>
              <a:rPr lang="en-US" altLang="zh-CN" dirty="0">
                <a:solidFill>
                  <a:srgbClr val="002060"/>
                </a:solidFill>
              </a:rPr>
              <a:t>(Employee other)</a:t>
            </a:r>
            <a:endParaRPr lang="en-US" altLang="zh-CN" dirty="0">
              <a:solidFill>
                <a:srgbClr val="002060"/>
              </a:solidFill>
            </a:endParaRPr>
          </a:p>
          <a:p>
            <a:pPr marL="274320" lvl="1" indent="0">
              <a:buNone/>
            </a:pPr>
            <a:r>
              <a:rPr lang="en-US" altLang="zh-CN" dirty="0">
                <a:solidFill>
                  <a:srgbClr val="002060"/>
                </a:solidFill>
              </a:rPr>
              <a:t>   </a:t>
            </a:r>
            <a:r>
              <a:rPr lang="en-US" altLang="zh-CN" dirty="0">
                <a:solidFill>
                  <a:srgbClr val="FF0000"/>
                </a:solidFill>
              </a:rPr>
              <a:t>{       return </a:t>
            </a:r>
            <a:r>
              <a:rPr lang="en-US" altLang="zh-CN" dirty="0" err="1">
                <a:solidFill>
                  <a:srgbClr val="FF0000"/>
                </a:solidFill>
              </a:rPr>
              <a:t>name.compareTo</a:t>
            </a:r>
            <a:r>
              <a:rPr lang="en-US" altLang="zh-CN" dirty="0">
                <a:solidFill>
                  <a:srgbClr val="FF0000"/>
                </a:solidFill>
              </a:rPr>
              <a:t>(other.name);   } </a:t>
            </a:r>
            <a:endParaRPr lang="en-US" altLang="zh-CN" dirty="0">
              <a:solidFill>
                <a:srgbClr val="FF0000"/>
              </a:solidFill>
            </a:endParaRPr>
          </a:p>
          <a:p>
            <a:pPr marL="274320" lvl="1" indent="0">
              <a:buNone/>
            </a:pPr>
            <a:r>
              <a:rPr lang="en-US" altLang="zh-CN" dirty="0"/>
              <a:t> Employee[] staff = new Employee[3];</a:t>
            </a:r>
            <a:endParaRPr lang="en-US" altLang="zh-CN" dirty="0"/>
          </a:p>
          <a:p>
            <a:pPr marL="274320" lvl="1" indent="0">
              <a:buNone/>
            </a:pPr>
            <a:r>
              <a:rPr lang="en-US" altLang="zh-CN" dirty="0"/>
              <a:t> staff[0] = new Employee("Harry Hacker", 35000);</a:t>
            </a:r>
            <a:endParaRPr lang="en-US" altLang="zh-CN" dirty="0"/>
          </a:p>
          <a:p>
            <a:pPr marL="274320" lvl="1" indent="0">
              <a:buNone/>
            </a:pPr>
            <a:r>
              <a:rPr lang="en-US" altLang="zh-CN" dirty="0"/>
              <a:t> staff[1] = new Employee("Carl Cracker", 75000);</a:t>
            </a:r>
            <a:endParaRPr lang="en-US" altLang="zh-CN" dirty="0"/>
          </a:p>
          <a:p>
            <a:pPr marL="274320" lvl="1" indent="0">
              <a:buNone/>
            </a:pPr>
            <a:r>
              <a:rPr lang="en-US" altLang="zh-CN" dirty="0"/>
              <a:t> staff[2] = new Employee("Tony Tester", 38000);</a:t>
            </a:r>
            <a:endParaRPr lang="en-US" altLang="zh-CN" dirty="0"/>
          </a:p>
          <a:p>
            <a:pPr marL="274320" lvl="1" indent="0">
              <a:buNone/>
            </a:pPr>
            <a:r>
              <a:rPr lang="en-US" altLang="zh-CN" dirty="0"/>
              <a:t> </a:t>
            </a:r>
            <a:r>
              <a:rPr lang="en-US" altLang="zh-CN" dirty="0" err="1"/>
              <a:t>Arrays.</a:t>
            </a:r>
            <a:r>
              <a:rPr lang="en-US" altLang="zh-CN" dirty="0" err="1">
                <a:solidFill>
                  <a:srgbClr val="FF0000"/>
                </a:solidFill>
              </a:rPr>
              <a:t>sort</a:t>
            </a:r>
            <a:r>
              <a:rPr lang="en-US" altLang="zh-CN" dirty="0"/>
              <a:t>(staff);</a:t>
            </a:r>
            <a:endParaRPr lang="en-US" altLang="zh-CN" dirty="0"/>
          </a:p>
          <a:p>
            <a:pPr marL="274320" lvl="1" indent="0">
              <a:buNone/>
            </a:pPr>
            <a:r>
              <a:rPr lang="en-US" altLang="zh-CN" dirty="0"/>
              <a:t> for (Employee e : staff)</a:t>
            </a:r>
            <a:endParaRPr lang="en-US" altLang="zh-CN" dirty="0"/>
          </a:p>
          <a:p>
            <a:pPr marL="274320" lvl="1" indent="0">
              <a:buNone/>
            </a:pPr>
            <a:r>
              <a:rPr lang="en-US" altLang="zh-CN" dirty="0"/>
              <a:t>         </a:t>
            </a:r>
            <a:r>
              <a:rPr lang="en-US" altLang="zh-CN" dirty="0" err="1"/>
              <a:t>System.out.println</a:t>
            </a:r>
            <a:r>
              <a:rPr lang="en-US" altLang="zh-CN" dirty="0"/>
              <a:t>("name=" + </a:t>
            </a:r>
            <a:r>
              <a:rPr lang="en-US" altLang="zh-CN" dirty="0" err="1"/>
              <a:t>e.getName</a:t>
            </a:r>
            <a:r>
              <a:rPr lang="en-US" altLang="zh-CN" dirty="0"/>
              <a:t>() + 	",salary=" + </a:t>
            </a:r>
            <a:r>
              <a:rPr lang="en-US" altLang="zh-CN" dirty="0" err="1"/>
              <a:t>e.getSalary</a:t>
            </a:r>
            <a:r>
              <a:rPr lang="en-US" altLang="zh-CN" dirty="0"/>
              <a: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075240" cy="6552728"/>
          </a:xfrm>
        </p:spPr>
        <p:txBody>
          <a:bodyPr>
            <a:normAutofit/>
          </a:bodyPr>
          <a:lstStyle/>
          <a:p>
            <a:r>
              <a:rPr lang="zh-CN" altLang="en-US" dirty="0"/>
              <a:t>接口不能创建实例，但可以创建变量。一个类实现了某个接口，该接口的变量可以指向类对象的引用，这一点很像超类和子类的关系：</a:t>
            </a:r>
            <a:endParaRPr lang="en-US" altLang="zh-CN" dirty="0"/>
          </a:p>
          <a:p>
            <a:pPr marL="274320" lvl="1" indent="0">
              <a:buNone/>
            </a:pPr>
            <a:r>
              <a:rPr lang="en-US" altLang="zh-CN" dirty="0"/>
              <a:t> Comparable&lt;Employee&gt;[] staff1=new Employee[3];</a:t>
            </a:r>
            <a:endParaRPr lang="en-US" altLang="zh-CN" dirty="0"/>
          </a:p>
          <a:p>
            <a:pPr marL="274320" lvl="1" indent="0">
              <a:buNone/>
            </a:pPr>
            <a:r>
              <a:rPr lang="en-US" altLang="zh-CN" dirty="0"/>
              <a:t> staff1[0] = new </a:t>
            </a:r>
            <a:r>
              <a:rPr lang="en-US" altLang="zh-CN" dirty="0" err="1"/>
              <a:t>Employee("John</a:t>
            </a:r>
            <a:r>
              <a:rPr lang="en-US" altLang="zh-CN" dirty="0"/>
              <a:t> Smith", 50000);</a:t>
            </a:r>
            <a:endParaRPr lang="en-US" altLang="zh-CN" dirty="0"/>
          </a:p>
          <a:p>
            <a:pPr marL="274320" lvl="1" indent="0">
              <a:buNone/>
            </a:pPr>
            <a:r>
              <a:rPr lang="en-US" altLang="zh-CN" dirty="0"/>
              <a:t> staff1[1] = new Employee("Alice Brown", 35000);</a:t>
            </a:r>
            <a:endParaRPr lang="en-US" altLang="zh-CN" dirty="0"/>
          </a:p>
          <a:p>
            <a:pPr marL="274320" lvl="1" indent="0">
              <a:buNone/>
            </a:pPr>
            <a:r>
              <a:rPr lang="en-US" altLang="zh-CN" dirty="0"/>
              <a:t> staff1[2] = new Employee("Hell </a:t>
            </a:r>
            <a:r>
              <a:rPr lang="en-US" altLang="zh-CN" dirty="0" err="1"/>
              <a:t>Joo</a:t>
            </a:r>
            <a:r>
              <a:rPr lang="en-US" altLang="zh-CN" dirty="0"/>
              <a:t>", 38000);</a:t>
            </a:r>
            <a:endParaRPr lang="en-US" altLang="zh-CN" dirty="0"/>
          </a:p>
          <a:p>
            <a:pPr marL="274320" lvl="1" indent="0">
              <a:buNone/>
            </a:pPr>
            <a:r>
              <a:rPr lang="en-US" altLang="zh-CN" dirty="0"/>
              <a:t> </a:t>
            </a:r>
            <a:r>
              <a:rPr lang="en-US" altLang="zh-CN" dirty="0" err="1"/>
              <a:t>Arrays.sort</a:t>
            </a:r>
            <a:r>
              <a:rPr lang="en-US" altLang="zh-CN" dirty="0"/>
              <a:t>(staff1);</a:t>
            </a:r>
            <a:endParaRPr lang="en-US" altLang="zh-CN" dirty="0"/>
          </a:p>
          <a:p>
            <a:pPr marL="274320" lvl="1" indent="0">
              <a:buNone/>
            </a:pPr>
            <a:r>
              <a:rPr lang="en-US" altLang="zh-CN" dirty="0"/>
              <a:t> for (Comparable&lt;Employee&gt; c : staff1)</a:t>
            </a:r>
            <a:endParaRPr lang="en-US" altLang="zh-CN" dirty="0"/>
          </a:p>
          <a:p>
            <a:pPr marL="274320" lvl="1" indent="0">
              <a:buNone/>
            </a:pPr>
            <a:r>
              <a:rPr lang="en-US" altLang="zh-CN" dirty="0"/>
              <a:t>          </a:t>
            </a:r>
            <a:r>
              <a:rPr lang="en-US" altLang="zh-CN" dirty="0" err="1"/>
              <a:t>System.out.println</a:t>
            </a:r>
            <a:r>
              <a:rPr lang="en-US" altLang="zh-CN" dirty="0"/>
              <a:t>(</a:t>
            </a:r>
            <a:r>
              <a:rPr lang="en-US" altLang="zh-CN" dirty="0" err="1"/>
              <a:t>c.</a:t>
            </a:r>
            <a:r>
              <a:rPr lang="en-US" altLang="zh-CN" dirty="0" err="1">
                <a:solidFill>
                  <a:srgbClr val="FF0000"/>
                </a:solidFill>
              </a:rPr>
              <a:t>toString</a:t>
            </a:r>
            <a:r>
              <a:rPr lang="en-US" altLang="zh-CN" dirty="0"/>
              <a:t>());</a:t>
            </a:r>
            <a:endParaRPr lang="en-US" altLang="zh-CN" dirty="0"/>
          </a:p>
          <a:p>
            <a:pPr lvl="1"/>
            <a:r>
              <a:rPr lang="zh-CN" altLang="en-US" dirty="0"/>
              <a:t>需注意这里</a:t>
            </a:r>
            <a:r>
              <a:rPr lang="en-US" altLang="zh-CN" dirty="0"/>
              <a:t>c</a:t>
            </a:r>
            <a:r>
              <a:rPr lang="zh-CN" altLang="en-US" dirty="0"/>
              <a:t>不能调用</a:t>
            </a:r>
            <a:r>
              <a:rPr lang="en-US" altLang="zh-CN" dirty="0" err="1"/>
              <a:t>getName</a:t>
            </a:r>
            <a:r>
              <a:rPr lang="zh-CN" altLang="en-US" dirty="0"/>
              <a:t>，</a:t>
            </a:r>
            <a:r>
              <a:rPr lang="en-US" altLang="zh-CN" dirty="0" err="1"/>
              <a:t>getSalary</a:t>
            </a:r>
            <a:r>
              <a:rPr lang="zh-CN" altLang="en-US" dirty="0"/>
              <a:t>，它们是</a:t>
            </a:r>
            <a:r>
              <a:rPr lang="en-US" altLang="zh-CN" dirty="0"/>
              <a:t>Employee</a:t>
            </a:r>
            <a:r>
              <a:rPr lang="zh-CN" altLang="en-US" dirty="0"/>
              <a:t>中定义的。</a:t>
            </a:r>
            <a:endParaRPr lang="en-US" altLang="zh-CN" dirty="0"/>
          </a:p>
          <a:p>
            <a:pPr lvl="1"/>
            <a:r>
              <a:rPr lang="en-US" altLang="zh-CN" dirty="0"/>
              <a:t>c</a:t>
            </a:r>
            <a:r>
              <a:rPr lang="zh-CN" altLang="en-US" dirty="0"/>
              <a:t>可以调用</a:t>
            </a:r>
            <a:r>
              <a:rPr lang="en-US" altLang="zh-CN" dirty="0"/>
              <a:t>Object</a:t>
            </a:r>
            <a:r>
              <a:rPr lang="zh-CN" altLang="en-US" dirty="0"/>
              <a:t>中声明的公有方法实现多态，它们在接口中也被默认声明（</a:t>
            </a:r>
            <a:r>
              <a:rPr lang="en-US" altLang="zh-CN" dirty="0">
                <a:solidFill>
                  <a:srgbClr val="FF0000"/>
                </a:solidFill>
              </a:rPr>
              <a:t>equals, </a:t>
            </a:r>
            <a:r>
              <a:rPr lang="en-US" altLang="zh-CN" dirty="0" err="1">
                <a:solidFill>
                  <a:srgbClr val="FF0000"/>
                </a:solidFill>
              </a:rPr>
              <a:t>hashCode</a:t>
            </a:r>
            <a:r>
              <a:rPr lang="en-US" altLang="zh-CN" dirty="0">
                <a:solidFill>
                  <a:srgbClr val="FF0000"/>
                </a:solidFill>
              </a:rPr>
              <a:t>, </a:t>
            </a:r>
            <a:r>
              <a:rPr lang="en-US" altLang="zh-CN" dirty="0" err="1">
                <a:solidFill>
                  <a:srgbClr val="FF0000"/>
                </a:solidFill>
              </a:rPr>
              <a:t>toString</a:t>
            </a:r>
            <a:r>
              <a:rPr lang="zh-CN" altLang="en-US"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7.1.3  </a:t>
            </a:r>
            <a:r>
              <a:rPr lang="zh-CN" altLang="en-US" dirty="0"/>
              <a:t>接口的特性</a:t>
            </a:r>
            <a:endParaRPr lang="zh-CN" altLang="en-US" dirty="0"/>
          </a:p>
        </p:txBody>
      </p:sp>
      <p:sp>
        <p:nvSpPr>
          <p:cNvPr id="3" name="内容占位符 2"/>
          <p:cNvSpPr>
            <a:spLocks noGrp="1"/>
          </p:cNvSpPr>
          <p:nvPr>
            <p:ph idx="1"/>
          </p:nvPr>
        </p:nvSpPr>
        <p:spPr/>
        <p:txBody>
          <a:bodyPr/>
          <a:lstStyle/>
          <a:p>
            <a:r>
              <a:rPr lang="zh-CN" altLang="en-US" dirty="0"/>
              <a:t>前已述及，接口的变量可以接受实现了它的类对象的赋值。同样，可以用</a:t>
            </a:r>
            <a:r>
              <a:rPr lang="en-US" altLang="zh-CN" dirty="0" err="1"/>
              <a:t>instanceof</a:t>
            </a:r>
            <a:r>
              <a:rPr lang="zh-CN" altLang="en-US" dirty="0"/>
              <a:t>检测一个对象是不是实现了某个接口。</a:t>
            </a:r>
            <a:endParaRPr lang="en-US" altLang="zh-CN" dirty="0"/>
          </a:p>
          <a:p>
            <a:pPr lvl="1"/>
            <a:r>
              <a:rPr lang="en-US" altLang="zh-CN" dirty="0"/>
              <a:t>staff[0]  </a:t>
            </a:r>
            <a:r>
              <a:rPr lang="en-US" altLang="zh-CN" dirty="0" err="1"/>
              <a:t>instanceof</a:t>
            </a:r>
            <a:r>
              <a:rPr lang="en-US" altLang="zh-CN" dirty="0"/>
              <a:t>  Comparable</a:t>
            </a:r>
            <a:r>
              <a:rPr lang="en-US" altLang="zh-CN" b="1" dirty="0"/>
              <a:t>    </a:t>
            </a:r>
            <a:r>
              <a:rPr lang="en-US" altLang="zh-CN" b="1" dirty="0">
                <a:solidFill>
                  <a:schemeClr val="accent3">
                    <a:lumMod val="50000"/>
                  </a:schemeClr>
                </a:solidFill>
              </a:rPr>
              <a:t>//true</a:t>
            </a:r>
            <a:endParaRPr lang="en-US" altLang="zh-CN" b="1" dirty="0">
              <a:solidFill>
                <a:schemeClr val="accent3">
                  <a:lumMod val="50000"/>
                </a:schemeClr>
              </a:solidFill>
            </a:endParaRPr>
          </a:p>
          <a:p>
            <a:r>
              <a:rPr lang="zh-CN" altLang="en-US" dirty="0"/>
              <a:t>一个接口变量可以赋值给</a:t>
            </a:r>
            <a:r>
              <a:rPr lang="en-US" altLang="zh-CN" dirty="0"/>
              <a:t>Object</a:t>
            </a:r>
            <a:r>
              <a:rPr lang="zh-CN" altLang="en-US" dirty="0"/>
              <a:t>变量，因为它一定指向一个</a:t>
            </a:r>
            <a:r>
              <a:rPr lang="en-US" altLang="zh-CN" dirty="0"/>
              <a:t>Object</a:t>
            </a:r>
            <a:r>
              <a:rPr lang="zh-CN" altLang="en-US" dirty="0"/>
              <a:t>的直接或间接子类：</a:t>
            </a:r>
            <a:endParaRPr lang="en-US" altLang="zh-CN" dirty="0"/>
          </a:p>
          <a:p>
            <a:pPr lvl="1"/>
            <a:r>
              <a:rPr lang="en-US" altLang="zh-CN" dirty="0"/>
              <a:t>Comparable c = new Employee</a:t>
            </a:r>
            <a:r>
              <a:rPr lang="zh-CN" altLang="en-US" dirty="0"/>
              <a:t>（</a:t>
            </a:r>
            <a:r>
              <a:rPr lang="en-US" altLang="zh-CN" dirty="0"/>
              <a:t>…</a:t>
            </a:r>
            <a:r>
              <a:rPr lang="zh-CN" altLang="en-US" dirty="0"/>
              <a:t>）；</a:t>
            </a:r>
            <a:br>
              <a:rPr lang="en-US" altLang="zh-CN" dirty="0"/>
            </a:br>
            <a:r>
              <a:rPr lang="en-US" altLang="zh-CN" dirty="0"/>
              <a:t>Object </a:t>
            </a:r>
            <a:r>
              <a:rPr lang="en-US" altLang="zh-CN" dirty="0" err="1"/>
              <a:t>obj</a:t>
            </a:r>
            <a:r>
              <a:rPr lang="en-US" altLang="zh-CN" dirty="0"/>
              <a:t> = c</a:t>
            </a:r>
            <a:r>
              <a:rPr lang="zh-CN" altLang="en-US" dirty="0"/>
              <a:t>；</a:t>
            </a:r>
            <a:endParaRPr lang="en-US" altLang="zh-CN" dirty="0"/>
          </a:p>
          <a:p>
            <a:pPr lvl="1"/>
            <a:r>
              <a:rPr lang="zh-CN" altLang="en-US" dirty="0"/>
              <a:t>利用</a:t>
            </a:r>
            <a:r>
              <a:rPr lang="en-US" altLang="zh-CN" dirty="0"/>
              <a:t>c</a:t>
            </a:r>
            <a:r>
              <a:rPr lang="zh-CN" altLang="en-US" dirty="0"/>
              <a:t>或</a:t>
            </a:r>
            <a:r>
              <a:rPr lang="en-US" altLang="zh-CN" dirty="0" err="1"/>
              <a:t>obj</a:t>
            </a:r>
            <a:r>
              <a:rPr lang="zh-CN" altLang="en-US" dirty="0"/>
              <a:t>都可以调用</a:t>
            </a:r>
            <a:r>
              <a:rPr lang="en-US" altLang="zh-CN" dirty="0"/>
              <a:t>Object</a:t>
            </a:r>
            <a:r>
              <a:rPr lang="zh-CN" altLang="en-US" dirty="0"/>
              <a:t>中定义的方法。</a:t>
            </a:r>
            <a:r>
              <a:rPr lang="en-US" altLang="zh-CN" dirty="0"/>
              <a:t>c</a:t>
            </a:r>
            <a:r>
              <a:rPr lang="zh-CN" altLang="en-US" dirty="0"/>
              <a:t>还可以调用</a:t>
            </a:r>
            <a:r>
              <a:rPr lang="en-US" altLang="zh-CN" dirty="0"/>
              <a:t>Comparable</a:t>
            </a:r>
            <a:r>
              <a:rPr lang="zh-CN" altLang="en-US" dirty="0"/>
              <a:t>中定义的方法。</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normAutofit fontScale="92500"/>
          </a:bodyPr>
          <a:lstStyle/>
          <a:p>
            <a:r>
              <a:rPr lang="zh-CN" altLang="en-US" dirty="0"/>
              <a:t>接口可以有继承层次：</a:t>
            </a:r>
            <a:endParaRPr lang="en-US" altLang="zh-CN" dirty="0"/>
          </a:p>
          <a:p>
            <a:pPr lvl="1"/>
            <a:r>
              <a:rPr lang="zh-CN" altLang="en-US" dirty="0"/>
              <a:t>一个接口可以同时</a:t>
            </a:r>
            <a:r>
              <a:rPr lang="en-US" altLang="zh-CN" dirty="0"/>
              <a:t>extends</a:t>
            </a:r>
            <a:r>
              <a:rPr lang="zh-CN" altLang="en-US" dirty="0"/>
              <a:t>多个接口，却不能</a:t>
            </a:r>
            <a:r>
              <a:rPr lang="en-US" altLang="zh-CN" dirty="0"/>
              <a:t>implements</a:t>
            </a:r>
            <a:r>
              <a:rPr lang="zh-CN" altLang="en-US" dirty="0"/>
              <a:t>任何接口。因而，</a:t>
            </a:r>
            <a:r>
              <a:rPr lang="en-US" altLang="zh-CN" dirty="0"/>
              <a:t>Java</a:t>
            </a:r>
            <a:r>
              <a:rPr lang="zh-CN" altLang="en-US" dirty="0"/>
              <a:t>中的接口是支持多继承的。</a:t>
            </a:r>
            <a:endParaRPr lang="en-US" altLang="zh-CN" dirty="0"/>
          </a:p>
          <a:p>
            <a:pPr lvl="1"/>
            <a:r>
              <a:rPr lang="en-US" altLang="zh-CN" dirty="0"/>
              <a:t>public interface Moveable</a:t>
            </a:r>
            <a:br>
              <a:rPr lang="en-US" altLang="zh-CN" dirty="0"/>
            </a:b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接口中的方法自动为</a:t>
            </a:r>
            <a:r>
              <a:rPr lang="en-US" altLang="zh-CN" dirty="0">
                <a:solidFill>
                  <a:schemeClr val="accent3">
                    <a:lumMod val="50000"/>
                  </a:schemeClr>
                </a:solidFill>
              </a:rPr>
              <a:t>public </a:t>
            </a:r>
            <a:br>
              <a:rPr lang="en-US" altLang="zh-CN" dirty="0"/>
            </a:br>
            <a:r>
              <a:rPr lang="en-US" altLang="zh-CN" dirty="0"/>
              <a:t>	void move (double x, double y);</a:t>
            </a:r>
            <a:br>
              <a:rPr lang="en-US" altLang="zh-CN" dirty="0"/>
            </a:b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在此基础上派生一个子接口：</a:t>
            </a:r>
            <a:br>
              <a:rPr lang="en-US" altLang="zh-CN" dirty="0">
                <a:solidFill>
                  <a:schemeClr val="accent3">
                    <a:lumMod val="50000"/>
                  </a:schemeClr>
                </a:solidFill>
              </a:rPr>
            </a:br>
            <a:r>
              <a:rPr lang="en-US" altLang="zh-CN" dirty="0"/>
              <a:t>public interface Powered extends Moveable</a:t>
            </a:r>
            <a:br>
              <a:rPr lang="en-US" altLang="zh-CN" dirty="0"/>
            </a:br>
            <a:r>
              <a:rPr lang="en-US" altLang="zh-CN" dirty="0"/>
              <a:t>{</a:t>
            </a:r>
            <a:br>
              <a:rPr lang="en-US" altLang="zh-CN" dirty="0"/>
            </a:br>
            <a:r>
              <a:rPr lang="en-US" altLang="zh-CN" dirty="0"/>
              <a:t>	double </a:t>
            </a:r>
            <a:r>
              <a:rPr lang="en-US" altLang="zh-CN" dirty="0" err="1"/>
              <a:t>milesPerGallon</a:t>
            </a:r>
            <a:r>
              <a:rPr lang="en-US" altLang="zh-CN" dirty="0"/>
              <a:t>();</a:t>
            </a:r>
            <a:br>
              <a:rPr lang="en-US" altLang="zh-CN" dirty="0"/>
            </a:br>
            <a:r>
              <a:rPr lang="en-US" altLang="zh-CN" dirty="0"/>
              <a:t>	double SPEED_LIMIT=90; </a:t>
            </a:r>
            <a:r>
              <a:rPr lang="en-US" altLang="zh-CN" dirty="0">
                <a:solidFill>
                  <a:schemeClr val="accent3">
                    <a:lumMod val="50000"/>
                  </a:schemeClr>
                </a:solidFill>
              </a:rPr>
              <a:t>//</a:t>
            </a:r>
            <a:r>
              <a:rPr lang="zh-CN" altLang="en-US" dirty="0">
                <a:solidFill>
                  <a:schemeClr val="accent3">
                    <a:lumMod val="50000"/>
                  </a:schemeClr>
                </a:solidFill>
              </a:rPr>
              <a:t>接口中的域默认设置</a:t>
            </a:r>
            <a:br>
              <a:rPr lang="en-US" altLang="zh-CN" dirty="0"/>
            </a:b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为常量：</a:t>
            </a:r>
            <a:r>
              <a:rPr lang="en-US" altLang="zh-CN" dirty="0">
                <a:solidFill>
                  <a:schemeClr val="accent3">
                    <a:lumMod val="50000"/>
                  </a:schemeClr>
                </a:solidFill>
              </a:rPr>
              <a:t>public static final, </a:t>
            </a:r>
            <a:r>
              <a:rPr lang="zh-CN" altLang="en-US" dirty="0">
                <a:solidFill>
                  <a:schemeClr val="accent3">
                    <a:lumMod val="50000"/>
                  </a:schemeClr>
                </a:solidFill>
              </a:rPr>
              <a:t>接口中不能有实例域</a:t>
            </a:r>
            <a:endParaRPr lang="en-US" altLang="zh-CN" dirty="0">
              <a:solidFill>
                <a:schemeClr val="accent3">
                  <a:lumMod val="50000"/>
                </a:schemeClr>
              </a:solidFill>
            </a:endParaRPr>
          </a:p>
          <a:p>
            <a:r>
              <a:rPr lang="zh-CN" altLang="en-US" dirty="0"/>
              <a:t>类只能继承一个超类，却能实现多个接口：</a:t>
            </a:r>
            <a:endParaRPr lang="en-US" altLang="zh-CN" dirty="0"/>
          </a:p>
          <a:p>
            <a:pPr lvl="1"/>
            <a:r>
              <a:rPr lang="en-US" altLang="zh-CN" dirty="0"/>
              <a:t>class Employee implements Comparable, </a:t>
            </a:r>
            <a:r>
              <a:rPr lang="en-US" altLang="zh-CN" dirty="0" err="1"/>
              <a:t>Cloneable</a:t>
            </a:r>
            <a:endParaRPr lang="en-US" altLang="zh-CN" dirty="0"/>
          </a:p>
          <a:p>
            <a:pPr lvl="1"/>
            <a:r>
              <a:rPr lang="en-US" altLang="zh-CN" dirty="0"/>
              <a:t>Java</a:t>
            </a:r>
            <a:r>
              <a:rPr lang="zh-CN" altLang="en-US" dirty="0"/>
              <a:t>中的多接口实现弥补了没有多继承的不足。</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static</a:t>
            </a:r>
            <a:r>
              <a:rPr lang="zh-CN" altLang="en-US" dirty="0"/>
              <a:t>方法和</a:t>
            </a:r>
            <a:r>
              <a:rPr lang="en-US" altLang="zh-CN" dirty="0"/>
              <a:t>default</a:t>
            </a:r>
            <a:r>
              <a:rPr lang="zh-CN" altLang="en-US" dirty="0"/>
              <a:t>方法</a:t>
            </a:r>
            <a:r>
              <a:rPr lang="en-US" altLang="zh-CN" dirty="0"/>
              <a:t> </a:t>
            </a:r>
            <a:endParaRPr lang="zh-CN" altLang="en-US" dirty="0"/>
          </a:p>
        </p:txBody>
      </p:sp>
      <p:sp>
        <p:nvSpPr>
          <p:cNvPr id="3" name="内容占位符 2"/>
          <p:cNvSpPr>
            <a:spLocks noGrp="1"/>
          </p:cNvSpPr>
          <p:nvPr>
            <p:ph idx="1"/>
          </p:nvPr>
        </p:nvSpPr>
        <p:spPr>
          <a:xfrm>
            <a:off x="457200" y="980728"/>
            <a:ext cx="8075240" cy="5544616"/>
          </a:xfrm>
        </p:spPr>
        <p:txBody>
          <a:bodyPr>
            <a:normAutofit fontScale="92500" lnSpcReduction="10000"/>
          </a:bodyPr>
          <a:lstStyle/>
          <a:p>
            <a:r>
              <a:rPr lang="zh-CN" altLang="en-US" dirty="0"/>
              <a:t>接口中加入</a:t>
            </a:r>
            <a:r>
              <a:rPr lang="zh-CN" altLang="en-US" dirty="0">
                <a:solidFill>
                  <a:srgbClr val="FF0000"/>
                </a:solidFill>
              </a:rPr>
              <a:t>类方法</a:t>
            </a:r>
            <a:r>
              <a:rPr lang="zh-CN" altLang="en-US" dirty="0"/>
              <a:t>是</a:t>
            </a:r>
            <a:r>
              <a:rPr lang="en-US" altLang="zh-CN" dirty="0"/>
              <a:t>Java8</a:t>
            </a:r>
            <a:r>
              <a:rPr lang="zh-CN" altLang="en-US" dirty="0"/>
              <a:t>之后的新特征，其使用和类中的类方法相似，通过接口名称调用。</a:t>
            </a:r>
            <a:endParaRPr lang="en-US" altLang="zh-CN" dirty="0"/>
          </a:p>
          <a:p>
            <a:pPr lvl="1"/>
            <a:r>
              <a:rPr lang="zh-CN" altLang="en-US" dirty="0"/>
              <a:t>静态方法通常是工具类中的方法，接口中引入该机制后可以使接口也具有工具类的性质。</a:t>
            </a:r>
            <a:endParaRPr lang="en-US" altLang="zh-CN" dirty="0"/>
          </a:p>
          <a:p>
            <a:r>
              <a:rPr lang="en-US" altLang="zh-CN" dirty="0"/>
              <a:t>Java8</a:t>
            </a:r>
            <a:r>
              <a:rPr lang="zh-CN" altLang="en-US" dirty="0"/>
              <a:t>还允许在接口中实现</a:t>
            </a:r>
            <a:r>
              <a:rPr lang="zh-CN" altLang="en-US" dirty="0">
                <a:solidFill>
                  <a:srgbClr val="FF0000"/>
                </a:solidFill>
              </a:rPr>
              <a:t>实例方法</a:t>
            </a:r>
            <a:r>
              <a:rPr lang="zh-CN" altLang="en-US" dirty="0"/>
              <a:t>，用</a:t>
            </a:r>
            <a:r>
              <a:rPr lang="en-US" altLang="zh-CN" dirty="0"/>
              <a:t>default</a:t>
            </a:r>
            <a:r>
              <a:rPr lang="zh-CN" altLang="en-US" dirty="0"/>
              <a:t>关键字。</a:t>
            </a:r>
            <a:endParaRPr lang="en-US" altLang="zh-CN" dirty="0"/>
          </a:p>
          <a:p>
            <a:pPr lvl="1"/>
            <a:r>
              <a:rPr lang="zh-CN" altLang="en-US" dirty="0"/>
              <a:t>如果一个接口定义了一组抽象方法，其实现类必须全部实现它们，例如</a:t>
            </a:r>
            <a:br>
              <a:rPr lang="en-US" altLang="zh-CN" dirty="0"/>
            </a:br>
            <a:r>
              <a:rPr lang="en-US" altLang="zh-CN" dirty="0"/>
              <a:t>public interface </a:t>
            </a:r>
            <a:r>
              <a:rPr lang="en-US" altLang="zh-CN" dirty="0" err="1"/>
              <a:t>MouseListener</a:t>
            </a:r>
            <a:br>
              <a:rPr lang="en-US" altLang="zh-CN" dirty="0"/>
            </a:br>
            <a:r>
              <a:rPr lang="en-US" altLang="zh-CN" dirty="0"/>
              <a:t>{</a:t>
            </a:r>
            <a:br>
              <a:rPr lang="en-US" altLang="zh-CN" dirty="0"/>
            </a:br>
            <a:r>
              <a:rPr lang="en-US" altLang="zh-CN" dirty="0"/>
              <a:t>	void </a:t>
            </a:r>
            <a:r>
              <a:rPr lang="en-US" altLang="zh-CN" dirty="0" err="1"/>
              <a:t>mouseClicked</a:t>
            </a:r>
            <a:r>
              <a:rPr lang="en-US" altLang="zh-CN" dirty="0"/>
              <a:t>(</a:t>
            </a:r>
            <a:r>
              <a:rPr lang="en-US" altLang="zh-CN" dirty="0" err="1"/>
              <a:t>MouseEvent</a:t>
            </a:r>
            <a:r>
              <a:rPr lang="en-US" altLang="zh-CN" dirty="0"/>
              <a:t> me);</a:t>
            </a:r>
            <a:br>
              <a:rPr lang="en-US" altLang="zh-CN" dirty="0"/>
            </a:br>
            <a:r>
              <a:rPr lang="en-US" altLang="zh-CN" dirty="0"/>
              <a:t>	void </a:t>
            </a:r>
            <a:r>
              <a:rPr lang="en-US" altLang="zh-CN" dirty="0" err="1"/>
              <a:t>mousePressed</a:t>
            </a:r>
            <a:r>
              <a:rPr lang="en-US" altLang="zh-CN" dirty="0"/>
              <a:t>(</a:t>
            </a:r>
            <a:r>
              <a:rPr lang="en-US" altLang="zh-CN" dirty="0" err="1"/>
              <a:t>MouseEvent</a:t>
            </a:r>
            <a:r>
              <a:rPr lang="en-US" altLang="zh-CN" dirty="0"/>
              <a:t> me);</a:t>
            </a:r>
            <a:br>
              <a:rPr lang="en-US" altLang="zh-CN" dirty="0"/>
            </a:br>
            <a:r>
              <a:rPr lang="en-US" altLang="zh-CN" dirty="0"/>
              <a:t>	void </a:t>
            </a:r>
            <a:r>
              <a:rPr lang="en-US" altLang="zh-CN" dirty="0" err="1"/>
              <a:t>mouseReleased</a:t>
            </a:r>
            <a:r>
              <a:rPr lang="en-US" altLang="zh-CN" dirty="0"/>
              <a:t>(</a:t>
            </a:r>
            <a:r>
              <a:rPr lang="en-US" altLang="zh-CN" dirty="0" err="1"/>
              <a:t>MouseEvent</a:t>
            </a:r>
            <a:r>
              <a:rPr lang="en-US" altLang="zh-CN" dirty="0"/>
              <a:t> me);</a:t>
            </a:r>
            <a:br>
              <a:rPr lang="en-US" altLang="zh-CN" dirty="0"/>
            </a:br>
            <a:r>
              <a:rPr lang="en-US" altLang="zh-CN" dirty="0"/>
              <a:t>	void </a:t>
            </a:r>
            <a:r>
              <a:rPr lang="en-US" altLang="zh-CN" dirty="0" err="1"/>
              <a:t>mouseEntered</a:t>
            </a:r>
            <a:r>
              <a:rPr lang="en-US" altLang="zh-CN" dirty="0"/>
              <a:t>(</a:t>
            </a:r>
            <a:r>
              <a:rPr lang="en-US" altLang="zh-CN" dirty="0" err="1"/>
              <a:t>MouseEvent</a:t>
            </a:r>
            <a:r>
              <a:rPr lang="en-US" altLang="zh-CN" dirty="0"/>
              <a:t> me);</a:t>
            </a:r>
            <a:br>
              <a:rPr lang="en-US" altLang="zh-CN" dirty="0"/>
            </a:br>
            <a:r>
              <a:rPr lang="en-US" altLang="zh-CN" dirty="0"/>
              <a:t>	void </a:t>
            </a:r>
            <a:r>
              <a:rPr lang="en-US" altLang="zh-CN" dirty="0" err="1"/>
              <a:t>mouseExited</a:t>
            </a:r>
            <a:r>
              <a:rPr lang="en-US" altLang="zh-CN" dirty="0"/>
              <a:t>(</a:t>
            </a:r>
            <a:r>
              <a:rPr lang="en-US" altLang="zh-CN" dirty="0" err="1"/>
              <a:t>MouseEvent</a:t>
            </a:r>
            <a:r>
              <a:rPr lang="en-US" altLang="zh-CN" dirty="0"/>
              <a:t> me);</a:t>
            </a:r>
            <a:br>
              <a:rPr lang="en-US" altLang="zh-CN" dirty="0"/>
            </a:br>
            <a:r>
              <a:rPr lang="en-US" altLang="zh-CN" dirty="0"/>
              <a:t>}</a:t>
            </a:r>
            <a:endParaRPr lang="en-US" altLang="zh-CN" dirty="0"/>
          </a:p>
          <a:p>
            <a:pPr lvl="1"/>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19256" cy="5832648"/>
          </a:xfrm>
        </p:spPr>
        <p:txBody>
          <a:bodyPr/>
          <a:lstStyle/>
          <a:p>
            <a:r>
              <a:rPr lang="zh-CN" altLang="en-US" dirty="0"/>
              <a:t>如果某个类只需要鼠标点击事件而不关心其他事件，也必须实现所有的抽象方法。</a:t>
            </a:r>
            <a:endParaRPr lang="en-US" altLang="zh-CN" dirty="0"/>
          </a:p>
          <a:p>
            <a:r>
              <a:rPr lang="en-US" altLang="zh-CN" dirty="0"/>
              <a:t>Java8</a:t>
            </a:r>
            <a:r>
              <a:rPr lang="zh-CN" altLang="en-US" dirty="0"/>
              <a:t>之后可以如下定义：</a:t>
            </a:r>
            <a:endParaRPr lang="en-US" altLang="zh-CN" dirty="0"/>
          </a:p>
          <a:p>
            <a:pPr lvl="1"/>
            <a:r>
              <a:rPr lang="en-US" altLang="zh-CN" dirty="0"/>
              <a:t>public interface </a:t>
            </a:r>
            <a:r>
              <a:rPr lang="en-US" altLang="zh-CN" dirty="0" err="1"/>
              <a:t>MouseListener</a:t>
            </a:r>
            <a:br>
              <a:rPr lang="en-US" altLang="zh-CN" dirty="0"/>
            </a:br>
            <a:r>
              <a:rPr lang="en-US" altLang="zh-CN" dirty="0"/>
              <a:t>{</a:t>
            </a:r>
            <a:br>
              <a:rPr lang="en-US" altLang="zh-CN" dirty="0"/>
            </a:br>
            <a:r>
              <a:rPr lang="en-US" altLang="zh-CN" dirty="0"/>
              <a:t>	default void </a:t>
            </a:r>
            <a:r>
              <a:rPr lang="en-US" altLang="zh-CN" dirty="0" err="1"/>
              <a:t>mouseClicked</a:t>
            </a:r>
            <a:r>
              <a:rPr lang="en-US" altLang="zh-CN" dirty="0"/>
              <a:t>(</a:t>
            </a:r>
            <a:r>
              <a:rPr lang="en-US" altLang="zh-CN" dirty="0" err="1"/>
              <a:t>MouseEvent</a:t>
            </a:r>
            <a:r>
              <a:rPr lang="en-US" altLang="zh-CN" dirty="0"/>
              <a:t> me){}</a:t>
            </a:r>
            <a:br>
              <a:rPr lang="en-US" altLang="zh-CN" dirty="0"/>
            </a:br>
            <a:r>
              <a:rPr lang="en-US" altLang="zh-CN" dirty="0"/>
              <a:t>	default void </a:t>
            </a:r>
            <a:r>
              <a:rPr lang="en-US" altLang="zh-CN" dirty="0" err="1"/>
              <a:t>mousePressed</a:t>
            </a:r>
            <a:r>
              <a:rPr lang="en-US" altLang="zh-CN" dirty="0"/>
              <a:t>(</a:t>
            </a:r>
            <a:r>
              <a:rPr lang="en-US" altLang="zh-CN" dirty="0" err="1"/>
              <a:t>MouseEvent</a:t>
            </a:r>
            <a:r>
              <a:rPr lang="en-US" altLang="zh-CN" dirty="0"/>
              <a:t> me){}</a:t>
            </a:r>
            <a:br>
              <a:rPr lang="en-US" altLang="zh-CN" dirty="0"/>
            </a:br>
            <a:r>
              <a:rPr lang="en-US" altLang="zh-CN" dirty="0"/>
              <a:t>	default void </a:t>
            </a:r>
            <a:r>
              <a:rPr lang="en-US" altLang="zh-CN" dirty="0" err="1"/>
              <a:t>mouseReleased</a:t>
            </a:r>
            <a:r>
              <a:rPr lang="en-US" altLang="zh-CN" dirty="0"/>
              <a:t>(</a:t>
            </a:r>
            <a:r>
              <a:rPr lang="en-US" altLang="zh-CN" dirty="0" err="1"/>
              <a:t>MouseEvent</a:t>
            </a:r>
            <a:r>
              <a:rPr lang="en-US" altLang="zh-CN" dirty="0"/>
              <a:t> me){}</a:t>
            </a:r>
            <a:br>
              <a:rPr lang="en-US" altLang="zh-CN" dirty="0"/>
            </a:br>
            <a:r>
              <a:rPr lang="en-US" altLang="zh-CN" dirty="0"/>
              <a:t>	default void </a:t>
            </a:r>
            <a:r>
              <a:rPr lang="en-US" altLang="zh-CN" dirty="0" err="1"/>
              <a:t>mouseEntered</a:t>
            </a:r>
            <a:r>
              <a:rPr lang="en-US" altLang="zh-CN" dirty="0"/>
              <a:t>(</a:t>
            </a:r>
            <a:r>
              <a:rPr lang="en-US" altLang="zh-CN" dirty="0" err="1"/>
              <a:t>MouseEvent</a:t>
            </a:r>
            <a:r>
              <a:rPr lang="en-US" altLang="zh-CN" dirty="0"/>
              <a:t> me){}</a:t>
            </a:r>
            <a:br>
              <a:rPr lang="en-US" altLang="zh-CN" dirty="0"/>
            </a:br>
            <a:r>
              <a:rPr lang="en-US" altLang="zh-CN" dirty="0"/>
              <a:t>	default void </a:t>
            </a:r>
            <a:r>
              <a:rPr lang="en-US" altLang="zh-CN" dirty="0" err="1"/>
              <a:t>mouseExited</a:t>
            </a:r>
            <a:r>
              <a:rPr lang="en-US" altLang="zh-CN" dirty="0"/>
              <a:t>(</a:t>
            </a:r>
            <a:r>
              <a:rPr lang="en-US" altLang="zh-CN" dirty="0" err="1"/>
              <a:t>MouseEvent</a:t>
            </a:r>
            <a:r>
              <a:rPr lang="en-US" altLang="zh-CN" dirty="0"/>
              <a:t> me){}</a:t>
            </a:r>
            <a:br>
              <a:rPr lang="en-US" altLang="zh-CN" dirty="0"/>
            </a:br>
            <a:r>
              <a:rPr lang="en-US" altLang="zh-CN" dirty="0"/>
              <a:t>}</a:t>
            </a:r>
            <a:endParaRPr lang="en-US" altLang="zh-CN" dirty="0"/>
          </a:p>
          <a:p>
            <a:pPr lvl="1"/>
            <a:r>
              <a:rPr lang="zh-CN" altLang="en-US" dirty="0"/>
              <a:t>这样，实现类中可以只重写</a:t>
            </a:r>
            <a:r>
              <a:rPr lang="en-US" altLang="zh-CN" dirty="0" err="1"/>
              <a:t>mouseClicked</a:t>
            </a:r>
            <a:r>
              <a:rPr lang="zh-CN" altLang="en-US" dirty="0"/>
              <a:t>，而不用管其他方法了。</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normAutofit fontScale="92500" lnSpcReduction="10000"/>
          </a:bodyPr>
          <a:lstStyle/>
          <a:p>
            <a:r>
              <a:rPr lang="zh-CN" altLang="en-US" dirty="0"/>
              <a:t>看一个简单例子：</a:t>
            </a:r>
            <a:endParaRPr lang="en-US" altLang="zh-CN" dirty="0"/>
          </a:p>
          <a:p>
            <a:pPr marL="274320" lvl="1" indent="0">
              <a:buNone/>
            </a:pPr>
            <a:r>
              <a:rPr lang="zh-CN" altLang="en-US" dirty="0"/>
              <a:t>在</a:t>
            </a:r>
            <a:r>
              <a:rPr lang="en-US" altLang="zh-CN" dirty="0"/>
              <a:t>Alarm</a:t>
            </a:r>
            <a:r>
              <a:rPr lang="zh-CN" altLang="en-US" dirty="0"/>
              <a:t>接口中加入下列代码</a:t>
            </a:r>
            <a:br>
              <a:rPr lang="en-US" altLang="zh-CN" dirty="0"/>
            </a:br>
            <a:r>
              <a:rPr lang="en-US" altLang="zh-CN" dirty="0">
                <a:solidFill>
                  <a:schemeClr val="accent3">
                    <a:lumMod val="50000"/>
                  </a:schemeClr>
                </a:solidFill>
              </a:rPr>
              <a:t>//</a:t>
            </a:r>
            <a:r>
              <a:rPr lang="zh-CN" altLang="en-US" dirty="0">
                <a:solidFill>
                  <a:schemeClr val="accent3">
                    <a:lumMod val="50000"/>
                  </a:schemeClr>
                </a:solidFill>
              </a:rPr>
              <a:t>默认为</a:t>
            </a:r>
            <a:r>
              <a:rPr lang="en-US" altLang="zh-CN" dirty="0">
                <a:solidFill>
                  <a:schemeClr val="accent3">
                    <a:lumMod val="50000"/>
                  </a:schemeClr>
                </a:solidFill>
              </a:rPr>
              <a:t>public static final</a:t>
            </a:r>
            <a:br>
              <a:rPr lang="en-US" altLang="zh-CN" dirty="0"/>
            </a:br>
            <a:r>
              <a:rPr lang="en-US" altLang="zh-CN" dirty="0"/>
              <a:t>  String INFORMATION = "</a:t>
            </a:r>
            <a:r>
              <a:rPr lang="zh-CN" altLang="en-US" dirty="0"/>
              <a:t>这是一个报警接口的常量信息。</a:t>
            </a:r>
            <a:r>
              <a:rPr lang="en-US" altLang="zh-CN" dirty="0"/>
              <a:t>"; </a:t>
            </a:r>
            <a:endParaRPr lang="en-US" altLang="zh-CN" dirty="0"/>
          </a:p>
          <a:p>
            <a:pPr marL="274320" lvl="1" indent="0">
              <a:buNone/>
            </a:pPr>
            <a:r>
              <a:rPr lang="en-US" altLang="zh-CN" dirty="0">
                <a:solidFill>
                  <a:schemeClr val="accent3">
                    <a:lumMod val="50000"/>
                  </a:schemeClr>
                </a:solidFill>
              </a:rPr>
              <a:t>//static</a:t>
            </a:r>
            <a:r>
              <a:rPr lang="zh-CN" altLang="en-US" dirty="0">
                <a:solidFill>
                  <a:schemeClr val="accent3">
                    <a:lumMod val="50000"/>
                  </a:schemeClr>
                </a:solidFill>
              </a:rPr>
              <a:t>方法，接口名</a:t>
            </a:r>
            <a:r>
              <a:rPr lang="en-US" altLang="zh-CN" dirty="0">
                <a:solidFill>
                  <a:schemeClr val="accent3">
                    <a:lumMod val="50000"/>
                  </a:schemeClr>
                </a:solidFill>
              </a:rPr>
              <a:t>.</a:t>
            </a:r>
            <a:r>
              <a:rPr lang="zh-CN" altLang="en-US" dirty="0">
                <a:solidFill>
                  <a:schemeClr val="accent3">
                    <a:lumMod val="50000"/>
                  </a:schemeClr>
                </a:solidFill>
              </a:rPr>
              <a:t>方法名调用</a:t>
            </a:r>
            <a:endParaRPr lang="zh-CN" altLang="en-US" dirty="0">
              <a:solidFill>
                <a:schemeClr val="accent3">
                  <a:lumMod val="50000"/>
                </a:schemeClr>
              </a:solidFill>
            </a:endParaRPr>
          </a:p>
          <a:p>
            <a:pPr marL="274320" lvl="1" indent="0">
              <a:buNone/>
            </a:pPr>
            <a:r>
              <a:rPr lang="en-US" altLang="zh-CN" dirty="0"/>
              <a:t>  </a:t>
            </a:r>
            <a:r>
              <a:rPr lang="en-US" altLang="zh-CN" dirty="0">
                <a:solidFill>
                  <a:srgbClr val="FF0000"/>
                </a:solidFill>
              </a:rPr>
              <a:t>public static </a:t>
            </a:r>
            <a:r>
              <a:rPr lang="en-US" altLang="zh-CN" dirty="0"/>
              <a:t>void info() </a:t>
            </a:r>
            <a:br>
              <a:rPr lang="en-US" altLang="zh-CN" dirty="0"/>
            </a:br>
            <a:r>
              <a:rPr lang="en-US" altLang="zh-CN" dirty="0"/>
              <a:t>  {</a:t>
            </a:r>
            <a:endParaRPr lang="en-US" altLang="zh-CN" dirty="0"/>
          </a:p>
          <a:p>
            <a:pPr marL="274320" lvl="1" indent="0">
              <a:buNone/>
            </a:pPr>
            <a:r>
              <a:rPr lang="en-US" altLang="zh-CN" dirty="0"/>
              <a:t>	</a:t>
            </a:r>
            <a:r>
              <a:rPr lang="en-US" altLang="zh-CN" dirty="0" err="1"/>
              <a:t>System.out.println</a:t>
            </a:r>
            <a:r>
              <a:rPr lang="en-US" altLang="zh-CN" dirty="0"/>
              <a:t>("</a:t>
            </a:r>
            <a:r>
              <a:rPr lang="zh-CN" altLang="en-US" dirty="0"/>
              <a:t>正在调用</a:t>
            </a:r>
            <a:r>
              <a:rPr lang="en-US" altLang="zh-CN" dirty="0"/>
              <a:t>Alarm</a:t>
            </a:r>
            <a:r>
              <a:rPr lang="zh-CN" altLang="en-US" dirty="0"/>
              <a:t>接口的</a:t>
            </a:r>
            <a:r>
              <a:rPr lang="en-US" altLang="zh-CN" dirty="0"/>
              <a:t>static</a:t>
            </a:r>
            <a:r>
              <a:rPr lang="zh-CN" altLang="en-US" dirty="0"/>
              <a:t>方法。</a:t>
            </a:r>
            <a:r>
              <a:rPr lang="en-US" altLang="zh-CN" dirty="0"/>
              <a:t>"); </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默认方法，即带方法体的实例方法， 可以在实现时覆盖，也</a:t>
            </a:r>
            <a:r>
              <a:rPr lang="en-US" altLang="zh-CN" dirty="0">
                <a:solidFill>
                  <a:schemeClr val="accent3">
                    <a:lumMod val="50000"/>
                  </a:schemeClr>
                </a:solidFill>
              </a:rPr>
              <a:t>//</a:t>
            </a:r>
            <a:r>
              <a:rPr lang="zh-CN" altLang="en-US" dirty="0">
                <a:solidFill>
                  <a:schemeClr val="accent3">
                    <a:lumMod val="50000"/>
                  </a:schemeClr>
                </a:solidFill>
              </a:rPr>
              <a:t>可以不覆盖</a:t>
            </a:r>
            <a:endParaRPr lang="zh-CN" altLang="en-US" dirty="0">
              <a:solidFill>
                <a:schemeClr val="accent3">
                  <a:lumMod val="50000"/>
                </a:schemeClr>
              </a:solidFill>
            </a:endParaRPr>
          </a:p>
          <a:p>
            <a:pPr marL="274320" lvl="1" indent="0">
              <a:buNone/>
            </a:pPr>
            <a:r>
              <a:rPr lang="en-US" altLang="zh-CN" dirty="0"/>
              <a:t>  </a:t>
            </a:r>
            <a:r>
              <a:rPr lang="en-US" altLang="zh-CN" dirty="0">
                <a:solidFill>
                  <a:srgbClr val="FF0000"/>
                </a:solidFill>
              </a:rPr>
              <a:t>default</a:t>
            </a:r>
            <a:r>
              <a:rPr lang="en-US" altLang="zh-CN" dirty="0"/>
              <a:t> void </a:t>
            </a:r>
            <a:r>
              <a:rPr lang="en-US" altLang="zh-CN" dirty="0" err="1"/>
              <a:t>addInfo</a:t>
            </a:r>
            <a:r>
              <a:rPr lang="en-US" altLang="zh-CN" dirty="0"/>
              <a:t> ()  </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err="1"/>
              <a:t>System.out.println</a:t>
            </a:r>
            <a:r>
              <a:rPr lang="en-US" altLang="zh-CN" dirty="0"/>
              <a:t>("</a:t>
            </a:r>
            <a:r>
              <a:rPr lang="zh-CN" altLang="en-US" dirty="0"/>
              <a:t>有人在开门，请查看！</a:t>
            </a:r>
            <a:r>
              <a:rPr lang="en-US" altLang="zh-CN" dirty="0"/>
              <a:t>");</a:t>
            </a:r>
            <a:endParaRPr lang="en-US" altLang="zh-CN" dirty="0"/>
          </a:p>
          <a:p>
            <a:pPr marL="274320" lvl="1" indent="0">
              <a:buNone/>
            </a:pPr>
            <a:r>
              <a:rPr lang="en-US" altLang="zh-CN" dirty="0"/>
              <a:t>  }</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075240" cy="5616624"/>
          </a:xfrm>
        </p:spPr>
        <p:txBody>
          <a:bodyPr/>
          <a:lstStyle/>
          <a:p>
            <a:r>
              <a:rPr lang="zh-CN" altLang="en-US" dirty="0"/>
              <a:t>该接口被</a:t>
            </a:r>
            <a:r>
              <a:rPr lang="en-US" altLang="zh-CN" dirty="0" err="1"/>
              <a:t>AlarmDoor</a:t>
            </a:r>
            <a:r>
              <a:rPr lang="zh-CN" altLang="en-US" dirty="0"/>
              <a:t>实现，在</a:t>
            </a:r>
            <a:r>
              <a:rPr lang="en-US" altLang="zh-CN" dirty="0" err="1"/>
              <a:t>UsingDoor</a:t>
            </a:r>
            <a:r>
              <a:rPr lang="zh-CN" altLang="en-US" dirty="0"/>
              <a:t>中调用如下：</a:t>
            </a:r>
            <a:endParaRPr lang="en-US" altLang="zh-CN" dirty="0"/>
          </a:p>
          <a:p>
            <a:pPr marL="274320" lvl="1" indent="0">
              <a:buNone/>
            </a:pPr>
            <a:r>
              <a:rPr lang="en-US" altLang="zh-CN" dirty="0">
                <a:solidFill>
                  <a:schemeClr val="accent3">
                    <a:lumMod val="50000"/>
                  </a:schemeClr>
                </a:solidFill>
              </a:rPr>
              <a:t>//</a:t>
            </a:r>
            <a:r>
              <a:rPr lang="zh-CN" altLang="en-US" dirty="0">
                <a:solidFill>
                  <a:schemeClr val="accent3">
                    <a:lumMod val="50000"/>
                  </a:schemeClr>
                </a:solidFill>
              </a:rPr>
              <a:t>使用接口中的常量</a:t>
            </a:r>
            <a:endParaRPr lang="zh-CN" altLang="en-US" dirty="0">
              <a:solidFill>
                <a:schemeClr val="accent3">
                  <a:lumMod val="50000"/>
                </a:schemeClr>
              </a:solidFill>
            </a:endParaRPr>
          </a:p>
          <a:p>
            <a:pPr marL="274320" lvl="1" indent="0">
              <a:buNone/>
            </a:pPr>
            <a:r>
              <a:rPr lang="en-US" altLang="zh-CN" dirty="0" err="1"/>
              <a:t>System.out.println</a:t>
            </a:r>
            <a:r>
              <a:rPr lang="en-US" altLang="zh-CN" dirty="0"/>
              <a:t>(</a:t>
            </a:r>
            <a:r>
              <a:rPr lang="en-US" altLang="zh-CN" dirty="0" err="1"/>
              <a:t>Alarm.INFORMATION</a:t>
            </a:r>
            <a:r>
              <a:rPr lang="en-US" altLang="zh-CN" dirty="0"/>
              <a:t>); </a:t>
            </a:r>
            <a:br>
              <a:rPr lang="en-US" altLang="zh-CN" dirty="0"/>
            </a:br>
            <a:r>
              <a:rPr lang="en-US" altLang="zh-CN" dirty="0"/>
              <a:t>Alarm.info();            </a:t>
            </a:r>
            <a:r>
              <a:rPr lang="en-US" altLang="zh-CN" dirty="0">
                <a:solidFill>
                  <a:schemeClr val="accent3">
                    <a:lumMod val="50000"/>
                  </a:schemeClr>
                </a:solidFill>
              </a:rPr>
              <a:t>//</a:t>
            </a:r>
            <a:r>
              <a:rPr lang="zh-CN" altLang="en-US" dirty="0">
                <a:solidFill>
                  <a:schemeClr val="accent3">
                    <a:lumMod val="50000"/>
                  </a:schemeClr>
                </a:solidFill>
              </a:rPr>
              <a:t>调用接口中的</a:t>
            </a:r>
            <a:r>
              <a:rPr lang="en-US" altLang="zh-CN" dirty="0">
                <a:solidFill>
                  <a:schemeClr val="accent3">
                    <a:lumMod val="50000"/>
                  </a:schemeClr>
                </a:solidFill>
              </a:rPr>
              <a:t>static</a:t>
            </a:r>
            <a:r>
              <a:rPr lang="zh-CN" altLang="en-US" dirty="0">
                <a:solidFill>
                  <a:schemeClr val="accent3">
                    <a:lumMod val="50000"/>
                  </a:schemeClr>
                </a:solidFill>
              </a:rPr>
              <a:t>方法</a:t>
            </a:r>
            <a:endParaRPr lang="zh-CN" altLang="en-US" dirty="0">
              <a:solidFill>
                <a:schemeClr val="accent3">
                  <a:lumMod val="50000"/>
                </a:schemeClr>
              </a:solidFill>
            </a:endParaRPr>
          </a:p>
          <a:p>
            <a:pPr marL="274320" lvl="1" indent="0">
              <a:buNone/>
            </a:pPr>
            <a:r>
              <a:rPr lang="en-US" altLang="zh-CN" dirty="0" err="1"/>
              <a:t>myDoor.addInfo</a:t>
            </a: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调用接口中的默认方法，如有必要  </a:t>
            </a:r>
            <a:r>
              <a:rPr lang="en-US" altLang="zh-CN" dirty="0">
                <a:solidFill>
                  <a:schemeClr val="accent3">
                    <a:lumMod val="50000"/>
                  </a:schemeClr>
                </a:solidFill>
              </a:rPr>
              <a:t>//</a:t>
            </a:r>
            <a:r>
              <a:rPr lang="zh-CN" altLang="en-US" dirty="0">
                <a:solidFill>
                  <a:schemeClr val="accent3">
                    <a:lumMod val="50000"/>
                  </a:schemeClr>
                </a:solidFill>
              </a:rPr>
              <a:t>这个方法可以在</a:t>
            </a:r>
            <a:r>
              <a:rPr lang="en-US" altLang="zh-CN" dirty="0" err="1">
                <a:solidFill>
                  <a:schemeClr val="accent3">
                    <a:lumMod val="50000"/>
                  </a:schemeClr>
                </a:solidFill>
              </a:rPr>
              <a:t>AlarmDoor</a:t>
            </a:r>
            <a:r>
              <a:rPr lang="zh-CN" altLang="en-US" dirty="0">
                <a:solidFill>
                  <a:schemeClr val="accent3">
                    <a:lumMod val="50000"/>
                  </a:schemeClr>
                </a:solidFill>
              </a:rPr>
              <a:t>中覆盖</a:t>
            </a:r>
            <a:endParaRPr lang="en-US" altLang="zh-CN" dirty="0">
              <a:solidFill>
                <a:schemeClr val="accent3">
                  <a:lumMod val="50000"/>
                </a:schemeClr>
              </a:solidFill>
            </a:endParaRPr>
          </a:p>
          <a:p>
            <a:pPr lvl="1"/>
            <a:endParaRPr lang="zh-CN" altLang="en-US" dirty="0">
              <a:solidFill>
                <a:srgbClr val="00206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7.1.4  </a:t>
            </a:r>
            <a:r>
              <a:rPr lang="zh-CN" altLang="en-US" dirty="0"/>
              <a:t>方法冲突问题</a:t>
            </a:r>
            <a:endParaRPr lang="zh-CN" altLang="en-US" dirty="0"/>
          </a:p>
        </p:txBody>
      </p:sp>
      <p:sp>
        <p:nvSpPr>
          <p:cNvPr id="3" name="内容占位符 2"/>
          <p:cNvSpPr>
            <a:spLocks noGrp="1"/>
          </p:cNvSpPr>
          <p:nvPr>
            <p:ph idx="1"/>
          </p:nvPr>
        </p:nvSpPr>
        <p:spPr>
          <a:xfrm>
            <a:off x="457200" y="980728"/>
            <a:ext cx="8075240" cy="5616624"/>
          </a:xfrm>
        </p:spPr>
        <p:txBody>
          <a:bodyPr>
            <a:normAutofit lnSpcReduction="10000"/>
          </a:bodyPr>
          <a:lstStyle/>
          <a:p>
            <a:r>
              <a:rPr lang="zh-CN" altLang="en-US" dirty="0"/>
              <a:t>一个类在在实现过程中可能从父类或接口中继承同名且参数类型相同的多个方法，出现冲突，该如何解决呢？</a:t>
            </a:r>
            <a:endParaRPr lang="en-US" altLang="zh-CN" dirty="0"/>
          </a:p>
          <a:p>
            <a:pPr lvl="1"/>
            <a:r>
              <a:rPr lang="zh-CN" altLang="en-US" dirty="0">
                <a:solidFill>
                  <a:srgbClr val="FF0000"/>
                </a:solidFill>
              </a:rPr>
              <a:t>第一种情况，父类优先原则</a:t>
            </a:r>
            <a:r>
              <a:rPr lang="zh-CN" altLang="en-US" dirty="0"/>
              <a:t>：签名相同的方法分别来自父类和接口，接口中的方法将被忽略。</a:t>
            </a:r>
            <a:endParaRPr lang="en-US" altLang="zh-CN" dirty="0"/>
          </a:p>
          <a:p>
            <a:pPr lvl="2"/>
            <a:r>
              <a:rPr lang="zh-CN" altLang="en-US" dirty="0"/>
              <a:t>接口中的同名方法如果是抽象的，则实现中不需理会它；如果接口中是默认方法，也不起作用。</a:t>
            </a:r>
            <a:endParaRPr lang="en-US" altLang="zh-CN" dirty="0"/>
          </a:p>
          <a:p>
            <a:pPr marL="274320" lvl="1" indent="0">
              <a:buNone/>
            </a:pPr>
            <a:r>
              <a:rPr lang="zh-CN" altLang="en-US" dirty="0"/>
              <a:t>看例子（</a:t>
            </a:r>
            <a:r>
              <a:rPr lang="en-US" altLang="zh-CN" dirty="0"/>
              <a:t>code7\</a:t>
            </a:r>
            <a:r>
              <a:rPr lang="en-US" altLang="zh-CN" dirty="0" err="1"/>
              <a:t>methodsConflict</a:t>
            </a:r>
            <a:r>
              <a:rPr lang="zh-CN" altLang="en-US" dirty="0"/>
              <a:t>）：</a:t>
            </a:r>
            <a:br>
              <a:rPr lang="en-US" altLang="zh-CN" dirty="0"/>
            </a:br>
            <a:r>
              <a:rPr lang="en-US" altLang="zh-CN" dirty="0"/>
              <a:t>public interface Named</a:t>
            </a:r>
            <a:endParaRPr lang="en-US" altLang="zh-CN" dirty="0"/>
          </a:p>
          <a:p>
            <a:pPr marL="274320" lvl="1" indent="0">
              <a:buNone/>
            </a:pPr>
            <a:r>
              <a:rPr lang="en-US" altLang="zh-CN" dirty="0"/>
              <a:t>{</a:t>
            </a:r>
            <a:endParaRPr lang="en-US" altLang="zh-CN" dirty="0"/>
          </a:p>
          <a:p>
            <a:pPr marL="274320" lvl="1" indent="0">
              <a:buNone/>
            </a:pPr>
            <a:r>
              <a:rPr lang="en-US" altLang="zh-CN" dirty="0"/>
              <a:t>//	String </a:t>
            </a:r>
            <a:r>
              <a:rPr lang="en-US" altLang="zh-CN" dirty="0" err="1"/>
              <a:t>getName</a:t>
            </a:r>
            <a:r>
              <a:rPr lang="en-US" altLang="zh-CN" dirty="0"/>
              <a:t>();</a:t>
            </a:r>
            <a:endParaRPr lang="en-US" altLang="zh-CN" dirty="0"/>
          </a:p>
          <a:p>
            <a:pPr marL="274320" lvl="1" indent="0">
              <a:buNone/>
            </a:pPr>
            <a:r>
              <a:rPr lang="en-US" altLang="zh-CN" dirty="0"/>
              <a:t>	default String </a:t>
            </a:r>
            <a:r>
              <a:rPr lang="en-US" altLang="zh-CN" dirty="0" err="1"/>
              <a:t>getName</a:t>
            </a:r>
            <a:r>
              <a:rPr lang="en-US" altLang="zh-CN" dirty="0"/>
              <a:t>()</a:t>
            </a:r>
            <a:endParaRPr lang="en-US" altLang="zh-CN" dirty="0"/>
          </a:p>
          <a:p>
            <a:pPr marL="274320" lvl="1" indent="0">
              <a:buNone/>
            </a:pPr>
            <a:r>
              <a:rPr lang="en-US" altLang="zh-CN" dirty="0"/>
              <a:t>	{return "this is the method in Named interface.";}</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476672"/>
            <a:ext cx="8280920" cy="5760640"/>
          </a:xfrm>
        </p:spPr>
        <p:txBody>
          <a:bodyPr/>
          <a:lstStyle/>
          <a:p>
            <a:pPr lvl="1"/>
            <a:r>
              <a:rPr lang="zh-CN" altLang="en-US" dirty="0"/>
              <a:t>实现</a:t>
            </a:r>
            <a:r>
              <a:rPr lang="en-US" altLang="zh-CN" dirty="0"/>
              <a:t>Student</a:t>
            </a:r>
            <a:r>
              <a:rPr lang="zh-CN" altLang="en-US" dirty="0"/>
              <a:t>类：</a:t>
            </a:r>
            <a:br>
              <a:rPr lang="en-US" altLang="zh-CN" dirty="0"/>
            </a:br>
            <a:r>
              <a:rPr lang="en-US" altLang="zh-CN" dirty="0"/>
              <a:t>public class Student extends </a:t>
            </a:r>
            <a:r>
              <a:rPr lang="en-US" altLang="zh-CN" dirty="0">
                <a:solidFill>
                  <a:srgbClr val="FF0000"/>
                </a:solidFill>
              </a:rPr>
              <a:t>Person</a:t>
            </a:r>
            <a:r>
              <a:rPr lang="en-US" altLang="zh-CN" dirty="0"/>
              <a:t> implements </a:t>
            </a:r>
            <a:r>
              <a:rPr lang="en-US" altLang="zh-CN" dirty="0">
                <a:solidFill>
                  <a:srgbClr val="FF0000"/>
                </a:solidFill>
              </a:rPr>
              <a:t>Named</a:t>
            </a:r>
            <a:br>
              <a:rPr lang="en-US" altLang="zh-CN" dirty="0"/>
            </a:br>
            <a:r>
              <a:rPr lang="en-US" altLang="zh-CN" dirty="0"/>
              <a:t>{…}</a:t>
            </a:r>
            <a:endParaRPr lang="en-US" altLang="zh-CN" dirty="0"/>
          </a:p>
          <a:p>
            <a:pPr lvl="1"/>
            <a:r>
              <a:rPr lang="en-US" altLang="zh-CN" dirty="0"/>
              <a:t>Person</a:t>
            </a:r>
            <a:r>
              <a:rPr lang="zh-CN" altLang="en-US" dirty="0"/>
              <a:t>中的</a:t>
            </a:r>
            <a:r>
              <a:rPr lang="en-US" altLang="zh-CN" dirty="0" err="1"/>
              <a:t>getName</a:t>
            </a:r>
            <a:r>
              <a:rPr lang="zh-CN" altLang="en-US" dirty="0"/>
              <a:t>方法会屏蔽</a:t>
            </a:r>
            <a:r>
              <a:rPr lang="en-US" altLang="zh-CN" dirty="0"/>
              <a:t>Named</a:t>
            </a:r>
            <a:r>
              <a:rPr lang="zh-CN" altLang="en-US" dirty="0"/>
              <a:t>中的同名方法：</a:t>
            </a:r>
            <a:br>
              <a:rPr lang="en-US" altLang="zh-CN" dirty="0"/>
            </a:br>
            <a:r>
              <a:rPr lang="en-US" altLang="zh-CN" dirty="0"/>
              <a:t>Student s1=new Student("John Black","33005566","software engineering");</a:t>
            </a:r>
            <a:endParaRPr lang="en-US" altLang="zh-CN" dirty="0"/>
          </a:p>
          <a:p>
            <a:pPr marL="274320" lvl="1" indent="0">
              <a:buNone/>
            </a:pPr>
            <a:r>
              <a:rPr lang="en-US" altLang="zh-CN" dirty="0"/>
              <a:t>  </a:t>
            </a:r>
            <a:r>
              <a:rPr lang="en-US" altLang="zh-CN" dirty="0" err="1"/>
              <a:t>System.out.println</a:t>
            </a:r>
            <a:r>
              <a:rPr lang="en-US" altLang="zh-CN" dirty="0"/>
              <a:t>(s1.</a:t>
            </a:r>
            <a:r>
              <a:rPr lang="en-US" altLang="zh-CN" dirty="0">
                <a:solidFill>
                  <a:srgbClr val="FF0000"/>
                </a:solidFill>
              </a:rPr>
              <a:t>getName</a:t>
            </a:r>
            <a:r>
              <a:rPr lang="en-US" altLang="zh-CN" dirty="0"/>
              <a:t>());</a:t>
            </a:r>
            <a:endParaRPr lang="en-US" altLang="zh-CN" dirty="0"/>
          </a:p>
          <a:p>
            <a:pPr lvl="1"/>
            <a:r>
              <a:rPr lang="zh-CN" altLang="en-US" dirty="0"/>
              <a:t>这种情况下，如果父类中的</a:t>
            </a:r>
            <a:r>
              <a:rPr lang="en-US" altLang="zh-CN" dirty="0" err="1"/>
              <a:t>getName</a:t>
            </a:r>
            <a:r>
              <a:rPr lang="zh-CN" altLang="en-US" dirty="0"/>
              <a:t>是抽象方法，即使接口中有同名默认方法，也必须在</a:t>
            </a:r>
            <a:r>
              <a:rPr lang="en-US" altLang="zh-CN" dirty="0"/>
              <a:t>Student</a:t>
            </a:r>
            <a:r>
              <a:rPr lang="zh-CN" altLang="en-US" dirty="0"/>
              <a:t>中重写父类方法，请大家自己完成测试。</a:t>
            </a:r>
            <a:endParaRPr lang="en-US" altLang="zh-CN" dirty="0"/>
          </a:p>
          <a:p>
            <a:pPr lvl="1"/>
            <a:r>
              <a:rPr lang="zh-CN" altLang="en-US" dirty="0">
                <a:solidFill>
                  <a:srgbClr val="FF0000"/>
                </a:solidFill>
              </a:rPr>
              <a:t>第二种情况，接口冲突：</a:t>
            </a:r>
            <a:r>
              <a:rPr lang="zh-CN" altLang="en-US" dirty="0"/>
              <a:t>如果同签名的方法均来自接口，必须在类实现中重写该方法解决冲突，不管接口中该方法是不是给出了默认方法。</a:t>
            </a:r>
            <a:endParaRPr lang="en-US" altLang="zh-CN" dirty="0"/>
          </a:p>
          <a:p>
            <a:pPr lvl="1"/>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91264" cy="5760640"/>
          </a:xfrm>
        </p:spPr>
        <p:txBody>
          <a:bodyPr>
            <a:normAutofit/>
          </a:bodyPr>
          <a:lstStyle/>
          <a:p>
            <a:pPr marL="274320" lvl="1" indent="0">
              <a:buNone/>
            </a:pPr>
            <a:r>
              <a:rPr lang="zh-CN" altLang="en-US" dirty="0"/>
              <a:t>看例子，两个接口</a:t>
            </a:r>
            <a:r>
              <a:rPr lang="en-US" altLang="zh-CN" dirty="0"/>
              <a:t>Named</a:t>
            </a:r>
            <a:r>
              <a:rPr lang="zh-CN" altLang="en-US" dirty="0"/>
              <a:t>和</a:t>
            </a:r>
            <a:r>
              <a:rPr lang="en-US" altLang="zh-CN" dirty="0" err="1"/>
              <a:t>OtherNamed</a:t>
            </a:r>
            <a:br>
              <a:rPr lang="en-US" altLang="zh-CN" dirty="0"/>
            </a:br>
            <a:r>
              <a:rPr lang="en-US" altLang="zh-CN" dirty="0"/>
              <a:t>public interface </a:t>
            </a:r>
            <a:r>
              <a:rPr lang="en-US" altLang="zh-CN" dirty="0">
                <a:solidFill>
                  <a:srgbClr val="FF0000"/>
                </a:solidFill>
              </a:rPr>
              <a:t>Named</a:t>
            </a:r>
            <a:endParaRPr lang="en-US" altLang="zh-CN" dirty="0">
              <a:solidFill>
                <a:srgbClr val="FF0000"/>
              </a:solidFill>
            </a:endParaRPr>
          </a:p>
          <a:p>
            <a:pPr marL="274320" lvl="1" indent="0">
              <a:buNone/>
            </a:pPr>
            <a:r>
              <a:rPr lang="en-US" altLang="zh-CN" dirty="0"/>
              <a:t>{</a:t>
            </a:r>
            <a:endParaRPr lang="en-US" altLang="zh-CN" dirty="0"/>
          </a:p>
          <a:p>
            <a:pPr marL="274320" lvl="1" indent="0">
              <a:buNone/>
            </a:pPr>
            <a:r>
              <a:rPr lang="en-US" altLang="zh-CN" dirty="0">
                <a:solidFill>
                  <a:schemeClr val="accent3">
                    <a:lumMod val="50000"/>
                  </a:schemeClr>
                </a:solidFill>
              </a:rPr>
              <a:t>//	String </a:t>
            </a:r>
            <a:r>
              <a:rPr lang="en-US" altLang="zh-CN" dirty="0" err="1">
                <a:solidFill>
                  <a:schemeClr val="accent3">
                    <a:lumMod val="50000"/>
                  </a:schemeClr>
                </a:solidFill>
              </a:rPr>
              <a:t>getName</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default String </a:t>
            </a:r>
            <a:r>
              <a:rPr lang="en-US" altLang="zh-CN" dirty="0" err="1"/>
              <a:t>getName</a:t>
            </a:r>
            <a:r>
              <a:rPr lang="en-US" altLang="zh-CN" dirty="0"/>
              <a:t>()</a:t>
            </a:r>
            <a:endParaRPr lang="en-US" altLang="zh-CN" dirty="0"/>
          </a:p>
          <a:p>
            <a:pPr marL="274320" lvl="1" indent="0">
              <a:buNone/>
            </a:pPr>
            <a:r>
              <a:rPr lang="en-US" altLang="zh-CN" dirty="0"/>
              <a:t>	{return "this is the method in Named interface.";}</a:t>
            </a:r>
            <a:endParaRPr lang="en-US" altLang="zh-CN" dirty="0"/>
          </a:p>
          <a:p>
            <a:pPr marL="274320" lvl="1" indent="0">
              <a:buNone/>
            </a:pPr>
            <a:r>
              <a:rPr lang="en-US" altLang="zh-CN" dirty="0"/>
              <a:t>}</a:t>
            </a:r>
            <a:br>
              <a:rPr lang="en-US" altLang="zh-CN" dirty="0"/>
            </a:br>
            <a:r>
              <a:rPr lang="en-US" altLang="zh-CN" dirty="0"/>
              <a:t>public interface </a:t>
            </a:r>
            <a:r>
              <a:rPr lang="en-US" altLang="zh-CN" dirty="0" err="1">
                <a:solidFill>
                  <a:srgbClr val="FF0000"/>
                </a:solidFill>
              </a:rPr>
              <a:t>OtherNamed</a:t>
            </a:r>
            <a:endParaRPr lang="en-US" altLang="zh-CN" dirty="0">
              <a:solidFill>
                <a:srgbClr val="FF0000"/>
              </a:solidFill>
            </a:endParaRPr>
          </a:p>
          <a:p>
            <a:pPr marL="274320" lvl="1" indent="0">
              <a:buNone/>
            </a:pPr>
            <a:r>
              <a:rPr lang="en-US" altLang="zh-CN" dirty="0"/>
              <a:t>{</a:t>
            </a:r>
            <a:endParaRPr lang="en-US" altLang="zh-CN" dirty="0"/>
          </a:p>
          <a:p>
            <a:pPr marL="274320" lvl="1" indent="0">
              <a:buNone/>
            </a:pPr>
            <a:r>
              <a:rPr lang="en-US" altLang="zh-CN" dirty="0"/>
              <a:t>	String </a:t>
            </a:r>
            <a:r>
              <a:rPr lang="en-US" altLang="zh-CN" dirty="0" err="1"/>
              <a:t>getName</a:t>
            </a:r>
            <a:r>
              <a:rPr lang="en-US" altLang="zh-CN" dirty="0"/>
              <a:t>();</a:t>
            </a:r>
            <a:endParaRPr lang="en-US" altLang="zh-CN" dirty="0"/>
          </a:p>
          <a:p>
            <a:pPr marL="274320" lvl="1" indent="0">
              <a:buNone/>
            </a:pPr>
            <a:r>
              <a:rPr lang="en-US" altLang="zh-CN" dirty="0">
                <a:solidFill>
                  <a:schemeClr val="accent3">
                    <a:lumMod val="50000"/>
                  </a:schemeClr>
                </a:solidFill>
              </a:rPr>
              <a:t>//	default String </a:t>
            </a:r>
            <a:r>
              <a:rPr lang="en-US" altLang="zh-CN" dirty="0" err="1">
                <a:solidFill>
                  <a:schemeClr val="accent3">
                    <a:lumMod val="50000"/>
                  </a:schemeClr>
                </a:solidFill>
              </a:rPr>
              <a:t>getName</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solidFill>
                  <a:schemeClr val="accent3">
                    <a:lumMod val="50000"/>
                  </a:schemeClr>
                </a:solidFill>
              </a:rPr>
              <a:t>//	{return "this is the method in </a:t>
            </a:r>
            <a:r>
              <a:rPr lang="en-US" altLang="zh-CN" dirty="0" err="1">
                <a:solidFill>
                  <a:schemeClr val="accent3">
                    <a:lumMod val="50000"/>
                  </a:schemeClr>
                </a:solidFill>
              </a:rPr>
              <a:t>OtherNamed</a:t>
            </a:r>
            <a:r>
              <a:rPr lang="en-US" altLang="zh-CN" dirty="0">
                <a:solidFill>
                  <a:schemeClr val="accent3">
                    <a:lumMod val="50000"/>
                  </a:schemeClr>
                </a:solidFill>
              </a:rPr>
              <a:t> interface.";}</a:t>
            </a:r>
            <a:endParaRPr lang="en-US" altLang="zh-CN" dirty="0">
              <a:solidFill>
                <a:schemeClr val="accent3">
                  <a:lumMod val="50000"/>
                </a:schemeClr>
              </a:solidFill>
            </a:endParaRPr>
          </a:p>
          <a:p>
            <a:pPr marL="274320" lvl="1" indent="0">
              <a:buNone/>
            </a:pPr>
            <a:r>
              <a:rPr lang="en-US" altLang="zh-CN" dirty="0"/>
              <a: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192688"/>
          </a:xfrm>
        </p:spPr>
        <p:txBody>
          <a:bodyPr>
            <a:normAutofit fontScale="92500" lnSpcReduction="10000"/>
          </a:bodyPr>
          <a:lstStyle/>
          <a:p>
            <a:pPr marL="274320" lvl="1" indent="0">
              <a:buNone/>
            </a:pPr>
            <a:r>
              <a:rPr lang="zh-CN" altLang="en-US" dirty="0"/>
              <a:t>创建一个</a:t>
            </a:r>
            <a:r>
              <a:rPr lang="en-US" altLang="zh-CN" dirty="0"/>
              <a:t>Worker</a:t>
            </a:r>
            <a:r>
              <a:rPr lang="zh-CN" altLang="en-US" dirty="0"/>
              <a:t>类，实现两个接口</a:t>
            </a:r>
            <a:br>
              <a:rPr lang="en-US" altLang="zh-CN" dirty="0"/>
            </a:br>
            <a:r>
              <a:rPr lang="en-US" altLang="zh-CN" dirty="0"/>
              <a:t>public class Worker implements  </a:t>
            </a:r>
            <a:r>
              <a:rPr lang="en-US" altLang="zh-CN" dirty="0">
                <a:solidFill>
                  <a:srgbClr val="FF0000"/>
                </a:solidFill>
              </a:rPr>
              <a:t>Named</a:t>
            </a:r>
            <a:r>
              <a:rPr lang="en-US" altLang="zh-CN" dirty="0"/>
              <a:t>, </a:t>
            </a:r>
            <a:r>
              <a:rPr lang="en-US" altLang="zh-CN" dirty="0" err="1">
                <a:solidFill>
                  <a:srgbClr val="FF0000"/>
                </a:solidFill>
              </a:rPr>
              <a:t>OtherNamed</a:t>
            </a:r>
            <a:endParaRPr lang="en-US" altLang="zh-CN" dirty="0">
              <a:solidFill>
                <a:srgbClr val="FF0000"/>
              </a:solidFill>
            </a:endParaRPr>
          </a:p>
          <a:p>
            <a:pPr marL="274320" lvl="1" indent="0">
              <a:buNone/>
            </a:pPr>
            <a:r>
              <a:rPr lang="en-US" altLang="zh-CN" dirty="0"/>
              <a:t>{</a:t>
            </a:r>
            <a:endParaRPr lang="en-US" altLang="zh-CN" dirty="0"/>
          </a:p>
          <a:p>
            <a:pPr marL="274320" lvl="1" indent="0">
              <a:buNone/>
            </a:pPr>
            <a:r>
              <a:rPr lang="en-US" altLang="zh-CN" dirty="0"/>
              <a:t>	private String name;</a:t>
            </a:r>
            <a:endParaRPr lang="en-US" altLang="zh-CN" dirty="0"/>
          </a:p>
          <a:p>
            <a:pPr marL="274320" lvl="1" indent="0">
              <a:buNone/>
            </a:pPr>
            <a:r>
              <a:rPr lang="en-US" altLang="zh-CN" dirty="0"/>
              <a:t>	private </a:t>
            </a:r>
            <a:r>
              <a:rPr lang="en-US" altLang="zh-CN" dirty="0" err="1"/>
              <a:t>int</a:t>
            </a:r>
            <a:r>
              <a:rPr lang="en-US" altLang="zh-CN" dirty="0"/>
              <a:t> age;</a:t>
            </a:r>
            <a:endParaRPr lang="en-US" altLang="zh-CN" dirty="0"/>
          </a:p>
          <a:p>
            <a:pPr marL="274320" lvl="1" indent="0">
              <a:buNone/>
            </a:pPr>
            <a:r>
              <a:rPr lang="en-US" altLang="zh-CN" dirty="0"/>
              <a:t>	public Worker(String name, </a:t>
            </a:r>
            <a:r>
              <a:rPr lang="en-US" altLang="zh-CN" dirty="0" err="1"/>
              <a:t>int</a:t>
            </a:r>
            <a:r>
              <a:rPr lang="en-US" altLang="zh-CN" dirty="0"/>
              <a:t> age)</a:t>
            </a:r>
            <a:endParaRPr lang="en-US" altLang="zh-CN" dirty="0"/>
          </a:p>
          <a:p>
            <a:pPr marL="274320" lvl="1" indent="0">
              <a:buNone/>
            </a:pPr>
            <a:r>
              <a:rPr lang="en-US" altLang="zh-CN" dirty="0"/>
              <a:t>	{</a:t>
            </a:r>
            <a:endParaRPr lang="en-US" altLang="zh-CN" dirty="0"/>
          </a:p>
          <a:p>
            <a:pPr marL="274320" lvl="1" indent="0">
              <a:buNone/>
            </a:pPr>
            <a:r>
              <a:rPr lang="en-US" altLang="zh-CN" dirty="0"/>
              <a:t>		this.name=name;</a:t>
            </a:r>
            <a:endParaRPr lang="en-US" altLang="zh-CN" dirty="0"/>
          </a:p>
          <a:p>
            <a:pPr marL="274320" lvl="1" indent="0">
              <a:buNone/>
            </a:pPr>
            <a:r>
              <a:rPr lang="en-US" altLang="zh-CN" dirty="0"/>
              <a:t>		</a:t>
            </a:r>
            <a:r>
              <a:rPr lang="en-US" altLang="zh-CN" dirty="0" err="1"/>
              <a:t>this.age</a:t>
            </a:r>
            <a:r>
              <a:rPr lang="en-US" altLang="zh-CN" dirty="0"/>
              <a:t>=age;</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rgbClr val="FF0000"/>
                </a:solidFill>
              </a:rPr>
              <a:t>public String </a:t>
            </a:r>
            <a:r>
              <a:rPr lang="en-US" altLang="zh-CN" dirty="0" err="1">
                <a:solidFill>
                  <a:srgbClr val="FF0000"/>
                </a:solidFill>
              </a:rPr>
              <a:t>getName</a:t>
            </a:r>
            <a:r>
              <a:rPr lang="en-US" altLang="zh-CN" dirty="0">
                <a:solidFill>
                  <a:srgbClr val="FF0000"/>
                </a:solidFill>
              </a:rPr>
              <a:t>()  </a:t>
            </a:r>
            <a:endParaRPr lang="en-US" altLang="zh-CN" dirty="0">
              <a:solidFill>
                <a:srgbClr val="FF0000"/>
              </a:solidFill>
            </a:endParaRPr>
          </a:p>
          <a:p>
            <a:pPr marL="274320" lvl="1" indent="0">
              <a:buNone/>
            </a:pPr>
            <a:r>
              <a:rPr lang="en-US" altLang="zh-CN" dirty="0"/>
              <a:t>	{  </a:t>
            </a:r>
            <a:endParaRPr lang="en-US" altLang="zh-CN" dirty="0"/>
          </a:p>
          <a:p>
            <a:pPr marL="274320" lvl="1" indent="0">
              <a:buNone/>
            </a:pPr>
            <a:r>
              <a:rPr lang="en-US" altLang="zh-CN" dirty="0">
                <a:solidFill>
                  <a:schemeClr val="accent3">
                    <a:lumMod val="50000"/>
                  </a:schemeClr>
                </a:solidFill>
              </a:rPr>
              <a:t>//		return </a:t>
            </a:r>
            <a:r>
              <a:rPr lang="en-US" altLang="zh-CN" dirty="0" err="1">
                <a:solidFill>
                  <a:schemeClr val="accent3">
                    <a:lumMod val="50000"/>
                  </a:schemeClr>
                </a:solidFill>
              </a:rPr>
              <a:t>OtherNamed.super.getName</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return name;</a:t>
            </a:r>
            <a:endParaRPr lang="en-US" altLang="zh-CN" dirty="0"/>
          </a:p>
          <a:p>
            <a:pPr marL="274320" lvl="1" indent="0">
              <a:buNone/>
            </a:pPr>
            <a:r>
              <a:rPr lang="en-US" altLang="zh-CN" dirty="0"/>
              <a:t>	}</a:t>
            </a:r>
            <a:endParaRPr lang="en-US" altLang="zh-CN" dirty="0"/>
          </a:p>
          <a:p>
            <a:pPr marL="274320" lvl="1" indent="0">
              <a:buNone/>
            </a:pPr>
            <a:r>
              <a:rPr lang="en-US" altLang="zh-CN" dirty="0">
                <a:solidFill>
                  <a:schemeClr val="accent3">
                    <a:lumMod val="50000"/>
                  </a:schemeClr>
                </a:solidFill>
              </a:rPr>
              <a:t>}//</a:t>
            </a:r>
            <a:r>
              <a:rPr lang="zh-CN" altLang="en-US" dirty="0">
                <a:solidFill>
                  <a:schemeClr val="accent3">
                    <a:lumMod val="50000"/>
                  </a:schemeClr>
                </a:solidFill>
              </a:rPr>
              <a:t>不管接口中有没有默认方法，这里必须</a:t>
            </a:r>
            <a:r>
              <a:rPr lang="en-US" altLang="zh-CN" dirty="0">
                <a:solidFill>
                  <a:schemeClr val="accent3">
                    <a:lumMod val="50000"/>
                  </a:schemeClr>
                </a:solidFill>
              </a:rPr>
              <a:t>Override</a:t>
            </a:r>
            <a:r>
              <a:rPr lang="zh-CN" altLang="en-US" dirty="0">
                <a:solidFill>
                  <a:schemeClr val="accent3">
                    <a:lumMod val="50000"/>
                  </a:schemeClr>
                </a:solidFill>
              </a:rPr>
              <a:t>。</a:t>
            </a:r>
            <a:endParaRPr lang="zh-CN" altLang="en-US" dirty="0">
              <a:solidFill>
                <a:schemeClr val="accent3">
                  <a:lumMod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en-US" dirty="0"/>
              <a:t>接口实例</a:t>
            </a:r>
            <a:endParaRPr lang="zh-CN" altLang="en-US" dirty="0"/>
          </a:p>
        </p:txBody>
      </p:sp>
      <p:sp>
        <p:nvSpPr>
          <p:cNvPr id="3" name="内容占位符 2"/>
          <p:cNvSpPr>
            <a:spLocks noGrp="1"/>
          </p:cNvSpPr>
          <p:nvPr>
            <p:ph idx="1"/>
          </p:nvPr>
        </p:nvSpPr>
        <p:spPr/>
        <p:txBody>
          <a:bodyPr/>
          <a:lstStyle/>
          <a:p>
            <a:r>
              <a:rPr lang="zh-CN" altLang="en-US" dirty="0"/>
              <a:t>本节介绍三个接口实例：</a:t>
            </a:r>
            <a:endParaRPr lang="en-US" altLang="zh-CN" dirty="0"/>
          </a:p>
          <a:p>
            <a:r>
              <a:rPr lang="en-US" altLang="zh-CN" dirty="0" err="1"/>
              <a:t>ActionListener</a:t>
            </a:r>
            <a:endParaRPr lang="en-US" altLang="zh-CN" dirty="0"/>
          </a:p>
          <a:p>
            <a:r>
              <a:rPr lang="en-US" altLang="zh-CN" dirty="0"/>
              <a:t>Comparator</a:t>
            </a:r>
            <a:endParaRPr lang="en-US" altLang="zh-CN" dirty="0"/>
          </a:p>
          <a:p>
            <a:r>
              <a:rPr lang="en-US" altLang="zh-CN" dirty="0" err="1"/>
              <a:t>Cloneable</a:t>
            </a:r>
            <a:endParaRPr lang="en-US" altLang="zh-CN"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7.2.1  </a:t>
            </a:r>
            <a:r>
              <a:rPr lang="en-US" altLang="zh-CN" dirty="0" err="1"/>
              <a:t>ActionListener</a:t>
            </a:r>
            <a:endParaRPr lang="zh-CN" altLang="en-US" dirty="0"/>
          </a:p>
        </p:txBody>
      </p:sp>
      <p:sp>
        <p:nvSpPr>
          <p:cNvPr id="3" name="内容占位符 2"/>
          <p:cNvSpPr>
            <a:spLocks noGrp="1"/>
          </p:cNvSpPr>
          <p:nvPr>
            <p:ph idx="1"/>
          </p:nvPr>
        </p:nvSpPr>
        <p:spPr>
          <a:xfrm>
            <a:off x="457200" y="836712"/>
            <a:ext cx="8075240" cy="5760640"/>
          </a:xfrm>
        </p:spPr>
        <p:txBody>
          <a:bodyPr/>
          <a:lstStyle/>
          <a:p>
            <a:r>
              <a:rPr lang="zh-CN" altLang="en-US" dirty="0"/>
              <a:t>回调（</a:t>
            </a:r>
            <a:r>
              <a:rPr lang="en-US" altLang="zh-CN" dirty="0"/>
              <a:t>callback</a:t>
            </a:r>
            <a:r>
              <a:rPr lang="zh-CN" altLang="en-US" dirty="0"/>
              <a:t>）</a:t>
            </a:r>
            <a:endParaRPr lang="en-US" altLang="zh-CN" dirty="0"/>
          </a:p>
          <a:p>
            <a:pPr lvl="1"/>
            <a:r>
              <a:rPr lang="zh-CN" altLang="en-US" dirty="0"/>
              <a:t>把一段可执行的代码像参数传递那样传给其他代码，而这段代码会在某个时刻被调用执行，这就叫做回调。</a:t>
            </a:r>
            <a:endParaRPr lang="en-US" altLang="zh-CN" dirty="0"/>
          </a:p>
          <a:p>
            <a:pPr lvl="1"/>
            <a:r>
              <a:rPr lang="zh-CN" altLang="en-US" dirty="0"/>
              <a:t>函数 </a:t>
            </a:r>
            <a:r>
              <a:rPr lang="en-US" altLang="zh-CN" dirty="0"/>
              <a:t>F1 </a:t>
            </a:r>
            <a:r>
              <a:rPr lang="zh-CN" altLang="en-US" dirty="0"/>
              <a:t>调用函数 </a:t>
            </a:r>
            <a:r>
              <a:rPr lang="en-US" altLang="zh-CN" dirty="0"/>
              <a:t>F2 </a:t>
            </a:r>
            <a:r>
              <a:rPr lang="zh-CN" altLang="en-US" dirty="0"/>
              <a:t>的时候，函数 </a:t>
            </a:r>
            <a:r>
              <a:rPr lang="en-US" altLang="zh-CN" dirty="0"/>
              <a:t>F1 </a:t>
            </a:r>
            <a:r>
              <a:rPr lang="zh-CN" altLang="en-US" dirty="0"/>
              <a:t>通过参数给 函数 </a:t>
            </a:r>
            <a:r>
              <a:rPr lang="en-US" altLang="zh-CN" dirty="0"/>
              <a:t>F2 </a:t>
            </a:r>
            <a:r>
              <a:rPr lang="zh-CN" altLang="en-US" dirty="0"/>
              <a:t>传递了另外一个函数 </a:t>
            </a:r>
            <a:r>
              <a:rPr lang="en-US" altLang="zh-CN" dirty="0"/>
              <a:t>F3 </a:t>
            </a:r>
            <a:r>
              <a:rPr lang="zh-CN" altLang="en-US" dirty="0"/>
              <a:t>的指针，在函数 </a:t>
            </a:r>
            <a:r>
              <a:rPr lang="en-US" altLang="zh-CN" dirty="0"/>
              <a:t>F2 </a:t>
            </a:r>
            <a:r>
              <a:rPr lang="zh-CN" altLang="en-US" dirty="0"/>
              <a:t>执行的过程中，函数</a:t>
            </a:r>
            <a:r>
              <a:rPr lang="en-US" altLang="zh-CN" dirty="0"/>
              <a:t>F2 </a:t>
            </a:r>
            <a:r>
              <a:rPr lang="zh-CN" altLang="en-US" dirty="0"/>
              <a:t>调用了函数 </a:t>
            </a:r>
            <a:r>
              <a:rPr lang="en-US" altLang="zh-CN" dirty="0"/>
              <a:t>F3</a:t>
            </a:r>
            <a:r>
              <a:rPr lang="zh-CN" altLang="en-US" dirty="0"/>
              <a:t>，这个动作就叫做回调（</a:t>
            </a:r>
            <a:r>
              <a:rPr lang="en-US" altLang="zh-CN" dirty="0"/>
              <a:t>Callback</a:t>
            </a:r>
            <a:r>
              <a:rPr lang="zh-CN" altLang="en-US" dirty="0"/>
              <a:t>），而先被当做指针传入、后面又被回调的函数 </a:t>
            </a:r>
            <a:r>
              <a:rPr lang="en-US" altLang="zh-CN" dirty="0"/>
              <a:t>F3 </a:t>
            </a:r>
            <a:r>
              <a:rPr lang="zh-CN" altLang="en-US" dirty="0"/>
              <a:t>就是回调函数。</a:t>
            </a:r>
            <a:endParaRPr lang="zh-CN" altLang="en-US" dirty="0"/>
          </a:p>
        </p:txBody>
      </p:sp>
      <p:pic>
        <p:nvPicPr>
          <p:cNvPr id="4" name="图片 3"/>
          <p:cNvPicPr>
            <a:picLocks noChangeAspect="1"/>
          </p:cNvPicPr>
          <p:nvPr/>
        </p:nvPicPr>
        <p:blipFill>
          <a:blip r:embed="rId1"/>
          <a:stretch>
            <a:fillRect/>
          </a:stretch>
        </p:blipFill>
        <p:spPr>
          <a:xfrm>
            <a:off x="1115616" y="4149080"/>
            <a:ext cx="6385173" cy="238039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075240" cy="6408712"/>
          </a:xfrm>
        </p:spPr>
        <p:txBody>
          <a:bodyPr>
            <a:normAutofit fontScale="92500" lnSpcReduction="20000"/>
          </a:bodyPr>
          <a:lstStyle/>
          <a:p>
            <a:r>
              <a:rPr lang="zh-CN" altLang="en-US" dirty="0"/>
              <a:t>回调函数可以起到解耦的作用：</a:t>
            </a:r>
            <a:endParaRPr lang="en-US" altLang="zh-CN" dirty="0"/>
          </a:p>
          <a:p>
            <a:pPr marL="274320" lvl="1" indent="0">
              <a:buNone/>
            </a:pPr>
            <a:endParaRPr lang="en-US" altLang="zh-CN" dirty="0"/>
          </a:p>
          <a:p>
            <a:pPr marL="274320" lvl="1" indent="0">
              <a:buNone/>
            </a:pPr>
            <a:r>
              <a:rPr lang="en-US" altLang="zh-CN" dirty="0"/>
              <a:t>#include&lt;</a:t>
            </a:r>
            <a:r>
              <a:rPr lang="en-US" altLang="zh-CN" dirty="0" err="1"/>
              <a:t>stdio.h</a:t>
            </a:r>
            <a:r>
              <a:rPr lang="en-US" altLang="zh-CN" dirty="0"/>
              <a:t>&gt;</a:t>
            </a:r>
            <a:endParaRPr lang="en-US" altLang="zh-CN" dirty="0"/>
          </a:p>
          <a:p>
            <a:pPr marL="274320" lvl="1" indent="0">
              <a:buNone/>
            </a:pPr>
            <a:r>
              <a:rPr lang="en-US" altLang="zh-CN" dirty="0" err="1"/>
              <a:t>int</a:t>
            </a:r>
            <a:r>
              <a:rPr lang="en-US" altLang="zh-CN" dirty="0"/>
              <a:t> Callback_1() {     </a:t>
            </a:r>
            <a:r>
              <a:rPr lang="en-US" altLang="zh-CN" dirty="0">
                <a:solidFill>
                  <a:schemeClr val="accent3">
                    <a:lumMod val="50000"/>
                  </a:schemeClr>
                </a:solidFill>
              </a:rPr>
              <a:t>// Callback Function 1</a:t>
            </a:r>
            <a:endParaRPr lang="en-US" altLang="zh-CN" dirty="0">
              <a:solidFill>
                <a:schemeClr val="accent3">
                  <a:lumMod val="50000"/>
                </a:schemeClr>
              </a:solidFill>
            </a:endParaRPr>
          </a:p>
          <a:p>
            <a:pPr marL="274320" lvl="1" indent="0">
              <a:buNone/>
            </a:pPr>
            <a:r>
              <a:rPr lang="en-US" altLang="zh-CN" dirty="0" err="1"/>
              <a:t>printf</a:t>
            </a:r>
            <a:r>
              <a:rPr lang="en-US" altLang="zh-CN" dirty="0"/>
              <a:t>("Hello, this is Callback_1 ");</a:t>
            </a:r>
            <a:endParaRPr lang="en-US" altLang="zh-CN" dirty="0"/>
          </a:p>
          <a:p>
            <a:pPr marL="274320" lvl="1" indent="0">
              <a:buNone/>
            </a:pPr>
            <a:r>
              <a:rPr lang="en-US" altLang="zh-CN" dirty="0"/>
              <a:t>    return 0;</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err="1"/>
              <a:t>int</a:t>
            </a:r>
            <a:r>
              <a:rPr lang="en-US" altLang="zh-CN" dirty="0"/>
              <a:t> Callback_2() {     </a:t>
            </a:r>
            <a:r>
              <a:rPr lang="en-US" altLang="zh-CN" dirty="0">
                <a:solidFill>
                  <a:schemeClr val="accent3">
                    <a:lumMod val="50000"/>
                  </a:schemeClr>
                </a:solidFill>
              </a:rPr>
              <a:t>// Callback Function 2</a:t>
            </a:r>
            <a:endParaRPr lang="en-US" altLang="zh-CN" dirty="0">
              <a:solidFill>
                <a:schemeClr val="accent3">
                  <a:lumMod val="50000"/>
                </a:schemeClr>
              </a:solidFill>
            </a:endParaRPr>
          </a:p>
          <a:p>
            <a:pPr marL="274320" lvl="1" indent="0">
              <a:buNone/>
            </a:pPr>
            <a:r>
              <a:rPr lang="en-US" altLang="zh-CN" dirty="0" err="1"/>
              <a:t>printf</a:t>
            </a:r>
            <a:r>
              <a:rPr lang="en-US" altLang="zh-CN" dirty="0"/>
              <a:t>("Hello, this is Callback_2 ");</a:t>
            </a:r>
            <a:endParaRPr lang="en-US" altLang="zh-CN" dirty="0"/>
          </a:p>
          <a:p>
            <a:pPr marL="274320" lvl="1" indent="0">
              <a:buNone/>
            </a:pPr>
            <a:r>
              <a:rPr lang="en-US" altLang="zh-CN" dirty="0"/>
              <a:t>    return 0;</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err="1"/>
              <a:t>int</a:t>
            </a:r>
            <a:r>
              <a:rPr lang="en-US" altLang="zh-CN" dirty="0"/>
              <a:t> Callback_3() {     </a:t>
            </a:r>
            <a:r>
              <a:rPr lang="en-US" altLang="zh-CN" dirty="0">
                <a:solidFill>
                  <a:schemeClr val="accent3">
                    <a:lumMod val="50000"/>
                  </a:schemeClr>
                </a:solidFill>
              </a:rPr>
              <a:t>// Callback Function 3</a:t>
            </a:r>
            <a:endParaRPr lang="en-US" altLang="zh-CN" dirty="0">
              <a:solidFill>
                <a:schemeClr val="accent3">
                  <a:lumMod val="50000"/>
                </a:schemeClr>
              </a:solidFill>
            </a:endParaRPr>
          </a:p>
          <a:p>
            <a:pPr marL="274320" lvl="1" indent="0">
              <a:buNone/>
            </a:pPr>
            <a:r>
              <a:rPr lang="en-US" altLang="zh-CN" dirty="0" err="1"/>
              <a:t>printf</a:t>
            </a:r>
            <a:r>
              <a:rPr lang="en-US" altLang="zh-CN" dirty="0"/>
              <a:t>("Hello, this is Callback_3 ");</a:t>
            </a:r>
            <a:endParaRPr lang="en-US" altLang="zh-CN" dirty="0"/>
          </a:p>
          <a:p>
            <a:pPr marL="274320" lvl="1" indent="0">
              <a:buNone/>
            </a:pPr>
            <a:r>
              <a:rPr lang="en-US" altLang="zh-CN" dirty="0"/>
              <a:t>    return 0;</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normAutofit fontScale="92500" lnSpcReduction="20000"/>
          </a:bodyPr>
          <a:lstStyle/>
          <a:p>
            <a:pPr marL="274320" lvl="1" indent="0">
              <a:buNone/>
            </a:pPr>
            <a:r>
              <a:rPr lang="en-US" altLang="zh-CN" dirty="0" err="1"/>
              <a:t>int</a:t>
            </a:r>
            <a:r>
              <a:rPr lang="en-US" altLang="zh-CN" dirty="0"/>
              <a:t> Handle(</a:t>
            </a:r>
            <a:r>
              <a:rPr lang="en-US" altLang="zh-CN" dirty="0" err="1">
                <a:solidFill>
                  <a:srgbClr val="FF0000"/>
                </a:solidFill>
              </a:rPr>
              <a:t>int</a:t>
            </a:r>
            <a:r>
              <a:rPr lang="en-US" altLang="zh-CN" dirty="0">
                <a:solidFill>
                  <a:srgbClr val="FF0000"/>
                </a:solidFill>
              </a:rPr>
              <a:t> (*Callback)()</a:t>
            </a:r>
            <a:r>
              <a:rPr lang="en-US" altLang="zh-CN" dirty="0"/>
              <a:t>)</a:t>
            </a:r>
            <a:endParaRPr lang="en-US" altLang="zh-CN" dirty="0"/>
          </a:p>
          <a:p>
            <a:pPr marL="274320" lvl="1" indent="0">
              <a:buNone/>
            </a:pPr>
            <a:r>
              <a:rPr lang="en-US" altLang="zh-CN" dirty="0"/>
              <a:t>{</a:t>
            </a:r>
            <a:endParaRPr lang="en-US" altLang="zh-CN" dirty="0"/>
          </a:p>
          <a:p>
            <a:pPr marL="274320" lvl="1" indent="0">
              <a:buNone/>
            </a:pPr>
            <a:r>
              <a:rPr lang="en-US" altLang="zh-CN" dirty="0"/>
              <a:t>    </a:t>
            </a:r>
            <a:r>
              <a:rPr lang="en-US" altLang="zh-CN" dirty="0" err="1"/>
              <a:t>printf</a:t>
            </a:r>
            <a:r>
              <a:rPr lang="en-US" altLang="zh-CN" dirty="0"/>
              <a:t>("Entering Handle Function. ");</a:t>
            </a:r>
            <a:endParaRPr lang="en-US" altLang="zh-CN" dirty="0"/>
          </a:p>
          <a:p>
            <a:pPr marL="274320" lvl="1" indent="0">
              <a:buNone/>
            </a:pPr>
            <a:r>
              <a:rPr lang="en-US" altLang="zh-CN" dirty="0"/>
              <a:t>    Callback();</a:t>
            </a:r>
            <a:endParaRPr lang="en-US" altLang="zh-CN" dirty="0"/>
          </a:p>
          <a:p>
            <a:pPr marL="274320" lvl="1" indent="0">
              <a:buNone/>
            </a:pPr>
            <a:r>
              <a:rPr lang="en-US" altLang="zh-CN" dirty="0"/>
              <a:t>    </a:t>
            </a:r>
            <a:r>
              <a:rPr lang="en-US" altLang="zh-CN" dirty="0" err="1"/>
              <a:t>printf</a:t>
            </a:r>
            <a:r>
              <a:rPr lang="en-US" altLang="zh-CN" dirty="0"/>
              <a:t>("Leaving Handle Function. ");</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err="1"/>
              <a:t>int</a:t>
            </a:r>
            <a:r>
              <a:rPr lang="en-US" altLang="zh-CN" dirty="0"/>
              <a:t> main()</a:t>
            </a:r>
            <a:endParaRPr lang="en-US" altLang="zh-CN" dirty="0"/>
          </a:p>
          <a:p>
            <a:pPr marL="274320" lvl="1" indent="0">
              <a:buNone/>
            </a:pPr>
            <a:r>
              <a:rPr lang="en-US" altLang="zh-CN" dirty="0"/>
              <a:t>{</a:t>
            </a:r>
            <a:endParaRPr lang="en-US" altLang="zh-CN" dirty="0"/>
          </a:p>
          <a:p>
            <a:pPr marL="274320" lvl="1" indent="0">
              <a:buNone/>
            </a:pPr>
            <a:r>
              <a:rPr lang="en-US" altLang="zh-CN" dirty="0"/>
              <a:t>    </a:t>
            </a:r>
            <a:r>
              <a:rPr lang="en-US" altLang="zh-CN" dirty="0" err="1"/>
              <a:t>printf</a:t>
            </a:r>
            <a:r>
              <a:rPr lang="en-US" altLang="zh-CN" dirty="0"/>
              <a:t>("Entering Main Function. ");</a:t>
            </a:r>
            <a:endParaRPr lang="en-US" altLang="zh-CN" dirty="0"/>
          </a:p>
          <a:p>
            <a:pPr marL="274320" lvl="1" indent="0">
              <a:buNone/>
            </a:pPr>
            <a:r>
              <a:rPr lang="en-US" altLang="zh-CN" dirty="0"/>
              <a:t>    Handle(Callback_1);</a:t>
            </a:r>
            <a:endParaRPr lang="en-US" altLang="zh-CN" dirty="0"/>
          </a:p>
          <a:p>
            <a:pPr marL="274320" lvl="1" indent="0">
              <a:buNone/>
            </a:pPr>
            <a:r>
              <a:rPr lang="en-US" altLang="zh-CN" dirty="0"/>
              <a:t>    Handle(Callback_2);</a:t>
            </a:r>
            <a:endParaRPr lang="en-US" altLang="zh-CN" dirty="0"/>
          </a:p>
          <a:p>
            <a:pPr marL="274320" lvl="1" indent="0">
              <a:buNone/>
            </a:pPr>
            <a:r>
              <a:rPr lang="en-US" altLang="zh-CN" dirty="0"/>
              <a:t>    Handle(Callback_3);</a:t>
            </a:r>
            <a:endParaRPr lang="en-US" altLang="zh-CN" dirty="0"/>
          </a:p>
          <a:p>
            <a:pPr marL="274320" lvl="1" indent="0">
              <a:buNone/>
            </a:pPr>
            <a:r>
              <a:rPr lang="en-US" altLang="zh-CN" dirty="0"/>
              <a:t>    </a:t>
            </a:r>
            <a:r>
              <a:rPr lang="en-US" altLang="zh-CN" dirty="0" err="1"/>
              <a:t>printf</a:t>
            </a:r>
            <a:r>
              <a:rPr lang="en-US" altLang="zh-CN" dirty="0"/>
              <a:t>("Leaving Main Function. ");</a:t>
            </a:r>
            <a:endParaRPr lang="en-US" altLang="zh-CN" dirty="0"/>
          </a:p>
          <a:p>
            <a:pPr marL="274320" lvl="1" indent="0">
              <a:buNone/>
            </a:pPr>
            <a:r>
              <a:rPr lang="en-US" altLang="zh-CN" dirty="0"/>
              <a:t>    return 0;</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dirty="0" err="1"/>
              <a:t>ActionListener</a:t>
            </a:r>
            <a:r>
              <a:rPr lang="zh-CN" altLang="en-US" dirty="0"/>
              <a:t>是</a:t>
            </a:r>
            <a:r>
              <a:rPr lang="en-US" altLang="zh-CN" dirty="0"/>
              <a:t>Java</a:t>
            </a:r>
            <a:r>
              <a:rPr lang="zh-CN" altLang="en-US" dirty="0"/>
              <a:t>中关于事件处理的一个接口，继承自</a:t>
            </a:r>
            <a:r>
              <a:rPr lang="en-US" altLang="zh-CN" dirty="0" err="1"/>
              <a:t>EventListener</a:t>
            </a:r>
            <a:r>
              <a:rPr lang="zh-CN" altLang="en-US" dirty="0"/>
              <a:t>。</a:t>
            </a:r>
            <a:endParaRPr lang="en-US" altLang="zh-CN" dirty="0"/>
          </a:p>
          <a:p>
            <a:pPr lvl="1"/>
            <a:r>
              <a:rPr lang="zh-CN" altLang="en-US" dirty="0"/>
              <a:t>对处理操作事件感兴趣的类可以实现此接口，在发生操作事件时，调用该对象的 </a:t>
            </a:r>
            <a:r>
              <a:rPr lang="en-US" altLang="zh-CN" dirty="0" err="1"/>
              <a:t>actionPerformed</a:t>
            </a:r>
            <a:r>
              <a:rPr lang="en-US" altLang="zh-CN" dirty="0"/>
              <a:t> </a:t>
            </a:r>
            <a:r>
              <a:rPr lang="zh-CN" altLang="en-US" dirty="0"/>
              <a:t>方法。</a:t>
            </a:r>
            <a:endParaRPr lang="en-US" altLang="zh-CN" dirty="0"/>
          </a:p>
          <a:p>
            <a:pPr marL="274320" lvl="1" indent="0">
              <a:buNone/>
            </a:pPr>
            <a:r>
              <a:rPr lang="en-US" altLang="zh-CN" dirty="0"/>
              <a:t>public interface </a:t>
            </a:r>
            <a:r>
              <a:rPr lang="en-US" altLang="zh-CN" dirty="0" err="1"/>
              <a:t>ActionListener</a:t>
            </a:r>
            <a:r>
              <a:rPr lang="en-US" altLang="zh-CN" dirty="0"/>
              <a:t> extends </a:t>
            </a:r>
            <a:r>
              <a:rPr lang="en-US" altLang="zh-CN" dirty="0" err="1"/>
              <a:t>EventListener</a:t>
            </a:r>
            <a:r>
              <a:rPr lang="en-US" altLang="zh-CN" dirty="0"/>
              <a:t> {</a:t>
            </a:r>
            <a:endParaRPr lang="en-US" altLang="zh-CN" dirty="0"/>
          </a:p>
          <a:p>
            <a:pPr marL="274320" lvl="1" indent="0">
              <a:buNone/>
            </a:pPr>
            <a:r>
              <a:rPr lang="en-US" altLang="zh-CN" dirty="0"/>
              <a:t>      public void </a:t>
            </a:r>
            <a:r>
              <a:rPr lang="en-US" altLang="zh-CN" dirty="0" err="1">
                <a:solidFill>
                  <a:srgbClr val="FF0000"/>
                </a:solidFill>
              </a:rPr>
              <a:t>actionPerformed</a:t>
            </a:r>
            <a:r>
              <a:rPr lang="en-US" altLang="zh-CN" dirty="0"/>
              <a:t>(</a:t>
            </a:r>
            <a:r>
              <a:rPr lang="en-US" altLang="zh-CN" dirty="0" err="1"/>
              <a:t>ActionEvent</a:t>
            </a:r>
            <a:r>
              <a:rPr lang="en-US" altLang="zh-CN" dirty="0"/>
              <a:t> e);</a:t>
            </a:r>
            <a:endParaRPr lang="en-US" altLang="zh-CN" dirty="0"/>
          </a:p>
          <a:p>
            <a:pPr marL="274320" lvl="1" indent="0">
              <a:buNone/>
            </a:pPr>
            <a:r>
              <a:rPr lang="en-US" altLang="zh-CN" dirty="0"/>
              <a:t>}</a:t>
            </a:r>
            <a:endParaRPr lang="en-US" altLang="zh-CN" dirty="0"/>
          </a:p>
          <a:p>
            <a:pPr lvl="1"/>
            <a:r>
              <a:rPr lang="zh-CN" altLang="en-US" dirty="0"/>
              <a:t>其中的</a:t>
            </a:r>
            <a:r>
              <a:rPr lang="en-US" altLang="zh-CN" dirty="0" err="1"/>
              <a:t>ActionEvent</a:t>
            </a:r>
            <a:r>
              <a:rPr lang="zh-CN" altLang="en-US" dirty="0"/>
              <a:t>指示发生了组件定义的动作的语义事件，实现 </a:t>
            </a:r>
            <a:r>
              <a:rPr lang="en-US" altLang="zh-CN" dirty="0" err="1"/>
              <a:t>ActionListener</a:t>
            </a:r>
            <a:r>
              <a:rPr lang="en-US" altLang="zh-CN" dirty="0"/>
              <a:t> </a:t>
            </a:r>
            <a:r>
              <a:rPr lang="zh-CN" altLang="en-US" dirty="0"/>
              <a:t>接口的对象在发生事件时获取此 </a:t>
            </a:r>
            <a:r>
              <a:rPr lang="en-US" altLang="zh-CN" dirty="0" err="1"/>
              <a:t>ActionEvent</a:t>
            </a:r>
            <a:r>
              <a:rPr lang="zh-CN" altLang="en-US" dirty="0"/>
              <a:t>。</a:t>
            </a:r>
            <a:endParaRPr lang="en-US" altLang="zh-CN" dirty="0"/>
          </a:p>
          <a:p>
            <a:pPr lvl="1"/>
            <a:r>
              <a:rPr lang="zh-CN" altLang="en-US" dirty="0"/>
              <a:t>下面定义一个类来监听事件，它要实现</a:t>
            </a:r>
            <a:r>
              <a:rPr lang="en-US" altLang="zh-CN" dirty="0" err="1"/>
              <a:t>ActionListener</a:t>
            </a:r>
            <a:r>
              <a:rPr lang="en-US" altLang="zh-CN" dirty="0"/>
              <a:t> </a:t>
            </a:r>
            <a:r>
              <a:rPr lang="zh-CN" altLang="en-US" dirty="0"/>
              <a:t>接口：</a:t>
            </a:r>
            <a:endParaRPr lang="en-US" altLang="zh-CN" dirty="0"/>
          </a:p>
          <a:p>
            <a:pPr lvl="1"/>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6264696"/>
          </a:xfrm>
        </p:spPr>
        <p:txBody>
          <a:bodyPr>
            <a:normAutofit/>
          </a:bodyPr>
          <a:lstStyle/>
          <a:p>
            <a:pPr marL="274320" lvl="1" indent="0">
              <a:buNone/>
            </a:pPr>
            <a:r>
              <a:rPr lang="en-US" altLang="zh-CN" dirty="0"/>
              <a:t>class </a:t>
            </a:r>
            <a:r>
              <a:rPr lang="en-US" altLang="zh-CN" dirty="0" err="1"/>
              <a:t>TimePrinter</a:t>
            </a:r>
            <a:r>
              <a:rPr lang="en-US" altLang="zh-CN" dirty="0"/>
              <a:t> implements </a:t>
            </a:r>
            <a:r>
              <a:rPr lang="en-US" altLang="zh-CN" dirty="0" err="1"/>
              <a:t>ActionListener</a:t>
            </a:r>
            <a:endParaRPr lang="en-US" altLang="zh-CN" dirty="0"/>
          </a:p>
          <a:p>
            <a:pPr marL="274320" lvl="1" indent="0">
              <a:buNone/>
            </a:pPr>
            <a:r>
              <a:rPr lang="en-US" altLang="zh-CN" dirty="0"/>
              <a:t>{  </a:t>
            </a:r>
            <a:endParaRPr lang="en-US" altLang="zh-CN" dirty="0"/>
          </a:p>
          <a:p>
            <a:pPr marL="274320" lvl="1" indent="0">
              <a:buNone/>
            </a:pPr>
            <a:r>
              <a:rPr lang="en-US" altLang="zh-CN" dirty="0"/>
              <a:t>   public void </a:t>
            </a:r>
            <a:r>
              <a:rPr lang="en-US" altLang="zh-CN" dirty="0" err="1"/>
              <a:t>actionPerformed</a:t>
            </a:r>
            <a:r>
              <a:rPr lang="en-US" altLang="zh-CN" dirty="0"/>
              <a:t>(</a:t>
            </a:r>
            <a:r>
              <a:rPr lang="en-US" altLang="zh-CN" dirty="0" err="1"/>
              <a:t>ActionEvent</a:t>
            </a:r>
            <a:r>
              <a:rPr lang="en-US" altLang="zh-CN" dirty="0"/>
              <a:t> event)</a:t>
            </a:r>
            <a:endParaRPr lang="en-US" altLang="zh-CN" dirty="0"/>
          </a:p>
          <a:p>
            <a:pPr marL="274320" lvl="1" indent="0">
              <a:buNone/>
            </a:pPr>
            <a:r>
              <a:rPr lang="en-US" altLang="zh-CN" dirty="0"/>
              <a:t>   {  </a:t>
            </a:r>
            <a:endParaRPr lang="en-US" altLang="zh-CN" dirty="0"/>
          </a:p>
          <a:p>
            <a:pPr marL="274320" lvl="1" indent="0">
              <a:buNone/>
            </a:pPr>
            <a:r>
              <a:rPr lang="en-US" altLang="zh-CN" dirty="0"/>
              <a:t>      </a:t>
            </a:r>
            <a:r>
              <a:rPr lang="en-US" altLang="zh-CN" dirty="0" err="1"/>
              <a:t>System.out.println</a:t>
            </a:r>
            <a:r>
              <a:rPr lang="en-US" altLang="zh-CN" dirty="0"/>
              <a:t>("At the tone, the time is " + new 	</a:t>
            </a:r>
            <a:r>
              <a:rPr lang="en-US" altLang="zh-CN" dirty="0">
                <a:solidFill>
                  <a:srgbClr val="FF0000"/>
                </a:solidFill>
              </a:rPr>
              <a:t>Date</a:t>
            </a:r>
            <a:r>
              <a:rPr lang="en-US" altLang="zh-CN" dirty="0"/>
              <a:t>());</a:t>
            </a:r>
            <a:endParaRPr lang="en-US" altLang="zh-CN" dirty="0"/>
          </a:p>
          <a:p>
            <a:pPr marL="274320" lvl="1" indent="0">
              <a:buNone/>
            </a:pPr>
            <a:r>
              <a:rPr lang="en-US" altLang="zh-CN" dirty="0"/>
              <a:t>      </a:t>
            </a:r>
            <a:r>
              <a:rPr lang="en-US" altLang="zh-CN" dirty="0" err="1"/>
              <a:t>Toolkit.getDefaultToolkit</a:t>
            </a:r>
            <a:r>
              <a:rPr lang="en-US" altLang="zh-CN" dirty="0"/>
              <a:t>().beep();</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实现接口中的方法，打印时间信息，发出声音</a:t>
            </a:r>
            <a:endParaRPr lang="en-US" altLang="zh-CN" dirty="0">
              <a:solidFill>
                <a:schemeClr val="accent3">
                  <a:lumMod val="50000"/>
                </a:schemeClr>
              </a:solidFill>
            </a:endParaRPr>
          </a:p>
          <a:p>
            <a:pPr lvl="1"/>
            <a:r>
              <a:rPr lang="en-US" altLang="zh-CN" dirty="0" err="1"/>
              <a:t>javax.swing.Timer</a:t>
            </a:r>
            <a:r>
              <a:rPr lang="zh-CN" altLang="en-US" dirty="0"/>
              <a:t>是一个定时器，它可以在给定的时间间隔调用给定的监听器中的方法。</a:t>
            </a:r>
            <a:br>
              <a:rPr lang="en-US" altLang="zh-CN" dirty="0"/>
            </a:br>
            <a:r>
              <a:rPr lang="en-US" altLang="zh-CN" dirty="0" err="1"/>
              <a:t>ActionListener</a:t>
            </a:r>
            <a:r>
              <a:rPr lang="en-US" altLang="zh-CN" dirty="0"/>
              <a:t> </a:t>
            </a:r>
            <a:r>
              <a:rPr lang="en-US" altLang="zh-CN" dirty="0">
                <a:solidFill>
                  <a:srgbClr val="FF0000"/>
                </a:solidFill>
              </a:rPr>
              <a:t>listener</a:t>
            </a:r>
            <a:r>
              <a:rPr lang="en-US" altLang="zh-CN" dirty="0"/>
              <a:t> = </a:t>
            </a:r>
            <a:r>
              <a:rPr lang="en-US" altLang="zh-CN" b="1" dirty="0"/>
              <a:t>new </a:t>
            </a:r>
            <a:r>
              <a:rPr lang="en-US" altLang="zh-CN" b="1" dirty="0" err="1"/>
              <a:t>TimePrinter</a:t>
            </a:r>
            <a:r>
              <a:rPr lang="en-US" altLang="zh-CN" b="1" dirty="0"/>
              <a:t>();</a:t>
            </a:r>
            <a:br>
              <a:rPr lang="en-US" altLang="zh-CN" b="1" dirty="0"/>
            </a:br>
            <a:r>
              <a:rPr lang="en-US" altLang="zh-CN" dirty="0"/>
              <a:t>Timer t = </a:t>
            </a:r>
            <a:r>
              <a:rPr lang="en-US" altLang="zh-CN" b="1" dirty="0"/>
              <a:t>new Timer(5000, </a:t>
            </a:r>
            <a:r>
              <a:rPr lang="en-US" altLang="zh-CN" b="1" dirty="0">
                <a:solidFill>
                  <a:srgbClr val="FF0000"/>
                </a:solidFill>
              </a:rPr>
              <a:t>listener</a:t>
            </a:r>
            <a:r>
              <a:rPr lang="en-US" altLang="zh-CN" b="1" dirty="0"/>
              <a:t>);</a:t>
            </a:r>
            <a:br>
              <a:rPr lang="en-US" altLang="zh-CN" b="1" dirty="0"/>
            </a:br>
            <a:r>
              <a:rPr lang="en-US" altLang="zh-CN" dirty="0" err="1"/>
              <a:t>t.start</a:t>
            </a:r>
            <a:r>
              <a:rPr lang="en-US" altLang="zh-CN" dirty="0"/>
              <a:t>();</a:t>
            </a:r>
            <a:endParaRPr lang="en-US" altLang="zh-CN" dirty="0"/>
          </a:p>
          <a:p>
            <a:pPr lvl="1"/>
            <a:r>
              <a:rPr lang="zh-CN" altLang="en-US" dirty="0"/>
              <a:t>程序代码见</a:t>
            </a:r>
            <a:r>
              <a:rPr lang="en-US" altLang="zh-CN" dirty="0"/>
              <a:t>code7\timer\</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7.2.2  Comparator</a:t>
            </a:r>
            <a:r>
              <a:rPr lang="zh-CN" altLang="en-US" dirty="0"/>
              <a:t>接口</a:t>
            </a:r>
            <a:endParaRPr lang="zh-CN" altLang="en-US" dirty="0"/>
          </a:p>
        </p:txBody>
      </p:sp>
      <p:sp>
        <p:nvSpPr>
          <p:cNvPr id="3" name="内容占位符 2"/>
          <p:cNvSpPr>
            <a:spLocks noGrp="1"/>
          </p:cNvSpPr>
          <p:nvPr>
            <p:ph idx="1"/>
          </p:nvPr>
        </p:nvSpPr>
        <p:spPr>
          <a:xfrm>
            <a:off x="251520" y="980728"/>
            <a:ext cx="8568952" cy="5544616"/>
          </a:xfrm>
        </p:spPr>
        <p:txBody>
          <a:bodyPr>
            <a:normAutofit/>
          </a:bodyPr>
          <a:lstStyle/>
          <a:p>
            <a:r>
              <a:rPr lang="zh-CN" altLang="en-US" dirty="0"/>
              <a:t>前面讲过，如果一个类型</a:t>
            </a:r>
            <a:r>
              <a:rPr lang="en-US" altLang="zh-CN" dirty="0"/>
              <a:t>T</a:t>
            </a:r>
            <a:r>
              <a:rPr lang="zh-CN" altLang="en-US" dirty="0"/>
              <a:t>实现了</a:t>
            </a:r>
            <a:r>
              <a:rPr lang="en-US" altLang="zh-CN" dirty="0"/>
              <a:t>Comparable</a:t>
            </a:r>
            <a:r>
              <a:rPr lang="zh-CN" altLang="en-US" dirty="0"/>
              <a:t>接口，则</a:t>
            </a:r>
            <a:r>
              <a:rPr lang="en-US" altLang="zh-CN" dirty="0" err="1"/>
              <a:t>Arrays.sort</a:t>
            </a:r>
            <a:r>
              <a:rPr lang="en-US" altLang="zh-CN" dirty="0"/>
              <a:t>(T[] t)</a:t>
            </a:r>
            <a:r>
              <a:rPr lang="zh-CN" altLang="en-US" dirty="0"/>
              <a:t>可以对数组按字典顺序排序。</a:t>
            </a:r>
            <a:endParaRPr lang="en-US" altLang="zh-CN" dirty="0"/>
          </a:p>
          <a:p>
            <a:pPr lvl="1"/>
            <a:r>
              <a:rPr lang="en-US" altLang="zh-CN" dirty="0"/>
              <a:t>String</a:t>
            </a:r>
            <a:r>
              <a:rPr lang="zh-CN" altLang="en-US" dirty="0"/>
              <a:t>中实现了上述接口，所以它的数组可以这样排序。</a:t>
            </a:r>
            <a:endParaRPr lang="en-US" altLang="zh-CN" dirty="0"/>
          </a:p>
          <a:p>
            <a:pPr lvl="1"/>
            <a:r>
              <a:rPr lang="zh-CN" altLang="en-US" dirty="0"/>
              <a:t>假设需要按字符串的长度排序，应该如何呢？</a:t>
            </a:r>
            <a:endParaRPr lang="en-US" altLang="zh-CN" dirty="0"/>
          </a:p>
          <a:p>
            <a:pPr lvl="1"/>
            <a:r>
              <a:rPr lang="en-US" altLang="zh-CN" dirty="0"/>
              <a:t>Arrays</a:t>
            </a:r>
            <a:r>
              <a:rPr lang="zh-CN" altLang="en-US" dirty="0"/>
              <a:t>中提供了另一个版本的</a:t>
            </a:r>
            <a:r>
              <a:rPr lang="en-US" altLang="zh-CN" dirty="0"/>
              <a:t>sort(</a:t>
            </a:r>
            <a:r>
              <a:rPr lang="fr-FR" altLang="zh-CN" dirty="0"/>
              <a:t>T[] a, </a:t>
            </a:r>
            <a:r>
              <a:rPr lang="fr-FR" altLang="zh-CN" dirty="0">
                <a:solidFill>
                  <a:srgbClr val="FF0000"/>
                </a:solidFill>
              </a:rPr>
              <a:t>Comparator&lt; T&gt; c</a:t>
            </a:r>
            <a:r>
              <a:rPr lang="en-US" altLang="zh-CN" dirty="0"/>
              <a:t>)</a:t>
            </a:r>
            <a:br>
              <a:rPr lang="en-US" altLang="zh-CN" dirty="0"/>
            </a:br>
            <a:r>
              <a:rPr lang="zh-CN" altLang="en-US" dirty="0"/>
              <a:t>其第二个参数是实现了</a:t>
            </a:r>
            <a:r>
              <a:rPr lang="en-US" altLang="zh-CN" dirty="0"/>
              <a:t>Comparator</a:t>
            </a:r>
            <a:r>
              <a:rPr lang="zh-CN" altLang="en-US" dirty="0"/>
              <a:t>接口的类的对象。</a:t>
            </a:r>
            <a:endParaRPr lang="en-US" altLang="zh-CN" dirty="0"/>
          </a:p>
          <a:p>
            <a:pPr lvl="1"/>
            <a:r>
              <a:rPr lang="en-US" altLang="zh-CN" dirty="0"/>
              <a:t>Comparator</a:t>
            </a:r>
            <a:r>
              <a:rPr lang="zh-CN" altLang="en-US" dirty="0"/>
              <a:t>接口的定义如下：</a:t>
            </a:r>
            <a:br>
              <a:rPr lang="en-US" altLang="zh-CN" dirty="0"/>
            </a:br>
            <a:r>
              <a:rPr lang="en-US" altLang="zh-CN" dirty="0"/>
              <a:t>public interface Comparator&lt;T&gt;</a:t>
            </a:r>
            <a:br>
              <a:rPr lang="en-US" altLang="zh-CN" dirty="0"/>
            </a:br>
            <a:r>
              <a:rPr lang="en-US" altLang="zh-CN" dirty="0"/>
              <a:t>{</a:t>
            </a:r>
            <a:br>
              <a:rPr lang="en-US" altLang="zh-CN" dirty="0"/>
            </a:br>
            <a:r>
              <a:rPr lang="en-US" altLang="zh-CN" dirty="0"/>
              <a:t>	</a:t>
            </a:r>
            <a:r>
              <a:rPr lang="en-US" altLang="zh-CN" dirty="0" err="1"/>
              <a:t>int</a:t>
            </a:r>
            <a:r>
              <a:rPr lang="en-US" altLang="zh-CN" dirty="0"/>
              <a:t> compare(T t1, T t2);</a:t>
            </a:r>
            <a:br>
              <a:rPr lang="en-US" altLang="zh-CN" dirty="0"/>
            </a:br>
            <a:r>
              <a:rPr lang="en-US" altLang="zh-CN" dirty="0"/>
              <a:t>}</a:t>
            </a:r>
            <a:endParaRPr lang="en-US" altLang="zh-CN" dirty="0"/>
          </a:p>
          <a:p>
            <a:pPr lvl="1"/>
            <a:r>
              <a:rPr lang="zh-CN" altLang="en-US" dirty="0"/>
              <a:t>我们创建一个实现该接口的类，实现</a:t>
            </a:r>
            <a:r>
              <a:rPr lang="en-US" altLang="zh-CN" dirty="0"/>
              <a:t>compare</a:t>
            </a:r>
            <a:r>
              <a:rPr lang="zh-CN" altLang="en-US" dirty="0"/>
              <a:t>按字符串长度比较即可。</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548680"/>
            <a:ext cx="8640960" cy="5688632"/>
          </a:xfrm>
        </p:spPr>
        <p:txBody>
          <a:bodyPr/>
          <a:lstStyle/>
          <a:p>
            <a:pPr marL="274320" lvl="1" indent="0">
              <a:buNone/>
            </a:pPr>
            <a:r>
              <a:rPr lang="en-US" altLang="zh-CN" dirty="0"/>
              <a:t>public class </a:t>
            </a:r>
            <a:r>
              <a:rPr lang="en-US" altLang="zh-CN" dirty="0" err="1"/>
              <a:t>LengthComparator</a:t>
            </a:r>
            <a:r>
              <a:rPr lang="en-US" altLang="zh-CN" dirty="0"/>
              <a:t> implements </a:t>
            </a:r>
            <a:r>
              <a:rPr lang="en-US" altLang="zh-CN" dirty="0">
                <a:solidFill>
                  <a:srgbClr val="FF0000"/>
                </a:solidFill>
              </a:rPr>
              <a:t>Comparator</a:t>
            </a:r>
            <a:r>
              <a:rPr lang="en-US" altLang="zh-CN" dirty="0"/>
              <a:t>&lt;String&gt;  {</a:t>
            </a:r>
            <a:endParaRPr lang="en-US" altLang="zh-CN" dirty="0"/>
          </a:p>
          <a:p>
            <a:pPr marL="274320" lvl="1" indent="0">
              <a:buNone/>
            </a:pPr>
            <a:r>
              <a:rPr lang="en-US" altLang="zh-CN" dirty="0"/>
              <a:t>	public </a:t>
            </a:r>
            <a:r>
              <a:rPr lang="en-US" altLang="zh-CN" dirty="0" err="1"/>
              <a:t>int</a:t>
            </a:r>
            <a:r>
              <a:rPr lang="en-US" altLang="zh-CN" dirty="0"/>
              <a:t> </a:t>
            </a:r>
            <a:r>
              <a:rPr lang="en-US" altLang="zh-CN" dirty="0">
                <a:solidFill>
                  <a:srgbClr val="FF0000"/>
                </a:solidFill>
              </a:rPr>
              <a:t>compare</a:t>
            </a:r>
            <a:r>
              <a:rPr lang="en-US" altLang="zh-CN" dirty="0"/>
              <a:t>(String s1, String s2) {</a:t>
            </a:r>
            <a:endParaRPr lang="en-US" altLang="zh-CN" dirty="0"/>
          </a:p>
          <a:p>
            <a:pPr marL="274320" lvl="1" indent="0">
              <a:buNone/>
            </a:pPr>
            <a:r>
              <a:rPr lang="en-US" altLang="zh-CN" dirty="0"/>
              <a:t>	       return s1.length()-s2.length();</a:t>
            </a:r>
            <a:endParaRPr lang="en-US" altLang="zh-CN" dirty="0"/>
          </a:p>
          <a:p>
            <a:pPr marL="274320" lvl="1" indent="0">
              <a:buNone/>
            </a:pPr>
            <a:r>
              <a:rPr lang="en-US" altLang="zh-CN" dirty="0"/>
              <a:t>	}</a:t>
            </a:r>
            <a:endParaRPr lang="en-US" altLang="zh-CN" dirty="0"/>
          </a:p>
          <a:p>
            <a:pPr marL="274320" lvl="1" indent="0">
              <a:buNone/>
            </a:pPr>
            <a:r>
              <a:rPr lang="en-US" altLang="zh-CN" dirty="0"/>
              <a:t>}</a:t>
            </a:r>
            <a:endParaRPr lang="en-US" altLang="zh-CN" dirty="0"/>
          </a:p>
          <a:p>
            <a:pPr lvl="1"/>
            <a:r>
              <a:rPr lang="zh-CN" altLang="en-US" dirty="0"/>
              <a:t>就可以调用</a:t>
            </a:r>
            <a:r>
              <a:rPr lang="en-US" altLang="zh-CN" dirty="0"/>
              <a:t>sort</a:t>
            </a:r>
            <a:r>
              <a:rPr lang="zh-CN" altLang="en-US" dirty="0"/>
              <a:t>的第二个版本了：</a:t>
            </a:r>
            <a:endParaRPr lang="en-US" altLang="zh-CN" dirty="0"/>
          </a:p>
          <a:p>
            <a:pPr marL="274320" lvl="1" indent="0">
              <a:buNone/>
            </a:pPr>
            <a:r>
              <a:rPr lang="en-US" altLang="zh-CN" dirty="0"/>
              <a:t>String[] </a:t>
            </a:r>
            <a:r>
              <a:rPr lang="en-US" altLang="zh-CN" dirty="0" err="1"/>
              <a:t>sArr</a:t>
            </a:r>
            <a:r>
              <a:rPr lang="en-US" altLang="zh-CN" dirty="0"/>
              <a:t>=new String[] 	{"</a:t>
            </a:r>
            <a:r>
              <a:rPr lang="en-US" altLang="zh-CN" dirty="0" err="1"/>
              <a:t>China","America","France","Switzerland</a:t>
            </a:r>
            <a:r>
              <a:rPr lang="en-US" altLang="zh-CN" dirty="0"/>
              <a:t> "};</a:t>
            </a:r>
            <a:endParaRPr lang="en-US" altLang="zh-CN" dirty="0"/>
          </a:p>
          <a:p>
            <a:pPr marL="274320" lvl="1" indent="0">
              <a:buNone/>
            </a:pPr>
            <a:r>
              <a:rPr lang="en-US" altLang="zh-CN" dirty="0" err="1"/>
              <a:t>Arrays.sort</a:t>
            </a:r>
            <a:r>
              <a:rPr lang="en-US" altLang="zh-CN" dirty="0"/>
              <a:t>(</a:t>
            </a:r>
            <a:r>
              <a:rPr lang="en-US" altLang="zh-CN" dirty="0" err="1"/>
              <a:t>sArr</a:t>
            </a:r>
            <a:r>
              <a:rPr lang="en-US" altLang="zh-CN" dirty="0"/>
              <a:t>, </a:t>
            </a:r>
            <a:r>
              <a:rPr lang="en-US" altLang="zh-CN" dirty="0">
                <a:solidFill>
                  <a:srgbClr val="FF0000"/>
                </a:solidFill>
              </a:rPr>
              <a:t>new </a:t>
            </a:r>
            <a:r>
              <a:rPr lang="en-US" altLang="zh-CN" dirty="0" err="1">
                <a:solidFill>
                  <a:srgbClr val="FF0000"/>
                </a:solidFill>
              </a:rPr>
              <a:t>LengthComparator</a:t>
            </a:r>
            <a:r>
              <a:rPr lang="en-US" altLang="zh-CN" dirty="0">
                <a:solidFill>
                  <a:srgbClr val="FF0000"/>
                </a:solidFill>
              </a:rPr>
              <a:t>()</a:t>
            </a:r>
            <a:r>
              <a:rPr lang="en-US" altLang="zh-CN" dirty="0"/>
              <a:t>);</a:t>
            </a:r>
            <a:endParaRPr lang="en-US" altLang="zh-CN" dirty="0"/>
          </a:p>
          <a:p>
            <a:pPr marL="274320" lvl="1" indent="0">
              <a:buNone/>
            </a:pPr>
            <a:r>
              <a:rPr lang="zh-CN" altLang="zh-CN" dirty="0">
                <a:solidFill>
                  <a:srgbClr val="FF0000"/>
                </a:solidFill>
              </a:rPr>
              <a:t>问题：如何实现</a:t>
            </a:r>
            <a:r>
              <a:rPr lang="en-US" altLang="zh-CN" dirty="0">
                <a:solidFill>
                  <a:srgbClr val="FF0000"/>
                </a:solidFill>
              </a:rPr>
              <a:t>Employee</a:t>
            </a:r>
            <a:r>
              <a:rPr lang="zh-CN" altLang="en-US" dirty="0">
                <a:solidFill>
                  <a:srgbClr val="FF0000"/>
                </a:solidFill>
              </a:rPr>
              <a:t>既可以按</a:t>
            </a:r>
            <a:r>
              <a:rPr lang="en-US" altLang="zh-CN" dirty="0">
                <a:solidFill>
                  <a:srgbClr val="FF0000"/>
                </a:solidFill>
              </a:rPr>
              <a:t>salaray</a:t>
            </a:r>
            <a:r>
              <a:rPr lang="zh-CN" altLang="en-US" dirty="0">
                <a:solidFill>
                  <a:srgbClr val="FF0000"/>
                </a:solidFill>
              </a:rPr>
              <a:t>排序，又可以按</a:t>
            </a:r>
            <a:r>
              <a:rPr lang="en-US" altLang="zh-CN" dirty="0">
                <a:solidFill>
                  <a:srgbClr val="FF0000"/>
                </a:solidFill>
              </a:rPr>
              <a:t>name</a:t>
            </a:r>
            <a:r>
              <a:rPr lang="zh-CN" altLang="en-US" dirty="0">
                <a:solidFill>
                  <a:srgbClr val="FF0000"/>
                </a:solidFill>
              </a:rPr>
              <a:t>排序呢？</a:t>
            </a:r>
            <a:endParaRPr lang="zh-CN" altLang="en-US"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075240" cy="683994"/>
          </a:xfrm>
        </p:spPr>
        <p:txBody>
          <a:bodyPr/>
          <a:lstStyle/>
          <a:p>
            <a:r>
              <a:rPr lang="en-US" altLang="zh-CN" dirty="0"/>
              <a:t>7.2.3  </a:t>
            </a:r>
            <a:r>
              <a:rPr lang="en-US" altLang="zh-CN" dirty="0" err="1"/>
              <a:t>Cloneable</a:t>
            </a:r>
            <a:r>
              <a:rPr lang="zh-CN" altLang="en-US" dirty="0"/>
              <a:t>接口</a:t>
            </a:r>
            <a:endParaRPr lang="zh-CN" altLang="en-US" dirty="0"/>
          </a:p>
        </p:txBody>
      </p:sp>
      <p:sp>
        <p:nvSpPr>
          <p:cNvPr id="3" name="内容占位符 2"/>
          <p:cNvSpPr>
            <a:spLocks noGrp="1"/>
          </p:cNvSpPr>
          <p:nvPr>
            <p:ph idx="1"/>
          </p:nvPr>
        </p:nvSpPr>
        <p:spPr>
          <a:xfrm>
            <a:off x="184684" y="908720"/>
            <a:ext cx="8640960" cy="5553318"/>
          </a:xfrm>
        </p:spPr>
        <p:txBody>
          <a:bodyPr>
            <a:normAutofit/>
          </a:bodyPr>
          <a:lstStyle/>
          <a:p>
            <a:r>
              <a:rPr lang="zh-CN" altLang="en-US" dirty="0"/>
              <a:t>先回顾一下保护成员的使用规则。看一个例子：</a:t>
            </a:r>
            <a:endParaRPr lang="en-US" altLang="zh-CN" dirty="0"/>
          </a:p>
          <a:p>
            <a:pPr lvl="1"/>
            <a:r>
              <a:rPr lang="zh-CN" altLang="en-US" dirty="0"/>
              <a:t>超类在</a:t>
            </a:r>
            <a:r>
              <a:rPr lang="en-US" altLang="zh-CN" dirty="0" err="1"/>
              <a:t>baseclasspackage</a:t>
            </a:r>
            <a:r>
              <a:rPr lang="zh-CN" altLang="en-US" dirty="0"/>
              <a:t>包中，在超类中定义一个被保护方法。</a:t>
            </a:r>
            <a:endParaRPr lang="en-US" altLang="zh-CN" dirty="0"/>
          </a:p>
          <a:p>
            <a:pPr marL="274320" lvl="1" indent="0">
              <a:buNone/>
            </a:pPr>
            <a:r>
              <a:rPr lang="en-US" altLang="zh-CN" dirty="0"/>
              <a:t>package </a:t>
            </a:r>
            <a:r>
              <a:rPr lang="en-US" altLang="zh-CN" dirty="0" err="1"/>
              <a:t>baseclasspackage</a:t>
            </a:r>
            <a:r>
              <a:rPr lang="en-US" altLang="zh-CN" dirty="0"/>
              <a:t>;</a:t>
            </a:r>
            <a:endParaRPr lang="en-US" altLang="zh-CN" dirty="0"/>
          </a:p>
          <a:p>
            <a:pPr marL="274320" lvl="1" indent="0">
              <a:buNone/>
            </a:pPr>
            <a:r>
              <a:rPr lang="en-US" altLang="zh-CN" dirty="0"/>
              <a:t>public class Base {</a:t>
            </a:r>
            <a:endParaRPr lang="en-US" altLang="zh-CN" dirty="0"/>
          </a:p>
          <a:p>
            <a:pPr marL="274320" lvl="1" indent="0">
              <a:buNone/>
            </a:pPr>
            <a:r>
              <a:rPr lang="en-US" altLang="zh-CN" dirty="0"/>
              <a:t>	</a:t>
            </a:r>
            <a:r>
              <a:rPr lang="en-US" altLang="zh-CN" dirty="0">
                <a:solidFill>
                  <a:srgbClr val="FF0000"/>
                </a:solidFill>
              </a:rPr>
              <a:t>protected</a:t>
            </a:r>
            <a:r>
              <a:rPr lang="en-US" altLang="zh-CN" dirty="0"/>
              <a:t> void </a:t>
            </a:r>
            <a:r>
              <a:rPr lang="en-US" altLang="zh-CN" dirty="0" err="1"/>
              <a:t>func</a:t>
            </a:r>
            <a:r>
              <a:rPr lang="en-US" altLang="zh-CN" dirty="0"/>
              <a:t>() {</a:t>
            </a:r>
            <a:endParaRPr lang="en-US" altLang="zh-CN" dirty="0"/>
          </a:p>
          <a:p>
            <a:pPr marL="274320" lvl="1" indent="0">
              <a:buNone/>
            </a:pPr>
            <a:r>
              <a:rPr lang="en-US" altLang="zh-CN" dirty="0"/>
              <a:t>		</a:t>
            </a:r>
            <a:r>
              <a:rPr lang="en-US" altLang="zh-CN" dirty="0" err="1"/>
              <a:t>System.out.println</a:t>
            </a:r>
            <a:r>
              <a:rPr lang="en-US" altLang="zh-CN" dirty="0"/>
              <a:t>("</a:t>
            </a:r>
            <a:r>
              <a:rPr lang="en-US" altLang="zh-CN" dirty="0" err="1"/>
              <a:t>Base.Func</a:t>
            </a:r>
            <a:r>
              <a:rPr lang="en-US" altLang="zh-CN" dirty="0"/>
              <a:t>() is running.");</a:t>
            </a:r>
            <a:endParaRPr lang="en-US" altLang="zh-CN" dirty="0"/>
          </a:p>
          <a:p>
            <a:pPr marL="274320" lvl="1" indent="0">
              <a:buNone/>
            </a:pPr>
            <a:r>
              <a:rPr lang="en-US" altLang="zh-CN" dirty="0"/>
              <a:t>	}</a:t>
            </a:r>
            <a:endParaRPr lang="en-US" altLang="zh-CN" dirty="0"/>
          </a:p>
          <a:p>
            <a:pPr marL="274320" lvl="1" indent="0">
              <a:buNone/>
            </a:pPr>
            <a:r>
              <a:rPr lang="en-US" altLang="zh-CN" dirty="0"/>
              <a:t>}</a:t>
            </a:r>
            <a:endParaRPr lang="en-US" altLang="zh-CN" dirty="0"/>
          </a:p>
          <a:p>
            <a:pPr lvl="1"/>
            <a:r>
              <a:rPr lang="zh-CN" altLang="en-US" dirty="0"/>
              <a:t>该类的子类</a:t>
            </a:r>
            <a:r>
              <a:rPr lang="en-US" altLang="zh-CN" dirty="0" err="1"/>
              <a:t>SubA</a:t>
            </a:r>
            <a:r>
              <a:rPr lang="en-US" altLang="zh-CN" dirty="0"/>
              <a:t> </a:t>
            </a:r>
            <a:r>
              <a:rPr lang="zh-CN" altLang="en-US" dirty="0"/>
              <a:t>，</a:t>
            </a:r>
            <a:r>
              <a:rPr lang="en-US" altLang="zh-CN" dirty="0" err="1"/>
              <a:t>SubB</a:t>
            </a:r>
            <a:r>
              <a:rPr lang="en-US" altLang="zh-CN" dirty="0"/>
              <a:t> </a:t>
            </a:r>
            <a:r>
              <a:rPr lang="zh-CN" altLang="en-US" dirty="0"/>
              <a:t>，以及一个独立的类</a:t>
            </a:r>
            <a:r>
              <a:rPr lang="en-US" altLang="zh-CN" dirty="0"/>
              <a:t>Main</a:t>
            </a:r>
            <a:r>
              <a:rPr lang="zh-CN" altLang="en-US" dirty="0"/>
              <a:t>均在</a:t>
            </a:r>
            <a:r>
              <a:rPr lang="en-US" altLang="zh-CN" dirty="0" err="1"/>
              <a:t>subclasspackage</a:t>
            </a:r>
            <a:r>
              <a:rPr lang="zh-CN" altLang="en-US" dirty="0"/>
              <a:t>包中：</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075240" cy="5904656"/>
          </a:xfrm>
        </p:spPr>
        <p:txBody>
          <a:bodyPr>
            <a:normAutofit/>
          </a:bodyPr>
          <a:lstStyle/>
          <a:p>
            <a:pPr marL="274320" lvl="1" indent="0">
              <a:buNone/>
            </a:pPr>
            <a:r>
              <a:rPr lang="en-US" altLang="zh-CN" dirty="0"/>
              <a:t>package </a:t>
            </a:r>
            <a:r>
              <a:rPr lang="en-US" altLang="zh-CN" dirty="0" err="1"/>
              <a:t>subclasspackage</a:t>
            </a:r>
            <a:r>
              <a:rPr lang="en-US" altLang="zh-CN" dirty="0"/>
              <a:t>;</a:t>
            </a:r>
            <a:endParaRPr lang="en-US" altLang="zh-CN" dirty="0"/>
          </a:p>
          <a:p>
            <a:pPr marL="274320" lvl="1" indent="0">
              <a:buNone/>
            </a:pPr>
            <a:r>
              <a:rPr lang="en-US" altLang="zh-CN" dirty="0"/>
              <a:t>import </a:t>
            </a:r>
            <a:r>
              <a:rPr lang="en-US" altLang="zh-CN" dirty="0" err="1"/>
              <a:t>baseclasspackage.Base</a:t>
            </a:r>
            <a:r>
              <a:rPr lang="en-US" altLang="zh-CN" dirty="0"/>
              <a:t>;</a:t>
            </a:r>
            <a:endParaRPr lang="en-US" altLang="zh-CN" dirty="0"/>
          </a:p>
          <a:p>
            <a:pPr marL="274320" lvl="1" indent="0">
              <a:buNone/>
            </a:pPr>
            <a:r>
              <a:rPr lang="en-US" altLang="zh-CN" dirty="0"/>
              <a:t>class </a:t>
            </a:r>
            <a:r>
              <a:rPr lang="en-US" altLang="zh-CN" dirty="0" err="1">
                <a:solidFill>
                  <a:srgbClr val="FF0000"/>
                </a:solidFill>
              </a:rPr>
              <a:t>SubA</a:t>
            </a:r>
            <a:r>
              <a:rPr lang="en-US" altLang="zh-CN" dirty="0">
                <a:solidFill>
                  <a:srgbClr val="FF0000"/>
                </a:solidFill>
              </a:rPr>
              <a:t> extends Base </a:t>
            </a:r>
            <a:r>
              <a:rPr lang="en-US" altLang="zh-CN" dirty="0"/>
              <a:t>{</a:t>
            </a:r>
            <a:endParaRPr lang="en-US" altLang="zh-CN" dirty="0"/>
          </a:p>
          <a:p>
            <a:pPr marL="274320" lvl="1" indent="0">
              <a:buNone/>
            </a:pPr>
            <a:r>
              <a:rPr lang="en-US" altLang="zh-CN" dirty="0"/>
              <a:t>	public static void main(String[]</a:t>
            </a:r>
            <a:r>
              <a:rPr lang="en-US" altLang="zh-CN" dirty="0" err="1"/>
              <a:t>args</a:t>
            </a:r>
            <a:r>
              <a:rPr lang="en-US" altLang="zh-CN" dirty="0"/>
              <a:t>) {</a:t>
            </a:r>
            <a:endParaRPr lang="en-US" altLang="zh-CN" dirty="0"/>
          </a:p>
          <a:p>
            <a:pPr marL="274320" lvl="1" indent="0">
              <a:buNone/>
            </a:pPr>
            <a:r>
              <a:rPr lang="en-US" altLang="zh-CN" dirty="0"/>
              <a:t>		</a:t>
            </a:r>
            <a:r>
              <a:rPr lang="en-US" altLang="zh-CN" dirty="0" err="1"/>
              <a:t>SubA</a:t>
            </a:r>
            <a:r>
              <a:rPr lang="en-US" altLang="zh-CN" dirty="0"/>
              <a:t> </a:t>
            </a:r>
            <a:r>
              <a:rPr lang="en-US" altLang="zh-CN" dirty="0" err="1"/>
              <a:t>sA</a:t>
            </a:r>
            <a:r>
              <a:rPr lang="en-US" altLang="zh-CN" dirty="0"/>
              <a:t>=new </a:t>
            </a:r>
            <a:r>
              <a:rPr lang="en-US" altLang="zh-CN" dirty="0" err="1"/>
              <a:t>SubA</a:t>
            </a:r>
            <a:r>
              <a:rPr lang="en-US" altLang="zh-CN" dirty="0"/>
              <a:t>();</a:t>
            </a:r>
            <a:endParaRPr lang="en-US" altLang="zh-CN" dirty="0"/>
          </a:p>
          <a:p>
            <a:pPr marL="274320" lvl="1" indent="0">
              <a:buNone/>
            </a:pP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在</a:t>
            </a:r>
            <a:r>
              <a:rPr lang="en-US" altLang="zh-CN" dirty="0" err="1">
                <a:solidFill>
                  <a:schemeClr val="accent3">
                    <a:lumMod val="50000"/>
                  </a:schemeClr>
                </a:solidFill>
              </a:rPr>
              <a:t>SubA</a:t>
            </a:r>
            <a:r>
              <a:rPr lang="zh-CN" altLang="en-US" dirty="0">
                <a:solidFill>
                  <a:schemeClr val="accent3">
                    <a:lumMod val="50000"/>
                  </a:schemeClr>
                </a:solidFill>
              </a:rPr>
              <a:t>类继承自</a:t>
            </a:r>
            <a:r>
              <a:rPr lang="en-US" altLang="zh-CN" dirty="0">
                <a:solidFill>
                  <a:schemeClr val="accent3">
                    <a:lumMod val="50000"/>
                  </a:schemeClr>
                </a:solidFill>
              </a:rPr>
              <a:t>Base</a:t>
            </a:r>
            <a:r>
              <a:rPr lang="zh-CN" altLang="en-US" dirty="0">
                <a:solidFill>
                  <a:schemeClr val="accent3">
                    <a:lumMod val="50000"/>
                  </a:schemeClr>
                </a:solidFill>
              </a:rPr>
              <a:t>的保护方法在本类中可见。</a:t>
            </a:r>
            <a:endParaRPr lang="zh-CN" altLang="en-US" dirty="0">
              <a:solidFill>
                <a:schemeClr val="accent3">
                  <a:lumMod val="50000"/>
                </a:schemeClr>
              </a:solidFill>
            </a:endParaRPr>
          </a:p>
          <a:p>
            <a:pPr marL="274320" lvl="1" indent="0">
              <a:buNone/>
            </a:pPr>
            <a:r>
              <a:rPr lang="zh-CN" altLang="en-US" dirty="0"/>
              <a:t>		</a:t>
            </a:r>
            <a:r>
              <a:rPr lang="en-US" altLang="zh-CN" dirty="0" err="1"/>
              <a:t>sA.func</a:t>
            </a:r>
            <a:r>
              <a:rPr lang="en-US" altLang="zh-CN" dirty="0"/>
              <a:t>();</a:t>
            </a:r>
            <a:endParaRPr lang="en-US" altLang="zh-CN" dirty="0"/>
          </a:p>
          <a:p>
            <a:pPr marL="274320" lvl="1" indent="0">
              <a:buNone/>
            </a:pPr>
            <a:r>
              <a:rPr lang="en-US" altLang="zh-CN" dirty="0"/>
              <a:t>		</a:t>
            </a:r>
            <a:r>
              <a:rPr lang="en-US" altLang="zh-CN" dirty="0" err="1"/>
              <a:t>SubB</a:t>
            </a:r>
            <a:r>
              <a:rPr lang="en-US" altLang="zh-CN" dirty="0"/>
              <a:t> </a:t>
            </a:r>
            <a:r>
              <a:rPr lang="en-US" altLang="zh-CN" dirty="0" err="1"/>
              <a:t>sB</a:t>
            </a:r>
            <a:r>
              <a:rPr lang="en-US" altLang="zh-CN" dirty="0"/>
              <a:t>=new </a:t>
            </a:r>
            <a:r>
              <a:rPr lang="en-US" altLang="zh-CN" dirty="0" err="1"/>
              <a:t>SubB</a:t>
            </a:r>
            <a:r>
              <a:rPr lang="en-US" altLang="zh-CN" dirty="0"/>
              <a:t>();</a:t>
            </a:r>
            <a:endParaRPr lang="en-US" altLang="zh-CN" dirty="0"/>
          </a:p>
          <a:p>
            <a:pPr marL="274320" lvl="1" indent="0">
              <a:buNone/>
            </a:pP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在</a:t>
            </a:r>
            <a:r>
              <a:rPr lang="en-US" altLang="zh-CN" dirty="0" err="1">
                <a:solidFill>
                  <a:schemeClr val="accent3">
                    <a:lumMod val="50000"/>
                  </a:schemeClr>
                </a:solidFill>
              </a:rPr>
              <a:t>SubB</a:t>
            </a:r>
            <a:r>
              <a:rPr lang="zh-CN" altLang="en-US" dirty="0">
                <a:solidFill>
                  <a:schemeClr val="accent3">
                    <a:lumMod val="50000"/>
                  </a:schemeClr>
                </a:solidFill>
              </a:rPr>
              <a:t>类继承自</a:t>
            </a:r>
            <a:r>
              <a:rPr lang="en-US" altLang="zh-CN" dirty="0">
                <a:solidFill>
                  <a:schemeClr val="accent3">
                    <a:lumMod val="50000"/>
                  </a:schemeClr>
                </a:solidFill>
              </a:rPr>
              <a:t>Base</a:t>
            </a:r>
            <a:r>
              <a:rPr lang="zh-CN" altLang="en-US" dirty="0">
                <a:solidFill>
                  <a:schemeClr val="accent3">
                    <a:lumMod val="50000"/>
                  </a:schemeClr>
                </a:solidFill>
              </a:rPr>
              <a:t>的保护方法在</a:t>
            </a:r>
            <a:r>
              <a:rPr lang="en-US" altLang="zh-CN" dirty="0" err="1">
                <a:solidFill>
                  <a:schemeClr val="accent3">
                    <a:lumMod val="50000"/>
                  </a:schemeClr>
                </a:solidFill>
              </a:rPr>
              <a:t>SubA</a:t>
            </a:r>
            <a:r>
              <a:rPr lang="zh-CN" altLang="en-US" dirty="0">
                <a:solidFill>
                  <a:schemeClr val="accent3">
                    <a:lumMod val="50000"/>
                  </a:schemeClr>
                </a:solidFill>
              </a:rPr>
              <a:t>类中不可</a:t>
            </a:r>
            <a:r>
              <a:rPr lang="en-US" altLang="zh-CN" dirty="0">
                <a:solidFill>
                  <a:schemeClr val="accent3">
                    <a:lumMod val="50000"/>
                  </a:schemeClr>
                </a:solidFill>
              </a:rPr>
              <a:t>//</a:t>
            </a:r>
            <a:r>
              <a:rPr lang="zh-CN" altLang="en-US" dirty="0">
                <a:solidFill>
                  <a:schemeClr val="accent3">
                    <a:lumMod val="50000"/>
                  </a:schemeClr>
                </a:solidFill>
              </a:rPr>
              <a:t>见。下面的代码报错：</a:t>
            </a:r>
            <a:endParaRPr lang="zh-CN" altLang="en-US" dirty="0">
              <a:solidFill>
                <a:schemeClr val="accent3">
                  <a:lumMod val="50000"/>
                </a:schemeClr>
              </a:solidFill>
            </a:endParaRPr>
          </a:p>
          <a:p>
            <a:pPr marL="274320" lvl="1" indent="0">
              <a:buNone/>
            </a:pPr>
            <a:r>
              <a:rPr lang="en-US" altLang="zh-CN" dirty="0">
                <a:solidFill>
                  <a:schemeClr val="accent3">
                    <a:lumMod val="50000"/>
                  </a:schemeClr>
                </a:solidFill>
              </a:rPr>
              <a:t>//		</a:t>
            </a:r>
            <a:r>
              <a:rPr lang="en-US" altLang="zh-CN" dirty="0" err="1">
                <a:solidFill>
                  <a:schemeClr val="accent3">
                    <a:lumMod val="50000"/>
                  </a:schemeClr>
                </a:solidFill>
              </a:rPr>
              <a:t>sB.func</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075240" cy="6480720"/>
          </a:xfrm>
        </p:spPr>
        <p:txBody>
          <a:bodyPr/>
          <a:lstStyle/>
          <a:p>
            <a:pPr marL="274320" lvl="1" indent="0">
              <a:buNone/>
            </a:pPr>
            <a:r>
              <a:rPr lang="en-US" altLang="zh-CN" dirty="0"/>
              <a:t>class </a:t>
            </a:r>
            <a:r>
              <a:rPr lang="en-US" altLang="zh-CN" dirty="0" err="1"/>
              <a:t>SubB</a:t>
            </a:r>
            <a:r>
              <a:rPr lang="en-US" altLang="zh-CN" dirty="0"/>
              <a:t> extends Base {</a:t>
            </a:r>
            <a:endParaRPr lang="en-US" altLang="zh-CN" dirty="0"/>
          </a:p>
          <a:p>
            <a:pPr marL="274320" lvl="1" indent="0">
              <a:buNone/>
            </a:pPr>
            <a:r>
              <a:rPr lang="en-US" altLang="zh-CN" dirty="0"/>
              <a:t>	public static void main(String[]</a:t>
            </a:r>
            <a:r>
              <a:rPr lang="en-US" altLang="zh-CN" dirty="0" err="1"/>
              <a:t>args</a:t>
            </a:r>
            <a:r>
              <a:rPr lang="en-US" altLang="zh-CN" dirty="0"/>
              <a:t>) {</a:t>
            </a:r>
            <a:endParaRPr lang="en-US" altLang="zh-CN" dirty="0"/>
          </a:p>
          <a:p>
            <a:pPr marL="274320" lvl="1" indent="0">
              <a:buNone/>
            </a:pPr>
            <a:r>
              <a:rPr lang="en-US" altLang="zh-CN" dirty="0"/>
              <a:t>		</a:t>
            </a:r>
            <a:r>
              <a:rPr lang="en-US" altLang="zh-CN" dirty="0" err="1"/>
              <a:t>SubA</a:t>
            </a:r>
            <a:r>
              <a:rPr lang="en-US" altLang="zh-CN" dirty="0"/>
              <a:t> </a:t>
            </a:r>
            <a:r>
              <a:rPr lang="en-US" altLang="zh-CN" dirty="0" err="1"/>
              <a:t>sA</a:t>
            </a:r>
            <a:r>
              <a:rPr lang="en-US" altLang="zh-CN" dirty="0"/>
              <a:t>=new </a:t>
            </a:r>
            <a:r>
              <a:rPr lang="en-US" altLang="zh-CN" dirty="0" err="1"/>
              <a:t>SubA</a:t>
            </a:r>
            <a:r>
              <a:rPr lang="en-US" altLang="zh-CN" dirty="0"/>
              <a:t>();</a:t>
            </a:r>
            <a:endParaRPr lang="en-US" altLang="zh-CN" dirty="0"/>
          </a:p>
          <a:p>
            <a:pPr marL="274320" lvl="1" indent="0">
              <a:buNone/>
            </a:pPr>
            <a:r>
              <a:rPr lang="en-US" altLang="zh-CN" dirty="0">
                <a:solidFill>
                  <a:schemeClr val="accent3">
                    <a:lumMod val="50000"/>
                  </a:schemeClr>
                </a:solidFill>
              </a:rPr>
              <a:t>	//</a:t>
            </a:r>
            <a:r>
              <a:rPr lang="zh-CN" altLang="en-US" dirty="0">
                <a:solidFill>
                  <a:schemeClr val="accent3">
                    <a:lumMod val="50000"/>
                  </a:schemeClr>
                </a:solidFill>
              </a:rPr>
              <a:t>在</a:t>
            </a:r>
            <a:r>
              <a:rPr lang="en-US" altLang="zh-CN" dirty="0" err="1">
                <a:solidFill>
                  <a:schemeClr val="accent3">
                    <a:lumMod val="50000"/>
                  </a:schemeClr>
                </a:solidFill>
              </a:rPr>
              <a:t>SubA</a:t>
            </a:r>
            <a:r>
              <a:rPr lang="zh-CN" altLang="en-US" dirty="0">
                <a:solidFill>
                  <a:schemeClr val="accent3">
                    <a:lumMod val="50000"/>
                  </a:schemeClr>
                </a:solidFill>
              </a:rPr>
              <a:t>类继承自</a:t>
            </a:r>
            <a:r>
              <a:rPr lang="en-US" altLang="zh-CN" dirty="0">
                <a:solidFill>
                  <a:schemeClr val="accent3">
                    <a:lumMod val="50000"/>
                  </a:schemeClr>
                </a:solidFill>
              </a:rPr>
              <a:t>Base</a:t>
            </a:r>
            <a:r>
              <a:rPr lang="zh-CN" altLang="en-US" dirty="0">
                <a:solidFill>
                  <a:schemeClr val="accent3">
                    <a:lumMod val="50000"/>
                  </a:schemeClr>
                </a:solidFill>
              </a:rPr>
              <a:t>的保护方法在</a:t>
            </a:r>
            <a:r>
              <a:rPr lang="en-US" altLang="zh-CN" dirty="0" err="1">
                <a:solidFill>
                  <a:schemeClr val="accent3">
                    <a:lumMod val="50000"/>
                  </a:schemeClr>
                </a:solidFill>
              </a:rPr>
              <a:t>SubB</a:t>
            </a:r>
            <a:r>
              <a:rPr lang="zh-CN" altLang="en-US" dirty="0">
                <a:solidFill>
                  <a:schemeClr val="accent3">
                    <a:lumMod val="50000"/>
                  </a:schemeClr>
                </a:solidFill>
              </a:rPr>
              <a:t>类中不可</a:t>
            </a:r>
            <a:r>
              <a:rPr lang="en-US" altLang="zh-CN" dirty="0">
                <a:solidFill>
                  <a:schemeClr val="accent3">
                    <a:lumMod val="50000"/>
                  </a:schemeClr>
                </a:solidFill>
              </a:rPr>
              <a:t>//</a:t>
            </a:r>
            <a:r>
              <a:rPr lang="zh-CN" altLang="en-US" dirty="0">
                <a:solidFill>
                  <a:schemeClr val="accent3">
                    <a:lumMod val="50000"/>
                  </a:schemeClr>
                </a:solidFill>
              </a:rPr>
              <a:t>见。下面的代码报错：</a:t>
            </a:r>
            <a:endParaRPr lang="zh-CN" altLang="en-US" dirty="0">
              <a:solidFill>
                <a:schemeClr val="accent3">
                  <a:lumMod val="50000"/>
                </a:schemeClr>
              </a:solidFill>
            </a:endParaRPr>
          </a:p>
          <a:p>
            <a:pPr marL="274320" lvl="1" indent="0">
              <a:buNone/>
            </a:pPr>
            <a:r>
              <a:rPr lang="en-US" altLang="zh-CN" dirty="0">
                <a:solidFill>
                  <a:schemeClr val="accent3">
                    <a:lumMod val="50000"/>
                  </a:schemeClr>
                </a:solidFill>
              </a:rPr>
              <a:t>//		</a:t>
            </a:r>
            <a:r>
              <a:rPr lang="en-US" altLang="zh-CN" dirty="0" err="1">
                <a:solidFill>
                  <a:schemeClr val="accent3">
                    <a:lumMod val="50000"/>
                  </a:schemeClr>
                </a:solidFill>
              </a:rPr>
              <a:t>sA.func</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a:t>
            </a:r>
            <a:r>
              <a:rPr lang="en-US" altLang="zh-CN" dirty="0" err="1"/>
              <a:t>SubB</a:t>
            </a:r>
            <a:r>
              <a:rPr lang="en-US" altLang="zh-CN" dirty="0"/>
              <a:t> </a:t>
            </a:r>
            <a:r>
              <a:rPr lang="en-US" altLang="zh-CN" dirty="0" err="1"/>
              <a:t>sB</a:t>
            </a:r>
            <a:r>
              <a:rPr lang="en-US" altLang="zh-CN" dirty="0"/>
              <a:t>=new </a:t>
            </a:r>
            <a:r>
              <a:rPr lang="en-US" altLang="zh-CN" dirty="0" err="1"/>
              <a:t>SubB</a:t>
            </a:r>
            <a:r>
              <a:rPr lang="en-US" altLang="zh-CN" dirty="0"/>
              <a:t>();</a:t>
            </a:r>
            <a:endParaRPr lang="en-US" altLang="zh-CN" dirty="0"/>
          </a:p>
          <a:p>
            <a:pPr marL="274320" lvl="1" indent="0">
              <a:buNone/>
            </a:pP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在</a:t>
            </a:r>
            <a:r>
              <a:rPr lang="en-US" altLang="zh-CN" dirty="0" err="1">
                <a:solidFill>
                  <a:schemeClr val="accent3">
                    <a:lumMod val="50000"/>
                  </a:schemeClr>
                </a:solidFill>
              </a:rPr>
              <a:t>SubB</a:t>
            </a:r>
            <a:r>
              <a:rPr lang="zh-CN" altLang="en-US" dirty="0">
                <a:solidFill>
                  <a:schemeClr val="accent3">
                    <a:lumMod val="50000"/>
                  </a:schemeClr>
                </a:solidFill>
              </a:rPr>
              <a:t>类继承自</a:t>
            </a:r>
            <a:r>
              <a:rPr lang="en-US" altLang="zh-CN" dirty="0">
                <a:solidFill>
                  <a:schemeClr val="accent3">
                    <a:lumMod val="50000"/>
                  </a:schemeClr>
                </a:solidFill>
              </a:rPr>
              <a:t>Base</a:t>
            </a:r>
            <a:r>
              <a:rPr lang="zh-CN" altLang="en-US" dirty="0">
                <a:solidFill>
                  <a:schemeClr val="accent3">
                    <a:lumMod val="50000"/>
                  </a:schemeClr>
                </a:solidFill>
              </a:rPr>
              <a:t>的保护方法在本类中可见。</a:t>
            </a:r>
            <a:endParaRPr lang="zh-CN" altLang="en-US" dirty="0">
              <a:solidFill>
                <a:schemeClr val="accent3">
                  <a:lumMod val="50000"/>
                </a:schemeClr>
              </a:solidFill>
            </a:endParaRPr>
          </a:p>
          <a:p>
            <a:pPr marL="274320" lvl="1" indent="0">
              <a:buNone/>
            </a:pPr>
            <a:r>
              <a:rPr lang="zh-CN" altLang="en-US" dirty="0">
                <a:solidFill>
                  <a:schemeClr val="accent3">
                    <a:lumMod val="50000"/>
                  </a:schemeClr>
                </a:solidFill>
              </a:rPr>
              <a:t>		</a:t>
            </a:r>
            <a:r>
              <a:rPr lang="en-US" altLang="zh-CN" dirty="0" err="1">
                <a:solidFill>
                  <a:schemeClr val="accent2">
                    <a:lumMod val="50000"/>
                  </a:schemeClr>
                </a:solidFill>
              </a:rPr>
              <a:t>sB.func</a:t>
            </a:r>
            <a:r>
              <a:rPr lang="en-US" altLang="zh-CN" dirty="0">
                <a:solidFill>
                  <a:schemeClr val="accent2">
                    <a:lumMod val="50000"/>
                  </a:schemeClr>
                </a:solidFill>
              </a:rPr>
              <a:t>();</a:t>
            </a:r>
            <a:endParaRPr lang="en-US" altLang="zh-CN" dirty="0">
              <a:solidFill>
                <a:schemeClr val="accent2">
                  <a:lumMod val="50000"/>
                </a:schemeClr>
              </a:solidFill>
            </a:endParaRPr>
          </a:p>
          <a:p>
            <a:pPr marL="274320" lvl="1" indent="0">
              <a:buNone/>
            </a:pPr>
            <a:r>
              <a:rPr lang="en-US" altLang="zh-CN" dirty="0"/>
              <a:t>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274320" lvl="1" indent="0">
              <a:buNone/>
            </a:pPr>
            <a:r>
              <a:rPr lang="en-US" altLang="zh-CN" dirty="0"/>
              <a:t>class Main{</a:t>
            </a:r>
            <a:endParaRPr lang="en-US" altLang="zh-CN" dirty="0"/>
          </a:p>
          <a:p>
            <a:pPr marL="274320" lvl="1" indent="0">
              <a:buNone/>
            </a:pPr>
            <a:r>
              <a:rPr lang="en-US" altLang="zh-CN" dirty="0"/>
              <a:t>	public static void main(String[]</a:t>
            </a:r>
            <a:r>
              <a:rPr lang="en-US" altLang="zh-CN" dirty="0" err="1"/>
              <a:t>args</a:t>
            </a:r>
            <a:r>
              <a:rPr lang="en-US" altLang="zh-CN" dirty="0"/>
              <a:t>) {</a:t>
            </a:r>
            <a:endParaRPr lang="en-US" altLang="zh-CN" dirty="0"/>
          </a:p>
          <a:p>
            <a:pPr marL="274320" lvl="1" indent="0">
              <a:buNone/>
            </a:pPr>
            <a:r>
              <a:rPr lang="en-US" altLang="zh-CN" dirty="0"/>
              <a:t>		</a:t>
            </a:r>
            <a:r>
              <a:rPr lang="en-US" altLang="zh-CN" dirty="0" err="1"/>
              <a:t>SubA</a:t>
            </a:r>
            <a:r>
              <a:rPr lang="en-US" altLang="zh-CN" dirty="0"/>
              <a:t> </a:t>
            </a:r>
            <a:r>
              <a:rPr lang="en-US" altLang="zh-CN" dirty="0" err="1"/>
              <a:t>sA</a:t>
            </a:r>
            <a:r>
              <a:rPr lang="en-US" altLang="zh-CN" dirty="0"/>
              <a:t>=new </a:t>
            </a:r>
            <a:r>
              <a:rPr lang="en-US" altLang="zh-CN" dirty="0" err="1"/>
              <a:t>SubA</a:t>
            </a:r>
            <a:r>
              <a:rPr lang="en-US" altLang="zh-CN" dirty="0"/>
              <a:t>();</a:t>
            </a:r>
            <a:endParaRPr lang="en-US" altLang="zh-CN" dirty="0"/>
          </a:p>
          <a:p>
            <a:pPr marL="274320" lvl="1" indent="0">
              <a:buNone/>
            </a:pPr>
            <a:r>
              <a:rPr lang="en-US" altLang="zh-CN" dirty="0"/>
              <a:t>		</a:t>
            </a:r>
            <a:r>
              <a:rPr lang="en-US" altLang="zh-CN" dirty="0" err="1"/>
              <a:t>SubB</a:t>
            </a:r>
            <a:r>
              <a:rPr lang="en-US" altLang="zh-CN" dirty="0"/>
              <a:t> </a:t>
            </a:r>
            <a:r>
              <a:rPr lang="en-US" altLang="zh-CN" dirty="0" err="1"/>
              <a:t>sB</a:t>
            </a:r>
            <a:r>
              <a:rPr lang="en-US" altLang="zh-CN" dirty="0"/>
              <a:t>=new </a:t>
            </a:r>
            <a:r>
              <a:rPr lang="en-US" altLang="zh-CN" dirty="0" err="1"/>
              <a:t>SubB</a:t>
            </a:r>
            <a:r>
              <a:rPr lang="en-US" altLang="zh-CN" dirty="0"/>
              <a:t>();</a:t>
            </a:r>
            <a:endParaRPr lang="en-US" altLang="zh-CN" dirty="0"/>
          </a:p>
          <a:p>
            <a:pPr marL="274320" lvl="1" indent="0">
              <a:buNone/>
            </a:pPr>
            <a:r>
              <a:rPr lang="en-US" altLang="zh-CN" dirty="0">
                <a:solidFill>
                  <a:schemeClr val="accent3">
                    <a:lumMod val="50000"/>
                  </a:schemeClr>
                </a:solidFill>
              </a:rPr>
              <a:t>	//</a:t>
            </a:r>
            <a:r>
              <a:rPr lang="zh-CN" altLang="en-US" dirty="0">
                <a:solidFill>
                  <a:schemeClr val="accent3">
                    <a:lumMod val="50000"/>
                  </a:schemeClr>
                </a:solidFill>
              </a:rPr>
              <a:t>在</a:t>
            </a:r>
            <a:r>
              <a:rPr lang="en-US" altLang="zh-CN" dirty="0">
                <a:solidFill>
                  <a:schemeClr val="accent3">
                    <a:lumMod val="50000"/>
                  </a:schemeClr>
                </a:solidFill>
              </a:rPr>
              <a:t>Main</a:t>
            </a:r>
            <a:r>
              <a:rPr lang="zh-CN" altLang="en-US" dirty="0">
                <a:solidFill>
                  <a:schemeClr val="accent3">
                    <a:lumMod val="50000"/>
                  </a:schemeClr>
                </a:solidFill>
              </a:rPr>
              <a:t>类中调用</a:t>
            </a:r>
            <a:r>
              <a:rPr lang="en-US" altLang="zh-CN" dirty="0" err="1">
                <a:solidFill>
                  <a:schemeClr val="accent3">
                    <a:lumMod val="50000"/>
                  </a:schemeClr>
                </a:solidFill>
              </a:rPr>
              <a:t>SubA</a:t>
            </a:r>
            <a:r>
              <a:rPr lang="zh-CN" altLang="en-US" dirty="0">
                <a:solidFill>
                  <a:schemeClr val="accent3">
                    <a:lumMod val="50000"/>
                  </a:schemeClr>
                </a:solidFill>
              </a:rPr>
              <a:t>，</a:t>
            </a:r>
            <a:r>
              <a:rPr lang="en-US" altLang="zh-CN" dirty="0" err="1">
                <a:solidFill>
                  <a:schemeClr val="accent3">
                    <a:lumMod val="50000"/>
                  </a:schemeClr>
                </a:solidFill>
              </a:rPr>
              <a:t>SubB</a:t>
            </a:r>
            <a:r>
              <a:rPr lang="zh-CN" altLang="en-US" dirty="0">
                <a:solidFill>
                  <a:schemeClr val="accent3">
                    <a:lumMod val="50000"/>
                  </a:schemeClr>
                </a:solidFill>
              </a:rPr>
              <a:t>类继承来的保护方法，</a:t>
            </a:r>
            <a:r>
              <a:rPr lang="en-US" altLang="zh-CN" dirty="0">
                <a:solidFill>
                  <a:schemeClr val="accent3">
                    <a:lumMod val="50000"/>
                  </a:schemeClr>
                </a:solidFill>
              </a:rPr>
              <a:t>//</a:t>
            </a:r>
            <a:r>
              <a:rPr lang="zh-CN" altLang="en-US" dirty="0">
                <a:solidFill>
                  <a:schemeClr val="accent3">
                    <a:lumMod val="50000"/>
                  </a:schemeClr>
                </a:solidFill>
              </a:rPr>
              <a:t>下面的代码均报错</a:t>
            </a:r>
            <a:endParaRPr lang="zh-CN" altLang="en-US" dirty="0">
              <a:solidFill>
                <a:schemeClr val="accent3">
                  <a:lumMod val="50000"/>
                </a:schemeClr>
              </a:solidFill>
            </a:endParaRPr>
          </a:p>
          <a:p>
            <a:pPr marL="274320" lvl="1" indent="0">
              <a:buNone/>
            </a:pPr>
            <a:r>
              <a:rPr lang="en-US" altLang="zh-CN" dirty="0">
                <a:solidFill>
                  <a:schemeClr val="accent3">
                    <a:lumMod val="50000"/>
                  </a:schemeClr>
                </a:solidFill>
              </a:rPr>
              <a:t>//		</a:t>
            </a:r>
            <a:r>
              <a:rPr lang="en-US" altLang="zh-CN" dirty="0" err="1">
                <a:solidFill>
                  <a:schemeClr val="accent3">
                    <a:lumMod val="50000"/>
                  </a:schemeClr>
                </a:solidFill>
              </a:rPr>
              <a:t>sA.func</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solidFill>
                  <a:schemeClr val="accent3">
                    <a:lumMod val="50000"/>
                  </a:schemeClr>
                </a:solidFill>
              </a:rPr>
              <a:t>//		</a:t>
            </a:r>
            <a:r>
              <a:rPr lang="en-US" altLang="zh-CN" dirty="0" err="1">
                <a:solidFill>
                  <a:schemeClr val="accent3">
                    <a:lumMod val="50000"/>
                  </a:schemeClr>
                </a:solidFill>
              </a:rPr>
              <a:t>sB.func</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548680"/>
            <a:ext cx="8640960" cy="6264696"/>
          </a:xfrm>
        </p:spPr>
        <p:txBody>
          <a:bodyPr>
            <a:normAutofit fontScale="85000" lnSpcReduction="20000"/>
          </a:bodyPr>
          <a:lstStyle/>
          <a:p>
            <a:r>
              <a:rPr lang="zh-CN" altLang="en-US" dirty="0"/>
              <a:t>在</a:t>
            </a:r>
            <a:r>
              <a:rPr lang="en-US" altLang="zh-CN" dirty="0"/>
              <a:t>Object</a:t>
            </a:r>
            <a:r>
              <a:rPr lang="zh-CN" altLang="en-US" dirty="0"/>
              <a:t>类中定义了一个</a:t>
            </a:r>
            <a:r>
              <a:rPr lang="en-US" altLang="zh-CN" dirty="0"/>
              <a:t>clone</a:t>
            </a:r>
            <a:r>
              <a:rPr lang="zh-CN" altLang="en-US" dirty="0"/>
              <a:t>方法</a:t>
            </a:r>
            <a:endParaRPr lang="en-US" altLang="zh-CN" dirty="0"/>
          </a:p>
          <a:p>
            <a:pPr lvl="1"/>
            <a:r>
              <a:rPr lang="en-US" altLang="zh-CN" b="1" dirty="0">
                <a:solidFill>
                  <a:srgbClr val="FF0000"/>
                </a:solidFill>
              </a:rPr>
              <a:t>protected</a:t>
            </a:r>
            <a:r>
              <a:rPr lang="en-US" altLang="zh-CN" b="1" dirty="0"/>
              <a:t> native Object </a:t>
            </a:r>
            <a:r>
              <a:rPr lang="en-US" altLang="zh-CN" b="1" dirty="0">
                <a:solidFill>
                  <a:srgbClr val="FF0000"/>
                </a:solidFill>
              </a:rPr>
              <a:t>clone() </a:t>
            </a:r>
            <a:r>
              <a:rPr lang="en-US" altLang="zh-CN" b="1" dirty="0"/>
              <a:t>throws </a:t>
            </a:r>
            <a:r>
              <a:rPr lang="en-US" altLang="zh-CN" b="1" dirty="0" err="1"/>
              <a:t>CloneNotSupportedException</a:t>
            </a:r>
            <a:r>
              <a:rPr lang="en-US" altLang="zh-CN" b="1" dirty="0"/>
              <a:t>;</a:t>
            </a:r>
            <a:endParaRPr lang="en-US" altLang="zh-CN" b="1" dirty="0"/>
          </a:p>
          <a:p>
            <a:pPr lvl="1"/>
            <a:r>
              <a:rPr lang="zh-CN" altLang="en-US" dirty="0"/>
              <a:t>下面在同一个包中定义两个类，它们与其父类</a:t>
            </a:r>
            <a:r>
              <a:rPr lang="en-US" altLang="zh-CN" dirty="0"/>
              <a:t>Object</a:t>
            </a:r>
            <a:r>
              <a:rPr lang="zh-CN" altLang="en-US" dirty="0"/>
              <a:t>不在同一个包：</a:t>
            </a:r>
            <a:endParaRPr lang="en-US" altLang="zh-CN" dirty="0"/>
          </a:p>
          <a:p>
            <a:pPr marL="274320" lvl="1" indent="0">
              <a:buNone/>
            </a:pPr>
            <a:r>
              <a:rPr lang="en-US" altLang="zh-CN" dirty="0"/>
              <a:t>class Person{</a:t>
            </a:r>
            <a:endParaRPr lang="en-US" altLang="zh-CN" dirty="0"/>
          </a:p>
          <a:p>
            <a:pPr marL="274320" lvl="1" indent="0">
              <a:buNone/>
            </a:pPr>
            <a:r>
              <a:rPr lang="en-US" altLang="zh-CN" dirty="0"/>
              <a:t>	private String name;</a:t>
            </a:r>
            <a:endParaRPr lang="en-US" altLang="zh-CN" dirty="0"/>
          </a:p>
          <a:p>
            <a:pPr marL="274320" lvl="1" indent="0">
              <a:buNone/>
            </a:pPr>
            <a:r>
              <a:rPr lang="en-US" altLang="zh-CN" dirty="0"/>
              <a:t>	private </a:t>
            </a:r>
            <a:r>
              <a:rPr lang="en-US" altLang="zh-CN" dirty="0" err="1"/>
              <a:t>int</a:t>
            </a:r>
            <a:r>
              <a:rPr lang="en-US" altLang="zh-CN" dirty="0"/>
              <a:t> age;</a:t>
            </a:r>
            <a:br>
              <a:rPr lang="en-US" altLang="zh-CN" dirty="0"/>
            </a:br>
            <a:r>
              <a:rPr lang="en-US" altLang="zh-CN" dirty="0"/>
              <a:t>	……</a:t>
            </a:r>
            <a:br>
              <a:rPr lang="en-US" altLang="zh-CN" dirty="0"/>
            </a:br>
            <a:r>
              <a:rPr lang="en-US" altLang="zh-CN" dirty="0"/>
              <a:t>	</a:t>
            </a:r>
            <a:r>
              <a:rPr lang="en-US" altLang="zh-CN" dirty="0">
                <a:solidFill>
                  <a:srgbClr val="FF0000"/>
                </a:solidFill>
              </a:rPr>
              <a:t>protected</a:t>
            </a:r>
            <a:r>
              <a:rPr lang="en-US" altLang="zh-CN" dirty="0"/>
              <a:t> String </a:t>
            </a:r>
            <a:r>
              <a:rPr lang="en-US" altLang="zh-CN" dirty="0" err="1"/>
              <a:t>getName</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name;</a:t>
            </a:r>
            <a:endParaRPr lang="en-US" altLang="zh-CN" dirty="0"/>
          </a:p>
          <a:p>
            <a:pPr marL="274320" lvl="1" indent="0">
              <a:buNone/>
            </a:pPr>
            <a:r>
              <a:rPr lang="en-US" altLang="zh-CN" dirty="0"/>
              <a:t>	}</a:t>
            </a:r>
            <a:endParaRPr lang="en-US" altLang="zh-CN" dirty="0"/>
          </a:p>
          <a:p>
            <a:pPr marL="274320" lvl="1" indent="0">
              <a:buNone/>
            </a:pPr>
            <a:r>
              <a:rPr lang="en-US" altLang="zh-CN" dirty="0"/>
              <a:t>	public static void main(String[] </a:t>
            </a:r>
            <a:r>
              <a:rPr lang="en-US" altLang="zh-CN" dirty="0" err="1"/>
              <a:t>args</a:t>
            </a:r>
            <a:r>
              <a:rPr lang="en-US" altLang="zh-CN" dirty="0"/>
              <a:t>) throws 					</a:t>
            </a:r>
            <a:r>
              <a:rPr lang="en-US" altLang="zh-CN" dirty="0" err="1"/>
              <a:t>CloneNotSupportedException</a:t>
            </a:r>
            <a:endParaRPr lang="en-US" altLang="zh-CN" dirty="0"/>
          </a:p>
          <a:p>
            <a:pPr marL="274320" lvl="1" indent="0">
              <a:buNone/>
            </a:pPr>
            <a:r>
              <a:rPr lang="en-US" altLang="zh-CN" dirty="0"/>
              <a:t>	{</a:t>
            </a:r>
            <a:endParaRPr lang="en-US" altLang="zh-CN" dirty="0"/>
          </a:p>
          <a:p>
            <a:pPr marL="274320" lvl="1" indent="0">
              <a:buNone/>
            </a:pPr>
            <a:r>
              <a:rPr lang="en-US" altLang="zh-CN" dirty="0"/>
              <a:t>		Person p1=new Person();</a:t>
            </a:r>
            <a:endParaRPr lang="en-US" altLang="zh-CN" dirty="0"/>
          </a:p>
          <a:p>
            <a:pPr marL="274320" lvl="1" indent="0">
              <a:buNone/>
            </a:pPr>
            <a:r>
              <a:rPr lang="en-US" altLang="zh-CN" dirty="0"/>
              <a:t>		p1.clone();  </a:t>
            </a:r>
            <a:r>
              <a:rPr lang="en-US" altLang="zh-CN" dirty="0">
                <a:solidFill>
                  <a:srgbClr val="FF0000"/>
                </a:solidFill>
              </a:rPr>
              <a:t>//</a:t>
            </a:r>
            <a:r>
              <a:rPr lang="zh-CN" altLang="en-US" dirty="0">
                <a:solidFill>
                  <a:srgbClr val="FF0000"/>
                </a:solidFill>
              </a:rPr>
              <a:t>子类可以使用父类的保护方法</a:t>
            </a:r>
            <a:endParaRPr lang="en-US" altLang="zh-CN" dirty="0">
              <a:solidFill>
                <a:srgbClr val="FF0000"/>
              </a:solidFill>
            </a:endParaRPr>
          </a:p>
          <a:p>
            <a:pPr marL="274320" lvl="1" indent="0">
              <a:buNone/>
            </a:pPr>
            <a:r>
              <a:rPr lang="en-US" altLang="zh-CN" dirty="0"/>
              <a:t>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normAutofit lnSpcReduction="10000"/>
          </a:bodyPr>
          <a:lstStyle/>
          <a:p>
            <a:pPr marL="274320" lvl="1" indent="0">
              <a:buNone/>
            </a:pPr>
            <a:r>
              <a:rPr lang="en-US" altLang="zh-CN" dirty="0"/>
              <a:t>public class Test </a:t>
            </a:r>
            <a:endParaRPr lang="en-US" altLang="zh-CN" dirty="0"/>
          </a:p>
          <a:p>
            <a:pPr marL="274320" lvl="1" indent="0">
              <a:buNone/>
            </a:pPr>
            <a:r>
              <a:rPr lang="en-US" altLang="zh-CN" dirty="0"/>
              <a:t>{</a:t>
            </a:r>
            <a:endParaRPr lang="en-US" altLang="zh-CN" dirty="0"/>
          </a:p>
          <a:p>
            <a:pPr marL="274320" lvl="1" indent="0">
              <a:buNone/>
            </a:pPr>
            <a:r>
              <a:rPr lang="en-US" altLang="zh-CN" dirty="0"/>
              <a:t>	public static void main(String[] </a:t>
            </a:r>
            <a:r>
              <a:rPr lang="en-US" altLang="zh-CN" dirty="0" err="1"/>
              <a:t>args</a:t>
            </a:r>
            <a:r>
              <a:rPr lang="en-US" altLang="zh-CN" dirty="0"/>
              <a:t>) throws </a:t>
            </a:r>
            <a:r>
              <a:rPr lang="en-US" altLang="zh-CN" dirty="0" err="1"/>
              <a:t>CloneNotSupportedException</a:t>
            </a:r>
            <a:r>
              <a:rPr lang="en-US" altLang="zh-CN" dirty="0"/>
              <a:t>	{</a:t>
            </a:r>
            <a:endParaRPr lang="en-US" altLang="zh-CN" dirty="0"/>
          </a:p>
          <a:p>
            <a:pPr marL="274320" lvl="1" indent="0">
              <a:buNone/>
            </a:pPr>
            <a:r>
              <a:rPr lang="en-US" altLang="zh-CN" dirty="0"/>
              <a:t>	Person p1=new Person();</a:t>
            </a:r>
            <a:endParaRPr lang="en-US" altLang="zh-CN" dirty="0"/>
          </a:p>
          <a:p>
            <a:pPr marL="274320" lvl="1" indent="0">
              <a:buNone/>
            </a:pPr>
            <a:r>
              <a:rPr lang="en-US" altLang="zh-CN" dirty="0"/>
              <a:t>	p1.getName();  </a:t>
            </a:r>
            <a:r>
              <a:rPr lang="en-US" altLang="zh-CN" dirty="0">
                <a:solidFill>
                  <a:srgbClr val="FF0000"/>
                </a:solidFill>
              </a:rPr>
              <a:t>//</a:t>
            </a:r>
            <a:r>
              <a:rPr lang="zh-CN" altLang="en-US" dirty="0">
                <a:solidFill>
                  <a:srgbClr val="FF0000"/>
                </a:solidFill>
              </a:rPr>
              <a:t>可以使用同一个包中的保护方法</a:t>
            </a:r>
            <a:endParaRPr lang="en-US" altLang="zh-CN" dirty="0">
              <a:solidFill>
                <a:srgbClr val="FF0000"/>
              </a:solidFill>
            </a:endParaRPr>
          </a:p>
          <a:p>
            <a:pPr marL="274320" lvl="1" indent="0">
              <a:buNone/>
            </a:pPr>
            <a:r>
              <a:rPr lang="en-US" altLang="zh-CN" dirty="0"/>
              <a:t>	p1.clone();       </a:t>
            </a:r>
            <a:r>
              <a:rPr lang="en-US" altLang="zh-CN" dirty="0">
                <a:solidFill>
                  <a:srgbClr val="FF0000"/>
                </a:solidFill>
              </a:rPr>
              <a:t>//</a:t>
            </a:r>
            <a:r>
              <a:rPr lang="zh-CN" altLang="en-US" dirty="0">
                <a:solidFill>
                  <a:srgbClr val="FF0000"/>
                </a:solidFill>
              </a:rPr>
              <a:t>错误，</a:t>
            </a:r>
            <a:r>
              <a:rPr lang="en-US" altLang="zh-CN" dirty="0">
                <a:solidFill>
                  <a:srgbClr val="FF0000"/>
                </a:solidFill>
              </a:rPr>
              <a:t>Test</a:t>
            </a:r>
            <a:r>
              <a:rPr lang="zh-CN" altLang="en-US" dirty="0">
                <a:solidFill>
                  <a:srgbClr val="FF0000"/>
                </a:solidFill>
              </a:rPr>
              <a:t>中只能访问自己对象的保护方法，即子类只能克隆自己的对象</a:t>
            </a:r>
            <a:endParaRPr lang="en-US" altLang="zh-CN" dirty="0">
              <a:solidFill>
                <a:srgbClr val="FF0000"/>
              </a:solidFill>
            </a:endParaRPr>
          </a:p>
          <a:p>
            <a:pPr marL="274320" lvl="1" indent="0">
              <a:buNone/>
            </a:pPr>
            <a:r>
              <a:rPr lang="en-US" altLang="zh-CN" dirty="0"/>
              <a:t>	Test t1=new Test();</a:t>
            </a:r>
            <a:endParaRPr lang="en-US" altLang="zh-CN" dirty="0"/>
          </a:p>
          <a:p>
            <a:pPr marL="274320" lvl="1" indent="0">
              <a:buNone/>
            </a:pPr>
            <a:r>
              <a:rPr lang="en-US" altLang="zh-CN" dirty="0"/>
              <a:t>	t1.clone(); </a:t>
            </a:r>
            <a:r>
              <a:rPr lang="en-US" altLang="zh-CN" dirty="0">
                <a:solidFill>
                  <a:srgbClr val="FF0000"/>
                </a:solidFill>
              </a:rPr>
              <a:t>//</a:t>
            </a:r>
            <a:r>
              <a:rPr lang="zh-CN" altLang="en-US" dirty="0">
                <a:solidFill>
                  <a:srgbClr val="FF0000"/>
                </a:solidFill>
              </a:rPr>
              <a:t>子类可以使用父类的保护方法</a:t>
            </a:r>
            <a:endParaRPr lang="en-US" altLang="zh-CN" dirty="0">
              <a:solidFill>
                <a:srgbClr val="FF0000"/>
              </a:solidFill>
            </a:endParaRPr>
          </a:p>
          <a:p>
            <a:pPr marL="274320" lvl="1" indent="0">
              <a:buNone/>
            </a:pPr>
            <a:r>
              <a:rPr lang="en-US" altLang="zh-CN" dirty="0"/>
              <a:t>	}</a:t>
            </a:r>
            <a:endParaRPr lang="en-US" altLang="zh-CN" dirty="0"/>
          </a:p>
          <a:p>
            <a:pPr marL="274320" lvl="1" indent="0">
              <a:buNone/>
            </a:pPr>
            <a:r>
              <a:rPr lang="en-US" altLang="zh-CN" dirty="0"/>
              <a:t>}</a:t>
            </a:r>
            <a:endParaRPr lang="en-US" altLang="zh-CN" dirty="0"/>
          </a:p>
          <a:p>
            <a:pPr lvl="1"/>
            <a:r>
              <a:rPr lang="zh-CN" altLang="en-US" dirty="0"/>
              <a:t>注意：不能在一个子类（</a:t>
            </a:r>
            <a:r>
              <a:rPr lang="en-US" altLang="zh-CN" dirty="0"/>
              <a:t>Test</a:t>
            </a:r>
            <a:r>
              <a:rPr lang="zh-CN" altLang="en-US" dirty="0"/>
              <a:t>）中访问另一个子类（</a:t>
            </a:r>
            <a:r>
              <a:rPr lang="en-US" altLang="zh-CN" dirty="0"/>
              <a:t>Person</a:t>
            </a:r>
            <a:r>
              <a:rPr lang="zh-CN" altLang="en-US" dirty="0"/>
              <a:t>）的</a:t>
            </a:r>
            <a:r>
              <a:rPr lang="en-US" altLang="zh-CN" dirty="0"/>
              <a:t>protected</a:t>
            </a:r>
            <a:r>
              <a:rPr lang="zh-CN" altLang="en-US" dirty="0"/>
              <a:t>方法，尽管这两个子类继承自同一个父类（</a:t>
            </a:r>
            <a:r>
              <a:rPr lang="en-US" altLang="zh-CN" dirty="0"/>
              <a:t>Object</a:t>
            </a:r>
            <a:r>
              <a:rPr lang="zh-CN" altLang="en-US" dirty="0"/>
              <a:t>）（代码见</a:t>
            </a:r>
            <a:r>
              <a:rPr lang="en-US" altLang="zh-CN" dirty="0"/>
              <a:t>code7\</a:t>
            </a:r>
            <a:r>
              <a:rPr lang="en-US" altLang="zh-CN" dirty="0" err="1"/>
              <a:t>testprotectd</a:t>
            </a:r>
            <a:r>
              <a:rPr lang="zh-CN" altLang="en-US" dirty="0"/>
              <a:t>）</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关于</a:t>
            </a:r>
            <a:r>
              <a:rPr lang="en-US" altLang="zh-CN"/>
              <a:t>protected</a:t>
            </a:r>
            <a:endParaRPr lang="en-US" altLang="zh-CN"/>
          </a:p>
        </p:txBody>
      </p:sp>
      <p:sp>
        <p:nvSpPr>
          <p:cNvPr id="3" name="内容占位符 2"/>
          <p:cNvSpPr>
            <a:spLocks noGrp="1"/>
          </p:cNvSpPr>
          <p:nvPr>
            <p:ph idx="1"/>
          </p:nvPr>
        </p:nvSpPr>
        <p:spPr/>
        <p:txBody>
          <a:bodyPr/>
          <a:lstStyle/>
          <a:p>
            <a:r>
              <a:rPr lang="zh-CN" altLang="en-US" dirty="0"/>
              <a:t>很多书籍都对protected介绍的比较的简单，就是被protected修饰的成员或方法，对于本包和其子类可见，这里说的并不是完全正确。</a:t>
            </a:r>
            <a:endParaRPr lang="zh-CN" altLang="en-US" dirty="0"/>
          </a:p>
          <a:p>
            <a:r>
              <a:rPr lang="zh-CN" altLang="en-US" dirty="0"/>
              <a:t>对于protected的成员或方法，要分子类和超类是否在同一个包中。</a:t>
            </a:r>
            <a:endParaRPr lang="zh-CN" altLang="en-US" dirty="0"/>
          </a:p>
          <a:p>
            <a:pPr lvl="1"/>
            <a:r>
              <a:rPr lang="zh-CN" altLang="en-US" dirty="0"/>
              <a:t>与基类不在同一个包中的子类，只能访问自身从基类继承而来的受保护成员，而不能访问基类实例本身的受保护成员。下面的代码不在</a:t>
            </a:r>
            <a:r>
              <a:rPr lang="en-US" altLang="zh-CN" dirty="0" err="1"/>
              <a:t>java.lang</a:t>
            </a:r>
            <a:r>
              <a:rPr lang="zh-CN" altLang="en-US" dirty="0"/>
              <a:t>包：</a:t>
            </a:r>
            <a:endParaRPr lang="en-US" altLang="zh-CN" dirty="0"/>
          </a:p>
          <a:p>
            <a:pPr marL="274320" lvl="1" indent="0">
              <a:buNone/>
            </a:pPr>
            <a:r>
              <a:rPr lang="en-US" altLang="zh-CN" dirty="0"/>
              <a:t>         Object object=new Object();</a:t>
            </a:r>
            <a:endParaRPr lang="en-US" altLang="zh-CN" dirty="0"/>
          </a:p>
          <a:p>
            <a:pPr marL="274320" lvl="1" indent="0">
              <a:buNone/>
            </a:pPr>
            <a:r>
              <a:rPr lang="en-US" altLang="zh-CN" dirty="0"/>
              <a:t>	 </a:t>
            </a:r>
            <a:r>
              <a:rPr lang="en-US" altLang="zh-CN" dirty="0" err="1"/>
              <a:t>object.clone</a:t>
            </a: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错误</a:t>
            </a:r>
            <a:endParaRPr lang="zh-CN" altLang="en-US" dirty="0">
              <a:solidFill>
                <a:schemeClr val="accent3">
                  <a:lumMod val="50000"/>
                </a:schemeClr>
              </a:solidFill>
            </a:endParaRPr>
          </a:p>
          <a:p>
            <a:pPr lvl="1"/>
            <a:r>
              <a:rPr lang="zh-CN" altLang="en-US" dirty="0"/>
              <a:t>子类和基类不在同一包里，一个子类中不能访问另一个子类中的继承来的被保护成员。</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descr="QQ截图20191127222328"/>
          <p:cNvPicPr>
            <a:picLocks noChangeAspect="1"/>
          </p:cNvPicPr>
          <p:nvPr/>
        </p:nvPicPr>
        <p:blipFill>
          <a:blip r:embed="rId1"/>
          <a:stretch>
            <a:fillRect/>
          </a:stretch>
        </p:blipFill>
        <p:spPr>
          <a:xfrm>
            <a:off x="31115" y="572770"/>
            <a:ext cx="8817610" cy="55460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normAutofit fontScale="92500" lnSpcReduction="10000"/>
          </a:bodyPr>
          <a:lstStyle/>
          <a:p>
            <a:r>
              <a:rPr lang="zh-CN" altLang="en-US" dirty="0"/>
              <a:t>可见，在类外克隆一个对象，必须重新定义</a:t>
            </a:r>
            <a:r>
              <a:rPr lang="en-US" altLang="zh-CN" dirty="0"/>
              <a:t>public</a:t>
            </a:r>
            <a:r>
              <a:rPr lang="zh-CN" altLang="en-US" dirty="0"/>
              <a:t>克隆方法。</a:t>
            </a:r>
            <a:r>
              <a:rPr lang="en-US" altLang="zh-CN" dirty="0"/>
              <a:t>Java</a:t>
            </a:r>
            <a:r>
              <a:rPr lang="zh-CN" altLang="en-US" dirty="0"/>
              <a:t>规定，覆盖</a:t>
            </a:r>
            <a:r>
              <a:rPr lang="en-US" altLang="zh-CN" dirty="0" err="1"/>
              <a:t>Object.clone</a:t>
            </a:r>
            <a:r>
              <a:rPr lang="zh-CN" altLang="en-US" dirty="0"/>
              <a:t>必须实现一个</a:t>
            </a:r>
            <a:r>
              <a:rPr lang="zh-CN" altLang="en-US" dirty="0">
                <a:solidFill>
                  <a:srgbClr val="FF0000"/>
                </a:solidFill>
              </a:rPr>
              <a:t>标记接口</a:t>
            </a:r>
            <a:r>
              <a:rPr lang="en-US" altLang="zh-CN" dirty="0" err="1"/>
              <a:t>Cloneable</a:t>
            </a:r>
            <a:r>
              <a:rPr lang="zh-CN" altLang="en-US" dirty="0"/>
              <a:t>，否则对象调用</a:t>
            </a:r>
            <a:r>
              <a:rPr lang="en-US" altLang="zh-CN" dirty="0"/>
              <a:t>clone</a:t>
            </a:r>
            <a:r>
              <a:rPr lang="zh-CN" altLang="en-US" dirty="0"/>
              <a:t>方法会产生一个受查异常。</a:t>
            </a:r>
            <a:endParaRPr lang="en-US" altLang="zh-CN" dirty="0"/>
          </a:p>
          <a:p>
            <a:pPr lvl="1"/>
            <a:r>
              <a:rPr lang="zh-CN" altLang="en-US" dirty="0"/>
              <a:t>例如前面的</a:t>
            </a:r>
            <a:r>
              <a:rPr lang="en-US" altLang="zh-CN" dirty="0"/>
              <a:t>Person</a:t>
            </a:r>
            <a:r>
              <a:rPr lang="zh-CN" altLang="en-US" dirty="0"/>
              <a:t>类中尽管</a:t>
            </a:r>
            <a:r>
              <a:rPr lang="en-US" altLang="zh-CN" dirty="0"/>
              <a:t>p1.clone()</a:t>
            </a:r>
            <a:r>
              <a:rPr lang="zh-CN" altLang="en-US" dirty="0"/>
              <a:t>是可见的，但运行时会有异常，仍不可用。</a:t>
            </a:r>
            <a:endParaRPr lang="en-US" altLang="zh-CN" dirty="0"/>
          </a:p>
          <a:p>
            <a:r>
              <a:rPr lang="zh-CN" altLang="en-US" dirty="0"/>
              <a:t>注意：</a:t>
            </a:r>
            <a:r>
              <a:rPr lang="en-US" altLang="zh-CN" dirty="0" err="1"/>
              <a:t>Cloneable</a:t>
            </a:r>
            <a:r>
              <a:rPr lang="zh-CN" altLang="en-US" dirty="0"/>
              <a:t>接口并没有提供</a:t>
            </a:r>
            <a:r>
              <a:rPr lang="en-US" altLang="zh-CN" dirty="0"/>
              <a:t>clone</a:t>
            </a:r>
            <a:r>
              <a:rPr lang="zh-CN" altLang="en-US" dirty="0"/>
              <a:t>方法，</a:t>
            </a:r>
            <a:r>
              <a:rPr lang="en-US" altLang="zh-CN" dirty="0"/>
              <a:t>clone</a:t>
            </a:r>
            <a:r>
              <a:rPr lang="zh-CN" altLang="en-US" dirty="0"/>
              <a:t>它继承自</a:t>
            </a:r>
            <a:r>
              <a:rPr lang="en-US" altLang="zh-CN" dirty="0"/>
              <a:t>Object</a:t>
            </a:r>
            <a:r>
              <a:rPr lang="zh-CN" altLang="en-US" dirty="0"/>
              <a:t>类。</a:t>
            </a:r>
            <a:endParaRPr lang="en-US" altLang="zh-CN" dirty="0"/>
          </a:p>
          <a:p>
            <a:pPr lvl="1"/>
            <a:r>
              <a:rPr lang="zh-CN" altLang="en-US" dirty="0"/>
              <a:t>接口的作用是确保类中实现了相关的方法，一个类实现该接口后可以通过</a:t>
            </a:r>
            <a:r>
              <a:rPr lang="en-US" altLang="zh-CN" dirty="0" err="1"/>
              <a:t>instanceof</a:t>
            </a:r>
            <a:r>
              <a:rPr lang="zh-CN" altLang="en-US" dirty="0"/>
              <a:t>检查。</a:t>
            </a:r>
            <a:endParaRPr lang="en-US" altLang="zh-CN" dirty="0"/>
          </a:p>
          <a:p>
            <a:r>
              <a:rPr lang="zh-CN" altLang="en-US" dirty="0"/>
              <a:t>对象克隆的意义在于产生相同的另一个对象。</a:t>
            </a:r>
            <a:endParaRPr lang="en-US" altLang="zh-CN" dirty="0"/>
          </a:p>
          <a:p>
            <a:pPr lvl="1"/>
            <a:r>
              <a:rPr lang="zh-CN" altLang="en-US" dirty="0"/>
              <a:t>在下面的代码中没有实现克隆：</a:t>
            </a:r>
            <a:br>
              <a:rPr lang="en-US" altLang="zh-CN" dirty="0"/>
            </a:br>
            <a:r>
              <a:rPr lang="en-US" altLang="zh-CN" dirty="0"/>
              <a:t>Employee e1=new Employee(“John”, 50000);</a:t>
            </a:r>
            <a:br>
              <a:rPr lang="en-US" altLang="zh-CN" dirty="0"/>
            </a:br>
            <a:r>
              <a:rPr lang="en-US" altLang="zh-CN" dirty="0"/>
              <a:t>Employee e2=e1;</a:t>
            </a:r>
            <a:br>
              <a:rPr lang="en-US" altLang="zh-CN" dirty="0"/>
            </a:br>
            <a:r>
              <a:rPr lang="en-US" altLang="zh-CN" dirty="0"/>
              <a:t>e2.raiseSlaray(5);  </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lstStyle/>
          <a:p>
            <a:r>
              <a:rPr lang="en-US" altLang="zh-CN" dirty="0" err="1"/>
              <a:t>Object.clone</a:t>
            </a:r>
            <a:r>
              <a:rPr lang="zh-CN" altLang="en-US" dirty="0"/>
              <a:t>是保护方法，只能是</a:t>
            </a:r>
            <a:r>
              <a:rPr lang="en-US" altLang="zh-CN" dirty="0"/>
              <a:t>Employee</a:t>
            </a:r>
            <a:r>
              <a:rPr lang="zh-CN" altLang="en-US" dirty="0"/>
              <a:t>类可以克隆自己的对象。</a:t>
            </a:r>
            <a:endParaRPr lang="en-US" altLang="zh-CN" dirty="0"/>
          </a:p>
          <a:p>
            <a:pPr lvl="1"/>
            <a:r>
              <a:rPr lang="zh-CN" altLang="en-US" dirty="0"/>
              <a:t>为什么不像其他方法一样做成</a:t>
            </a:r>
            <a:r>
              <a:rPr lang="en-US" altLang="zh-CN" dirty="0"/>
              <a:t>public</a:t>
            </a:r>
            <a:r>
              <a:rPr lang="zh-CN" altLang="en-US" dirty="0"/>
              <a:t>呢？这样就可以在任何位置进行：</a:t>
            </a:r>
            <a:br>
              <a:rPr lang="en-US" altLang="zh-CN" dirty="0"/>
            </a:br>
            <a:r>
              <a:rPr lang="en-US" altLang="zh-CN" dirty="0"/>
              <a:t>Employee e1=new Employee(“John”, 50000);</a:t>
            </a:r>
            <a:br>
              <a:rPr lang="en-US" altLang="zh-CN" dirty="0"/>
            </a:br>
            <a:r>
              <a:rPr lang="en-US" altLang="zh-CN" dirty="0"/>
              <a:t>Employee e2=e1.clone();</a:t>
            </a:r>
            <a:br>
              <a:rPr lang="en-US" altLang="zh-CN" dirty="0"/>
            </a:br>
            <a:r>
              <a:rPr lang="en-US" altLang="zh-CN" dirty="0"/>
              <a:t>e2.raiseSlaray(5);  </a:t>
            </a:r>
            <a:r>
              <a:rPr lang="en-US" altLang="zh-CN" dirty="0">
                <a:solidFill>
                  <a:schemeClr val="accent3">
                    <a:lumMod val="50000"/>
                  </a:schemeClr>
                </a:solidFill>
              </a:rPr>
              <a:t>//</a:t>
            </a:r>
            <a:r>
              <a:rPr lang="zh-CN" altLang="en-US" dirty="0">
                <a:solidFill>
                  <a:schemeClr val="accent3">
                    <a:lumMod val="50000"/>
                  </a:schemeClr>
                </a:solidFill>
              </a:rPr>
              <a:t>不影响</a:t>
            </a:r>
            <a:r>
              <a:rPr lang="en-US" altLang="zh-CN" dirty="0">
                <a:solidFill>
                  <a:schemeClr val="accent3">
                    <a:lumMod val="50000"/>
                  </a:schemeClr>
                </a:solidFill>
              </a:rPr>
              <a:t>e1</a:t>
            </a:r>
            <a:r>
              <a:rPr lang="zh-CN" altLang="en-US" dirty="0">
                <a:solidFill>
                  <a:schemeClr val="accent3">
                    <a:lumMod val="50000"/>
                  </a:schemeClr>
                </a:solidFill>
              </a:rPr>
              <a:t>对象</a:t>
            </a:r>
            <a:endParaRPr lang="en-US" altLang="zh-CN" dirty="0">
              <a:solidFill>
                <a:schemeClr val="accent3">
                  <a:lumMod val="50000"/>
                </a:schemeClr>
              </a:solidFill>
            </a:endParaRPr>
          </a:p>
          <a:p>
            <a:r>
              <a:rPr lang="zh-CN" altLang="en-US" dirty="0"/>
              <a:t>主要原因在于克隆的机制比较复杂，</a:t>
            </a:r>
            <a:r>
              <a:rPr lang="en-US" altLang="zh-CN" dirty="0"/>
              <a:t>java</a:t>
            </a:r>
            <a:r>
              <a:rPr lang="zh-CN" altLang="en-US" dirty="0"/>
              <a:t>加入标记接口的主要目的是</a:t>
            </a:r>
            <a:r>
              <a:rPr lang="zh-CN" altLang="en-US" dirty="0">
                <a:solidFill>
                  <a:srgbClr val="FF0000"/>
                </a:solidFill>
              </a:rPr>
              <a:t>提示确保</a:t>
            </a:r>
            <a:r>
              <a:rPr lang="zh-CN" altLang="en-US" dirty="0"/>
              <a:t>编写了正确和有效的克隆方法。</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048672"/>
          </a:xfrm>
        </p:spPr>
        <p:txBody>
          <a:bodyPr/>
          <a:lstStyle/>
          <a:p>
            <a:r>
              <a:rPr lang="zh-CN" altLang="en-US" dirty="0"/>
              <a:t>浅克隆和深克隆</a:t>
            </a:r>
            <a:endParaRPr lang="zh-CN" altLang="en-US" dirty="0"/>
          </a:p>
          <a:p>
            <a:pPr lvl="1"/>
            <a:r>
              <a:rPr lang="zh-CN" altLang="en-US" dirty="0"/>
              <a:t>浅克隆即把类中的域一一拷贝，如果域是基本数据类型，这没有问题；如果域是其他类的对象，则出现问题：域的值只是对象的引用，拷贝的域和原来的域指向同一个对象。</a:t>
            </a:r>
            <a:endParaRPr lang="zh-CN" altLang="en-US" dirty="0"/>
          </a:p>
        </p:txBody>
      </p:sp>
      <p:sp>
        <p:nvSpPr>
          <p:cNvPr id="4" name="圆角矩形 3"/>
          <p:cNvSpPr/>
          <p:nvPr/>
        </p:nvSpPr>
        <p:spPr>
          <a:xfrm>
            <a:off x="827584" y="3202310"/>
            <a:ext cx="129614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0x2233</a:t>
            </a:r>
            <a:endParaRPr lang="zh-CN" altLang="en-US" dirty="0"/>
          </a:p>
        </p:txBody>
      </p:sp>
      <p:sp>
        <p:nvSpPr>
          <p:cNvPr id="5" name="圆角矩形 4"/>
          <p:cNvSpPr/>
          <p:nvPr/>
        </p:nvSpPr>
        <p:spPr>
          <a:xfrm>
            <a:off x="827584" y="4293096"/>
            <a:ext cx="129614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0x2a45</a:t>
            </a:r>
            <a:endParaRPr lang="zh-CN" altLang="en-US" dirty="0"/>
          </a:p>
        </p:txBody>
      </p:sp>
      <p:sp>
        <p:nvSpPr>
          <p:cNvPr id="6" name="圆角矩形 5"/>
          <p:cNvSpPr/>
          <p:nvPr/>
        </p:nvSpPr>
        <p:spPr>
          <a:xfrm>
            <a:off x="3023456" y="2348880"/>
            <a:ext cx="2664296" cy="14401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t>name: 0xb001</a:t>
            </a:r>
            <a:endParaRPr lang="en-US" altLang="zh-CN" sz="2000" dirty="0"/>
          </a:p>
          <a:p>
            <a:pPr algn="ctr"/>
            <a:r>
              <a:rPr lang="en-US" altLang="zh-CN" sz="2000" dirty="0"/>
              <a:t>salary: 50000</a:t>
            </a:r>
            <a:endParaRPr lang="en-US" altLang="zh-CN" sz="2000" dirty="0"/>
          </a:p>
          <a:p>
            <a:pPr algn="ctr"/>
            <a:r>
              <a:rPr lang="en-US" altLang="zh-CN" sz="2000" dirty="0" err="1"/>
              <a:t>hireDay</a:t>
            </a:r>
            <a:r>
              <a:rPr lang="en-US" altLang="zh-CN" sz="2000" dirty="0"/>
              <a:t>: 0xc112</a:t>
            </a:r>
            <a:endParaRPr lang="zh-CN" altLang="en-US" sz="2000" dirty="0"/>
          </a:p>
        </p:txBody>
      </p:sp>
      <p:sp>
        <p:nvSpPr>
          <p:cNvPr id="7" name="圆角矩形 6"/>
          <p:cNvSpPr/>
          <p:nvPr/>
        </p:nvSpPr>
        <p:spPr>
          <a:xfrm>
            <a:off x="3002496" y="4344144"/>
            <a:ext cx="2664296" cy="14401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t>name: 0xb001</a:t>
            </a:r>
            <a:endParaRPr lang="en-US" altLang="zh-CN" sz="2000" dirty="0"/>
          </a:p>
          <a:p>
            <a:pPr algn="ctr"/>
            <a:r>
              <a:rPr lang="en-US" altLang="zh-CN" sz="2000" dirty="0"/>
              <a:t>salary: 50000</a:t>
            </a:r>
            <a:endParaRPr lang="en-US" altLang="zh-CN" sz="2000" dirty="0"/>
          </a:p>
          <a:p>
            <a:pPr algn="ctr"/>
            <a:r>
              <a:rPr lang="en-US" altLang="zh-CN" sz="2000" dirty="0" err="1"/>
              <a:t>hireDay</a:t>
            </a:r>
            <a:r>
              <a:rPr lang="en-US" altLang="zh-CN" sz="2000" dirty="0"/>
              <a:t>: 0xc112</a:t>
            </a:r>
            <a:endParaRPr lang="zh-CN" altLang="en-US" sz="2000" dirty="0"/>
          </a:p>
        </p:txBody>
      </p:sp>
      <p:cxnSp>
        <p:nvCxnSpPr>
          <p:cNvPr id="9" name="直接箭头连接符 8"/>
          <p:cNvCxnSpPr/>
          <p:nvPr/>
        </p:nvCxnSpPr>
        <p:spPr>
          <a:xfrm flipV="1">
            <a:off x="1907704" y="2636912"/>
            <a:ext cx="1115752" cy="7814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886744" y="4509120"/>
            <a:ext cx="1115752"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6660232" y="2636912"/>
            <a:ext cx="1800200" cy="5653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John Hell</a:t>
            </a:r>
            <a:endParaRPr lang="zh-CN" altLang="en-US" dirty="0"/>
          </a:p>
        </p:txBody>
      </p:sp>
      <p:sp>
        <p:nvSpPr>
          <p:cNvPr id="14" name="圆角矩形 13"/>
          <p:cNvSpPr/>
          <p:nvPr/>
        </p:nvSpPr>
        <p:spPr>
          <a:xfrm>
            <a:off x="6444208" y="4403204"/>
            <a:ext cx="2016224" cy="5653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2012-01-01</a:t>
            </a:r>
            <a:endParaRPr lang="zh-CN" altLang="en-US" dirty="0"/>
          </a:p>
        </p:txBody>
      </p:sp>
      <p:cxnSp>
        <p:nvCxnSpPr>
          <p:cNvPr id="15" name="直接箭头连接符 14"/>
          <p:cNvCxnSpPr>
            <a:endCxn id="13" idx="1"/>
          </p:cNvCxnSpPr>
          <p:nvPr/>
        </p:nvCxnSpPr>
        <p:spPr>
          <a:xfrm>
            <a:off x="5129876" y="2789312"/>
            <a:ext cx="1530356" cy="13029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5119430" y="3068960"/>
            <a:ext cx="1540802" cy="165618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5282276" y="3417007"/>
            <a:ext cx="1161932" cy="116412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14" idx="1"/>
          </p:cNvCxnSpPr>
          <p:nvPr/>
        </p:nvCxnSpPr>
        <p:spPr>
          <a:xfrm flipV="1">
            <a:off x="5282276" y="4685903"/>
            <a:ext cx="1161932" cy="68731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lstStyle/>
          <a:p>
            <a:pPr lvl="1"/>
            <a:r>
              <a:rPr lang="zh-CN" altLang="en-US" dirty="0"/>
              <a:t>在浅拷贝中，</a:t>
            </a:r>
            <a:r>
              <a:rPr lang="zh-CN" altLang="en-US" dirty="0">
                <a:solidFill>
                  <a:srgbClr val="FF0000"/>
                </a:solidFill>
              </a:rPr>
              <a:t>基本类型域</a:t>
            </a:r>
            <a:r>
              <a:rPr lang="zh-CN" altLang="en-US" dirty="0"/>
              <a:t>的修改不会相互影响，而对象域的修改会相互影响：拷贝的双方共享这些对象。所以需实现深拷贝（</a:t>
            </a:r>
            <a:r>
              <a:rPr lang="en-US" altLang="zh-CN" dirty="0"/>
              <a:t>String</a:t>
            </a:r>
            <a:r>
              <a:rPr lang="zh-CN" altLang="en-US" dirty="0"/>
              <a:t>是不可变的，共享它不会有问题。例子中</a:t>
            </a:r>
            <a:r>
              <a:rPr lang="en-US" altLang="zh-CN" dirty="0" err="1"/>
              <a:t>hireDay</a:t>
            </a:r>
            <a:r>
              <a:rPr lang="zh-CN" altLang="en-US" dirty="0"/>
              <a:t>用的是</a:t>
            </a:r>
            <a:r>
              <a:rPr lang="en-US" altLang="zh-CN" dirty="0"/>
              <a:t>Date</a:t>
            </a:r>
            <a:r>
              <a:rPr lang="zh-CN" altLang="en-US" dirty="0"/>
              <a:t>类，它是可变的，必须深拷贝）</a:t>
            </a:r>
            <a:endParaRPr lang="zh-CN" altLang="en-US" dirty="0"/>
          </a:p>
        </p:txBody>
      </p:sp>
      <p:sp>
        <p:nvSpPr>
          <p:cNvPr id="4" name="圆角矩形 3"/>
          <p:cNvSpPr/>
          <p:nvPr/>
        </p:nvSpPr>
        <p:spPr>
          <a:xfrm>
            <a:off x="524880" y="3511302"/>
            <a:ext cx="129614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0x2233</a:t>
            </a:r>
            <a:endParaRPr lang="zh-CN" altLang="en-US" dirty="0"/>
          </a:p>
        </p:txBody>
      </p:sp>
      <p:sp>
        <p:nvSpPr>
          <p:cNvPr id="5" name="圆角矩形 4"/>
          <p:cNvSpPr/>
          <p:nvPr/>
        </p:nvSpPr>
        <p:spPr>
          <a:xfrm>
            <a:off x="524880" y="4602088"/>
            <a:ext cx="129614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0x2a45</a:t>
            </a:r>
            <a:endParaRPr lang="zh-CN" altLang="en-US" dirty="0"/>
          </a:p>
        </p:txBody>
      </p:sp>
      <p:sp>
        <p:nvSpPr>
          <p:cNvPr id="6" name="圆角矩形 5"/>
          <p:cNvSpPr/>
          <p:nvPr/>
        </p:nvSpPr>
        <p:spPr>
          <a:xfrm>
            <a:off x="2720752" y="2657872"/>
            <a:ext cx="2664296" cy="14401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t>name: 0xb001</a:t>
            </a:r>
            <a:endParaRPr lang="en-US" altLang="zh-CN" sz="2000" dirty="0"/>
          </a:p>
          <a:p>
            <a:pPr algn="ctr"/>
            <a:r>
              <a:rPr lang="en-US" altLang="zh-CN" sz="2000" dirty="0"/>
              <a:t>salary: 50000</a:t>
            </a:r>
            <a:endParaRPr lang="en-US" altLang="zh-CN" sz="2000" dirty="0"/>
          </a:p>
          <a:p>
            <a:pPr algn="ctr"/>
            <a:r>
              <a:rPr lang="en-US" altLang="zh-CN" sz="2000" dirty="0" err="1"/>
              <a:t>hireDay</a:t>
            </a:r>
            <a:r>
              <a:rPr lang="en-US" altLang="zh-CN" sz="2000" dirty="0"/>
              <a:t>: </a:t>
            </a:r>
            <a:r>
              <a:rPr lang="en-US" altLang="zh-CN" sz="2000" dirty="0">
                <a:solidFill>
                  <a:srgbClr val="FF0000"/>
                </a:solidFill>
              </a:rPr>
              <a:t>0xc112</a:t>
            </a:r>
            <a:endParaRPr lang="zh-CN" altLang="en-US" sz="2000" dirty="0">
              <a:solidFill>
                <a:srgbClr val="FF0000"/>
              </a:solidFill>
            </a:endParaRPr>
          </a:p>
        </p:txBody>
      </p:sp>
      <p:sp>
        <p:nvSpPr>
          <p:cNvPr id="7" name="圆角矩形 6"/>
          <p:cNvSpPr/>
          <p:nvPr/>
        </p:nvSpPr>
        <p:spPr>
          <a:xfrm>
            <a:off x="2699792" y="4653136"/>
            <a:ext cx="2664296" cy="14401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t>name: 0xb001</a:t>
            </a:r>
            <a:endParaRPr lang="en-US" altLang="zh-CN" sz="2000" dirty="0"/>
          </a:p>
          <a:p>
            <a:pPr algn="ctr"/>
            <a:r>
              <a:rPr lang="en-US" altLang="zh-CN" sz="2000" dirty="0"/>
              <a:t>salary: 50000</a:t>
            </a:r>
            <a:endParaRPr lang="en-US" altLang="zh-CN" sz="2000" dirty="0"/>
          </a:p>
          <a:p>
            <a:pPr algn="ctr"/>
            <a:r>
              <a:rPr lang="en-US" altLang="zh-CN" sz="2000" dirty="0" err="1"/>
              <a:t>hireDay</a:t>
            </a:r>
            <a:r>
              <a:rPr lang="en-US" altLang="zh-CN" sz="2000" dirty="0"/>
              <a:t>: </a:t>
            </a:r>
            <a:r>
              <a:rPr lang="en-US" altLang="zh-CN" sz="2000" dirty="0">
                <a:solidFill>
                  <a:srgbClr val="FF0000"/>
                </a:solidFill>
              </a:rPr>
              <a:t>0xd0ca</a:t>
            </a:r>
            <a:endParaRPr lang="zh-CN" altLang="en-US" sz="2000" dirty="0">
              <a:solidFill>
                <a:srgbClr val="FF0000"/>
              </a:solidFill>
            </a:endParaRPr>
          </a:p>
        </p:txBody>
      </p:sp>
      <p:cxnSp>
        <p:nvCxnSpPr>
          <p:cNvPr id="8" name="直接箭头连接符 7"/>
          <p:cNvCxnSpPr/>
          <p:nvPr/>
        </p:nvCxnSpPr>
        <p:spPr>
          <a:xfrm flipV="1">
            <a:off x="1605000" y="2945904"/>
            <a:ext cx="1115752" cy="7814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584040" y="4818112"/>
            <a:ext cx="1115752"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圆角矩形 9"/>
          <p:cNvSpPr/>
          <p:nvPr/>
        </p:nvSpPr>
        <p:spPr>
          <a:xfrm>
            <a:off x="6359785" y="2657872"/>
            <a:ext cx="1800200" cy="5653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John Hell</a:t>
            </a:r>
            <a:endParaRPr lang="zh-CN" altLang="en-US" dirty="0"/>
          </a:p>
        </p:txBody>
      </p:sp>
      <p:sp>
        <p:nvSpPr>
          <p:cNvPr id="11" name="圆角矩形 10"/>
          <p:cNvSpPr/>
          <p:nvPr/>
        </p:nvSpPr>
        <p:spPr>
          <a:xfrm>
            <a:off x="6141504" y="5527898"/>
            <a:ext cx="2016224" cy="5653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2012-01-01</a:t>
            </a:r>
            <a:endParaRPr lang="zh-CN" altLang="en-US" dirty="0"/>
          </a:p>
        </p:txBody>
      </p:sp>
      <p:cxnSp>
        <p:nvCxnSpPr>
          <p:cNvPr id="12" name="直接箭头连接符 11"/>
          <p:cNvCxnSpPr>
            <a:endCxn id="10" idx="1"/>
          </p:cNvCxnSpPr>
          <p:nvPr/>
        </p:nvCxnSpPr>
        <p:spPr>
          <a:xfrm flipV="1">
            <a:off x="4829429" y="2940571"/>
            <a:ext cx="1530356" cy="10095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4816726" y="3041526"/>
            <a:ext cx="1543059" cy="19926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16" idx="1"/>
          </p:cNvCxnSpPr>
          <p:nvPr/>
        </p:nvCxnSpPr>
        <p:spPr>
          <a:xfrm>
            <a:off x="4979572" y="3727326"/>
            <a:ext cx="1272201" cy="59874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11" idx="1"/>
          </p:cNvCxnSpPr>
          <p:nvPr/>
        </p:nvCxnSpPr>
        <p:spPr>
          <a:xfrm>
            <a:off x="4979572" y="5705822"/>
            <a:ext cx="1161932" cy="10477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6251773" y="4043375"/>
            <a:ext cx="2016224" cy="5653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2012-01-01</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lstStyle/>
          <a:p>
            <a:r>
              <a:rPr lang="en-US" altLang="zh-CN" dirty="0" err="1"/>
              <a:t>Object.clone</a:t>
            </a:r>
            <a:r>
              <a:rPr lang="zh-CN" altLang="en-US" dirty="0"/>
              <a:t>并不知道子类的域是否对象，只能默认实现浅拷贝。</a:t>
            </a:r>
            <a:endParaRPr lang="en-US" altLang="zh-CN" dirty="0"/>
          </a:p>
          <a:p>
            <a:r>
              <a:rPr lang="zh-CN" altLang="en-US" dirty="0"/>
              <a:t>因而在设计类时，对于每一个类需要确定：</a:t>
            </a:r>
            <a:endParaRPr lang="en-US" altLang="zh-CN" dirty="0"/>
          </a:p>
          <a:p>
            <a:pPr lvl="1"/>
            <a:r>
              <a:rPr lang="zh-CN" altLang="en-US" dirty="0"/>
              <a:t>是否应该使用克隆？如果否，则类中不需要</a:t>
            </a:r>
            <a:r>
              <a:rPr lang="en-US" altLang="zh-CN" dirty="0" err="1"/>
              <a:t>Cloneable</a:t>
            </a:r>
            <a:r>
              <a:rPr lang="zh-CN" altLang="en-US" dirty="0"/>
              <a:t>；如果是，则必须实现</a:t>
            </a:r>
            <a:r>
              <a:rPr lang="en-US" altLang="zh-CN" dirty="0" err="1"/>
              <a:t>Cloneable</a:t>
            </a:r>
            <a:r>
              <a:rPr lang="zh-CN" altLang="en-US" dirty="0"/>
              <a:t>接口，重定义公有的克隆方法</a:t>
            </a:r>
            <a:br>
              <a:rPr lang="en-US" altLang="zh-CN" dirty="0"/>
            </a:br>
            <a:r>
              <a:rPr lang="en-US" altLang="zh-CN" dirty="0">
                <a:solidFill>
                  <a:srgbClr val="FF0000"/>
                </a:solidFill>
              </a:rPr>
              <a:t>public</a:t>
            </a:r>
            <a:r>
              <a:rPr lang="en-US" altLang="zh-CN" dirty="0"/>
              <a:t> clone()</a:t>
            </a:r>
            <a:endParaRPr lang="en-US" altLang="zh-CN" dirty="0"/>
          </a:p>
          <a:p>
            <a:pPr lvl="2"/>
            <a:r>
              <a:rPr lang="zh-CN" altLang="en-US" dirty="0"/>
              <a:t>默认的</a:t>
            </a:r>
            <a:r>
              <a:rPr lang="en-US" altLang="zh-CN" dirty="0"/>
              <a:t>clone</a:t>
            </a:r>
            <a:r>
              <a:rPr lang="zh-CN" altLang="en-US" dirty="0"/>
              <a:t>是否满足要求，如果是，调用父类的默认</a:t>
            </a:r>
            <a:r>
              <a:rPr lang="en-US" altLang="zh-CN" dirty="0"/>
              <a:t>clone</a:t>
            </a:r>
            <a:r>
              <a:rPr lang="zh-CN" altLang="en-US" dirty="0"/>
              <a:t>方法；如果否，则</a:t>
            </a:r>
            <a:endParaRPr lang="en-US" altLang="zh-CN" dirty="0"/>
          </a:p>
          <a:p>
            <a:pPr lvl="2"/>
            <a:r>
              <a:rPr lang="zh-CN" altLang="en-US" dirty="0"/>
              <a:t>在重定义的方法中实现深拷贝</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normAutofit fontScale="92500" lnSpcReduction="10000"/>
          </a:bodyPr>
          <a:lstStyle/>
          <a:p>
            <a:pPr marL="274320" lvl="1" indent="0">
              <a:buNone/>
            </a:pPr>
            <a:r>
              <a:rPr lang="en-US" altLang="zh-CN" dirty="0"/>
              <a:t>public class Employee implements </a:t>
            </a:r>
            <a:r>
              <a:rPr lang="en-US" altLang="zh-CN" dirty="0" err="1"/>
              <a:t>Cloneable</a:t>
            </a:r>
            <a:endParaRPr lang="en-US" altLang="zh-CN" dirty="0"/>
          </a:p>
          <a:p>
            <a:pPr marL="274320" lvl="1" indent="0">
              <a:buNone/>
            </a:pPr>
            <a:r>
              <a:rPr lang="en-US" altLang="zh-CN" dirty="0"/>
              <a:t>{</a:t>
            </a:r>
            <a:endParaRPr lang="en-US" altLang="zh-CN" dirty="0"/>
          </a:p>
          <a:p>
            <a:pPr marL="274320" lvl="1" indent="0">
              <a:buNone/>
            </a:pPr>
            <a:r>
              <a:rPr lang="en-US" altLang="zh-CN" dirty="0"/>
              <a:t>   private String name;</a:t>
            </a:r>
            <a:endParaRPr lang="en-US" altLang="zh-CN" dirty="0"/>
          </a:p>
          <a:p>
            <a:pPr marL="274320" lvl="1" indent="0">
              <a:buNone/>
            </a:pPr>
            <a:r>
              <a:rPr lang="en-US" altLang="zh-CN" dirty="0"/>
              <a:t>   private double salary;</a:t>
            </a:r>
            <a:endParaRPr lang="en-US" altLang="zh-CN" dirty="0"/>
          </a:p>
          <a:p>
            <a:pPr marL="274320" lvl="1" indent="0">
              <a:buNone/>
            </a:pPr>
            <a:r>
              <a:rPr lang="en-US" altLang="zh-CN" dirty="0"/>
              <a:t>   private </a:t>
            </a:r>
            <a:r>
              <a:rPr lang="en-US" altLang="zh-CN" dirty="0">
                <a:solidFill>
                  <a:srgbClr val="FF0000"/>
                </a:solidFill>
              </a:rPr>
              <a:t>Date</a:t>
            </a:r>
            <a:r>
              <a:rPr lang="en-US" altLang="zh-CN" dirty="0"/>
              <a:t> </a:t>
            </a:r>
            <a:r>
              <a:rPr lang="en-US" altLang="zh-CN" dirty="0" err="1"/>
              <a:t>hireDay</a:t>
            </a: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可变类</a:t>
            </a:r>
            <a:endParaRPr lang="en-US" altLang="zh-CN" dirty="0">
              <a:solidFill>
                <a:schemeClr val="accent3">
                  <a:lumMod val="50000"/>
                </a:schemeClr>
              </a:solidFill>
            </a:endParaRPr>
          </a:p>
          <a:p>
            <a:pPr marL="274320" lvl="1" indent="0">
              <a:buNone/>
            </a:pPr>
            <a:r>
              <a:rPr lang="en-US" altLang="zh-CN" dirty="0"/>
              <a:t>   ……</a:t>
            </a:r>
            <a:endParaRPr lang="en-US" altLang="zh-CN" dirty="0"/>
          </a:p>
          <a:p>
            <a:pPr marL="274320" lvl="1" indent="0">
              <a:buNone/>
            </a:pPr>
            <a:r>
              <a:rPr lang="en-US" altLang="zh-CN" dirty="0"/>
              <a:t>   public Employee clone() throws 					                                  </a:t>
            </a:r>
            <a:r>
              <a:rPr lang="en-US" altLang="zh-CN" dirty="0" err="1"/>
              <a:t>CloneNotSupportedException</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chemeClr val="accent3">
                    <a:lumMod val="50000"/>
                  </a:schemeClr>
                </a:solidFill>
              </a:rPr>
              <a:t>// call </a:t>
            </a:r>
            <a:r>
              <a:rPr lang="en-US" altLang="zh-CN" dirty="0" err="1">
                <a:solidFill>
                  <a:schemeClr val="accent3">
                    <a:lumMod val="50000"/>
                  </a:schemeClr>
                </a:solidFill>
              </a:rPr>
              <a:t>Object.clone</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      Employee cloned = (Employee) </a:t>
            </a:r>
            <a:r>
              <a:rPr lang="en-US" altLang="zh-CN" dirty="0" err="1"/>
              <a:t>super.clone</a:t>
            </a:r>
            <a:r>
              <a:rPr lang="en-US" altLang="zh-CN" dirty="0"/>
              <a:t>();</a:t>
            </a:r>
            <a:endParaRPr lang="en-US" altLang="zh-CN" dirty="0"/>
          </a:p>
          <a:p>
            <a:pPr marL="274320" lvl="1" indent="0">
              <a:buNone/>
            </a:pPr>
            <a:r>
              <a:rPr lang="en-US" altLang="zh-CN" dirty="0">
                <a:solidFill>
                  <a:schemeClr val="accent3">
                    <a:lumMod val="50000"/>
                  </a:schemeClr>
                </a:solidFill>
              </a:rPr>
              <a:t>      // </a:t>
            </a:r>
            <a:r>
              <a:rPr lang="zh-CN" altLang="en-US" dirty="0">
                <a:solidFill>
                  <a:schemeClr val="accent3">
                    <a:lumMod val="50000"/>
                  </a:schemeClr>
                </a:solidFill>
              </a:rPr>
              <a:t>调用</a:t>
            </a:r>
            <a:r>
              <a:rPr lang="en-US" altLang="zh-CN" dirty="0">
                <a:solidFill>
                  <a:schemeClr val="accent3">
                    <a:lumMod val="50000"/>
                  </a:schemeClr>
                </a:solidFill>
              </a:rPr>
              <a:t>Date</a:t>
            </a:r>
            <a:r>
              <a:rPr lang="zh-CN" altLang="en-US" dirty="0">
                <a:solidFill>
                  <a:schemeClr val="accent3">
                    <a:lumMod val="50000"/>
                  </a:schemeClr>
                </a:solidFill>
              </a:rPr>
              <a:t>中的</a:t>
            </a:r>
            <a:r>
              <a:rPr lang="en-US" altLang="zh-CN" dirty="0">
                <a:solidFill>
                  <a:schemeClr val="accent3">
                    <a:lumMod val="50000"/>
                  </a:schemeClr>
                </a:solidFill>
              </a:rPr>
              <a:t>clone</a:t>
            </a:r>
            <a:r>
              <a:rPr lang="zh-CN" altLang="en-US" dirty="0">
                <a:solidFill>
                  <a:schemeClr val="accent3">
                    <a:lumMod val="50000"/>
                  </a:schemeClr>
                </a:solidFill>
              </a:rPr>
              <a:t>，实现</a:t>
            </a:r>
            <a:r>
              <a:rPr lang="en-US" altLang="zh-CN" dirty="0" err="1">
                <a:solidFill>
                  <a:schemeClr val="accent3">
                    <a:lumMod val="50000"/>
                  </a:schemeClr>
                </a:solidFill>
              </a:rPr>
              <a:t>hireDay</a:t>
            </a:r>
            <a:r>
              <a:rPr lang="zh-CN" altLang="en-US" dirty="0">
                <a:solidFill>
                  <a:schemeClr val="accent3">
                    <a:lumMod val="50000"/>
                  </a:schemeClr>
                </a:solidFill>
              </a:rPr>
              <a:t>的深拷贝</a:t>
            </a:r>
            <a:r>
              <a:rPr lang="en-US" altLang="zh-CN" dirty="0">
                <a:solidFill>
                  <a:schemeClr val="accent3">
                    <a:lumMod val="50000"/>
                  </a:schemeClr>
                </a:solidFill>
              </a:rPr>
              <a:t> </a:t>
            </a:r>
            <a:endParaRPr lang="en-US" altLang="zh-CN" dirty="0">
              <a:solidFill>
                <a:schemeClr val="accent3">
                  <a:lumMod val="50000"/>
                </a:schemeClr>
              </a:solidFill>
            </a:endParaRPr>
          </a:p>
          <a:p>
            <a:pPr marL="274320" lvl="1" indent="0">
              <a:buNone/>
            </a:pPr>
            <a:r>
              <a:rPr lang="en-US" altLang="zh-CN" dirty="0">
                <a:solidFill>
                  <a:schemeClr val="accent3">
                    <a:lumMod val="50000"/>
                  </a:schemeClr>
                </a:solidFill>
              </a:rPr>
              <a:t>      </a:t>
            </a:r>
            <a:r>
              <a:rPr lang="en-US" altLang="zh-CN" dirty="0" err="1"/>
              <a:t>cloned.hireDay</a:t>
            </a:r>
            <a:r>
              <a:rPr lang="en-US" altLang="zh-CN" dirty="0"/>
              <a:t> = (Date) </a:t>
            </a:r>
            <a:r>
              <a:rPr lang="en-US" altLang="zh-CN" dirty="0" err="1"/>
              <a:t>hireDay.clone</a:t>
            </a:r>
            <a:r>
              <a:rPr lang="en-US" altLang="zh-CN" dirty="0"/>
              <a:t>();</a:t>
            </a:r>
            <a:endParaRPr lang="en-US" altLang="zh-CN" dirty="0"/>
          </a:p>
          <a:p>
            <a:pPr marL="274320" lvl="1" indent="0">
              <a:buNone/>
            </a:pPr>
            <a:r>
              <a:rPr lang="en-US" altLang="zh-CN" dirty="0"/>
              <a:t>      return cloned;</a:t>
            </a:r>
            <a:endParaRPr lang="en-US" altLang="zh-CN" dirty="0"/>
          </a:p>
          <a:p>
            <a:pPr marL="274320" lvl="1" indent="0">
              <a:buNone/>
            </a:pPr>
            <a:r>
              <a:rPr lang="en-US" altLang="zh-CN" dirty="0"/>
              <a:t>   }</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688632"/>
          </a:xfrm>
        </p:spPr>
        <p:txBody>
          <a:bodyPr/>
          <a:lstStyle/>
          <a:p>
            <a:r>
              <a:rPr lang="en-US" altLang="zh-CN" dirty="0"/>
              <a:t>Manager</a:t>
            </a:r>
            <a:r>
              <a:rPr lang="zh-CN" altLang="en-US" dirty="0"/>
              <a:t>继承了</a:t>
            </a:r>
            <a:r>
              <a:rPr lang="en-US" altLang="zh-CN" dirty="0"/>
              <a:t>Employee</a:t>
            </a:r>
            <a:r>
              <a:rPr lang="zh-CN" altLang="en-US" dirty="0"/>
              <a:t>中的</a:t>
            </a:r>
            <a:r>
              <a:rPr lang="en-US" altLang="zh-CN" dirty="0"/>
              <a:t>public clone</a:t>
            </a:r>
            <a:r>
              <a:rPr lang="zh-CN" altLang="en-US" dirty="0"/>
              <a:t>，由于</a:t>
            </a:r>
            <a:r>
              <a:rPr lang="en-US" altLang="zh-CN" dirty="0"/>
              <a:t>bonus</a:t>
            </a:r>
            <a:r>
              <a:rPr lang="zh-CN" altLang="en-US" dirty="0"/>
              <a:t>属性是基本类型，不需要再改写了。</a:t>
            </a:r>
            <a:endParaRPr lang="en-US" altLang="zh-CN" dirty="0"/>
          </a:p>
          <a:p>
            <a:r>
              <a:rPr lang="en-US" altLang="zh-CN" dirty="0"/>
              <a:t>Java</a:t>
            </a:r>
            <a:r>
              <a:rPr lang="zh-CN" altLang="en-US" dirty="0"/>
              <a:t>的数组类型重写了公有的</a:t>
            </a:r>
            <a:r>
              <a:rPr lang="en-US" altLang="zh-CN" dirty="0"/>
              <a:t>clone</a:t>
            </a:r>
            <a:r>
              <a:rPr lang="zh-CN" altLang="en-US" dirty="0"/>
              <a:t>方法，故基本类型的数组是可以克隆的。如果数组的元素是对象，</a:t>
            </a:r>
            <a:r>
              <a:rPr lang="zh-CN" altLang="en-US"/>
              <a:t>同样需要考虑前面</a:t>
            </a:r>
            <a:r>
              <a:rPr lang="zh-CN" altLang="en-US" dirty="0"/>
              <a:t>提到的</a:t>
            </a:r>
            <a:r>
              <a:rPr lang="zh-CN" altLang="en-US"/>
              <a:t>问题，看对象是不是需要深拷贝。</a:t>
            </a:r>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基本">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基本">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Essential</Template>
  <TotalTime>0</TotalTime>
  <Words>12950</Words>
  <Application>WPS 演示</Application>
  <PresentationFormat>全屏显示(4:3)</PresentationFormat>
  <Paragraphs>490</Paragraphs>
  <Slides>47</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47</vt:i4>
      </vt:variant>
    </vt:vector>
  </HeadingPairs>
  <TitlesOfParts>
    <vt:vector size="63" baseType="lpstr">
      <vt:lpstr>Arial</vt:lpstr>
      <vt:lpstr>宋体</vt:lpstr>
      <vt:lpstr>Wingdings</vt:lpstr>
      <vt:lpstr>华文宋体</vt:lpstr>
      <vt:lpstr>Arial Black</vt:lpstr>
      <vt:lpstr>微软雅黑</vt:lpstr>
      <vt:lpstr>汉仪旗黑</vt:lpstr>
      <vt:lpstr>黑体</vt:lpstr>
      <vt:lpstr>汉仪中黑KW</vt:lpstr>
      <vt:lpstr>微软雅黑</vt:lpstr>
      <vt:lpstr>宋体</vt:lpstr>
      <vt:lpstr>Arial Unicode MS</vt:lpstr>
      <vt:lpstr>Calibri</vt:lpstr>
      <vt:lpstr>Helvetica Neue</vt:lpstr>
      <vt:lpstr>汉仪书宋二KW</vt:lpstr>
      <vt:lpstr>基本</vt:lpstr>
      <vt:lpstr>Java 程序设计</vt:lpstr>
      <vt:lpstr>7  接口</vt:lpstr>
      <vt:lpstr>7.1  接口概念</vt:lpstr>
      <vt:lpstr>7.1.1  一个简单示例</vt:lpstr>
      <vt:lpstr>PowerPoint 演示文稿</vt:lpstr>
      <vt:lpstr>PowerPoint 演示文稿</vt:lpstr>
      <vt:lpstr>PowerPoint 演示文稿</vt:lpstr>
      <vt:lpstr>PowerPoint 演示文稿</vt:lpstr>
      <vt:lpstr>7.1.2  Comparable接口</vt:lpstr>
      <vt:lpstr>PowerPoint 演示文稿</vt:lpstr>
      <vt:lpstr>PowerPoint 演示文稿</vt:lpstr>
      <vt:lpstr>PowerPoint 演示文稿</vt:lpstr>
      <vt:lpstr>PowerPoint 演示文稿</vt:lpstr>
      <vt:lpstr>PowerPoint 演示文稿</vt:lpstr>
      <vt:lpstr>7.1.3  接口的特性</vt:lpstr>
      <vt:lpstr>PowerPoint 演示文稿</vt:lpstr>
      <vt:lpstr>static方法和default方法 </vt:lpstr>
      <vt:lpstr>PowerPoint 演示文稿</vt:lpstr>
      <vt:lpstr>PowerPoint 演示文稿</vt:lpstr>
      <vt:lpstr>PowerPoint 演示文稿</vt:lpstr>
      <vt:lpstr>7.1.4  方法冲突问题</vt:lpstr>
      <vt:lpstr>PowerPoint 演示文稿</vt:lpstr>
      <vt:lpstr>PowerPoint 演示文稿</vt:lpstr>
      <vt:lpstr>PowerPoint 演示文稿</vt:lpstr>
      <vt:lpstr>7.2  接口实例</vt:lpstr>
      <vt:lpstr>7.2.1  ActionListener</vt:lpstr>
      <vt:lpstr>PowerPoint 演示文稿</vt:lpstr>
      <vt:lpstr>PowerPoint 演示文稿</vt:lpstr>
      <vt:lpstr>PowerPoint 演示文稿</vt:lpstr>
      <vt:lpstr>PowerPoint 演示文稿</vt:lpstr>
      <vt:lpstr>7.2.2  Comparator接口</vt:lpstr>
      <vt:lpstr>PowerPoint 演示文稿</vt:lpstr>
      <vt:lpstr>7.2.3  Cloneable接口</vt:lpstr>
      <vt:lpstr>PowerPoint 演示文稿</vt:lpstr>
      <vt:lpstr>PowerPoint 演示文稿</vt:lpstr>
      <vt:lpstr>PowerPoint 演示文稿</vt:lpstr>
      <vt:lpstr>PowerPoint 演示文稿</vt:lpstr>
      <vt:lpstr>PowerPoint 演示文稿</vt:lpstr>
      <vt:lpstr>关于protected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面向对象程序设计----Java</dc:title>
  <dc:creator>hyq</dc:creator>
  <cp:lastModifiedBy>WPS_1667213079</cp:lastModifiedBy>
  <cp:revision>149</cp:revision>
  <dcterms:created xsi:type="dcterms:W3CDTF">2024-05-22T00:09:02Z</dcterms:created>
  <dcterms:modified xsi:type="dcterms:W3CDTF">2024-05-22T00:09:02Z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2052-6.5.1.8687</vt:lpwstr>
  </property>
  <property fmtid="{D5CDD505-2E9C-101B-9397-08002B2CF9AE}" pid="3" name="ICV">
    <vt:lpwstr>D7C6C452CA6D9BE19D374D6611317B10_43</vt:lpwstr>
  </property>
</Properties>
</file>