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85" r:id="rId3"/>
    <p:sldId id="257" r:id="rId4"/>
    <p:sldId id="283" r:id="rId5"/>
    <p:sldId id="28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82" r:id="rId23"/>
    <p:sldId id="274" r:id="rId24"/>
    <p:sldId id="276" r:id="rId25"/>
    <p:sldId id="273" r:id="rId26"/>
    <p:sldId id="275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E825A-9DAF-477B-AC5C-4050AFD6B1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C47105-71C5-4BF5-AD58-12C73EDD56E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cap="none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none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537"/>
            <a:ext cx="1242239" cy="103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075240" cy="683994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256584"/>
          </a:xfrm>
        </p:spPr>
        <p:txBody>
          <a:bodyPr/>
          <a:lstStyle>
            <a:lvl1pPr marL="0" indent="0" defTabSz="1080135">
              <a:spcBef>
                <a:spcPts val="600"/>
              </a:spcBef>
              <a:spcAft>
                <a:spcPts val="0"/>
              </a:spcAft>
              <a:buFont typeface="Arial" panose="020B0704020202020204" pitchFamily="34" charset="0"/>
              <a:buChar char="•"/>
              <a:defRPr sz="2800" b="0" i="0" baseline="0">
                <a:solidFill>
                  <a:schemeClr val="tx1"/>
                </a:solidFill>
                <a:ea typeface="华文宋体" panose="02010600040101010101" pitchFamily="2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400" baseline="0">
                <a:solidFill>
                  <a:schemeClr val="tx2">
                    <a:lumMod val="75000"/>
                  </a:schemeClr>
                </a:solidFill>
              </a:defRPr>
            </a:lvl2pPr>
            <a:lvl3pPr>
              <a:spcBef>
                <a:spcPts val="600"/>
              </a:spcBef>
              <a:defRPr sz="2400"/>
            </a:lvl3pPr>
            <a:lvl4pPr>
              <a:lnSpc>
                <a:spcPct val="100000"/>
              </a:lnSpc>
              <a:spcBef>
                <a:spcPts val="600"/>
              </a:spcBef>
              <a:defRPr sz="2400"/>
            </a:lvl4pPr>
            <a:lvl5pPr>
              <a:spcBef>
                <a:spcPts val="600"/>
              </a:spcBef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8401-C238-4940-8B37-740CB2A88BB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7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7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mailto:heyq@cugb.edu.cn" TargetMode="Externa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45"/>
            <a:ext cx="3976795" cy="255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1628800"/>
            <a:ext cx="4608512" cy="147002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Java </a:t>
            </a:r>
            <a:r>
              <a:rPr lang="zh-CN" altLang="en-US" sz="4800" dirty="0"/>
              <a:t>程序设计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9592" y="3789040"/>
            <a:ext cx="7772400" cy="1656184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/>
              <a:t>何勇强</a:t>
            </a:r>
            <a:endParaRPr lang="en-US" altLang="zh-CN" sz="2800" dirty="0"/>
          </a:p>
          <a:p>
            <a:pPr algn="l"/>
            <a:r>
              <a:rPr lang="en-US" altLang="zh-CN" sz="2800" dirty="0">
                <a:hlinkClick r:id="rId2"/>
              </a:rPr>
              <a:t>heyq@cugb.edu.cn</a:t>
            </a:r>
            <a:endParaRPr lang="en-US" altLang="zh-CN" sz="2800" dirty="0"/>
          </a:p>
          <a:p>
            <a:pPr algn="l"/>
            <a:r>
              <a:rPr lang="en-US" altLang="zh-CN" sz="2800"/>
              <a:t>18810819390</a:t>
            </a:r>
            <a:endParaRPr lang="en-US" altLang="zh-CN" sz="2800" dirty="0"/>
          </a:p>
          <a:p>
            <a:pPr algn="l"/>
            <a:r>
              <a:rPr lang="en-US" altLang="zh-CN" sz="2800" dirty="0"/>
              <a:t>                                      2024-2</a:t>
            </a:r>
            <a:endParaRPr lang="zh-CN" alt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884600" y="2638521"/>
            <a:ext cx="266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solidFill>
                  <a:srgbClr val="0070C0"/>
                </a:solidFill>
              </a:rPr>
              <a:t>本科生公共课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  </a:t>
            </a:r>
            <a:r>
              <a:rPr lang="zh-CN" altLang="en-US" dirty="0"/>
              <a:t>泛型程序设计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Java5.0</a:t>
            </a:r>
            <a:r>
              <a:rPr lang="zh-CN" altLang="en-US" dirty="0"/>
              <a:t>增加了泛型程序设计</a:t>
            </a:r>
            <a:r>
              <a:rPr lang="en-US" altLang="zh-CN" dirty="0"/>
              <a:t>(Generic programming)</a:t>
            </a:r>
            <a:r>
              <a:rPr lang="zh-CN" altLang="en-US" dirty="0"/>
              <a:t>的机制，是指可以被多种不同类型的对象所重用的程序设计方法。</a:t>
            </a:r>
            <a:endParaRPr lang="en-US" altLang="zh-CN" dirty="0"/>
          </a:p>
          <a:p>
            <a:r>
              <a:rPr lang="zh-CN" altLang="en-US" dirty="0"/>
              <a:t>在泛型引入之前，</a:t>
            </a:r>
            <a:r>
              <a:rPr lang="en-US" altLang="zh-CN" dirty="0"/>
              <a:t>java</a:t>
            </a:r>
            <a:r>
              <a:rPr lang="zh-CN" altLang="en-US" dirty="0"/>
              <a:t>使用继承实现泛型设计，尤其在集合中使用。比那些直接使用</a:t>
            </a:r>
            <a:r>
              <a:rPr lang="en-US" altLang="zh-CN" dirty="0"/>
              <a:t>Object</a:t>
            </a:r>
            <a:r>
              <a:rPr lang="zh-CN" altLang="en-US" dirty="0"/>
              <a:t>变量，然后强制类型转换的代码，泛型代码具有更好的安全性和可读性。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4664"/>
            <a:ext cx="8075240" cy="5832648"/>
          </a:xfrm>
        </p:spPr>
        <p:txBody>
          <a:bodyPr>
            <a:normAutofit/>
          </a:bodyPr>
          <a:lstStyle/>
          <a:p>
            <a:r>
              <a:rPr lang="zh-CN" altLang="en-US" dirty="0"/>
              <a:t>由于</a:t>
            </a:r>
            <a:r>
              <a:rPr lang="en-US" altLang="zh-CN" dirty="0"/>
              <a:t>java</a:t>
            </a:r>
            <a:r>
              <a:rPr lang="zh-CN" altLang="en-US" dirty="0"/>
              <a:t>中的继承关系，下面的代码成立：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String s="disk";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a=10;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Double b=20.0;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LocalDate</a:t>
            </a:r>
            <a:r>
              <a:rPr lang="en-US" altLang="zh-CN" dirty="0"/>
              <a:t> </a:t>
            </a:r>
            <a:r>
              <a:rPr lang="en-US" altLang="zh-CN" dirty="0" err="1"/>
              <a:t>ld</a:t>
            </a:r>
            <a:r>
              <a:rPr lang="en-US" altLang="zh-CN" dirty="0"/>
              <a:t>=</a:t>
            </a:r>
            <a:r>
              <a:rPr lang="en-US" altLang="zh-CN" dirty="0" err="1"/>
              <a:t>LocalDate.now</a:t>
            </a:r>
            <a:r>
              <a:rPr lang="en-US" altLang="zh-CN" dirty="0"/>
              <a:t>();	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Object[] </a:t>
            </a:r>
            <a:r>
              <a:rPr lang="en-US" altLang="zh-CN" dirty="0" err="1">
                <a:solidFill>
                  <a:srgbClr val="FF0000"/>
                </a:solidFill>
              </a:rPr>
              <a:t>objArray</a:t>
            </a:r>
            <a:r>
              <a:rPr lang="en-US" altLang="zh-CN" dirty="0"/>
              <a:t>=new Object[4];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objArray</a:t>
            </a:r>
            <a:r>
              <a:rPr lang="en-US" altLang="zh-CN" dirty="0"/>
              <a:t>[0]=s;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objArray</a:t>
            </a:r>
            <a:r>
              <a:rPr lang="en-US" altLang="zh-CN" dirty="0"/>
              <a:t>[1]=a;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objArray</a:t>
            </a:r>
            <a:r>
              <a:rPr lang="en-US" altLang="zh-CN" dirty="0"/>
              <a:t>[2]=b;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objArray</a:t>
            </a:r>
            <a:r>
              <a:rPr lang="en-US" altLang="zh-CN" dirty="0"/>
              <a:t>[3]=</a:t>
            </a:r>
            <a:r>
              <a:rPr lang="en-US" altLang="zh-CN" dirty="0" err="1"/>
              <a:t>ld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objArray.length;i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objArray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]);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看起来数组</a:t>
            </a:r>
            <a:r>
              <a:rPr lang="en-US" altLang="zh-CN" dirty="0" err="1"/>
              <a:t>objArray</a:t>
            </a:r>
            <a:r>
              <a:rPr lang="zh-CN" altLang="en-US" dirty="0"/>
              <a:t>具有“通用”的特征。</a:t>
            </a:r>
            <a:endParaRPr lang="en-US" altLang="zh-CN" dirty="0"/>
          </a:p>
          <a:p>
            <a:pPr lvl="1"/>
            <a:r>
              <a:rPr lang="zh-CN" altLang="en-US" dirty="0"/>
              <a:t>但是如下的调用不合法：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objArray</a:t>
            </a:r>
            <a:r>
              <a:rPr lang="en-US" altLang="zh-CN" dirty="0"/>
              <a:t>[0].length()</a:t>
            </a:r>
            <a:endParaRPr lang="en-US" altLang="zh-CN" dirty="0"/>
          </a:p>
          <a:p>
            <a:pPr lvl="1"/>
            <a:r>
              <a:rPr lang="zh-CN" altLang="en-US" dirty="0"/>
              <a:t>必须写成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( (String) </a:t>
            </a:r>
            <a:r>
              <a:rPr lang="en-US" altLang="zh-CN" dirty="0" err="1"/>
              <a:t>objArray</a:t>
            </a:r>
            <a:r>
              <a:rPr lang="en-US" altLang="zh-CN" dirty="0"/>
              <a:t>[0] ). length()</a:t>
            </a:r>
            <a:endParaRPr lang="en-US" altLang="zh-CN" dirty="0"/>
          </a:p>
          <a:p>
            <a:pPr lvl="1"/>
            <a:r>
              <a:rPr lang="zh-CN" altLang="en-US" dirty="0"/>
              <a:t>严格一点，应该是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if (</a:t>
            </a:r>
            <a:r>
              <a:rPr lang="en-US" altLang="zh-CN" dirty="0" err="1"/>
              <a:t>objArray</a:t>
            </a:r>
            <a:r>
              <a:rPr lang="en-US" altLang="zh-CN" dirty="0"/>
              <a:t>[0] </a:t>
            </a:r>
            <a:r>
              <a:rPr lang="en-US" altLang="zh-CN" dirty="0" err="1"/>
              <a:t>instanceof</a:t>
            </a:r>
            <a:r>
              <a:rPr lang="en-US" altLang="zh-CN" dirty="0"/>
              <a:t> String)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		( (String) </a:t>
            </a:r>
            <a:r>
              <a:rPr lang="en-US" altLang="zh-CN" dirty="0" err="1"/>
              <a:t>objArray</a:t>
            </a:r>
            <a:r>
              <a:rPr lang="en-US" altLang="zh-CN" dirty="0"/>
              <a:t>[0] ). length()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可见这样的代码不仅繁琐，安全性也要考虑。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9.1  </a:t>
            </a:r>
            <a:r>
              <a:rPr lang="zh-CN" altLang="en-US" dirty="0"/>
              <a:t>为何引入泛型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624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Java5.0</a:t>
            </a:r>
            <a:r>
              <a:rPr lang="zh-CN" altLang="en-US" dirty="0"/>
              <a:t>之前已经有了</a:t>
            </a:r>
            <a:r>
              <a:rPr lang="en-US" altLang="zh-CN" dirty="0" err="1"/>
              <a:t>ArrayList</a:t>
            </a:r>
            <a:r>
              <a:rPr lang="zh-CN" altLang="en-US" dirty="0"/>
              <a:t>类，</a:t>
            </a:r>
            <a:r>
              <a:rPr lang="en-US" altLang="zh-CN" dirty="0" err="1"/>
              <a:t>ArrayList</a:t>
            </a:r>
            <a:r>
              <a:rPr lang="zh-CN" altLang="en-US" dirty="0"/>
              <a:t>类只维护一个</a:t>
            </a:r>
            <a:r>
              <a:rPr lang="en-US" altLang="zh-CN" dirty="0"/>
              <a:t>Object</a:t>
            </a:r>
            <a:r>
              <a:rPr lang="zh-CN" altLang="en-US" dirty="0"/>
              <a:t>引用的数组：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</a:t>
            </a:r>
            <a:r>
              <a:rPr lang="en-US" altLang="zh-CN" dirty="0" err="1"/>
              <a:t>ArraryList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private </a:t>
            </a:r>
            <a:r>
              <a:rPr lang="en-US" altLang="zh-CN" dirty="0">
                <a:solidFill>
                  <a:srgbClr val="FF0000"/>
                </a:solidFill>
              </a:rPr>
              <a:t>Object</a:t>
            </a:r>
            <a:r>
              <a:rPr lang="en-US" altLang="zh-CN" dirty="0"/>
              <a:t>[] </a:t>
            </a:r>
            <a:r>
              <a:rPr lang="en-US" altLang="zh-CN" dirty="0" err="1"/>
              <a:t>elementData</a:t>
            </a:r>
            <a:r>
              <a:rPr lang="en-US" altLang="zh-CN" dirty="0"/>
              <a:t>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...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Object get(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){...}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void add(Object o){...}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第一个问题，获取一个值时必须进行类型转换：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 err="1"/>
              <a:t>ArrayList</a:t>
            </a:r>
            <a:r>
              <a:rPr lang="en-US" altLang="zh-CN" dirty="0"/>
              <a:t> files = new </a:t>
            </a:r>
            <a:r>
              <a:rPr lang="en-US" altLang="zh-CN" dirty="0" err="1"/>
              <a:t>ArrayList</a:t>
            </a:r>
            <a:r>
              <a:rPr lang="en-US" altLang="zh-CN" dirty="0"/>
              <a:t>();  </a:t>
            </a:r>
            <a:br>
              <a:rPr lang="en-US" altLang="zh-CN" dirty="0"/>
            </a:br>
            <a:r>
              <a:rPr lang="en-US" altLang="zh-CN" dirty="0"/>
              <a:t>…</a:t>
            </a:r>
            <a:br>
              <a:rPr lang="en-US" altLang="zh-CN" dirty="0"/>
            </a:br>
            <a:r>
              <a:rPr lang="en-US" altLang="zh-CN" dirty="0"/>
              <a:t>String filename = (String)</a:t>
            </a:r>
            <a:r>
              <a:rPr lang="en-US" altLang="zh-CN" dirty="0" err="1"/>
              <a:t>files.get</a:t>
            </a:r>
            <a:r>
              <a:rPr lang="en-US" altLang="zh-CN" dirty="0"/>
              <a:t>(0);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075240" cy="666936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第二个问题，没有错误检查，可以加入任意类型：</a:t>
            </a:r>
            <a:br>
              <a:rPr lang="en-US" altLang="zh-CN" dirty="0"/>
            </a:br>
            <a:r>
              <a:rPr lang="en-US" altLang="zh-CN" dirty="0" err="1"/>
              <a:t>files.add</a:t>
            </a:r>
            <a:r>
              <a:rPr lang="en-US" altLang="zh-CN" dirty="0"/>
              <a:t>(new File(“…”));   //</a:t>
            </a:r>
            <a:r>
              <a:rPr lang="zh-CN" altLang="en-US" dirty="0"/>
              <a:t>可以编译运行</a:t>
            </a:r>
            <a:br>
              <a:rPr lang="en-US" altLang="zh-CN" dirty="0"/>
            </a:br>
            <a:r>
              <a:rPr lang="zh-CN" altLang="en-US" dirty="0"/>
              <a:t>但是将该数组元素转换为</a:t>
            </a:r>
            <a:r>
              <a:rPr lang="en-US" altLang="zh-CN" dirty="0"/>
              <a:t>String</a:t>
            </a:r>
            <a:r>
              <a:rPr lang="zh-CN" altLang="en-US" dirty="0"/>
              <a:t>时会有错误。</a:t>
            </a:r>
            <a:endParaRPr lang="en-US" altLang="zh-CN" dirty="0"/>
          </a:p>
          <a:p>
            <a:r>
              <a:rPr lang="zh-CN" altLang="en-US" dirty="0"/>
              <a:t>泛型设计改进了数组列表，提供类型参数：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&lt;String&gt; files = new </a:t>
            </a:r>
            <a:r>
              <a:rPr lang="en-US" altLang="zh-CN" dirty="0" err="1"/>
              <a:t>ArrayList</a:t>
            </a:r>
            <a:r>
              <a:rPr lang="en-US" altLang="zh-CN" dirty="0"/>
              <a:t>&lt;String&gt;();</a:t>
            </a:r>
            <a:br>
              <a:rPr lang="en-US" altLang="zh-CN" dirty="0"/>
            </a:br>
            <a:r>
              <a:rPr lang="zh-CN" altLang="en-US" dirty="0"/>
              <a:t>构造器中的类型参数可以省略，省略的类型可以从变量的类型推断得出：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&lt;String&gt; files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br>
              <a:rPr lang="en-US" altLang="zh-CN" dirty="0"/>
            </a:br>
            <a:r>
              <a:rPr lang="zh-CN" altLang="en-US" dirty="0"/>
              <a:t>或  </a:t>
            </a:r>
            <a:r>
              <a:rPr lang="en-US" altLang="zh-CN" dirty="0" err="1"/>
              <a:t>var</a:t>
            </a:r>
            <a:r>
              <a:rPr lang="en-US" altLang="zh-CN" dirty="0"/>
              <a:t> files = new </a:t>
            </a:r>
            <a:r>
              <a:rPr lang="en-US" altLang="zh-CN" dirty="0" err="1"/>
              <a:t>ArrayList</a:t>
            </a:r>
            <a:r>
              <a:rPr lang="en-US" altLang="zh-CN" dirty="0"/>
              <a:t>&lt;String&gt;();</a:t>
            </a:r>
            <a:endParaRPr lang="en-US" altLang="zh-CN" dirty="0"/>
          </a:p>
          <a:p>
            <a:pPr lvl="1"/>
            <a:r>
              <a:rPr lang="zh-CN" altLang="en-US" dirty="0"/>
              <a:t>这样在提取元素时不需要类型转换</a:t>
            </a:r>
            <a:br>
              <a:rPr lang="en-US" altLang="zh-CN" dirty="0"/>
            </a:br>
            <a:r>
              <a:rPr lang="en-US" altLang="zh-CN" dirty="0"/>
              <a:t>String filename = </a:t>
            </a:r>
            <a:r>
              <a:rPr lang="en-US" altLang="zh-CN" dirty="0" err="1"/>
              <a:t>files.get</a:t>
            </a:r>
            <a:r>
              <a:rPr lang="en-US" altLang="zh-CN" dirty="0"/>
              <a:t>(0);</a:t>
            </a:r>
            <a:endParaRPr lang="zh-CN" altLang="en-US" dirty="0"/>
          </a:p>
          <a:p>
            <a:pPr lvl="1"/>
            <a:r>
              <a:rPr lang="zh-CN" altLang="en-US" dirty="0"/>
              <a:t>加入元素时会进行类型检查</a:t>
            </a:r>
            <a:br>
              <a:rPr lang="en-US" altLang="zh-CN" dirty="0"/>
            </a:br>
            <a:r>
              <a:rPr lang="en-US" altLang="zh-CN" dirty="0" err="1"/>
              <a:t>files.add</a:t>
            </a:r>
            <a:r>
              <a:rPr lang="en-US" altLang="zh-CN" dirty="0"/>
              <a:t>(new File(“…”));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不能通过，只能加入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String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zh-CN" dirty="0" err="1"/>
              <a:t>ArrayList</a:t>
            </a:r>
            <a:r>
              <a:rPr lang="zh-CN" altLang="en-US" dirty="0"/>
              <a:t>可以使用任何类型，如</a:t>
            </a:r>
            <a:endParaRPr lang="en-US" altLang="zh-CN" dirty="0"/>
          </a:p>
          <a:p>
            <a:pPr lvl="1"/>
            <a:r>
              <a:rPr lang="en-US" altLang="zh-CN" dirty="0" err="1"/>
              <a:t>ArrayList</a:t>
            </a:r>
            <a:r>
              <a:rPr lang="en-US" altLang="zh-CN" dirty="0"/>
              <a:t>&lt;Employee&gt; staff = new </a:t>
            </a:r>
            <a:r>
              <a:rPr lang="en-US" altLang="zh-CN" dirty="0" err="1"/>
              <a:t>ArrayList</a:t>
            </a:r>
            <a:r>
              <a:rPr lang="en-US" altLang="zh-CN" dirty="0"/>
              <a:t>&lt;&gt;();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  </a:t>
            </a:r>
            <a:r>
              <a:rPr lang="zh-CN" altLang="en-US" dirty="0"/>
              <a:t>定义一个简单泛型类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47260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泛型类是具有一个或多个类型变量的类（</a:t>
            </a:r>
            <a:r>
              <a:rPr lang="en-US" altLang="zh-CN" dirty="0"/>
              <a:t>code9\pair1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Pair&lt;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&gt;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 first;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private 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 second;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Pair() { first = null; second = null;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Pair(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 first,</a:t>
            </a:r>
            <a:r>
              <a:rPr lang="en-US" altLang="zh-CN" dirty="0">
                <a:solidFill>
                  <a:srgbClr val="FF0000"/>
                </a:solidFill>
              </a:rPr>
              <a:t> T </a:t>
            </a:r>
            <a:r>
              <a:rPr lang="en-US" altLang="zh-CN" dirty="0"/>
              <a:t>second) { </a:t>
            </a:r>
            <a:r>
              <a:rPr lang="en-US" altLang="zh-CN" dirty="0" err="1"/>
              <a:t>this.first</a:t>
            </a:r>
            <a:r>
              <a:rPr lang="en-US" altLang="zh-CN" dirty="0"/>
              <a:t> = first;  </a:t>
            </a:r>
            <a:br>
              <a:rPr lang="en-US" altLang="zh-CN" dirty="0"/>
            </a:br>
            <a:r>
              <a:rPr lang="en-US" altLang="zh-CN" dirty="0"/>
              <a:t>				</a:t>
            </a:r>
            <a:r>
              <a:rPr lang="en-US" altLang="zh-CN" dirty="0" err="1"/>
              <a:t>this.second</a:t>
            </a:r>
            <a:r>
              <a:rPr lang="en-US" altLang="zh-CN" dirty="0"/>
              <a:t> = second;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</a:t>
            </a:r>
            <a:r>
              <a:rPr lang="en-US" altLang="zh-CN" dirty="0">
                <a:solidFill>
                  <a:srgbClr val="FF0000"/>
                </a:solidFill>
              </a:rPr>
              <a:t>T </a:t>
            </a:r>
            <a:r>
              <a:rPr lang="en-US" altLang="zh-CN" dirty="0" err="1"/>
              <a:t>getFirst</a:t>
            </a:r>
            <a:r>
              <a:rPr lang="en-US" altLang="zh-CN" dirty="0"/>
              <a:t>() { return first;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 </a:t>
            </a:r>
            <a:r>
              <a:rPr lang="en-US" altLang="zh-CN" dirty="0" err="1"/>
              <a:t>getSecond</a:t>
            </a:r>
            <a:r>
              <a:rPr lang="en-US" altLang="zh-CN" dirty="0"/>
              <a:t>() { return second;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void </a:t>
            </a:r>
            <a:r>
              <a:rPr lang="en-US" altLang="zh-CN" dirty="0" err="1"/>
              <a:t>setFirst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T </a:t>
            </a:r>
            <a:r>
              <a:rPr lang="en-US" altLang="zh-CN" dirty="0" err="1"/>
              <a:t>newValue</a:t>
            </a:r>
            <a:r>
              <a:rPr lang="en-US" altLang="zh-CN" dirty="0"/>
              <a:t>) { first = </a:t>
            </a:r>
            <a:r>
              <a:rPr lang="en-US" altLang="zh-CN" dirty="0" err="1"/>
              <a:t>newValue</a:t>
            </a:r>
            <a:r>
              <a:rPr lang="en-US" altLang="zh-CN" dirty="0"/>
              <a:t>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public void </a:t>
            </a:r>
            <a:r>
              <a:rPr lang="en-US" altLang="zh-CN" dirty="0" err="1"/>
              <a:t>setSecond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T</a:t>
            </a:r>
            <a:r>
              <a:rPr lang="en-US" altLang="zh-CN" dirty="0"/>
              <a:t> </a:t>
            </a:r>
            <a:r>
              <a:rPr lang="en-US" altLang="zh-CN" dirty="0" err="1"/>
              <a:t>newValue</a:t>
            </a:r>
            <a:r>
              <a:rPr lang="en-US" altLang="zh-CN" dirty="0"/>
              <a:t>) { second = </a:t>
            </a:r>
            <a:r>
              <a:rPr lang="en-US" altLang="zh-CN" dirty="0" err="1"/>
              <a:t>newValue</a:t>
            </a:r>
            <a:r>
              <a:rPr lang="en-US" altLang="zh-CN" dirty="0"/>
              <a:t>;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r>
              <a:rPr lang="zh-CN" altLang="en-US" dirty="0"/>
              <a:t>类型变量放在类名后面</a:t>
            </a:r>
            <a:r>
              <a:rPr lang="en-US" altLang="zh-CN" dirty="0"/>
              <a:t>&lt;&gt;</a:t>
            </a:r>
            <a:r>
              <a:rPr lang="zh-CN" altLang="en-US" dirty="0"/>
              <a:t>中，习惯使用大写字母。如果有多个变量，用逗号隔开，如</a:t>
            </a:r>
            <a:endParaRPr lang="en-US" altLang="zh-CN" dirty="0"/>
          </a:p>
          <a:p>
            <a:pPr lvl="1"/>
            <a:r>
              <a:rPr lang="en-US" altLang="zh-CN" dirty="0"/>
              <a:t>public Pair2&lt;T, U&gt; </a:t>
            </a:r>
            <a:endParaRPr lang="en-US" altLang="zh-CN" dirty="0"/>
          </a:p>
          <a:p>
            <a:pPr lvl="1"/>
            <a:r>
              <a:rPr lang="zh-CN" altLang="en-US" dirty="0"/>
              <a:t>类定义中的类型变量指定方法的返回类型以及域和局部变量的类型。</a:t>
            </a:r>
            <a:endParaRPr lang="zh-CN" altLang="en-US" dirty="0"/>
          </a:p>
          <a:p>
            <a:pPr lvl="1"/>
            <a:r>
              <a:rPr lang="zh-CN" altLang="en-US" dirty="0"/>
              <a:t>用具体的类型替换类型变量就可以实例化泛型类型，可以将结果想象成带有构造器的普通类，换句话说，泛型类可看作普通类的工厂。</a:t>
            </a:r>
            <a:endParaRPr lang="en-US" altLang="zh-CN" dirty="0"/>
          </a:p>
          <a:p>
            <a:pPr lvl="1"/>
            <a:r>
              <a:rPr lang="zh-CN" altLang="en-US" dirty="0"/>
              <a:t>例子中</a:t>
            </a:r>
            <a:r>
              <a:rPr lang="en-US" altLang="zh-CN" dirty="0" err="1"/>
              <a:t>ArrayAlg</a:t>
            </a:r>
            <a:r>
              <a:rPr lang="zh-CN" altLang="en-US" dirty="0"/>
              <a:t>类里定义了方法</a:t>
            </a:r>
            <a:br>
              <a:rPr lang="en-US" altLang="zh-CN" dirty="0"/>
            </a:br>
            <a:r>
              <a:rPr lang="en-US" altLang="zh-CN" dirty="0"/>
              <a:t>public static </a:t>
            </a:r>
            <a:r>
              <a:rPr lang="en-US" altLang="zh-CN" dirty="0">
                <a:solidFill>
                  <a:srgbClr val="FF0000"/>
                </a:solidFill>
              </a:rPr>
              <a:t>Pair&lt;String&gt; </a:t>
            </a:r>
            <a:r>
              <a:rPr lang="en-US" altLang="zh-CN" dirty="0" err="1"/>
              <a:t>minmax</a:t>
            </a:r>
            <a:r>
              <a:rPr lang="en-US" altLang="zh-CN" dirty="0"/>
              <a:t>(String[] a)</a:t>
            </a:r>
            <a:endParaRPr lang="en-US" altLang="zh-CN" dirty="0"/>
          </a:p>
          <a:p>
            <a:pPr lvl="1"/>
            <a:r>
              <a:rPr lang="zh-CN" altLang="en-US" dirty="0"/>
              <a:t>注意：类型变量只能是类类型，不能是基本类型。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  </a:t>
            </a:r>
            <a:r>
              <a:rPr lang="zh-CN" altLang="en-US" dirty="0"/>
              <a:t>泛型方法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除了泛型类，还可以定义泛型方法：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class </a:t>
            </a:r>
            <a:r>
              <a:rPr lang="en-US" altLang="zh-CN" dirty="0" err="1"/>
              <a:t>ArrayAlg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   …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static </a:t>
            </a:r>
            <a:r>
              <a:rPr lang="en-US" altLang="zh-CN" dirty="0">
                <a:solidFill>
                  <a:srgbClr val="FF0000"/>
                </a:solidFill>
              </a:rPr>
              <a:t>&lt;T&gt;</a:t>
            </a:r>
            <a:r>
              <a:rPr lang="en-US" altLang="zh-CN" dirty="0"/>
              <a:t> T </a:t>
            </a:r>
            <a:r>
              <a:rPr lang="en-US" altLang="zh-CN" dirty="0" err="1"/>
              <a:t>getMiddle</a:t>
            </a:r>
            <a:r>
              <a:rPr lang="en-US" altLang="zh-CN" dirty="0"/>
              <a:t>(T ...a)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T[] b=</a:t>
            </a:r>
            <a:r>
              <a:rPr lang="en-US" altLang="zh-CN" dirty="0" err="1"/>
              <a:t>a.clone</a:t>
            </a:r>
            <a:r>
              <a:rPr lang="en-US" altLang="zh-CN" dirty="0"/>
              <a:t>();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Arrays.</a:t>
            </a:r>
            <a:r>
              <a:rPr lang="en-US" altLang="zh-CN" i="1" dirty="0" err="1"/>
              <a:t>sort</a:t>
            </a:r>
            <a:r>
              <a:rPr lang="en-US" altLang="zh-CN" i="1" dirty="0"/>
              <a:t>(b);</a:t>
            </a:r>
            <a:endParaRPr lang="en-US" altLang="zh-CN" i="1" dirty="0"/>
          </a:p>
          <a:p>
            <a:pPr lvl="1">
              <a:buNone/>
            </a:pPr>
            <a:r>
              <a:rPr lang="en-US" altLang="zh-CN" dirty="0"/>
              <a:t>        return b[</a:t>
            </a:r>
            <a:r>
              <a:rPr lang="en-US" altLang="zh-CN" dirty="0" err="1"/>
              <a:t>b.length</a:t>
            </a:r>
            <a:r>
              <a:rPr lang="en-US" altLang="zh-CN" dirty="0"/>
              <a:t> / 2];    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   }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返回按字典排序中间的单词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类型变量放在修饰符的后面，返回类型的前面。</a:t>
            </a:r>
            <a:endParaRPr lang="zh-CN" altLang="en-US" dirty="0"/>
          </a:p>
          <a:p>
            <a:pPr lvl="1"/>
            <a:r>
              <a:rPr lang="zh-CN" altLang="en-US" dirty="0"/>
              <a:t>泛型方法可以定义在普通类中，也可以定义在泛型类中。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19256" cy="5616624"/>
          </a:xfrm>
        </p:spPr>
        <p:txBody>
          <a:bodyPr/>
          <a:lstStyle/>
          <a:p>
            <a:pPr lvl="1"/>
            <a:r>
              <a:rPr lang="zh-CN" altLang="en-US" dirty="0"/>
              <a:t>以下面的代码调用泛型方法：</a:t>
            </a:r>
            <a:br>
              <a:rPr lang="en-US" altLang="zh-CN" dirty="0"/>
            </a:br>
            <a:r>
              <a:rPr lang="en-US" altLang="zh-CN" dirty="0"/>
              <a:t>String middle=</a:t>
            </a:r>
            <a:r>
              <a:rPr lang="en-US" altLang="zh-CN" dirty="0" err="1"/>
              <a:t>ArrayAlg</a:t>
            </a:r>
            <a:r>
              <a:rPr lang="en-US" altLang="zh-CN" dirty="0"/>
              <a:t>. </a:t>
            </a:r>
            <a:r>
              <a:rPr lang="en-US" altLang="zh-CN" dirty="0">
                <a:solidFill>
                  <a:srgbClr val="FF0000"/>
                </a:solidFill>
              </a:rPr>
              <a:t>&lt;String&gt; </a:t>
            </a:r>
            <a:r>
              <a:rPr lang="en-US" altLang="zh-CN" dirty="0" err="1"/>
              <a:t>getMiddle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words</a:t>
            </a:r>
            <a:r>
              <a:rPr lang="en-US" altLang="zh-CN" dirty="0"/>
              <a:t>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("middle = "+middle);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其中的</a:t>
            </a:r>
            <a:r>
              <a:rPr lang="en-US" altLang="zh-CN" dirty="0"/>
              <a:t>&lt;String&gt;</a:t>
            </a:r>
            <a:r>
              <a:rPr lang="zh-CN" altLang="en-US" dirty="0"/>
              <a:t>可以省略，类型变量可以由参数</a:t>
            </a:r>
            <a:r>
              <a:rPr lang="en-US" altLang="zh-CN" dirty="0"/>
              <a:t>words</a:t>
            </a:r>
            <a:r>
              <a:rPr lang="zh-CN" altLang="en-US" dirty="0"/>
              <a:t>推导出来。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调用泛型方法时可能出现问题：</a:t>
            </a:r>
            <a:br>
              <a:rPr lang="en-US" altLang="zh-CN" dirty="0"/>
            </a:br>
            <a:r>
              <a:rPr lang="en-US" altLang="zh-CN" dirty="0"/>
              <a:t>double </a:t>
            </a:r>
            <a:r>
              <a:rPr lang="en-US" altLang="zh-CN" dirty="0" err="1"/>
              <a:t>middleDouble</a:t>
            </a:r>
            <a:r>
              <a:rPr lang="en-US" altLang="zh-CN" dirty="0"/>
              <a:t>=</a:t>
            </a:r>
            <a:r>
              <a:rPr lang="en-US" altLang="zh-CN" dirty="0" err="1"/>
              <a:t>ArrayAlg.getMiddle</a:t>
            </a:r>
            <a:r>
              <a:rPr lang="en-US" altLang="zh-CN" dirty="0"/>
              <a:t>(35.3, 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en-US" altLang="zh-CN" dirty="0"/>
              <a:t>, 9.1, -9.0);</a:t>
            </a:r>
            <a:endParaRPr lang="en-US" altLang="zh-CN" dirty="0"/>
          </a:p>
          <a:p>
            <a:pPr lvl="1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</a:t>
            </a:r>
            <a:r>
              <a:rPr lang="en-US" altLang="zh-CN" dirty="0" err="1"/>
              <a:t>middleDouble</a:t>
            </a:r>
            <a:r>
              <a:rPr lang="en-US" altLang="zh-CN" dirty="0"/>
              <a:t> = "+</a:t>
            </a:r>
            <a:r>
              <a:rPr lang="en-US" altLang="zh-CN" dirty="0" err="1"/>
              <a:t>middleDouble</a:t>
            </a:r>
            <a:r>
              <a:rPr lang="en-US" altLang="zh-CN" dirty="0"/>
              <a:t>);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由于类型不匹配无法确定泛型的类型，改为</a:t>
            </a:r>
            <a:r>
              <a:rPr lang="en-US" altLang="zh-CN" dirty="0"/>
              <a:t>4.0,12.0</a:t>
            </a:r>
            <a:r>
              <a:rPr lang="zh-CN" altLang="en-US" dirty="0"/>
              <a:t>即可通过编译了。</a:t>
            </a:r>
            <a:endParaRPr lang="zh-CN" altLang="en-US" dirty="0"/>
          </a:p>
          <a:p>
            <a:pPr lvl="1">
              <a:buNone/>
            </a:pPr>
            <a:r>
              <a:rPr lang="zh-CN" altLang="zh-CN" dirty="0">
                <a:solidFill>
                  <a:srgbClr val="FF0000"/>
                </a:solidFill>
              </a:rPr>
              <a:t>思考：例子的方法中为什么要克隆？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9.4  </a:t>
            </a:r>
            <a:r>
              <a:rPr lang="zh-CN" altLang="en-US" dirty="0"/>
              <a:t>类型变量的限定（用于定义类型参数）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看下面的代码：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public static &lt;T&gt; T min(</a:t>
            </a:r>
            <a:r>
              <a:rPr lang="en-US" altLang="zh-CN" dirty="0">
                <a:solidFill>
                  <a:srgbClr val="FF0000"/>
                </a:solidFill>
              </a:rPr>
              <a:t>T[] </a:t>
            </a:r>
            <a:r>
              <a:rPr lang="en-US" altLang="zh-CN" dirty="0"/>
              <a:t>a)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if(a==null || </a:t>
            </a:r>
            <a:r>
              <a:rPr lang="en-US" altLang="zh-CN" dirty="0" err="1"/>
              <a:t>a.length</a:t>
            </a:r>
            <a:r>
              <a:rPr lang="en-US" altLang="zh-CN" dirty="0"/>
              <a:t>==0) return null;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T smallest=a[0];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=1;i&lt;</a:t>
            </a:r>
            <a:r>
              <a:rPr lang="en-US" altLang="zh-CN" dirty="0" err="1"/>
              <a:t>a.length;i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   if(</a:t>
            </a:r>
            <a:r>
              <a:rPr lang="en-US" altLang="zh-CN" dirty="0" err="1"/>
              <a:t>smallest.</a:t>
            </a:r>
            <a:r>
              <a:rPr lang="en-US" altLang="zh-CN" dirty="0" err="1">
                <a:solidFill>
                  <a:srgbClr val="FF0000"/>
                </a:solidFill>
              </a:rPr>
              <a:t>compareTo</a:t>
            </a:r>
            <a:r>
              <a:rPr lang="en-US" altLang="zh-CN" dirty="0"/>
              <a:t>(a[</a:t>
            </a:r>
            <a:r>
              <a:rPr lang="en-US" altLang="zh-CN" dirty="0" err="1"/>
              <a:t>i</a:t>
            </a:r>
            <a:r>
              <a:rPr lang="en-US" altLang="zh-CN" dirty="0"/>
              <a:t>])&gt;0) smallest=a[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return smallest;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lvl="1"/>
            <a:r>
              <a:rPr lang="zh-CN" altLang="en-US" dirty="0"/>
              <a:t>这里需要将</a:t>
            </a:r>
            <a:r>
              <a:rPr lang="en-US" altLang="zh-CN" dirty="0"/>
              <a:t>T</a:t>
            </a:r>
            <a:r>
              <a:rPr lang="zh-CN" altLang="en-US" dirty="0"/>
              <a:t>限制为</a:t>
            </a:r>
            <a:r>
              <a:rPr lang="zh-CN" altLang="en-US" dirty="0">
                <a:solidFill>
                  <a:srgbClr val="FF0000"/>
                </a:solidFill>
              </a:rPr>
              <a:t>实现了</a:t>
            </a:r>
            <a:r>
              <a:rPr lang="en-US" altLang="zh-CN" dirty="0">
                <a:solidFill>
                  <a:srgbClr val="FF0000"/>
                </a:solidFill>
              </a:rPr>
              <a:t>Comparable</a:t>
            </a:r>
            <a:r>
              <a:rPr lang="zh-CN" altLang="en-US" dirty="0">
                <a:solidFill>
                  <a:srgbClr val="FF0000"/>
                </a:solidFill>
              </a:rPr>
              <a:t>接口的类</a:t>
            </a:r>
            <a:r>
              <a:rPr lang="zh-CN" altLang="en-US" dirty="0"/>
              <a:t>。可以通过类型变量</a:t>
            </a:r>
            <a:r>
              <a:rPr lang="en-US" altLang="zh-CN" dirty="0"/>
              <a:t>T</a:t>
            </a:r>
            <a:r>
              <a:rPr lang="zh-CN" altLang="en-US" dirty="0"/>
              <a:t>设置限定实现这点：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public static &lt;</a:t>
            </a:r>
            <a:r>
              <a:rPr lang="en-US" altLang="zh-CN" dirty="0">
                <a:solidFill>
                  <a:srgbClr val="FF0000"/>
                </a:solidFill>
              </a:rPr>
              <a:t>T extends Comparable</a:t>
            </a:r>
            <a:r>
              <a:rPr lang="en-US" altLang="zh-CN" dirty="0"/>
              <a:t>&gt; T min(T[] a)...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760640"/>
          </a:xfrm>
        </p:spPr>
        <p:txBody>
          <a:bodyPr/>
          <a:lstStyle/>
          <a:p>
            <a:pPr lvl="1"/>
            <a:r>
              <a:rPr lang="zh-CN" altLang="en-US" dirty="0"/>
              <a:t>一个类型变量或通配符可以有多个限定（可以有多个接口超类型，但至多有一个类）：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   T </a:t>
            </a:r>
            <a:r>
              <a:rPr lang="en-US" altLang="zh-CN" dirty="0">
                <a:solidFill>
                  <a:srgbClr val="FF0000"/>
                </a:solidFill>
              </a:rPr>
              <a:t>extends Comparable &amp; Serializable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限定类型用“</a:t>
            </a:r>
            <a:r>
              <a:rPr lang="en-US" altLang="zh-CN" dirty="0"/>
              <a:t>&amp;”</a:t>
            </a:r>
            <a:r>
              <a:rPr lang="zh-CN" altLang="en-US" dirty="0"/>
              <a:t>分隔，用逗号来分隔类型变量，如果用一个类作为限定，它必须是限定列表中的第一个。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code9\Pair2\PairTest2</a:t>
            </a:r>
            <a:r>
              <a:rPr lang="zh-CN" altLang="en-US" dirty="0"/>
              <a:t>中重新定义了</a:t>
            </a:r>
            <a:r>
              <a:rPr lang="en-US" altLang="zh-CN" dirty="0" err="1"/>
              <a:t>minmax</a:t>
            </a:r>
            <a:r>
              <a:rPr lang="zh-CN" altLang="en-US" dirty="0"/>
              <a:t>泛型方法：</a:t>
            </a:r>
            <a:br>
              <a:rPr lang="en-US" altLang="zh-CN" dirty="0"/>
            </a:br>
            <a:r>
              <a:rPr lang="fr-FR" altLang="zh-CN" dirty="0"/>
              <a:t>public static &lt;</a:t>
            </a:r>
            <a:r>
              <a:rPr lang="fr-FR" altLang="zh-CN" dirty="0">
                <a:solidFill>
                  <a:srgbClr val="FF0000"/>
                </a:solidFill>
              </a:rPr>
              <a:t>T extends Comparable</a:t>
            </a:r>
            <a:r>
              <a:rPr lang="fr-FR" altLang="zh-CN" dirty="0"/>
              <a:t>&gt; Pair&lt;</a:t>
            </a:r>
            <a:r>
              <a:rPr lang="fr-FR" altLang="zh-CN" dirty="0">
                <a:solidFill>
                  <a:srgbClr val="FF0000"/>
                </a:solidFill>
              </a:rPr>
              <a:t>T</a:t>
            </a:r>
            <a:r>
              <a:rPr lang="fr-FR" altLang="zh-CN" dirty="0"/>
              <a:t>&gt; minmax(</a:t>
            </a:r>
            <a:r>
              <a:rPr lang="fr-FR" altLang="zh-CN" dirty="0">
                <a:solidFill>
                  <a:srgbClr val="FF0000"/>
                </a:solidFill>
              </a:rPr>
              <a:t>T[] </a:t>
            </a:r>
            <a:r>
              <a:rPr lang="fr-FR" altLang="zh-CN" dirty="0"/>
              <a:t>a)</a:t>
            </a:r>
            <a:br>
              <a:rPr lang="fr-FR" altLang="zh-CN" dirty="0"/>
            </a:br>
            <a:r>
              <a:rPr lang="zh-CN" altLang="en-US" dirty="0"/>
              <a:t>其返回值为一个泛型类</a:t>
            </a:r>
            <a:r>
              <a:rPr lang="fr-FR" altLang="zh-CN" dirty="0"/>
              <a:t>Pair&lt;</a:t>
            </a:r>
            <a:r>
              <a:rPr lang="fr-FR" altLang="zh-CN" dirty="0">
                <a:solidFill>
                  <a:srgbClr val="FF0000"/>
                </a:solidFill>
              </a:rPr>
              <a:t>T</a:t>
            </a:r>
            <a:r>
              <a:rPr lang="fr-FR" altLang="zh-CN" dirty="0"/>
              <a:t>&gt; </a:t>
            </a:r>
            <a:r>
              <a:rPr lang="zh-CN" altLang="en-US" dirty="0"/>
              <a:t>，参数为一个泛型数组</a:t>
            </a:r>
            <a:r>
              <a:rPr lang="en-US" altLang="zh-CN" dirty="0"/>
              <a:t>T[]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9.5  </a:t>
            </a:r>
            <a:r>
              <a:rPr lang="zh-CN" altLang="en-US" dirty="0"/>
              <a:t>泛型代码和虚拟机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在编译之后程序会采取去泛型化的措施，也就是说</a:t>
            </a:r>
            <a:r>
              <a:rPr lang="en-US" altLang="zh-CN" dirty="0"/>
              <a:t>Java</a:t>
            </a:r>
            <a:r>
              <a:rPr lang="zh-CN" altLang="en-US" dirty="0"/>
              <a:t>中的泛型，只在编译阶段有效：</a:t>
            </a:r>
            <a:endParaRPr lang="en-US" altLang="zh-CN" dirty="0"/>
          </a:p>
          <a:p>
            <a:pPr lvl="1"/>
            <a:r>
              <a:rPr lang="zh-CN" altLang="en-US" dirty="0"/>
              <a:t>在编译过程中，正确检验泛型结果后，会将泛型的相关信息擦除，并且在对象进入和离开方法的</a:t>
            </a:r>
            <a:r>
              <a:rPr lang="zh-CN" altLang="en-US" dirty="0">
                <a:solidFill>
                  <a:srgbClr val="FF0000"/>
                </a:solidFill>
              </a:rPr>
              <a:t>边界处添加类型检查和类型转换</a:t>
            </a:r>
            <a:r>
              <a:rPr lang="zh-CN" altLang="en-US" dirty="0"/>
              <a:t>的方法。泛型信息不会进入到运行时阶段。</a:t>
            </a:r>
            <a:endParaRPr lang="zh-CN" altLang="en-US" dirty="0"/>
          </a:p>
          <a:p>
            <a:r>
              <a:rPr lang="zh-CN" altLang="en-US" dirty="0"/>
              <a:t>对此总结成一句话：泛型类型在逻辑上看可以看成是多个不同的类型，实际上都是相同的类型。</a:t>
            </a:r>
            <a:endParaRPr lang="en-US" altLang="zh-CN" dirty="0"/>
          </a:p>
          <a:p>
            <a:pPr lvl="1"/>
            <a:r>
              <a:rPr lang="zh-CN" altLang="en-US" dirty="0"/>
              <a:t>虚拟机没有泛型类型对象</a:t>
            </a:r>
            <a:r>
              <a:rPr lang="en-US" altLang="zh-CN" dirty="0"/>
              <a:t>——</a:t>
            </a:r>
            <a:r>
              <a:rPr lang="zh-CN" altLang="en-US" dirty="0"/>
              <a:t>所有对象都属于普通类。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604867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每个泛型类都对应一个原始类，即删除类型参数的那个类，编译之后擦除类型变量，并替换为</a:t>
            </a:r>
            <a:r>
              <a:rPr lang="zh-CN" altLang="en-US" dirty="0">
                <a:solidFill>
                  <a:srgbClr val="FF0000"/>
                </a:solidFill>
              </a:rPr>
              <a:t>限定类型</a:t>
            </a:r>
            <a:r>
              <a:rPr lang="zh-CN" altLang="en-US" dirty="0"/>
              <a:t>（无限定的变量用</a:t>
            </a:r>
            <a:r>
              <a:rPr lang="en-US" altLang="zh-CN" dirty="0"/>
              <a:t>Object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例如，</a:t>
            </a:r>
            <a:r>
              <a:rPr lang="en-US" altLang="zh-CN" dirty="0"/>
              <a:t>Pair&lt;T&gt;</a:t>
            </a:r>
            <a:r>
              <a:rPr lang="zh-CN" altLang="en-US" dirty="0"/>
              <a:t>的原始类型如下所示：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class Pair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private </a:t>
            </a:r>
            <a:r>
              <a:rPr lang="en-US" altLang="zh-CN" dirty="0">
                <a:solidFill>
                  <a:srgbClr val="FF0000"/>
                </a:solidFill>
              </a:rPr>
              <a:t>Object</a:t>
            </a:r>
            <a:r>
              <a:rPr lang="en-US" altLang="zh-CN" dirty="0"/>
              <a:t> first;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private </a:t>
            </a:r>
            <a:r>
              <a:rPr lang="en-US" altLang="zh-CN" dirty="0">
                <a:solidFill>
                  <a:srgbClr val="FF0000"/>
                </a:solidFill>
              </a:rPr>
              <a:t>Object</a:t>
            </a:r>
            <a:r>
              <a:rPr lang="en-US" altLang="zh-CN" dirty="0"/>
              <a:t> second;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Pair(</a:t>
            </a:r>
            <a:r>
              <a:rPr lang="en-US" altLang="zh-CN" dirty="0">
                <a:solidFill>
                  <a:srgbClr val="FF0000"/>
                </a:solidFill>
              </a:rPr>
              <a:t>Object</a:t>
            </a:r>
            <a:r>
              <a:rPr lang="en-US" altLang="zh-CN" dirty="0"/>
              <a:t> </a:t>
            </a:r>
            <a:r>
              <a:rPr lang="en-US" altLang="zh-CN" dirty="0" err="1"/>
              <a:t>first,</a:t>
            </a:r>
            <a:r>
              <a:rPr lang="en-US" altLang="zh-CN" dirty="0" err="1">
                <a:solidFill>
                  <a:srgbClr val="FF0000"/>
                </a:solidFill>
              </a:rPr>
              <a:t>Object</a:t>
            </a:r>
            <a:r>
              <a:rPr lang="en-US" altLang="zh-CN" dirty="0"/>
              <a:t> second)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this.first</a:t>
            </a:r>
            <a:r>
              <a:rPr lang="en-US" altLang="zh-CN" dirty="0"/>
              <a:t>=first;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</a:t>
            </a:r>
            <a:r>
              <a:rPr lang="en-US" altLang="zh-CN" dirty="0" err="1"/>
              <a:t>this.second</a:t>
            </a:r>
            <a:r>
              <a:rPr lang="en-US" altLang="zh-CN" dirty="0"/>
              <a:t>=second;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Object </a:t>
            </a:r>
            <a:r>
              <a:rPr lang="en-US" altLang="zh-CN" dirty="0" err="1"/>
              <a:t>getFirst</a:t>
            </a:r>
            <a:r>
              <a:rPr lang="en-US" altLang="zh-CN" dirty="0"/>
              <a:t>() { return first;}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Object </a:t>
            </a:r>
            <a:r>
              <a:rPr lang="en-US" altLang="zh-CN" dirty="0" err="1"/>
              <a:t>getSecond</a:t>
            </a:r>
            <a:r>
              <a:rPr lang="en-US" altLang="zh-CN" dirty="0"/>
              <a:t>(){ return second;}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void </a:t>
            </a:r>
            <a:r>
              <a:rPr lang="en-US" altLang="zh-CN" dirty="0" err="1"/>
              <a:t>setFirst</a:t>
            </a:r>
            <a:r>
              <a:rPr lang="en-US" altLang="zh-CN" dirty="0"/>
              <a:t>(Object </a:t>
            </a:r>
            <a:r>
              <a:rPr lang="en-US" altLang="zh-CN" dirty="0" err="1"/>
              <a:t>newValue</a:t>
            </a:r>
            <a:r>
              <a:rPr lang="en-US" altLang="zh-CN" dirty="0"/>
              <a:t>) {first=</a:t>
            </a:r>
            <a:r>
              <a:rPr lang="en-US" altLang="zh-CN" dirty="0" err="1"/>
              <a:t>newValue</a:t>
            </a:r>
            <a:r>
              <a:rPr lang="en-US" altLang="zh-CN" dirty="0"/>
              <a:t>;}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public void </a:t>
            </a:r>
            <a:r>
              <a:rPr lang="en-US" altLang="zh-CN" dirty="0" err="1"/>
              <a:t>setSecond</a:t>
            </a:r>
            <a:r>
              <a:rPr lang="en-US" altLang="zh-CN" dirty="0"/>
              <a:t>(Object </a:t>
            </a:r>
            <a:r>
              <a:rPr lang="en-US" altLang="zh-CN" dirty="0" err="1"/>
              <a:t>newValue</a:t>
            </a:r>
            <a:r>
              <a:rPr lang="en-US" altLang="zh-CN" dirty="0"/>
              <a:t>) {second=</a:t>
            </a:r>
            <a:r>
              <a:rPr lang="en-US" altLang="zh-CN" dirty="0" err="1"/>
              <a:t>newValue</a:t>
            </a:r>
            <a:r>
              <a:rPr lang="en-US" altLang="zh-CN" dirty="0"/>
              <a:t>;}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调用泛型方法的时候，编译器插入强制类型转换，即：</a:t>
            </a:r>
            <a:endParaRPr lang="en-US" altLang="zh-CN" dirty="0"/>
          </a:p>
          <a:p>
            <a:pPr lvl="1"/>
            <a:r>
              <a:rPr lang="zh-CN" altLang="en-US" dirty="0"/>
              <a:t>例如，对原始方法</a:t>
            </a:r>
            <a:r>
              <a:rPr lang="en-US" altLang="zh-CN" dirty="0" err="1"/>
              <a:t>Pair.getFirst</a:t>
            </a:r>
            <a:r>
              <a:rPr lang="zh-CN" altLang="en-US" dirty="0"/>
              <a:t>的调用，将返回的</a:t>
            </a:r>
            <a:r>
              <a:rPr lang="en-US" altLang="zh-CN" dirty="0"/>
              <a:t>Object</a:t>
            </a:r>
            <a:r>
              <a:rPr lang="zh-CN" altLang="en-US" dirty="0"/>
              <a:t>类型强制转换为实例化的类型。</a:t>
            </a:r>
            <a:endParaRPr lang="en-US" altLang="zh-CN" dirty="0"/>
          </a:p>
          <a:p>
            <a:pPr lvl="1"/>
            <a:r>
              <a:rPr lang="en-US" altLang="zh-CN" dirty="0"/>
              <a:t>Pair&lt;Employee&gt;  </a:t>
            </a:r>
            <a:r>
              <a:rPr lang="en-US" altLang="zh-CN" dirty="0" err="1"/>
              <a:t>pe</a:t>
            </a:r>
            <a:r>
              <a:rPr lang="en-US" altLang="zh-CN" dirty="0"/>
              <a:t> = new Pair(…);</a:t>
            </a:r>
            <a:endParaRPr lang="en-US" altLang="zh-CN" dirty="0"/>
          </a:p>
          <a:p>
            <a:pPr lvl="1"/>
            <a:r>
              <a:rPr lang="en-US" altLang="zh-CN" dirty="0"/>
              <a:t>Employee e1=</a:t>
            </a:r>
            <a:r>
              <a:rPr lang="en-US" altLang="zh-CN" dirty="0" err="1"/>
              <a:t>pe.getFirst</a:t>
            </a:r>
            <a:r>
              <a:rPr lang="en-US" altLang="zh-CN" dirty="0"/>
              <a:t>();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此处自动进行了类型转换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zh-CN" altLang="en-US" dirty="0"/>
              <a:t>当存取一个泛型域时，也要插入强制类型转换。</a:t>
            </a:r>
            <a:endParaRPr lang="en-US" altLang="zh-CN" dirty="0"/>
          </a:p>
          <a:p>
            <a:pPr lvl="1"/>
            <a:r>
              <a:rPr lang="zh-CN" altLang="en-US" dirty="0"/>
              <a:t>虚拟机中没有泛型，只有普通的类和方法</a:t>
            </a:r>
            <a:endParaRPr lang="zh-CN" altLang="en-US" dirty="0"/>
          </a:p>
          <a:p>
            <a:pPr lvl="1"/>
            <a:r>
              <a:rPr lang="zh-CN" altLang="en-US" dirty="0"/>
              <a:t>所有的类型参数都用它们的限定类型替换</a:t>
            </a:r>
            <a:endParaRPr lang="zh-CN" altLang="en-US" dirty="0"/>
          </a:p>
          <a:p>
            <a:pPr lvl="1"/>
            <a:r>
              <a:rPr lang="zh-CN" altLang="en-US" dirty="0"/>
              <a:t>桥方法被用来保持多态</a:t>
            </a:r>
            <a:endParaRPr lang="zh-CN" altLang="en-US" dirty="0"/>
          </a:p>
          <a:p>
            <a:pPr lvl="1"/>
            <a:r>
              <a:rPr lang="zh-CN" altLang="en-US" dirty="0"/>
              <a:t>为保持类型安全性，必要时插入强制类型转换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9.6  </a:t>
            </a:r>
            <a:r>
              <a:rPr lang="zh-CN" altLang="en-US" dirty="0"/>
              <a:t>约束与局限性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java</a:t>
            </a:r>
            <a:r>
              <a:rPr lang="zh-CN" altLang="en-US" dirty="0"/>
              <a:t>编译时要擦除和重新解释泛型，而运行时是普通的类，所以会形成一些使用限制。了解几个常用的。</a:t>
            </a:r>
            <a:endParaRPr lang="en-US" altLang="zh-CN" dirty="0"/>
          </a:p>
          <a:p>
            <a:r>
              <a:rPr lang="zh-CN" altLang="en-US" dirty="0"/>
              <a:t>不能用基本类型实例化类型参数。</a:t>
            </a:r>
            <a:endParaRPr lang="zh-CN" altLang="en-US" dirty="0"/>
          </a:p>
          <a:p>
            <a:pPr lvl="1"/>
            <a:r>
              <a:rPr lang="zh-CN" altLang="en-US" dirty="0"/>
              <a:t>可以使用基本类型的包装类，如</a:t>
            </a:r>
            <a:r>
              <a:rPr lang="en-US" altLang="zh-CN" dirty="0"/>
              <a:t>Pair&lt;Double&gt;</a:t>
            </a:r>
            <a:r>
              <a:rPr lang="zh-CN" altLang="en-US" dirty="0"/>
              <a:t>，擦除之后</a:t>
            </a:r>
            <a:r>
              <a:rPr lang="en-US" altLang="zh-CN" dirty="0"/>
              <a:t>Pair</a:t>
            </a:r>
            <a:r>
              <a:rPr lang="zh-CN" altLang="en-US" dirty="0"/>
              <a:t>类含有</a:t>
            </a:r>
            <a:r>
              <a:rPr lang="en-US" altLang="zh-CN" dirty="0"/>
              <a:t>Object</a:t>
            </a:r>
            <a:r>
              <a:rPr lang="zh-CN" altLang="en-US" dirty="0"/>
              <a:t>类型的域，而</a:t>
            </a:r>
            <a:r>
              <a:rPr lang="en-US" altLang="zh-CN" dirty="0"/>
              <a:t>Object</a:t>
            </a:r>
            <a:r>
              <a:rPr lang="zh-CN" altLang="en-US" dirty="0"/>
              <a:t>不能存储</a:t>
            </a:r>
            <a:r>
              <a:rPr lang="en-US" altLang="zh-CN" dirty="0"/>
              <a:t>double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不能用</a:t>
            </a:r>
            <a:r>
              <a:rPr lang="en-US" altLang="zh-CN" dirty="0" err="1"/>
              <a:t>instanceof</a:t>
            </a:r>
            <a:r>
              <a:rPr lang="zh-CN" altLang="en-US" dirty="0"/>
              <a:t>检测类型参数。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if(mm </a:t>
            </a:r>
            <a:r>
              <a:rPr lang="en-US" altLang="zh-CN" dirty="0" err="1"/>
              <a:t>instanceof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Pair</a:t>
            </a:r>
            <a:r>
              <a:rPr lang="en-US" altLang="zh-CN" dirty="0"/>
              <a:t>)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不能是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Pair&lt;String&gt;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("mm is a instance of " +           		</a:t>
            </a:r>
            <a:r>
              <a:rPr lang="en-US" altLang="zh-CN" dirty="0" err="1"/>
              <a:t>mm.</a:t>
            </a:r>
            <a:r>
              <a:rPr lang="en-US" altLang="zh-CN" dirty="0" err="1">
                <a:solidFill>
                  <a:srgbClr val="FF0000"/>
                </a:solidFill>
              </a:rPr>
              <a:t>getClass</a:t>
            </a:r>
            <a:r>
              <a:rPr lang="en-US" altLang="zh-CN" dirty="0"/>
              <a:t>()); </a:t>
            </a:r>
            <a:br>
              <a:rPr lang="en-US" altLang="zh-CN" dirty="0"/>
            </a:b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//mm is a instance of class </a:t>
            </a:r>
            <a:r>
              <a:rPr lang="en-US" altLang="zh-CN" dirty="0">
                <a:solidFill>
                  <a:srgbClr val="FF0000"/>
                </a:solidFill>
              </a:rPr>
              <a:t>pair1.Pair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不能创建参数化类型的数组。例如</a:t>
            </a:r>
            <a:endParaRPr lang="en-US" altLang="zh-CN" dirty="0"/>
          </a:p>
          <a:p>
            <a:pPr lvl="1"/>
            <a:r>
              <a:rPr lang="en-US" altLang="zh-CN" dirty="0"/>
              <a:t>Pair&lt;String&gt;[] table=new Pair&lt;String&gt;[10]; </a:t>
            </a:r>
            <a:r>
              <a:rPr lang="en-US" altLang="zh-CN" dirty="0">
                <a:solidFill>
                  <a:srgbClr val="FF0000"/>
                </a:solidFill>
              </a:rPr>
              <a:t>//Error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如果需要收集参数化类型对象，只有一种安全而有效的方法，使用</a:t>
            </a:r>
            <a:r>
              <a:rPr lang="en-US" altLang="zh-CN" dirty="0" err="1"/>
              <a:t>ArrayList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en-US" altLang="zh-CN" dirty="0" err="1"/>
              <a:t>ArrayList</a:t>
            </a:r>
            <a:r>
              <a:rPr lang="en-US" altLang="zh-CN" dirty="0"/>
              <a:t>&lt;Pair&lt;String&gt;&gt;</a:t>
            </a:r>
            <a:endParaRPr lang="en-US" altLang="zh-CN" dirty="0"/>
          </a:p>
          <a:p>
            <a:r>
              <a:rPr lang="zh-CN" altLang="en-US" dirty="0"/>
              <a:t>不能实例化类型变量，例如</a:t>
            </a:r>
            <a:r>
              <a:rPr lang="en-US" altLang="zh-CN" dirty="0"/>
              <a:t>Pair</a:t>
            </a:r>
            <a:r>
              <a:rPr lang="zh-CN" altLang="en-US" dirty="0"/>
              <a:t>的构造器不能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public Pair()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{     first=new </a:t>
            </a:r>
            <a:r>
              <a:rPr lang="en-US" altLang="zh-CN" dirty="0">
                <a:solidFill>
                  <a:srgbClr val="FF0000"/>
                </a:solidFill>
              </a:rPr>
              <a:t>T()</a:t>
            </a:r>
            <a:r>
              <a:rPr lang="en-US" altLang="zh-CN" dirty="0"/>
              <a:t>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second=new T();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9.7  </a:t>
            </a:r>
            <a:r>
              <a:rPr lang="zh-CN" altLang="en-US" dirty="0"/>
              <a:t>上边界通配符（用于实例化类型参数）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80728"/>
            <a:ext cx="8075240" cy="56166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如果</a:t>
            </a:r>
            <a:r>
              <a:rPr lang="en-US" altLang="zh-CN" dirty="0"/>
              <a:t>Manager</a:t>
            </a:r>
            <a:r>
              <a:rPr lang="zh-CN" altLang="en-US" dirty="0"/>
              <a:t>是</a:t>
            </a:r>
            <a:r>
              <a:rPr lang="en-US" altLang="zh-CN" dirty="0"/>
              <a:t>Employee</a:t>
            </a:r>
            <a:r>
              <a:rPr lang="zh-CN" altLang="en-US" dirty="0"/>
              <a:t>的子类，那么</a:t>
            </a:r>
            <a:r>
              <a:rPr lang="en-US" altLang="zh-CN" dirty="0"/>
              <a:t>Pair&lt;Manager&gt;</a:t>
            </a:r>
            <a:r>
              <a:rPr lang="zh-CN" altLang="en-US" dirty="0"/>
              <a:t>是</a:t>
            </a:r>
            <a:r>
              <a:rPr lang="en-US" altLang="zh-CN" dirty="0"/>
              <a:t>Pair&lt;Employee&gt;</a:t>
            </a:r>
            <a:r>
              <a:rPr lang="zh-CN" altLang="en-US" dirty="0"/>
              <a:t>的一个子类吗？ 答案是“否”。</a:t>
            </a:r>
            <a:endParaRPr lang="zh-CN" altLang="en-US" dirty="0"/>
          </a:p>
          <a:p>
            <a:pPr lvl="1"/>
            <a:r>
              <a:rPr lang="zh-CN" altLang="en-US" dirty="0"/>
              <a:t>规则：无论</a:t>
            </a:r>
            <a:r>
              <a:rPr lang="en-US" altLang="zh-CN" dirty="0"/>
              <a:t>S</a:t>
            </a:r>
            <a:r>
              <a:rPr lang="zh-CN" altLang="en-US" dirty="0"/>
              <a:t>与</a:t>
            </a:r>
            <a:r>
              <a:rPr lang="en-US" altLang="zh-CN" dirty="0"/>
              <a:t>T</a:t>
            </a:r>
            <a:r>
              <a:rPr lang="zh-CN" altLang="en-US" dirty="0"/>
              <a:t>有什么联系，</a:t>
            </a:r>
            <a:r>
              <a:rPr lang="en-US" altLang="zh-CN" dirty="0"/>
              <a:t>Pair&lt;S&gt;</a:t>
            </a:r>
            <a:r>
              <a:rPr lang="zh-CN" altLang="en-US" dirty="0"/>
              <a:t>与</a:t>
            </a:r>
            <a:r>
              <a:rPr lang="en-US" altLang="zh-CN" dirty="0"/>
              <a:t>Pair&lt;T&gt;</a:t>
            </a:r>
            <a:r>
              <a:rPr lang="zh-CN" altLang="en-US" dirty="0"/>
              <a:t>没有什么联系。</a:t>
            </a:r>
            <a:endParaRPr lang="en-US" altLang="zh-CN" dirty="0"/>
          </a:p>
          <a:p>
            <a:pPr lvl="1"/>
            <a:r>
              <a:rPr lang="zh-CN" altLang="en-US" dirty="0"/>
              <a:t>所以，不能将</a:t>
            </a:r>
            <a:r>
              <a:rPr lang="en-US" altLang="zh-CN" dirty="0"/>
              <a:t>Pair&lt;Manager&gt;</a:t>
            </a:r>
            <a:r>
              <a:rPr lang="zh-CN" altLang="en-US" dirty="0"/>
              <a:t>传递给</a:t>
            </a:r>
            <a:r>
              <a:rPr lang="en-US" altLang="zh-CN" dirty="0"/>
              <a:t>Pair&lt;Employee&gt;</a:t>
            </a:r>
            <a:r>
              <a:rPr lang="zh-CN" altLang="en-US" dirty="0"/>
              <a:t>，例如</a:t>
            </a:r>
            <a:br>
              <a:rPr lang="en-US" altLang="zh-CN" dirty="0"/>
            </a:br>
            <a:r>
              <a:rPr lang="en-US" altLang="zh-CN" dirty="0"/>
              <a:t>public static void </a:t>
            </a:r>
            <a:r>
              <a:rPr lang="en-US" altLang="zh-CN" dirty="0" err="1"/>
              <a:t>printBuddies</a:t>
            </a:r>
            <a:r>
              <a:rPr lang="en-US" altLang="zh-CN" dirty="0"/>
              <a:t>(Pair&lt;</a:t>
            </a:r>
            <a:r>
              <a:rPr lang="en-US" altLang="zh-CN" dirty="0">
                <a:solidFill>
                  <a:srgbClr val="FF0000"/>
                </a:solidFill>
              </a:rPr>
              <a:t>Employee</a:t>
            </a:r>
            <a:r>
              <a:rPr lang="en-US" altLang="zh-CN" dirty="0"/>
              <a:t>&gt; p)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Employee first = </a:t>
            </a:r>
            <a:r>
              <a:rPr lang="en-US" altLang="zh-CN" dirty="0" err="1"/>
              <a:t>p.getFirst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Employee second = </a:t>
            </a:r>
            <a:r>
              <a:rPr lang="en-US" altLang="zh-CN" dirty="0" err="1"/>
              <a:t>p.getSecond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first.getName</a:t>
            </a:r>
            <a:r>
              <a:rPr lang="en-US" altLang="zh-CN" dirty="0"/>
              <a:t>() + " and " + 	</a:t>
            </a:r>
            <a:r>
              <a:rPr lang="en-US" altLang="zh-CN" dirty="0" err="1"/>
              <a:t>second.getName</a:t>
            </a:r>
            <a:r>
              <a:rPr lang="en-US" altLang="zh-CN" dirty="0"/>
              <a:t>() + " are buddies.");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548680"/>
            <a:ext cx="8568952" cy="612068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这个方法打印搭档的雇员对，但是不能这样调用：</a:t>
            </a:r>
            <a:br>
              <a:rPr lang="en-US" altLang="zh-CN" dirty="0"/>
            </a:br>
            <a:r>
              <a:rPr lang="en-US" altLang="zh-CN" dirty="0"/>
              <a:t>Pair&lt;</a:t>
            </a:r>
            <a:r>
              <a:rPr lang="en-US" altLang="zh-CN" dirty="0">
                <a:solidFill>
                  <a:srgbClr val="FF0000"/>
                </a:solidFill>
              </a:rPr>
              <a:t>Manager</a:t>
            </a:r>
            <a:r>
              <a:rPr lang="en-US" altLang="zh-CN" dirty="0"/>
              <a:t>&gt; </a:t>
            </a:r>
            <a:r>
              <a:rPr lang="en-US" altLang="zh-CN" dirty="0">
                <a:solidFill>
                  <a:srgbClr val="FF0000"/>
                </a:solidFill>
              </a:rPr>
              <a:t>buddies</a:t>
            </a:r>
            <a:r>
              <a:rPr lang="en-US" altLang="zh-CN" dirty="0"/>
              <a:t> = new Pair&lt;&gt;(</a:t>
            </a:r>
            <a:r>
              <a:rPr lang="en-US" altLang="zh-CN" dirty="0" err="1"/>
              <a:t>ceo</a:t>
            </a:r>
            <a:r>
              <a:rPr lang="en-US" altLang="zh-CN" dirty="0"/>
              <a:t>, </a:t>
            </a:r>
            <a:r>
              <a:rPr lang="en-US" altLang="zh-CN" dirty="0" err="1"/>
              <a:t>cfo</a:t>
            </a:r>
            <a:r>
              <a:rPr lang="en-US" altLang="zh-CN" dirty="0"/>
              <a:t>);      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printBuddies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00"/>
                </a:solidFill>
              </a:rPr>
              <a:t>buddies</a:t>
            </a:r>
            <a:r>
              <a:rPr lang="en-US" altLang="zh-CN" dirty="0"/>
              <a:t>);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类型不匹配，不能将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Pair&lt;Manager&gt;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传递给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Pair&lt;Employee&gt;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zh-CN" altLang="en-US" dirty="0"/>
              <a:t>解决方法是：使用通配符类型（上边界通配符）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FF0000"/>
                </a:solidFill>
                <a:sym typeface="+mn-ea"/>
              </a:rPr>
              <a:t>Pair&lt;? extends Employee&gt;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，表示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实例化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Pair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的类型是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Employee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或它的子类。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  <a:p>
            <a:pPr lvl="1"/>
            <a:r>
              <a:rPr lang="zh-CN" altLang="en-US" dirty="0">
                <a:solidFill>
                  <a:srgbClr val="002060"/>
                </a:solidFill>
                <a:sym typeface="+mn-ea"/>
              </a:rPr>
              <a:t>注意，与</a:t>
            </a:r>
            <a:r>
              <a:rPr lang="en-US" altLang="zh-CN" dirty="0">
                <a:solidFill>
                  <a:srgbClr val="002060"/>
                </a:solidFill>
                <a:sym typeface="+mn-ea"/>
              </a:rPr>
              <a:t>&lt;T extends Employee&gt;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不同，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类型限定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是在定义类或泛型方法时使用，而通配符是在实例化类时使用的。</a:t>
            </a:r>
            <a:endParaRPr lang="en-US" altLang="zh-CN" dirty="0">
              <a:solidFill>
                <a:srgbClr val="002060"/>
              </a:solidFill>
            </a:endParaRPr>
          </a:p>
          <a:p>
            <a:pPr marL="274320" lvl="1" indent="0">
              <a:buNone/>
            </a:pPr>
            <a:endParaRPr lang="en-US" altLang="zh-CN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10000"/>
          </a:bodyPr>
          <a:lstStyle/>
          <a:p>
            <a:pPr marL="274320" lvl="1" indent="0">
              <a:buNone/>
            </a:pPr>
            <a:r>
              <a:rPr lang="en-US" altLang="zh-CN" sz="2800" dirty="0">
                <a:sym typeface="+mn-ea"/>
              </a:rPr>
              <a:t>public static void </a:t>
            </a:r>
            <a:r>
              <a:rPr lang="en-US" altLang="zh-CN" sz="2800" dirty="0" err="1">
                <a:sym typeface="+mn-ea"/>
              </a:rPr>
              <a:t>printBuddies</a:t>
            </a:r>
            <a:r>
              <a:rPr lang="en-US" altLang="zh-CN" sz="2800" dirty="0">
                <a:sym typeface="+mn-ea"/>
              </a:rPr>
              <a:t>(Pair</a:t>
            </a:r>
            <a:r>
              <a:rPr lang="en-US" altLang="zh-CN" sz="2800" dirty="0">
                <a:solidFill>
                  <a:srgbClr val="FF00FF"/>
                </a:solidFill>
                <a:sym typeface="+mn-ea"/>
              </a:rPr>
              <a:t>&lt;? extends Employee&gt; </a:t>
            </a:r>
            <a:r>
              <a:rPr lang="en-US" altLang="zh-CN" sz="2800" dirty="0">
                <a:sym typeface="+mn-ea"/>
              </a:rPr>
              <a:t>p)</a:t>
            </a:r>
            <a:endParaRPr lang="en-US" altLang="zh-CN" sz="2800" dirty="0"/>
          </a:p>
          <a:p>
            <a:pPr lvl="1"/>
            <a:r>
              <a:rPr lang="en-US" altLang="zh-CN" sz="2800" dirty="0">
                <a:sym typeface="+mn-ea"/>
              </a:rPr>
              <a:t>Pair&lt;? extends Employee&gt;</a:t>
            </a:r>
            <a:r>
              <a:rPr lang="zh-CN" altLang="en-US" sz="2800" dirty="0">
                <a:sym typeface="+mn-ea"/>
              </a:rPr>
              <a:t>表示任何泛型</a:t>
            </a:r>
            <a:r>
              <a:rPr lang="en-US" altLang="zh-CN" sz="2800" dirty="0">
                <a:sym typeface="+mn-ea"/>
              </a:rPr>
              <a:t>Pair</a:t>
            </a:r>
            <a:r>
              <a:rPr lang="zh-CN" altLang="en-US" sz="2800" dirty="0">
                <a:sym typeface="+mn-ea"/>
              </a:rPr>
              <a:t>类型，它的类型参数是</a:t>
            </a:r>
            <a:r>
              <a:rPr lang="en-US" altLang="zh-CN" sz="2800" dirty="0">
                <a:sym typeface="+mn-ea"/>
              </a:rPr>
              <a:t>Employee</a:t>
            </a:r>
            <a:r>
              <a:rPr lang="zh-CN" altLang="en-US" sz="2800" dirty="0">
                <a:sym typeface="+mn-ea"/>
              </a:rPr>
              <a:t>或它的子类，如</a:t>
            </a:r>
            <a:r>
              <a:rPr lang="en-US" altLang="zh-CN" sz="2800" dirty="0">
                <a:sym typeface="+mn-ea"/>
              </a:rPr>
              <a:t>Pair&lt;Manager&gt;</a:t>
            </a:r>
            <a:r>
              <a:rPr lang="zh-CN" altLang="en-US" sz="2800" dirty="0">
                <a:sym typeface="+mn-ea"/>
              </a:rPr>
              <a:t>。</a:t>
            </a:r>
            <a:endParaRPr lang="en-US" altLang="zh-CN" sz="2800" dirty="0"/>
          </a:p>
          <a:p>
            <a:pPr lvl="1"/>
            <a:r>
              <a:rPr lang="zh-CN" altLang="en-US" sz="2800" dirty="0">
                <a:sym typeface="+mn-ea"/>
              </a:rPr>
              <a:t>注意，在编译时这里</a:t>
            </a:r>
            <a:r>
              <a:rPr lang="en-US" altLang="zh-CN" sz="2800" dirty="0">
                <a:sym typeface="+mn-ea"/>
              </a:rPr>
              <a:t>Pair&lt;Manager&gt;</a:t>
            </a:r>
            <a:r>
              <a:rPr lang="zh-CN" altLang="en-US" sz="2800" dirty="0">
                <a:sym typeface="+mn-ea"/>
              </a:rPr>
              <a:t>和</a:t>
            </a:r>
            <a:r>
              <a:rPr lang="en-US" altLang="zh-CN" sz="2800" dirty="0">
                <a:sym typeface="+mn-ea"/>
              </a:rPr>
              <a:t>Pair&lt;Employee&gt;</a:t>
            </a:r>
            <a:r>
              <a:rPr lang="zh-CN" altLang="en-US" sz="2800" dirty="0">
                <a:sym typeface="+mn-ea"/>
              </a:rPr>
              <a:t>都是</a:t>
            </a:r>
            <a:r>
              <a:rPr lang="en-US" altLang="zh-CN" sz="2800" dirty="0">
                <a:sym typeface="+mn-ea"/>
              </a:rPr>
              <a:t>Pair&lt;? extends Employee&gt;</a:t>
            </a:r>
            <a:r>
              <a:rPr lang="zh-CN" altLang="en-US" sz="2800" dirty="0">
                <a:sym typeface="+mn-ea"/>
              </a:rPr>
              <a:t>的子类型。</a:t>
            </a:r>
            <a:endParaRPr lang="en-US" altLang="zh-CN" sz="2800" dirty="0"/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public static void </a:t>
            </a:r>
            <a:r>
              <a:rPr lang="en-US" altLang="zh-CN" sz="2800" dirty="0" err="1">
                <a:solidFill>
                  <a:srgbClr val="7030A0"/>
                </a:solidFill>
                <a:sym typeface="+mn-ea"/>
              </a:rPr>
              <a:t>printBuddies</a:t>
            </a: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(Pair&lt;? extends Employee&gt; p)</a:t>
            </a:r>
            <a:endParaRPr lang="en-US" altLang="zh-CN" sz="2800" dirty="0">
              <a:solidFill>
                <a:srgbClr val="7030A0"/>
              </a:solidFill>
            </a:endParaRPr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   {</a:t>
            </a:r>
            <a:endParaRPr lang="en-US" altLang="zh-CN" sz="2800" dirty="0">
              <a:solidFill>
                <a:srgbClr val="7030A0"/>
              </a:solidFill>
            </a:endParaRPr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      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Employee first = </a:t>
            </a:r>
            <a:r>
              <a:rPr lang="en-US" altLang="zh-CN" sz="2800" dirty="0" err="1">
                <a:solidFill>
                  <a:srgbClr val="FF0000"/>
                </a:solidFill>
                <a:sym typeface="+mn-ea"/>
              </a:rPr>
              <a:t>p.getFirst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();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      Employee second = </a:t>
            </a:r>
            <a:r>
              <a:rPr lang="en-US" altLang="zh-CN" sz="2800" dirty="0" err="1">
                <a:solidFill>
                  <a:srgbClr val="FF0000"/>
                </a:solidFill>
                <a:sym typeface="+mn-ea"/>
              </a:rPr>
              <a:t>p.getSecond</a:t>
            </a:r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();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      </a:t>
            </a:r>
            <a:r>
              <a:rPr lang="en-US" altLang="zh-CN" sz="2800" dirty="0" err="1">
                <a:solidFill>
                  <a:srgbClr val="7030A0"/>
                </a:solidFill>
                <a:sym typeface="+mn-ea"/>
              </a:rPr>
              <a:t>System.out.println</a:t>
            </a: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(</a:t>
            </a:r>
            <a:r>
              <a:rPr lang="en-US" altLang="zh-CN" sz="2800" dirty="0" err="1">
                <a:solidFill>
                  <a:srgbClr val="7030A0"/>
                </a:solidFill>
                <a:sym typeface="+mn-ea"/>
              </a:rPr>
              <a:t>first.getName</a:t>
            </a: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() + " and " + </a:t>
            </a:r>
            <a:r>
              <a:rPr lang="en-US" altLang="zh-CN" sz="2800" dirty="0" err="1">
                <a:solidFill>
                  <a:srgbClr val="7030A0"/>
                </a:solidFill>
                <a:sym typeface="+mn-ea"/>
              </a:rPr>
              <a:t>second.getName</a:t>
            </a: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() + " are buddies.");</a:t>
            </a:r>
            <a:endParaRPr lang="en-US" altLang="zh-CN" sz="2800" dirty="0">
              <a:solidFill>
                <a:srgbClr val="7030A0"/>
              </a:solidFill>
            </a:endParaRPr>
          </a:p>
          <a:p>
            <a:pPr marL="274320" lvl="1" indent="0">
              <a:buNone/>
            </a:pPr>
            <a:r>
              <a:rPr lang="en-US" altLang="zh-CN" sz="2800" dirty="0">
                <a:solidFill>
                  <a:srgbClr val="7030A0"/>
                </a:solidFill>
                <a:sym typeface="+mn-ea"/>
              </a:rPr>
              <a:t>   }</a:t>
            </a:r>
            <a:endParaRPr lang="en-US" altLang="zh-CN" sz="2800" dirty="0">
              <a:solidFill>
                <a:srgbClr val="7030A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476672"/>
            <a:ext cx="8352928" cy="6336704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这里的</a:t>
            </a:r>
            <a:r>
              <a:rPr lang="en-US" altLang="zh-CN" dirty="0">
                <a:solidFill>
                  <a:srgbClr val="FF0000"/>
                </a:solidFill>
              </a:rPr>
              <a:t>Employee first = </a:t>
            </a:r>
            <a:r>
              <a:rPr lang="en-US" altLang="zh-CN" dirty="0" err="1">
                <a:solidFill>
                  <a:srgbClr val="FF0000"/>
                </a:solidFill>
              </a:rPr>
              <a:t>p.getFirst</a:t>
            </a:r>
            <a:r>
              <a:rPr lang="en-US" altLang="zh-CN" dirty="0">
                <a:solidFill>
                  <a:srgbClr val="FF0000"/>
                </a:solidFill>
              </a:rPr>
              <a:t>();</a:t>
            </a:r>
            <a:r>
              <a:rPr lang="zh-CN" altLang="en-US" dirty="0"/>
              <a:t>  调用没有问题，因为</a:t>
            </a:r>
            <a:r>
              <a:rPr lang="en-US" altLang="zh-CN" dirty="0"/>
              <a:t>p</a:t>
            </a:r>
            <a:r>
              <a:rPr lang="zh-CN" altLang="en-US" dirty="0"/>
              <a:t>的类型是</a:t>
            </a:r>
            <a:r>
              <a:rPr lang="en-US" altLang="zh-CN" dirty="0"/>
              <a:t>&lt;? extends Employee&gt; </a:t>
            </a:r>
            <a:r>
              <a:rPr lang="zh-CN" altLang="en-US" dirty="0"/>
              <a:t>，它一定是</a:t>
            </a:r>
            <a:r>
              <a:rPr lang="en-US" altLang="zh-CN" dirty="0"/>
              <a:t>Employee</a:t>
            </a:r>
            <a:r>
              <a:rPr lang="zh-CN" altLang="en-US" dirty="0"/>
              <a:t>或者其子类型，</a:t>
            </a:r>
            <a:r>
              <a:rPr lang="en-US" altLang="zh-CN" dirty="0" err="1"/>
              <a:t>p.getFirst</a:t>
            </a:r>
            <a:r>
              <a:rPr lang="en-US" altLang="zh-CN" dirty="0"/>
              <a:t>()</a:t>
            </a:r>
            <a:r>
              <a:rPr lang="zh-CN" altLang="en-US" dirty="0"/>
              <a:t>会</a:t>
            </a:r>
            <a:r>
              <a:rPr lang="zh-CN" altLang="en-US" dirty="0">
                <a:solidFill>
                  <a:srgbClr val="FF00FF"/>
                </a:solidFill>
              </a:rPr>
              <a:t>返回其上边界类型</a:t>
            </a:r>
            <a:r>
              <a:rPr lang="en-US" altLang="zh-CN" dirty="0"/>
              <a:t>Employee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zh-CN" altLang="en-US" dirty="0"/>
              <a:t>也就是</a:t>
            </a:r>
            <a:r>
              <a:rPr lang="en-US" altLang="zh-CN" dirty="0"/>
              <a:t>Pair&lt;? extends </a:t>
            </a:r>
            <a:r>
              <a:rPr lang="en-US" altLang="zh-CN" dirty="0">
                <a:sym typeface="+mn-ea"/>
              </a:rPr>
              <a:t>Employee</a:t>
            </a:r>
            <a:r>
              <a:rPr lang="en-US" altLang="zh-CN" dirty="0"/>
              <a:t>&gt;</a:t>
            </a:r>
            <a:r>
              <a:rPr lang="zh-CN" altLang="en-US" dirty="0"/>
              <a:t>中的方法</a:t>
            </a:r>
            <a:br>
              <a:rPr lang="en-US" altLang="zh-CN" dirty="0"/>
            </a:br>
            <a:r>
              <a:rPr lang="en-US" altLang="zh-CN" dirty="0"/>
              <a:t> public </a:t>
            </a:r>
            <a:r>
              <a:rPr lang="en-US" altLang="zh-CN" dirty="0">
                <a:sym typeface="+mn-ea"/>
              </a:rPr>
              <a:t>Employee</a:t>
            </a:r>
            <a:r>
              <a:rPr lang="en-US" altLang="zh-CN" dirty="0"/>
              <a:t> </a:t>
            </a:r>
            <a:r>
              <a:rPr lang="en-US" altLang="zh-CN" dirty="0" err="1"/>
              <a:t>getFirst</a:t>
            </a:r>
            <a:r>
              <a:rPr lang="en-US" altLang="zh-CN" dirty="0"/>
              <a:t>() { return first; } </a:t>
            </a:r>
            <a:r>
              <a:rPr lang="zh-CN" altLang="en-US" dirty="0"/>
              <a:t>会返回</a:t>
            </a:r>
            <a:r>
              <a:rPr lang="en-US" altLang="zh-CN" dirty="0">
                <a:sym typeface="+mn-ea"/>
              </a:rPr>
              <a:t>Employee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1"/>
            <a:r>
              <a:rPr lang="zh-CN" altLang="en-US" dirty="0"/>
              <a:t>但是方法中不能这样：</a:t>
            </a:r>
            <a:br>
              <a:rPr lang="en-US" altLang="zh-CN" dirty="0"/>
            </a:br>
            <a:r>
              <a:rPr lang="en-US" altLang="zh-CN" dirty="0" err="1"/>
              <a:t>p.setFirst</a:t>
            </a:r>
            <a:r>
              <a:rPr lang="en-US" altLang="zh-CN" dirty="0"/>
              <a:t>(new Manager(…));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编译错误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2060"/>
                </a:solidFill>
              </a:rPr>
              <a:t>p.first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zh-CN" altLang="en-US" dirty="0">
                <a:solidFill>
                  <a:srgbClr val="FF00FF"/>
                </a:solidFill>
              </a:rPr>
              <a:t>只能确定</a:t>
            </a:r>
            <a:r>
              <a:rPr lang="zh-CN" altLang="en-US" dirty="0"/>
              <a:t>是</a:t>
            </a:r>
            <a:r>
              <a:rPr lang="en-US" altLang="zh-CN" dirty="0"/>
              <a:t>Employee</a:t>
            </a:r>
            <a:r>
              <a:rPr lang="zh-CN" altLang="en-US" dirty="0"/>
              <a:t>的一个子类型，但不是一个确定的类型，不能传递任何确定的类型给它。即 </a:t>
            </a:r>
            <a:r>
              <a:rPr lang="en-US" altLang="zh-CN" dirty="0"/>
              <a:t>Pair&lt;? extends </a:t>
            </a:r>
            <a:r>
              <a:rPr lang="en-US" altLang="zh-CN" dirty="0">
                <a:sym typeface="+mn-ea"/>
              </a:rPr>
              <a:t>Employee</a:t>
            </a:r>
            <a:r>
              <a:rPr lang="en-US" altLang="zh-CN" dirty="0"/>
              <a:t>&gt;</a:t>
            </a:r>
            <a:r>
              <a:rPr lang="zh-CN" altLang="en-US" dirty="0"/>
              <a:t>中的方法</a:t>
            </a:r>
            <a:br>
              <a:rPr lang="en-US" altLang="zh-CN" dirty="0"/>
            </a:br>
            <a:r>
              <a:rPr lang="en-US" altLang="zh-CN" dirty="0"/>
              <a:t> public void </a:t>
            </a:r>
            <a:r>
              <a:rPr lang="en-US" altLang="zh-CN" dirty="0" err="1"/>
              <a:t>setFirst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FF00FF"/>
                </a:solidFill>
              </a:rPr>
              <a:t>?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FF"/>
                </a:solidFill>
              </a:rPr>
              <a:t>extends </a:t>
            </a:r>
            <a:r>
              <a:rPr lang="en-US" altLang="zh-CN" dirty="0">
                <a:solidFill>
                  <a:srgbClr val="FF00FF"/>
                </a:solidFill>
                <a:sym typeface="+mn-ea"/>
              </a:rPr>
              <a:t>Employee</a:t>
            </a:r>
            <a:r>
              <a:rPr lang="en-US" altLang="zh-CN" dirty="0"/>
              <a:t> </a:t>
            </a:r>
            <a:r>
              <a:rPr lang="en-US" altLang="zh-CN" dirty="0" err="1"/>
              <a:t>newValue</a:t>
            </a:r>
            <a:r>
              <a:rPr lang="en-US" altLang="zh-CN" dirty="0"/>
              <a:t>) </a:t>
            </a:r>
            <a:br>
              <a:rPr lang="en-US" altLang="zh-CN" dirty="0"/>
            </a:br>
            <a:r>
              <a:rPr lang="en-US" altLang="zh-CN" dirty="0"/>
              <a:t>{ first = </a:t>
            </a:r>
            <a:r>
              <a:rPr lang="en-US" altLang="zh-CN" dirty="0" err="1"/>
              <a:t>newValue</a:t>
            </a:r>
            <a:r>
              <a:rPr lang="en-US" altLang="zh-CN" dirty="0"/>
              <a:t>; } </a:t>
            </a:r>
            <a:r>
              <a:rPr lang="zh-CN" altLang="en-US" dirty="0"/>
              <a:t>不能工作，这里的</a:t>
            </a:r>
            <a:r>
              <a:rPr lang="en-US" altLang="zh-CN" dirty="0"/>
              <a:t>first </a:t>
            </a:r>
            <a:r>
              <a:rPr lang="zh-CN" altLang="en-US" dirty="0"/>
              <a:t>不是确定的类型。</a:t>
            </a:r>
            <a:endParaRPr lang="en-US" altLang="zh-CN" dirty="0"/>
          </a:p>
          <a:p>
            <a:pPr lvl="1"/>
            <a:r>
              <a:rPr lang="zh-CN" altLang="en-US" dirty="0"/>
              <a:t>唯一可用的写操作是：</a:t>
            </a:r>
            <a:br>
              <a:rPr lang="en-US" altLang="zh-CN" dirty="0"/>
            </a:br>
            <a:r>
              <a:rPr lang="en-US" altLang="zh-CN" dirty="0" err="1"/>
              <a:t>p.setFirst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null</a:t>
            </a:r>
            <a:r>
              <a:rPr lang="en-US" altLang="zh-CN" dirty="0"/>
              <a:t>);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92696"/>
            <a:ext cx="8075240" cy="5544616"/>
          </a:xfrm>
        </p:spPr>
        <p:txBody>
          <a:bodyPr/>
          <a:lstStyle/>
          <a:p>
            <a:pPr lvl="1"/>
            <a:r>
              <a:rPr lang="zh-CN" altLang="en-US" dirty="0"/>
              <a:t>总结：</a:t>
            </a:r>
            <a:r>
              <a:rPr lang="zh-CN" altLang="en-US" dirty="0">
                <a:solidFill>
                  <a:srgbClr val="002060"/>
                </a:solidFill>
              </a:rPr>
              <a:t>通配符必须实例化对象时使用，</a:t>
            </a:r>
            <a:r>
              <a:rPr lang="zh-CN" altLang="en-US" dirty="0">
                <a:solidFill>
                  <a:srgbClr val="FF0000"/>
                </a:solidFill>
              </a:rPr>
              <a:t>通常只用在方法参数中，</a:t>
            </a:r>
            <a:r>
              <a:rPr lang="en-US" altLang="zh-CN" dirty="0">
                <a:solidFill>
                  <a:srgbClr val="FF00FF"/>
                </a:solidFill>
              </a:rPr>
              <a:t>? extends </a:t>
            </a:r>
            <a:r>
              <a:rPr lang="en-US" altLang="zh-CN" dirty="0" err="1">
                <a:solidFill>
                  <a:srgbClr val="FF00FF"/>
                </a:solidFill>
              </a:rPr>
              <a:t>className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zh-CN" altLang="en-US" dirty="0"/>
              <a:t>类型的</a:t>
            </a:r>
            <a:r>
              <a:rPr lang="zh-CN" altLang="en-US" dirty="0">
                <a:solidFill>
                  <a:srgbClr val="002060"/>
                </a:solidFill>
              </a:rPr>
              <a:t>通配符</a:t>
            </a:r>
            <a:r>
              <a:rPr lang="zh-CN" altLang="en-US" dirty="0">
                <a:solidFill>
                  <a:srgbClr val="FF0000"/>
                </a:solidFill>
              </a:rPr>
              <a:t>所指向的对象是只读的</a:t>
            </a:r>
            <a:r>
              <a:rPr lang="zh-CN" altLang="en-US" dirty="0"/>
              <a:t>。如果想修改对象，可使用</a:t>
            </a:r>
            <a:r>
              <a:rPr lang="en-US" altLang="zh-CN" dirty="0"/>
              <a:t>&lt;</a:t>
            </a:r>
            <a:r>
              <a:rPr lang="en-US" altLang="zh-CN" dirty="0">
                <a:solidFill>
                  <a:srgbClr val="FF0000"/>
                </a:solidFill>
              </a:rPr>
              <a:t>T extends Employee</a:t>
            </a:r>
            <a:r>
              <a:rPr lang="en-US" altLang="zh-CN" dirty="0"/>
              <a:t>&gt; </a:t>
            </a:r>
            <a:r>
              <a:rPr lang="zh-CN" altLang="en-US" dirty="0"/>
              <a:t>定义一个泛型方法：</a:t>
            </a:r>
            <a:br>
              <a:rPr lang="en-US" altLang="zh-CN" dirty="0"/>
            </a:br>
            <a:r>
              <a:rPr lang="en-US" altLang="zh-CN" dirty="0"/>
              <a:t>public static </a:t>
            </a:r>
            <a:r>
              <a:rPr lang="en-US" altLang="zh-CN" dirty="0">
                <a:solidFill>
                  <a:srgbClr val="FF00FF"/>
                </a:solidFill>
              </a:rPr>
              <a:t>&lt;T extends Employee&gt; </a:t>
            </a:r>
            <a:r>
              <a:rPr lang="en-US" altLang="zh-CN" dirty="0"/>
              <a:t>void printBuddies1(Pair</a:t>
            </a:r>
            <a:r>
              <a:rPr lang="en-US" altLang="zh-CN" dirty="0">
                <a:solidFill>
                  <a:srgbClr val="FF00FF"/>
                </a:solidFill>
              </a:rPr>
              <a:t>&lt;T&gt; </a:t>
            </a:r>
            <a:r>
              <a:rPr lang="en-US" altLang="zh-CN" dirty="0"/>
              <a:t>p)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Employee first = </a:t>
            </a:r>
            <a:r>
              <a:rPr lang="en-US" altLang="zh-CN" dirty="0" err="1"/>
              <a:t>p.getFirst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Employee second = </a:t>
            </a:r>
            <a:r>
              <a:rPr lang="en-US" altLang="zh-CN" dirty="0" err="1"/>
              <a:t>p.getSecond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System.out.println</a:t>
            </a:r>
            <a:r>
              <a:rPr lang="en-US" altLang="zh-CN" dirty="0"/>
              <a:t>(</a:t>
            </a:r>
            <a:r>
              <a:rPr lang="en-US" altLang="zh-CN" dirty="0" err="1"/>
              <a:t>first.getName</a:t>
            </a:r>
            <a:r>
              <a:rPr lang="en-US" altLang="zh-CN" dirty="0"/>
              <a:t>() + " and " + 				</a:t>
            </a:r>
            <a:r>
              <a:rPr lang="en-US" altLang="zh-CN" dirty="0" err="1"/>
              <a:t>second.getName</a:t>
            </a:r>
            <a:r>
              <a:rPr lang="en-US" altLang="zh-CN" dirty="0"/>
              <a:t>() + " are buddies.");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  <a:p>
            <a:pPr marL="274320" lvl="1" indent="0">
              <a:buNone/>
            </a:pPr>
            <a:r>
              <a:rPr lang="zh-CN" altLang="en-US" dirty="0"/>
              <a:t>这个方法中可以对</a:t>
            </a:r>
            <a:r>
              <a:rPr lang="en-US" altLang="zh-CN" dirty="0"/>
              <a:t>p</a:t>
            </a:r>
            <a:r>
              <a:rPr lang="zh-CN" altLang="en-US" dirty="0"/>
              <a:t>进行修改，见例程代码。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9.8  </a:t>
            </a:r>
            <a:r>
              <a:rPr lang="zh-CN" altLang="en-US" dirty="0"/>
              <a:t>下边界通配符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36712"/>
            <a:ext cx="8075240" cy="5400600"/>
          </a:xfrm>
        </p:spPr>
        <p:txBody>
          <a:bodyPr/>
          <a:lstStyle/>
          <a:p>
            <a:r>
              <a:rPr lang="zh-CN" altLang="en-US" dirty="0"/>
              <a:t>可以指定一个超类型限定：</a:t>
            </a:r>
            <a:r>
              <a:rPr lang="en-US" altLang="zh-CN" dirty="0">
                <a:solidFill>
                  <a:srgbClr val="FF00FF"/>
                </a:solidFill>
              </a:rPr>
              <a:t>? super Manager</a:t>
            </a:r>
            <a:r>
              <a:rPr lang="zh-CN" altLang="en-US" dirty="0"/>
              <a:t>，这个通配符限制为</a:t>
            </a:r>
            <a:r>
              <a:rPr lang="en-US" altLang="zh-CN" dirty="0"/>
              <a:t>Manager</a:t>
            </a:r>
            <a:r>
              <a:rPr lang="zh-CN" altLang="en-US" dirty="0"/>
              <a:t>的所有超类型（包括它本身）。</a:t>
            </a:r>
            <a:endParaRPr lang="en-US" altLang="zh-CN" dirty="0"/>
          </a:p>
          <a:p>
            <a:pPr lvl="1"/>
            <a:r>
              <a:rPr lang="zh-CN" altLang="en-US" dirty="0"/>
              <a:t>下边界通配符可以做方法的参数，但不能使用其返回值，例如</a:t>
            </a:r>
            <a:r>
              <a:rPr lang="en-US" altLang="zh-CN" dirty="0"/>
              <a:t>Pair</a:t>
            </a:r>
            <a:r>
              <a:rPr lang="zh-CN" altLang="en-US" dirty="0"/>
              <a:t>中的</a:t>
            </a:r>
            <a:r>
              <a:rPr lang="en-US" altLang="zh-CN" dirty="0" err="1"/>
              <a:t>getFirst</a:t>
            </a:r>
            <a:r>
              <a:rPr lang="zh-CN" altLang="en-US" dirty="0"/>
              <a:t>，但</a:t>
            </a:r>
            <a:r>
              <a:rPr lang="zh-CN" altLang="en-US" dirty="0">
                <a:solidFill>
                  <a:srgbClr val="FF00FF"/>
                </a:solidFill>
              </a:rPr>
              <a:t>可以使用</a:t>
            </a:r>
            <a:r>
              <a:rPr lang="en-US" altLang="zh-CN" dirty="0" err="1">
                <a:solidFill>
                  <a:srgbClr val="FF00FF"/>
                </a:solidFill>
              </a:rPr>
              <a:t>setFirst</a:t>
            </a:r>
            <a:r>
              <a:rPr lang="zh-CN" altLang="en-US" dirty="0"/>
              <a:t>方法。</a:t>
            </a:r>
            <a:br>
              <a:rPr lang="en-US" altLang="zh-CN" dirty="0"/>
            </a:br>
            <a:r>
              <a:rPr lang="en-US" altLang="zh-CN" dirty="0"/>
              <a:t>public static void </a:t>
            </a:r>
            <a:r>
              <a:rPr lang="en-US" altLang="zh-CN" dirty="0" err="1"/>
              <a:t>minmaxBonus</a:t>
            </a:r>
            <a:r>
              <a:rPr lang="en-US" altLang="zh-CN" dirty="0"/>
              <a:t>(Manager[] a, </a:t>
            </a:r>
            <a:r>
              <a:rPr lang="en-US" altLang="zh-CN" dirty="0">
                <a:solidFill>
                  <a:srgbClr val="FF00FF"/>
                </a:solidFill>
              </a:rPr>
              <a:t>Pair&lt;? super Manager&gt;</a:t>
            </a:r>
            <a:r>
              <a:rPr lang="en-US" altLang="zh-CN" dirty="0"/>
              <a:t> result)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if (</a:t>
            </a:r>
            <a:r>
              <a:rPr lang="en-US" altLang="zh-CN" dirty="0" err="1"/>
              <a:t>a.length</a:t>
            </a:r>
            <a:r>
              <a:rPr lang="en-US" altLang="zh-CN" dirty="0"/>
              <a:t> == 0) return;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Manager min = a[0];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Manager max = a[0];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60648"/>
            <a:ext cx="8075240" cy="6336704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altLang="zh-CN" dirty="0"/>
              <a:t>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1; </a:t>
            </a:r>
            <a:r>
              <a:rPr lang="en-US" altLang="zh-CN" dirty="0" err="1"/>
              <a:t>i</a:t>
            </a:r>
            <a:r>
              <a:rPr lang="en-US" altLang="zh-CN" dirty="0"/>
              <a:t> &lt; </a:t>
            </a:r>
            <a:r>
              <a:rPr lang="en-US" altLang="zh-CN" dirty="0" err="1"/>
              <a:t>a.length</a:t>
            </a:r>
            <a:r>
              <a:rPr lang="en-US" altLang="zh-CN" dirty="0"/>
              <a:t>; </a:t>
            </a:r>
            <a:r>
              <a:rPr lang="en-US" altLang="zh-CN" dirty="0" err="1"/>
              <a:t>i</a:t>
            </a:r>
            <a:r>
              <a:rPr lang="en-US" altLang="zh-CN" dirty="0"/>
              <a:t>++)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if (</a:t>
            </a:r>
            <a:r>
              <a:rPr lang="en-US" altLang="zh-CN" dirty="0" err="1"/>
              <a:t>min.getBonus</a:t>
            </a:r>
            <a:r>
              <a:rPr lang="en-US" altLang="zh-CN" dirty="0"/>
              <a:t>() &gt; a[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getBonus</a:t>
            </a:r>
            <a:r>
              <a:rPr lang="en-US" altLang="zh-CN" dirty="0"/>
              <a:t>()) min = 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   if (</a:t>
            </a:r>
            <a:r>
              <a:rPr lang="en-US" altLang="zh-CN" dirty="0" err="1"/>
              <a:t>max.getBonus</a:t>
            </a:r>
            <a:r>
              <a:rPr lang="en-US" altLang="zh-CN" dirty="0"/>
              <a:t>() &lt; a[</a:t>
            </a:r>
            <a:r>
              <a:rPr lang="en-US" altLang="zh-CN" dirty="0" err="1"/>
              <a:t>i</a:t>
            </a:r>
            <a:r>
              <a:rPr lang="en-US" altLang="zh-CN" dirty="0"/>
              <a:t>].</a:t>
            </a:r>
            <a:r>
              <a:rPr lang="en-US" altLang="zh-CN" dirty="0" err="1"/>
              <a:t>getBonus</a:t>
            </a:r>
            <a:r>
              <a:rPr lang="en-US" altLang="zh-CN" dirty="0"/>
              <a:t>()) max = a[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}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>
                <a:solidFill>
                  <a:srgbClr val="FF00FF"/>
                </a:solidFill>
              </a:rPr>
              <a:t>result.setFirst</a:t>
            </a:r>
            <a:r>
              <a:rPr lang="en-US" altLang="zh-CN" dirty="0">
                <a:solidFill>
                  <a:srgbClr val="FF00FF"/>
                </a:solidFill>
              </a:rPr>
              <a:t>(min);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这里</a:t>
            </a:r>
            <a:r>
              <a:rPr lang="en-US" altLang="zh-CN" dirty="0" err="1">
                <a:solidFill>
                  <a:schemeClr val="accent3">
                    <a:lumMod val="50000"/>
                  </a:schemeClr>
                </a:solidFill>
              </a:rPr>
              <a:t>setFirst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接受的参数类型是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Object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，所以允许赋值</a:t>
            </a:r>
            <a:endParaRPr lang="en-US" altLang="zh-CN" dirty="0">
              <a:solidFill>
                <a:schemeClr val="accent3">
                  <a:lumMod val="50000"/>
                </a:schemeClr>
              </a:solidFill>
            </a:endParaRPr>
          </a:p>
          <a:p>
            <a:pPr marL="274320" lvl="1" indent="0">
              <a:buNone/>
            </a:pPr>
            <a:r>
              <a:rPr lang="en-US" altLang="zh-CN" dirty="0">
                <a:solidFill>
                  <a:srgbClr val="FF00FF"/>
                </a:solidFill>
              </a:rPr>
              <a:t>      </a:t>
            </a:r>
            <a:r>
              <a:rPr lang="en-US" altLang="zh-CN" dirty="0" err="1">
                <a:solidFill>
                  <a:srgbClr val="FF00FF"/>
                </a:solidFill>
              </a:rPr>
              <a:t>result.setSecond</a:t>
            </a:r>
            <a:r>
              <a:rPr lang="en-US" altLang="zh-CN" dirty="0">
                <a:solidFill>
                  <a:srgbClr val="FF00FF"/>
                </a:solidFill>
              </a:rPr>
              <a:t>(max);</a:t>
            </a:r>
            <a:endParaRPr lang="en-US" altLang="zh-CN" dirty="0">
              <a:solidFill>
                <a:srgbClr val="FF00FF"/>
              </a:solidFill>
            </a:endParaRPr>
          </a:p>
          <a:p>
            <a:pPr marL="274320" lvl="1" indent="0"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lvl="1"/>
            <a:r>
              <a:rPr lang="zh-CN" altLang="en-US" dirty="0"/>
              <a:t>其中</a:t>
            </a:r>
            <a:r>
              <a:rPr lang="en-US" altLang="zh-CN" dirty="0"/>
              <a:t>result</a:t>
            </a:r>
            <a:r>
              <a:rPr lang="zh-CN" altLang="en-US" dirty="0"/>
              <a:t>是</a:t>
            </a:r>
            <a:r>
              <a:rPr lang="en-US" altLang="zh-CN" dirty="0"/>
              <a:t>Manager</a:t>
            </a:r>
            <a:r>
              <a:rPr lang="zh-CN" altLang="en-US" dirty="0"/>
              <a:t>的超类型，把一个</a:t>
            </a:r>
            <a:r>
              <a:rPr lang="en-US" altLang="zh-CN" dirty="0"/>
              <a:t>Manager</a:t>
            </a:r>
            <a:r>
              <a:rPr lang="zh-CN" altLang="en-US" dirty="0"/>
              <a:t>类型的对象赋值给它没有问题；</a:t>
            </a:r>
            <a:endParaRPr lang="en-US" altLang="zh-CN" dirty="0"/>
          </a:p>
          <a:p>
            <a:pPr lvl="1"/>
            <a:r>
              <a:rPr lang="zh-CN" altLang="en-US" dirty="0"/>
              <a:t>但是这个方法中不能像如下赋值：</a:t>
            </a:r>
            <a:br>
              <a:rPr lang="en-US" altLang="zh-CN" dirty="0"/>
            </a:br>
            <a:r>
              <a:rPr lang="en-US" altLang="zh-CN" dirty="0"/>
              <a:t>Employee e = </a:t>
            </a:r>
            <a:r>
              <a:rPr lang="en-US" altLang="zh-CN" dirty="0" err="1">
                <a:solidFill>
                  <a:srgbClr val="FF00FF"/>
                </a:solidFill>
              </a:rPr>
              <a:t>result.getFirst</a:t>
            </a:r>
            <a:r>
              <a:rPr lang="en-US" altLang="zh-CN" dirty="0">
                <a:solidFill>
                  <a:srgbClr val="FF00FF"/>
                </a:solidFill>
              </a:rPr>
              <a:t>()</a:t>
            </a:r>
            <a:r>
              <a:rPr lang="en-US" altLang="zh-CN" dirty="0"/>
              <a:t>;  </a:t>
            </a:r>
            <a:r>
              <a:rPr lang="zh-CN" altLang="en-US" dirty="0"/>
              <a:t>原因是</a:t>
            </a:r>
            <a:r>
              <a:rPr lang="en-US" altLang="zh-CN" dirty="0"/>
              <a:t>result</a:t>
            </a:r>
            <a:r>
              <a:rPr lang="zh-CN" altLang="en-US" dirty="0"/>
              <a:t>类型不确定，无法得到一个确定类型的返回值，只能</a:t>
            </a:r>
            <a:r>
              <a:rPr lang="zh-CN" altLang="en-US" dirty="0">
                <a:solidFill>
                  <a:srgbClr val="FF00FF"/>
                </a:solidFill>
              </a:rPr>
              <a:t>返回</a:t>
            </a:r>
            <a:r>
              <a:rPr lang="en-US" altLang="zh-CN" dirty="0">
                <a:solidFill>
                  <a:srgbClr val="FF00FF"/>
                </a:solidFill>
              </a:rPr>
              <a:t>Object</a:t>
            </a:r>
            <a:r>
              <a:rPr lang="zh-CN" altLang="en-US" dirty="0"/>
              <a:t>。</a:t>
            </a:r>
            <a:br>
              <a:rPr lang="en-US" altLang="zh-CN" dirty="0"/>
            </a:br>
            <a:r>
              <a:rPr lang="en-US" altLang="zh-CN" dirty="0"/>
              <a:t>Object e=</a:t>
            </a:r>
            <a:r>
              <a:rPr lang="en-US" altLang="zh-CN" dirty="0" err="1"/>
              <a:t>result.getFirst</a:t>
            </a:r>
            <a:r>
              <a:rPr lang="en-US" altLang="zh-CN" dirty="0"/>
              <a:t>();  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允许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此外，还可以使用无限定的通配符</a:t>
            </a:r>
            <a:r>
              <a:rPr lang="en-US" altLang="zh-CN" dirty="0">
                <a:solidFill>
                  <a:srgbClr val="FF00FF"/>
                </a:solidFill>
              </a:rPr>
              <a:t>&lt;?&gt;</a:t>
            </a:r>
            <a:r>
              <a:rPr lang="zh-CN" altLang="en-US" dirty="0"/>
              <a:t>。无限定通配符等同于</a:t>
            </a:r>
            <a:r>
              <a:rPr lang="en-US" altLang="zh-CN" dirty="0">
                <a:solidFill>
                  <a:srgbClr val="FF00FF"/>
                </a:solidFill>
              </a:rPr>
              <a:t>&lt;? extends Object &gt;</a:t>
            </a:r>
            <a:endParaRPr lang="zh-CN" altLang="en-US" dirty="0">
              <a:solidFill>
                <a:srgbClr val="FF00FF"/>
              </a:solidFill>
            </a:endParaRPr>
          </a:p>
          <a:p>
            <a:r>
              <a:rPr lang="zh-CN" altLang="en-US" dirty="0"/>
              <a:t>如：</a:t>
            </a:r>
            <a:r>
              <a:rPr lang="en-US" altLang="zh-CN" dirty="0"/>
              <a:t>Pair&lt;?&gt;,</a:t>
            </a:r>
            <a:r>
              <a:rPr lang="zh-CN" altLang="en-US" dirty="0"/>
              <a:t>它有以下方法：</a:t>
            </a:r>
            <a:endParaRPr lang="zh-CN" altLang="en-US" dirty="0"/>
          </a:p>
          <a:p>
            <a:pPr marL="274320" lvl="1" indent="0">
              <a:buNone/>
            </a:pPr>
            <a:r>
              <a:rPr lang="en-US" altLang="zh-CN" dirty="0"/>
              <a:t>? </a:t>
            </a:r>
            <a:r>
              <a:rPr lang="en-US" altLang="zh-CN" dirty="0" err="1"/>
              <a:t>getFirst</a:t>
            </a:r>
            <a:r>
              <a:rPr lang="en-US" altLang="zh-CN" dirty="0"/>
              <a:t>()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setFirst</a:t>
            </a:r>
            <a:r>
              <a:rPr lang="en-US" altLang="zh-CN" dirty="0"/>
              <a:t>(?)</a:t>
            </a:r>
            <a:endParaRPr lang="en-US" altLang="zh-CN" dirty="0"/>
          </a:p>
          <a:p>
            <a:pPr lvl="1"/>
            <a:r>
              <a:rPr lang="en-US" altLang="zh-CN" dirty="0" err="1"/>
              <a:t>getFirst</a:t>
            </a:r>
            <a:r>
              <a:rPr lang="zh-CN" altLang="en-US" dirty="0"/>
              <a:t>的返回值为</a:t>
            </a:r>
            <a:r>
              <a:rPr lang="en-US" altLang="zh-CN" dirty="0"/>
              <a:t>Object</a:t>
            </a:r>
            <a:r>
              <a:rPr lang="zh-CN" altLang="en-US" dirty="0"/>
              <a:t>类型，只能赋给一个</a:t>
            </a:r>
            <a:r>
              <a:rPr lang="en-US" altLang="zh-CN" dirty="0"/>
              <a:t>Object</a:t>
            </a:r>
            <a:r>
              <a:rPr lang="zh-CN" altLang="en-US" dirty="0"/>
              <a:t>，</a:t>
            </a:r>
            <a:r>
              <a:rPr lang="en-US" altLang="zh-CN" dirty="0" err="1"/>
              <a:t>setFirst</a:t>
            </a:r>
            <a:r>
              <a:rPr lang="zh-CN" altLang="en-US" dirty="0"/>
              <a:t>方法不能被调用，除</a:t>
            </a:r>
            <a:r>
              <a:rPr lang="en-US" altLang="zh-CN" dirty="0" err="1"/>
              <a:t>setFirst</a:t>
            </a:r>
            <a:r>
              <a:rPr lang="en-US" altLang="zh-CN" dirty="0"/>
              <a:t>(null)</a:t>
            </a:r>
            <a:r>
              <a:rPr lang="zh-CN" altLang="en-US" dirty="0"/>
              <a:t>外。</a:t>
            </a:r>
            <a:endParaRPr lang="en-US" altLang="zh-CN" dirty="0"/>
          </a:p>
          <a:p>
            <a:pPr lvl="1"/>
            <a:r>
              <a:rPr lang="zh-CN" altLang="en-US" dirty="0"/>
              <a:t>如下的方法可以检测一个</a:t>
            </a:r>
            <a:r>
              <a:rPr lang="en-US" altLang="zh-CN" dirty="0"/>
              <a:t>Pair</a:t>
            </a:r>
            <a:r>
              <a:rPr lang="zh-CN" altLang="en-US" dirty="0"/>
              <a:t>中是否包含</a:t>
            </a:r>
            <a:r>
              <a:rPr lang="en-US" altLang="zh-CN" dirty="0"/>
              <a:t>null</a:t>
            </a:r>
            <a:r>
              <a:rPr lang="zh-CN" altLang="en-US" dirty="0"/>
              <a:t>引用：</a:t>
            </a:r>
            <a:br>
              <a:rPr lang="en-US" altLang="zh-CN" dirty="0"/>
            </a:br>
            <a:r>
              <a:rPr lang="en-US" altLang="zh-CN" dirty="0"/>
              <a:t> public static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 err="1"/>
              <a:t>hasNulls</a:t>
            </a:r>
            <a:r>
              <a:rPr lang="en-US" altLang="zh-CN" dirty="0"/>
              <a:t>(Pair</a:t>
            </a:r>
            <a:r>
              <a:rPr lang="en-US" altLang="zh-CN" dirty="0">
                <a:solidFill>
                  <a:srgbClr val="FF00FF"/>
                </a:solidFill>
              </a:rPr>
              <a:t>&lt;?&gt;</a:t>
            </a:r>
            <a:r>
              <a:rPr lang="en-US" altLang="zh-CN" dirty="0"/>
              <a:t> p)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return </a:t>
            </a:r>
            <a:r>
              <a:rPr lang="en-US" altLang="zh-CN" dirty="0" err="1"/>
              <a:t>p.getFirst</a:t>
            </a:r>
            <a:r>
              <a:rPr lang="en-US" altLang="zh-CN" dirty="0"/>
              <a:t>() == null || </a:t>
            </a:r>
            <a:r>
              <a:rPr lang="en-US" altLang="zh-CN" dirty="0" err="1"/>
              <a:t>p.getSecond</a:t>
            </a:r>
            <a:r>
              <a:rPr lang="en-US" altLang="zh-CN" dirty="0"/>
              <a:t>() == null;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9.9  </a:t>
            </a:r>
            <a:r>
              <a:rPr lang="zh-CN" altLang="en-US" dirty="0"/>
              <a:t>捕获通配符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编写一个交换</a:t>
            </a:r>
            <a:r>
              <a:rPr lang="en-US" altLang="zh-CN" dirty="0"/>
              <a:t>Pair</a:t>
            </a:r>
            <a:r>
              <a:rPr lang="zh-CN" altLang="en-US" dirty="0"/>
              <a:t>元素的方法：</a:t>
            </a:r>
            <a:endParaRPr lang="en-US" altLang="zh-CN" dirty="0"/>
          </a:p>
          <a:p>
            <a:pPr lvl="1"/>
            <a:r>
              <a:rPr lang="en-US" altLang="zh-CN" dirty="0"/>
              <a:t>public static void swap(Pair&lt;?&gt; p)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	? temp = </a:t>
            </a:r>
            <a:r>
              <a:rPr lang="en-US" altLang="zh-CN" dirty="0" err="1"/>
              <a:t>p.getFirst</a:t>
            </a:r>
            <a:r>
              <a:rPr lang="en-US" altLang="zh-CN" dirty="0"/>
              <a:t>(); 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错误，</a:t>
            </a:r>
            <a:r>
              <a:rPr lang="en-US" altLang="zh-CN" dirty="0">
                <a:solidFill>
                  <a:schemeClr val="accent3">
                    <a:lumMod val="50000"/>
                  </a:schemeClr>
                </a:solidFill>
              </a:rPr>
              <a:t>?</a:t>
            </a:r>
            <a:r>
              <a:rPr lang="zh-CN" altLang="en-US" dirty="0">
                <a:solidFill>
                  <a:schemeClr val="accent3">
                    <a:lumMod val="50000"/>
                  </a:schemeClr>
                </a:solidFill>
              </a:rPr>
              <a:t>不是类型</a:t>
            </a:r>
            <a:br>
              <a:rPr lang="en-US" altLang="zh-CN" dirty="0"/>
            </a:br>
            <a:r>
              <a:rPr lang="en-US" altLang="zh-CN" dirty="0"/>
              <a:t>	…</a:t>
            </a:r>
            <a:br>
              <a:rPr lang="en-US" altLang="zh-CN" dirty="0"/>
            </a:br>
            <a:r>
              <a:rPr lang="en-US" altLang="zh-CN" dirty="0"/>
              <a:t>} </a:t>
            </a:r>
            <a:endParaRPr lang="en-US" altLang="zh-CN" dirty="0"/>
          </a:p>
          <a:p>
            <a:pPr lvl="1"/>
            <a:r>
              <a:rPr lang="zh-CN" altLang="en-US" dirty="0"/>
              <a:t>可以编写一个辅助的泛型方法：</a:t>
            </a:r>
            <a:br>
              <a:rPr lang="en-US" altLang="zh-CN" dirty="0"/>
            </a:br>
            <a:r>
              <a:rPr lang="en-US" altLang="zh-CN" dirty="0"/>
              <a:t> public static &lt;T&gt; void </a:t>
            </a:r>
            <a:r>
              <a:rPr lang="en-US" altLang="zh-CN" dirty="0" err="1"/>
              <a:t>swapHelper</a:t>
            </a:r>
            <a:r>
              <a:rPr lang="en-US" altLang="zh-CN" dirty="0"/>
              <a:t>(Pair&lt;T&gt; p)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{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T </a:t>
            </a:r>
            <a:r>
              <a:rPr lang="en-US" altLang="zh-CN" dirty="0" err="1"/>
              <a:t>t</a:t>
            </a:r>
            <a:r>
              <a:rPr lang="en-US" altLang="zh-CN" dirty="0"/>
              <a:t> = </a:t>
            </a:r>
            <a:r>
              <a:rPr lang="en-US" altLang="zh-CN" dirty="0" err="1"/>
              <a:t>p.getFirst</a:t>
            </a:r>
            <a:r>
              <a:rPr lang="en-US" altLang="zh-CN" dirty="0"/>
              <a:t>();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p.setFirst</a:t>
            </a:r>
            <a:r>
              <a:rPr lang="en-US" altLang="zh-CN" dirty="0"/>
              <a:t>(</a:t>
            </a:r>
            <a:r>
              <a:rPr lang="en-US" altLang="zh-CN" dirty="0" err="1"/>
              <a:t>p.getSecond</a:t>
            </a:r>
            <a:r>
              <a:rPr lang="en-US" altLang="zh-CN" dirty="0"/>
              <a:t>());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   </a:t>
            </a:r>
            <a:r>
              <a:rPr lang="en-US" altLang="zh-CN" dirty="0" err="1"/>
              <a:t>p.setSecond</a:t>
            </a:r>
            <a:r>
              <a:rPr lang="en-US" altLang="zh-CN" dirty="0"/>
              <a:t>(t);</a:t>
            </a:r>
            <a:endParaRPr lang="en-US" altLang="zh-CN" dirty="0"/>
          </a:p>
          <a:p>
            <a:pPr marL="274320" lvl="1" indent="0">
              <a:buNone/>
            </a:pPr>
            <a:r>
              <a:rPr lang="en-US" altLang="zh-CN" dirty="0"/>
              <a:t>   }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48680"/>
            <a:ext cx="8075240" cy="5688632"/>
          </a:xfrm>
        </p:spPr>
        <p:txBody>
          <a:bodyPr/>
          <a:lstStyle/>
          <a:p>
            <a:r>
              <a:rPr lang="zh-CN" altLang="en-US" dirty="0"/>
              <a:t>然后调用泛型方法：</a:t>
            </a:r>
            <a:endParaRPr lang="en-US" altLang="zh-CN" dirty="0"/>
          </a:p>
          <a:p>
            <a:pPr lvl="1"/>
            <a:r>
              <a:rPr lang="en-US" altLang="zh-CN" dirty="0"/>
              <a:t>public static void swap(Pair&lt;?&gt; p) </a:t>
            </a:r>
            <a:br>
              <a:rPr lang="en-US" altLang="zh-CN" dirty="0"/>
            </a:br>
            <a:r>
              <a:rPr lang="en-US" altLang="zh-CN" dirty="0"/>
              <a:t>{ </a:t>
            </a:r>
            <a:r>
              <a:rPr lang="en-US" altLang="zh-CN" dirty="0" err="1"/>
              <a:t>swapHelper</a:t>
            </a:r>
            <a:r>
              <a:rPr lang="en-US" altLang="zh-CN" dirty="0"/>
              <a:t>(p); }</a:t>
            </a:r>
            <a:endParaRPr lang="en-US" altLang="zh-CN" dirty="0"/>
          </a:p>
          <a:p>
            <a:pPr lvl="1"/>
            <a:r>
              <a:rPr lang="zh-CN" altLang="en-US" dirty="0"/>
              <a:t>此时，</a:t>
            </a:r>
            <a:r>
              <a:rPr lang="en-US" altLang="zh-CN" dirty="0" err="1"/>
              <a:t>swapHelper</a:t>
            </a:r>
            <a:r>
              <a:rPr lang="zh-CN" altLang="en-US" dirty="0"/>
              <a:t>方法的参数</a:t>
            </a:r>
            <a:r>
              <a:rPr lang="en-US" altLang="zh-CN" dirty="0"/>
              <a:t>T</a:t>
            </a:r>
            <a:r>
              <a:rPr lang="zh-CN" altLang="en-US" dirty="0"/>
              <a:t>会捕获</a:t>
            </a:r>
            <a:r>
              <a:rPr lang="en-US" altLang="zh-CN" dirty="0"/>
              <a:t>p</a:t>
            </a:r>
            <a:r>
              <a:rPr lang="zh-CN" altLang="en-US"/>
              <a:t>中通配符的类型。</a:t>
            </a:r>
            <a:endParaRPr lang="zh-CN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基本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7969</Words>
  <Application>WPS 演示</Application>
  <PresentationFormat>全屏显示(4:3)</PresentationFormat>
  <Paragraphs>266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华文宋体</vt:lpstr>
      <vt:lpstr>Arial Black</vt:lpstr>
      <vt:lpstr>微软雅黑</vt:lpstr>
      <vt:lpstr>汉仪旗黑</vt:lpstr>
      <vt:lpstr>黑体</vt:lpstr>
      <vt:lpstr>汉仪中黑KW</vt:lpstr>
      <vt:lpstr>微软雅黑</vt:lpstr>
      <vt:lpstr>宋体</vt:lpstr>
      <vt:lpstr>Arial Unicode MS</vt:lpstr>
      <vt:lpstr>Calibri</vt:lpstr>
      <vt:lpstr>Helvetica Neue</vt:lpstr>
      <vt:lpstr>汉仪书宋二KW</vt:lpstr>
      <vt:lpstr>基本</vt:lpstr>
      <vt:lpstr>Java 程序设计</vt:lpstr>
      <vt:lpstr>9  泛型程序设计</vt:lpstr>
      <vt:lpstr>PowerPoint 演示文稿</vt:lpstr>
      <vt:lpstr>PowerPoint 演示文稿</vt:lpstr>
      <vt:lpstr>9.1  为何引入泛型</vt:lpstr>
      <vt:lpstr>PowerPoint 演示文稿</vt:lpstr>
      <vt:lpstr>9.2  定义一个简单泛型类</vt:lpstr>
      <vt:lpstr>PowerPoint 演示文稿</vt:lpstr>
      <vt:lpstr>9.3  泛型方法</vt:lpstr>
      <vt:lpstr>PowerPoint 演示文稿</vt:lpstr>
      <vt:lpstr>9.4  类型变量的限定（用于定义类型参数）</vt:lpstr>
      <vt:lpstr>PowerPoint 演示文稿</vt:lpstr>
      <vt:lpstr>9.5  泛型代码和虚拟机</vt:lpstr>
      <vt:lpstr>PowerPoint 演示文稿</vt:lpstr>
      <vt:lpstr>PowerPoint 演示文稿</vt:lpstr>
      <vt:lpstr>9.6  约束与局限性</vt:lpstr>
      <vt:lpstr>PowerPoint 演示文稿</vt:lpstr>
      <vt:lpstr>9.7  上边界通配符（用于实例化类型参数）</vt:lpstr>
      <vt:lpstr>PowerPoint 演示文稿</vt:lpstr>
      <vt:lpstr>PowerPoint 演示文稿</vt:lpstr>
      <vt:lpstr>PowerPoint 演示文稿</vt:lpstr>
      <vt:lpstr>PowerPoint 演示文稿</vt:lpstr>
      <vt:lpstr>9.8  下边界通配符</vt:lpstr>
      <vt:lpstr>PowerPoint 演示文稿</vt:lpstr>
      <vt:lpstr>PowerPoint 演示文稿</vt:lpstr>
      <vt:lpstr>9.9  捕获通配符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面向对象程序设计----Java</dc:title>
  <dc:creator>hyq</dc:creator>
  <cp:lastModifiedBy>WPS_1667213079</cp:lastModifiedBy>
  <cp:revision>111</cp:revision>
  <dcterms:created xsi:type="dcterms:W3CDTF">2024-05-21T15:03:47Z</dcterms:created>
  <dcterms:modified xsi:type="dcterms:W3CDTF">2024-05-21T15:03:47Z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2052-6.5.1.8687</vt:lpwstr>
  </property>
  <property fmtid="{D5CDD505-2E9C-101B-9397-08002B2CF9AE}" pid="3" name="ICV">
    <vt:lpwstr>F112CD731D7BE00BD3B74C6660140CCB_43</vt:lpwstr>
  </property>
</Properties>
</file>