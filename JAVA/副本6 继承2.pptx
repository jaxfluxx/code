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311" r:id="rId3"/>
    <p:sldId id="257" r:id="rId4"/>
    <p:sldId id="278" r:id="rId6"/>
    <p:sldId id="279" r:id="rId7"/>
    <p:sldId id="30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301" r:id="rId16"/>
    <p:sldId id="265" r:id="rId17"/>
    <p:sldId id="302" r:id="rId18"/>
    <p:sldId id="266" r:id="rId19"/>
    <p:sldId id="303" r:id="rId20"/>
    <p:sldId id="267" r:id="rId21"/>
    <p:sldId id="268" r:id="rId22"/>
    <p:sldId id="304" r:id="rId23"/>
    <p:sldId id="306" r:id="rId24"/>
    <p:sldId id="307" r:id="rId25"/>
    <p:sldId id="308" r:id="rId26"/>
    <p:sldId id="269" r:id="rId27"/>
    <p:sldId id="310" r:id="rId28"/>
    <p:sldId id="30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53"/>
        <p:guide pos="28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18810819390</a:t>
            </a:r>
            <a:endParaRPr lang="en-US" altLang="zh-CN" sz="2800" dirty="0"/>
          </a:p>
          <a:p>
            <a:pPr algn="l"/>
            <a:r>
              <a:rPr lang="en-US" altLang="zh-CN" sz="280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泛型数组列表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075240" cy="5328592"/>
          </a:xfrm>
        </p:spPr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中允许动态创建数组：</a:t>
            </a:r>
            <a:endParaRPr lang="en-US" altLang="zh-CN" dirty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size = …;</a:t>
            </a:r>
            <a:br>
              <a:rPr lang="en-US" altLang="zh-CN" dirty="0"/>
            </a:br>
            <a:r>
              <a:rPr lang="en-US" altLang="zh-CN" dirty="0"/>
              <a:t>Employee[] staff = new Employee[size];</a:t>
            </a:r>
            <a:endParaRPr lang="en-US" altLang="zh-CN" dirty="0"/>
          </a:p>
          <a:p>
            <a:pPr lvl="1"/>
            <a:r>
              <a:rPr lang="zh-CN" altLang="en-US" dirty="0"/>
              <a:t>但是一旦确定了数组的大小则不能改变。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是一个数组队列，相当于动态数组，与</a:t>
            </a:r>
            <a:r>
              <a:rPr lang="en-US" altLang="zh-CN" dirty="0"/>
              <a:t>Java</a:t>
            </a:r>
            <a:r>
              <a:rPr lang="zh-CN" altLang="en-US" dirty="0"/>
              <a:t>中的数组相比，它的容量能动态增长。它继承了</a:t>
            </a:r>
            <a:r>
              <a:rPr lang="en-US" altLang="zh-CN" dirty="0" err="1"/>
              <a:t>AbstractList</a:t>
            </a:r>
            <a:r>
              <a:rPr lang="zh-CN" altLang="en-US" dirty="0"/>
              <a:t>，实现了一组接口，提供了相关的添加、删除、修改、遍历等功能。</a:t>
            </a:r>
            <a:endParaRPr lang="en-US" altLang="zh-CN" dirty="0"/>
          </a:p>
          <a:p>
            <a:pPr lvl="1"/>
            <a:r>
              <a:rPr lang="en-US" altLang="zh-CN" dirty="0" err="1"/>
              <a:t>java.lang.Object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↳     </a:t>
            </a:r>
            <a:r>
              <a:rPr lang="en-US" altLang="zh-CN" dirty="0" err="1"/>
              <a:t>java.util.AbstractCollection</a:t>
            </a:r>
            <a:r>
              <a:rPr lang="en-US" altLang="zh-CN" dirty="0"/>
              <a:t>&lt;E&gt;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↳     </a:t>
            </a:r>
            <a:r>
              <a:rPr lang="en-US" altLang="zh-CN" dirty="0" err="1"/>
              <a:t>java.util.AbstractList</a:t>
            </a:r>
            <a:r>
              <a:rPr lang="en-US" altLang="zh-CN" dirty="0"/>
              <a:t>&lt;E&gt;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   ↳     </a:t>
            </a:r>
            <a:r>
              <a:rPr lang="en-US" altLang="zh-CN" dirty="0" err="1"/>
              <a:t>java.util.ArrayList</a:t>
            </a:r>
            <a:r>
              <a:rPr lang="en-US" altLang="zh-CN" dirty="0"/>
              <a:t>&lt;E&gt;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/>
              <a:t>数组和</a:t>
            </a:r>
            <a:r>
              <a:rPr lang="en-US" altLang="zh-CN"/>
              <a:t>ArrayList</a:t>
            </a:r>
            <a:r>
              <a:rPr lang="zh-CN" altLang="en-US"/>
              <a:t>的比较</a:t>
            </a:r>
            <a:endParaRPr lang="zh-CN" altLang="en-US"/>
          </a:p>
        </p:txBody>
      </p:sp>
      <p:pic>
        <p:nvPicPr>
          <p:cNvPr id="7" name="图片 6" descr="QQ截图201911191540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" y="1364615"/>
            <a:ext cx="8345805" cy="4232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48665"/>
            <a:ext cx="8075295" cy="588327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public static void main(String[] args)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{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ArrayList&lt;Integer&gt; as=new ArrayList&lt;&gt;();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for(int i=0;i&lt;15;i++)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	as.add( 100+i);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as.add(</a:t>
            </a:r>
            <a:r>
              <a:rPr lang="en-US" altLang="zh-CN" dirty="0"/>
              <a:t>10</a:t>
            </a:r>
            <a:r>
              <a:rPr lang="zh-CN" altLang="en-US" dirty="0"/>
              <a:t>，200);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as.remove(5);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as.remove(Integer.valueOf(108));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for(int i=0;i&lt;as.size();i++)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	System.out.println(as.get(i));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System.out.println(as.size());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</a:t>
            </a:r>
            <a:r>
              <a:rPr lang="zh-CN" altLang="en-US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////////////////////////////////</a:t>
            </a:r>
            <a:endParaRPr lang="zh-CN" altLang="en-US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pPr>
              <a:buNone/>
            </a:pPr>
            <a:r>
              <a:rPr lang="zh-CN" altLang="en-US" dirty="0"/>
              <a:t>		as.clear();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	System.out.println(as.size());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	}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2"/>
            <a:ext cx="8280920" cy="619268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ArrayList</a:t>
            </a:r>
            <a:r>
              <a:rPr lang="zh-CN" altLang="en-US" dirty="0"/>
              <a:t>是一个泛型类，使用</a:t>
            </a:r>
            <a:r>
              <a:rPr lang="zh-CN" altLang="en-US" dirty="0">
                <a:solidFill>
                  <a:srgbClr val="FF0000"/>
                </a:solidFill>
              </a:rPr>
              <a:t>类型参数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构造一个数组列表要给出类型参数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ArrayList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Integer</a:t>
            </a:r>
            <a:r>
              <a:rPr lang="en-US" altLang="zh-CN" dirty="0"/>
              <a:t>&gt; ia1 = new </a:t>
            </a:r>
            <a:r>
              <a:rPr lang="en-US" altLang="zh-CN" dirty="0" err="1"/>
              <a:t>ArrayList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Integer</a:t>
            </a:r>
            <a:r>
              <a:rPr lang="en-US" altLang="zh-CN" dirty="0"/>
              <a:t>&gt;();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由于根据</a:t>
            </a:r>
            <a:r>
              <a:rPr lang="en-US" altLang="zh-CN" dirty="0"/>
              <a:t>ia1</a:t>
            </a:r>
            <a:r>
              <a:rPr lang="zh-CN" altLang="en-US" dirty="0"/>
              <a:t>可以推断出</a:t>
            </a:r>
            <a:r>
              <a:rPr lang="en-US" altLang="zh-CN" dirty="0"/>
              <a:t>new</a:t>
            </a:r>
            <a:r>
              <a:rPr lang="zh-CN" altLang="en-US" dirty="0"/>
              <a:t>调用的构造器类型，右面的类型参数可以省略：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ArrayList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Integer</a:t>
            </a:r>
            <a:r>
              <a:rPr lang="en-US" altLang="zh-CN" dirty="0"/>
              <a:t>&gt; ia2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Java10</a:t>
            </a:r>
            <a:r>
              <a:rPr lang="zh-CN" altLang="en-US" dirty="0"/>
              <a:t>以后可以使用</a:t>
            </a:r>
            <a:r>
              <a:rPr lang="en-US" altLang="zh-CN" dirty="0" err="1"/>
              <a:t>var</a:t>
            </a:r>
            <a:r>
              <a:rPr lang="zh-CN" altLang="en-US" dirty="0"/>
              <a:t>关键字定义局部变量：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var</a:t>
            </a:r>
            <a:r>
              <a:rPr lang="en-US" altLang="zh-CN" dirty="0"/>
              <a:t> ia3 = new </a:t>
            </a:r>
            <a:r>
              <a:rPr lang="en-US" altLang="zh-CN" dirty="0" err="1"/>
              <a:t>ArrayList</a:t>
            </a:r>
            <a:r>
              <a:rPr lang="en-US" altLang="zh-CN" dirty="0"/>
              <a:t>&lt;Integer&gt;();</a:t>
            </a:r>
            <a:endParaRPr lang="en-US" altLang="zh-CN" dirty="0"/>
          </a:p>
          <a:p>
            <a:pPr lvl="1"/>
            <a:r>
              <a:rPr lang="zh-CN" altLang="en-US" dirty="0"/>
              <a:t>这里</a:t>
            </a:r>
            <a:r>
              <a:rPr lang="en-US" altLang="zh-CN" dirty="0"/>
              <a:t>&lt;&gt;</a:t>
            </a:r>
            <a:r>
              <a:rPr lang="zh-CN" altLang="en-US" dirty="0"/>
              <a:t>中的类型参数只能是引用类型，不能是基本类型。</a:t>
            </a:r>
            <a:endParaRPr lang="en-US" altLang="zh-CN" dirty="0"/>
          </a:p>
          <a:p>
            <a:pPr lvl="1"/>
            <a:r>
              <a:rPr lang="en-US" altLang="zh-CN" dirty="0" err="1"/>
              <a:t>var</a:t>
            </a:r>
            <a:r>
              <a:rPr lang="zh-CN" altLang="en-US" dirty="0"/>
              <a:t>可以定义任意的局部变量，编译器推断其类型：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var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 v1=10;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marL="914400" lvl="2" indent="0"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v1=5.5;     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编译器报错：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v1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是</a:t>
            </a:r>
            <a:r>
              <a:rPr lang="en-US" altLang="zh-CN" dirty="0" err="1">
                <a:solidFill>
                  <a:schemeClr val="accent3">
                    <a:lumMod val="75000"/>
                  </a:schemeClr>
                </a:solidFill>
              </a:rPr>
              <a:t>int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类型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2"/>
            <a:ext cx="8280920" cy="6192688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构造一个空数组列表（默认容量为</a:t>
            </a:r>
            <a:r>
              <a:rPr lang="en-US" altLang="zh-CN" dirty="0"/>
              <a:t>10</a:t>
            </a:r>
            <a:r>
              <a:rPr lang="zh-CN" altLang="en-US" dirty="0"/>
              <a:t>）：</a:t>
            </a:r>
            <a:br>
              <a:rPr lang="en-US" altLang="zh-CN" dirty="0"/>
            </a:br>
            <a:r>
              <a:rPr lang="en-US" altLang="zh-CN" dirty="0" err="1"/>
              <a:t>var</a:t>
            </a:r>
            <a:r>
              <a:rPr lang="en-US" altLang="zh-CN" dirty="0"/>
              <a:t>  staff = new </a:t>
            </a:r>
            <a:r>
              <a:rPr lang="en-US" altLang="zh-CN" dirty="0" err="1">
                <a:solidFill>
                  <a:srgbClr val="FF0000"/>
                </a:solidFill>
              </a:rPr>
              <a:t>ArrayList</a:t>
            </a:r>
            <a:r>
              <a:rPr lang="en-US" altLang="zh-CN" dirty="0">
                <a:solidFill>
                  <a:srgbClr val="FF0000"/>
                </a:solidFill>
              </a:rPr>
              <a:t>&lt;Employee&gt;()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add</a:t>
            </a:r>
            <a:r>
              <a:rPr lang="en-US" altLang="zh-CN" dirty="0"/>
              <a:t>(new Employee(“Carl Cracker”, 75000, 1987, 12, 15));    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末尾位置添加元素</a:t>
            </a:r>
            <a:br>
              <a:rPr lang="en-US" altLang="zh-CN" dirty="0"/>
            </a:br>
            <a:r>
              <a:rPr lang="en-US" altLang="zh-CN" dirty="0"/>
              <a:t> Employee e1=new Employee("</a:t>
            </a:r>
            <a:r>
              <a:rPr lang="zh-CN" altLang="en-US" dirty="0"/>
              <a:t>李明</a:t>
            </a:r>
            <a:r>
              <a:rPr lang="en-US" altLang="zh-CN" dirty="0"/>
              <a:t>",70000,1988,10,1);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staff.add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, e1);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指定元素添加位置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若知道预期的容量，可以预设其大小，分配一块足够的空间：</a:t>
            </a:r>
            <a:br>
              <a:rPr lang="en-US" altLang="zh-CN" dirty="0"/>
            </a:b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ensureCapacity</a:t>
            </a:r>
            <a:r>
              <a:rPr lang="en-US" altLang="zh-CN" dirty="0"/>
              <a:t>(100);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之后添加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元素不需要重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新分配空间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zh-CN" altLang="en-US" dirty="0"/>
              <a:t>还可以构造时指定数组的初始容量，亦是构造空数组列表：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ArrayList</a:t>
            </a:r>
            <a:r>
              <a:rPr lang="en-US" altLang="zh-CN" dirty="0"/>
              <a:t>&lt;Employee&gt; staff = new </a:t>
            </a:r>
            <a:r>
              <a:rPr lang="en-US" altLang="zh-CN" dirty="0" err="1">
                <a:solidFill>
                  <a:srgbClr val="FF0000"/>
                </a:solidFill>
              </a:rPr>
              <a:t>ArrayList</a:t>
            </a:r>
            <a:r>
              <a:rPr lang="en-US" altLang="zh-CN" dirty="0">
                <a:solidFill>
                  <a:srgbClr val="FF0000"/>
                </a:solidFill>
              </a:rPr>
              <a:t>&lt;&gt;(100)</a:t>
            </a:r>
            <a:r>
              <a:rPr lang="en-US" altLang="zh-CN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如果添加元素个数超过了列表的容量，则会自动重新寻找存储位置，并扩大容量。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2"/>
            <a:ext cx="8496944" cy="5760640"/>
          </a:xfrm>
        </p:spPr>
        <p:txBody>
          <a:bodyPr>
            <a:normAutofit fontScale="92500"/>
          </a:bodyPr>
          <a:lstStyle/>
          <a:p>
            <a:r>
              <a:rPr lang="en-US" altLang="zh-CN" dirty="0" err="1"/>
              <a:t>ArrayList</a:t>
            </a:r>
            <a:r>
              <a:rPr lang="zh-CN" altLang="en-US" dirty="0"/>
              <a:t>设定的容量与数组的大小不同：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var</a:t>
            </a:r>
            <a:r>
              <a:rPr lang="en-US" altLang="zh-CN" dirty="0"/>
              <a:t> staff = new </a:t>
            </a:r>
            <a:r>
              <a:rPr lang="en-US" altLang="zh-CN" dirty="0" err="1"/>
              <a:t>ArrayList</a:t>
            </a:r>
            <a:r>
              <a:rPr lang="en-US" altLang="zh-CN" dirty="0"/>
              <a:t>&lt;Employee&gt;(100);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staff.add</a:t>
            </a:r>
            <a:r>
              <a:rPr lang="en-US" altLang="zh-CN" dirty="0"/>
              <a:t>(new Employee("Carl Cracker", 75000, 1987, 12, 15));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staff.add</a:t>
            </a:r>
            <a:r>
              <a:rPr lang="en-US" altLang="zh-CN" dirty="0"/>
              <a:t>(new Employee("Harry Hacker", 50000, 1989, 10, 1));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staff.add</a:t>
            </a:r>
            <a:r>
              <a:rPr lang="en-US" altLang="zh-CN" dirty="0"/>
              <a:t>(new Employee("Tony Tester", 40000, 1990, 3, 15));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Employee e1=new Employee("</a:t>
            </a:r>
            <a:r>
              <a:rPr lang="zh-CN" altLang="en-US" dirty="0"/>
              <a:t>李明</a:t>
            </a:r>
            <a:r>
              <a:rPr lang="en-US" altLang="zh-CN" dirty="0"/>
              <a:t>",70000,1988,10,1);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staff.add</a:t>
            </a:r>
            <a:r>
              <a:rPr lang="en-US" altLang="zh-CN" dirty="0"/>
              <a:t>(0,e1);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staff.add</a:t>
            </a:r>
            <a:r>
              <a:rPr lang="en-US" altLang="zh-CN" dirty="0"/>
              <a:t>(4,e1);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size</a:t>
            </a:r>
            <a:r>
              <a:rPr lang="en-US" altLang="zh-CN" dirty="0"/>
              <a:t>());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返回列表大小：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5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Employee[] staff1=new Employee[100];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(staff1.</a:t>
            </a:r>
            <a:r>
              <a:rPr lang="en-US" altLang="zh-CN" dirty="0">
                <a:solidFill>
                  <a:srgbClr val="FF0000"/>
                </a:solidFill>
              </a:rPr>
              <a:t>length</a:t>
            </a:r>
            <a:r>
              <a:rPr lang="en-US" altLang="zh-CN" dirty="0"/>
              <a:t> 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返回数组大小：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435280" cy="6048672"/>
          </a:xfrm>
        </p:spPr>
        <p:txBody>
          <a:bodyPr/>
          <a:lstStyle/>
          <a:p>
            <a:r>
              <a:rPr lang="zh-CN" altLang="en-US" dirty="0"/>
              <a:t>如果确定数组不再增长，可以消减容量以释放多余空间：</a:t>
            </a:r>
            <a:endParaRPr lang="en-US" altLang="zh-CN" dirty="0"/>
          </a:p>
          <a:p>
            <a:pPr lvl="1"/>
            <a:r>
              <a:rPr lang="en-US" altLang="zh-CN" dirty="0" err="1"/>
              <a:t>staff.trimToSize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zh-CN" altLang="en-US" dirty="0"/>
              <a:t>访问数组列表元素：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index, E </a:t>
            </a:r>
            <a:r>
              <a:rPr lang="en-US" altLang="zh-CN" dirty="0" err="1"/>
              <a:t>obj</a:t>
            </a:r>
            <a:r>
              <a:rPr lang="en-US" altLang="zh-CN" dirty="0"/>
              <a:t>)  </a:t>
            </a:r>
            <a:r>
              <a:rPr lang="zh-CN" altLang="en-US" dirty="0"/>
              <a:t>用</a:t>
            </a:r>
            <a:r>
              <a:rPr lang="en-US" altLang="zh-CN" dirty="0" err="1"/>
              <a:t>obj</a:t>
            </a:r>
            <a:r>
              <a:rPr lang="zh-CN" altLang="en-US" dirty="0"/>
              <a:t>替换</a:t>
            </a:r>
            <a:r>
              <a:rPr lang="en-US" altLang="zh-CN" dirty="0"/>
              <a:t>index</a:t>
            </a:r>
            <a:r>
              <a:rPr lang="zh-CN" altLang="en-US" dirty="0"/>
              <a:t>号元素</a:t>
            </a:r>
            <a:br>
              <a:rPr lang="en-US" altLang="zh-CN" dirty="0"/>
            </a:br>
            <a:r>
              <a:rPr lang="en-US" altLang="zh-CN" dirty="0"/>
              <a:t> Employee e1=new Employee("</a:t>
            </a:r>
            <a:r>
              <a:rPr lang="zh-CN" altLang="en-US" dirty="0"/>
              <a:t>李明</a:t>
            </a:r>
            <a:r>
              <a:rPr lang="en-US" altLang="zh-CN" dirty="0"/>
              <a:t>",70000,1988,10,1);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Employee e2=new Employee("</a:t>
            </a:r>
            <a:r>
              <a:rPr lang="zh-CN" altLang="en-US" dirty="0"/>
              <a:t>张玮</a:t>
            </a:r>
            <a:r>
              <a:rPr lang="en-US" altLang="zh-CN" dirty="0"/>
              <a:t>",50000,1995,8,1);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set</a:t>
            </a:r>
            <a:r>
              <a:rPr lang="en-US" altLang="zh-CN" dirty="0"/>
              <a:t>(0,e1);  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与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add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不同，替换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位置原来的元素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add</a:t>
            </a:r>
            <a:r>
              <a:rPr lang="en-US" altLang="zh-CN" dirty="0"/>
              <a:t>(2,e2); 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位置插入元素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e2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，后面的元素后移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get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index) </a:t>
            </a:r>
            <a:r>
              <a:rPr lang="zh-CN" altLang="en-US" dirty="0"/>
              <a:t>取得</a:t>
            </a:r>
            <a:r>
              <a:rPr lang="en-US" altLang="zh-CN" dirty="0"/>
              <a:t>index</a:t>
            </a:r>
            <a:r>
              <a:rPr lang="zh-CN" altLang="en-US" dirty="0"/>
              <a:t>号元素的值</a:t>
            </a:r>
            <a:br>
              <a:rPr lang="en-US" altLang="zh-CN" dirty="0"/>
            </a:br>
            <a:r>
              <a:rPr lang="en-US" altLang="zh-CN" dirty="0"/>
              <a:t>Employee e3 = </a:t>
            </a:r>
            <a:r>
              <a:rPr lang="en-US" altLang="zh-CN" dirty="0" err="1"/>
              <a:t>staff.get</a:t>
            </a:r>
            <a:r>
              <a:rPr lang="en-US" altLang="zh-CN" dirty="0"/>
              <a:t>(1);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remove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index), </a:t>
            </a:r>
            <a:r>
              <a:rPr lang="en-US" altLang="zh-CN" dirty="0">
                <a:solidFill>
                  <a:srgbClr val="FF0000"/>
                </a:solidFill>
              </a:rPr>
              <a:t>remove</a:t>
            </a:r>
            <a:r>
              <a:rPr lang="en-US" altLang="zh-CN" dirty="0"/>
              <a:t>(E </a:t>
            </a:r>
            <a:r>
              <a:rPr lang="en-US" altLang="zh-CN" dirty="0" err="1"/>
              <a:t>obj</a:t>
            </a:r>
            <a:r>
              <a:rPr lang="en-US" altLang="zh-CN" dirty="0"/>
              <a:t>) </a:t>
            </a:r>
            <a:r>
              <a:rPr lang="zh-CN" altLang="en-US" dirty="0"/>
              <a:t>删除指定位置的元素，或第一次出现的</a:t>
            </a:r>
            <a:r>
              <a:rPr lang="en-US" altLang="zh-CN" dirty="0" err="1"/>
              <a:t>obj</a:t>
            </a:r>
            <a:r>
              <a:rPr lang="zh-CN" altLang="en-US" dirty="0"/>
              <a:t>元素，后面元素依次前移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19256" cy="604867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可见，</a:t>
            </a:r>
            <a:r>
              <a:rPr lang="en-US" altLang="zh-CN" dirty="0" err="1"/>
              <a:t>ArrayList</a:t>
            </a:r>
            <a:r>
              <a:rPr lang="zh-CN" altLang="en-US" dirty="0"/>
              <a:t>可以方便的插入删除元素，但是访问元素要用其提供的方法，不能使用下标。</a:t>
            </a:r>
            <a:endParaRPr lang="en-US" altLang="zh-CN" dirty="0"/>
          </a:p>
          <a:p>
            <a:pPr lvl="1"/>
            <a:r>
              <a:rPr lang="zh-CN" altLang="en-US" dirty="0"/>
              <a:t>下面的代码将数组列表中的元素拷贝到一个数组：</a:t>
            </a:r>
            <a:br>
              <a:rPr lang="en-US" altLang="zh-CN" dirty="0"/>
            </a:br>
            <a:r>
              <a:rPr lang="en-US" altLang="zh-CN" dirty="0"/>
              <a:t> Employee[] </a:t>
            </a:r>
            <a:r>
              <a:rPr lang="en-US" altLang="zh-CN" dirty="0" err="1"/>
              <a:t>myStaff</a:t>
            </a:r>
            <a:r>
              <a:rPr lang="en-US" altLang="zh-CN" dirty="0"/>
              <a:t>=new Employee[</a:t>
            </a:r>
            <a:r>
              <a:rPr lang="en-US" altLang="zh-CN" dirty="0" err="1"/>
              <a:t>staff.size</a:t>
            </a:r>
            <a:r>
              <a:rPr lang="en-US" altLang="zh-CN" dirty="0"/>
              <a:t>()];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staff.</a:t>
            </a:r>
            <a:r>
              <a:rPr lang="en-US" altLang="zh-CN" dirty="0" err="1">
                <a:solidFill>
                  <a:srgbClr val="FF0000"/>
                </a:solidFill>
              </a:rPr>
              <a:t>toArray</a:t>
            </a:r>
            <a:r>
              <a:rPr lang="en-US" altLang="zh-CN" dirty="0"/>
              <a:t>(</a:t>
            </a:r>
            <a:r>
              <a:rPr lang="en-US" altLang="zh-CN" dirty="0" err="1"/>
              <a:t>myStaff</a:t>
            </a:r>
            <a:r>
              <a:rPr lang="en-US" altLang="zh-CN" dirty="0"/>
              <a:t>);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myStaff.length;i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myStaff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getName</a:t>
            </a:r>
            <a:r>
              <a:rPr lang="en-US" altLang="zh-CN" dirty="0"/>
              <a:t>());</a:t>
            </a:r>
            <a:endParaRPr lang="en-US" altLang="zh-CN" dirty="0"/>
          </a:p>
          <a:p>
            <a:r>
              <a:rPr lang="zh-CN" altLang="en-US" dirty="0"/>
              <a:t>数组列表支持</a:t>
            </a:r>
            <a:r>
              <a:rPr lang="en-US" altLang="zh-CN" dirty="0" err="1"/>
              <a:t>foreach</a:t>
            </a:r>
            <a:r>
              <a:rPr lang="zh-CN" altLang="en-US" dirty="0"/>
              <a:t>语法：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 (Employee e : staff)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e.raiseSalary</a:t>
            </a:r>
            <a:r>
              <a:rPr lang="en-US" altLang="zh-CN" dirty="0"/>
              <a:t>(5);</a:t>
            </a:r>
            <a:br>
              <a:rPr lang="en-US" altLang="zh-CN" dirty="0"/>
            </a:br>
            <a:r>
              <a:rPr lang="en-US" altLang="zh-CN" dirty="0"/>
              <a:t>for (Employee e : staff)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("name=" + </a:t>
            </a:r>
            <a:r>
              <a:rPr lang="en-US" altLang="zh-CN" dirty="0" err="1"/>
              <a:t>e.getName</a:t>
            </a:r>
            <a:r>
              <a:rPr lang="en-US" altLang="zh-CN" dirty="0"/>
              <a:t>() + 	  	",salary=" + </a:t>
            </a:r>
            <a:r>
              <a:rPr lang="en-US" altLang="zh-CN" dirty="0" err="1"/>
              <a:t>e.getSalary</a:t>
            </a:r>
            <a:r>
              <a:rPr lang="en-US" altLang="zh-CN" dirty="0"/>
              <a:t>() + ",</a:t>
            </a:r>
            <a:r>
              <a:rPr lang="en-US" altLang="zh-CN" dirty="0" err="1"/>
              <a:t>hireDay</a:t>
            </a:r>
            <a:r>
              <a:rPr lang="en-US" altLang="zh-CN" dirty="0"/>
              <a:t>="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+ </a:t>
            </a:r>
            <a:r>
              <a:rPr lang="en-US" altLang="zh-CN" dirty="0" err="1"/>
              <a:t>e.getHireDay</a:t>
            </a:r>
            <a:r>
              <a:rPr lang="en-US" altLang="zh-CN" dirty="0"/>
              <a:t>());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 </a:t>
            </a:r>
            <a:r>
              <a:rPr lang="zh-CN" altLang="en-US" dirty="0"/>
              <a:t>对象包装器与自动装箱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如果需要建立基本类型的数组列表：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&lt;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/>
              <a:t>&gt; list =new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  </a:t>
            </a:r>
            <a:r>
              <a:rPr lang="zh-CN" altLang="en-US" dirty="0"/>
              <a:t>是错误的，</a:t>
            </a:r>
            <a:r>
              <a:rPr lang="en-US" altLang="zh-CN" dirty="0">
                <a:solidFill>
                  <a:srgbClr val="FF0000"/>
                </a:solidFill>
              </a:rPr>
              <a:t>&lt;&gt;</a:t>
            </a:r>
            <a:r>
              <a:rPr lang="zh-CN" altLang="en-US" dirty="0">
                <a:solidFill>
                  <a:srgbClr val="FF0000"/>
                </a:solidFill>
              </a:rPr>
              <a:t>内不能是基本类型</a:t>
            </a:r>
            <a:r>
              <a:rPr lang="zh-CN" altLang="en-US" dirty="0"/>
              <a:t>。需使用包装类型：</a:t>
            </a:r>
            <a:br>
              <a:rPr lang="en-US" altLang="zh-CN" dirty="0"/>
            </a:br>
            <a:r>
              <a:rPr lang="en-US" altLang="zh-CN" dirty="0" err="1"/>
              <a:t>ArrayList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Integer</a:t>
            </a:r>
            <a:r>
              <a:rPr lang="en-US" altLang="zh-CN" dirty="0"/>
              <a:t>&gt; list =new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endParaRPr lang="en-US" altLang="zh-CN" dirty="0"/>
          </a:p>
          <a:p>
            <a:pPr lvl="1"/>
            <a:r>
              <a:rPr lang="zh-CN" altLang="en-US" dirty="0"/>
              <a:t>注意它的效率远低于</a:t>
            </a:r>
            <a:r>
              <a:rPr lang="en-US" altLang="zh-CN" dirty="0" err="1"/>
              <a:t>int</a:t>
            </a:r>
            <a:r>
              <a:rPr lang="en-US" altLang="zh-CN" dirty="0"/>
              <a:t>[]</a:t>
            </a:r>
            <a:r>
              <a:rPr lang="zh-CN" altLang="en-US" dirty="0"/>
              <a:t>，只宜建立小型数组。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=0;i&lt;10;++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list.add</a:t>
            </a:r>
            <a:r>
              <a:rPr lang="en-US" altLang="zh-CN" dirty="0"/>
              <a:t>(i+1);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自动装箱，相当于：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			                      //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list.add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Integer.valueOf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(i+1))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自动拆箱，相当于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n = 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list.get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(3).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intValue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();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n = </a:t>
            </a:r>
            <a:r>
              <a:rPr lang="en-US" altLang="zh-CN" dirty="0" err="1"/>
              <a:t>list.get</a:t>
            </a:r>
            <a:r>
              <a:rPr lang="en-US" altLang="zh-CN" dirty="0"/>
              <a:t>(3);  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自动装箱会把</a:t>
            </a:r>
            <a:r>
              <a:rPr lang="en-US" altLang="zh-CN" dirty="0"/>
              <a:t>[-128,127]</a:t>
            </a:r>
            <a:r>
              <a:rPr lang="zh-CN" altLang="en-US" dirty="0"/>
              <a:t>内的对象放在常量池：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 a=200;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 b=200;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 c=100;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 d=100;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(a==b);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//false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，不是同一个对象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a.equals</a:t>
            </a:r>
            <a:r>
              <a:rPr lang="en-US" altLang="zh-CN" dirty="0"/>
              <a:t>(b));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br>
              <a:rPr lang="en-US" altLang="zh-CN" dirty="0"/>
            </a:br>
            <a:r>
              <a:rPr lang="en-US" altLang="zh-CN" dirty="0" err="1"/>
              <a:t>System.out.println</a:t>
            </a:r>
            <a:r>
              <a:rPr lang="en-US" altLang="zh-CN" dirty="0"/>
              <a:t>(c==d);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c.equals</a:t>
            </a:r>
            <a:r>
              <a:rPr lang="en-US" altLang="zh-CN" dirty="0"/>
              <a:t>(d));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zh-CN" altLang="en-US" dirty="0"/>
              <a:t>包装器的类方法可将字符串转换为整数：</a:t>
            </a:r>
            <a:endParaRPr lang="en-US" altLang="zh-CN" dirty="0"/>
          </a:p>
          <a:p>
            <a:pPr lvl="1"/>
            <a:r>
              <a:rPr lang="en-US" altLang="zh-CN" dirty="0"/>
              <a:t>String s = “2018”;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n = </a:t>
            </a:r>
            <a:r>
              <a:rPr lang="en-US" altLang="zh-CN" dirty="0" err="1"/>
              <a:t>Integer.</a:t>
            </a:r>
            <a:r>
              <a:rPr lang="en-US" altLang="zh-CN" dirty="0" err="1">
                <a:solidFill>
                  <a:srgbClr val="FF0000"/>
                </a:solidFill>
              </a:rPr>
              <a:t>parseInt</a:t>
            </a:r>
            <a:r>
              <a:rPr lang="en-US" altLang="zh-CN" dirty="0"/>
              <a:t>(s);</a:t>
            </a:r>
            <a:endParaRPr lang="zh-CN" altLang="en-US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291264" cy="5760640"/>
          </a:xfrm>
        </p:spPr>
        <p:txBody>
          <a:bodyPr/>
          <a:lstStyle/>
          <a:p>
            <a:r>
              <a:rPr lang="zh-CN" altLang="en-US" dirty="0"/>
              <a:t>需注意：包装类是不可变类</a:t>
            </a:r>
            <a:endParaRPr lang="en-US" altLang="zh-CN" dirty="0"/>
          </a:p>
          <a:p>
            <a:pPr lvl="1"/>
            <a:r>
              <a:rPr lang="en-US" altLang="zh-CN" dirty="0"/>
              <a:t>Integer n =100;</a:t>
            </a:r>
            <a:br>
              <a:rPr lang="en-US" altLang="zh-CN" dirty="0"/>
            </a:br>
            <a:r>
              <a:rPr lang="en-US" altLang="zh-CN" dirty="0"/>
              <a:t>n=n*2;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</a:rPr>
              <a:t>//n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指向了新生成的对象</a:t>
            </a:r>
            <a:endParaRPr lang="en-US" altLang="zh-CN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zh-CN" altLang="en-US" dirty="0"/>
              <a:t>在使用数组时注意参数的传递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aInt</a:t>
            </a:r>
            <a:r>
              <a:rPr lang="en-US" altLang="zh-CN" dirty="0"/>
              <a:t> =new </a:t>
            </a:r>
            <a:r>
              <a:rPr lang="en-US" altLang="zh-CN" dirty="0" err="1"/>
              <a:t>int</a:t>
            </a:r>
            <a:r>
              <a:rPr lang="en-US" altLang="zh-CN" dirty="0"/>
              <a:t>[] {1,2,3,4,5};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aInt.length</a:t>
            </a:r>
            <a:r>
              <a:rPr lang="en-US" altLang="zh-CN" dirty="0"/>
              <a:t>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changeInt</a:t>
            </a:r>
            <a:r>
              <a:rPr lang="en-US" altLang="zh-CN" dirty="0"/>
              <a:t>(</a:t>
            </a:r>
            <a:r>
              <a:rPr lang="en-US" altLang="zh-CN" dirty="0" err="1"/>
              <a:t>aInt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],10);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数组元素的值传递，数组不变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br>
              <a:rPr lang="en-US" altLang="zh-CN" dirty="0"/>
            </a:br>
            <a:r>
              <a:rPr lang="en-US" altLang="zh-CN" dirty="0"/>
              <a:t>public static void </a:t>
            </a:r>
            <a:r>
              <a:rPr lang="en-US" altLang="zh-CN" dirty="0" err="1">
                <a:solidFill>
                  <a:srgbClr val="FF0000"/>
                </a:solidFill>
              </a:rPr>
              <a:t>changeInt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n,int</a:t>
            </a:r>
            <a:r>
              <a:rPr lang="en-US" altLang="zh-CN" dirty="0"/>
              <a:t> 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n*=x;	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439920" y="2710180"/>
            <a:ext cx="4351655" cy="33674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heap</a:t>
            </a:r>
            <a:endParaRPr lang="en-US" altLang="zh-CN"/>
          </a:p>
        </p:txBody>
      </p:sp>
      <p:graphicFrame>
        <p:nvGraphicFramePr>
          <p:cNvPr id="5" name="内容占位符 8"/>
          <p:cNvGraphicFramePr/>
          <p:nvPr/>
        </p:nvGraphicFramePr>
        <p:xfrm>
          <a:off x="2417743" y="560165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   *10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34845" y="2489835"/>
            <a:ext cx="1731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changeInt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7" name="内容占位符 8"/>
          <p:cNvGraphicFramePr/>
          <p:nvPr/>
        </p:nvGraphicFramePr>
        <p:xfrm>
          <a:off x="2708573" y="3725005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0x1228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2042795" y="5692775"/>
            <a:ext cx="2266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changeIntArray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9" name="内容占位符 8"/>
          <p:cNvGraphicFramePr/>
          <p:nvPr/>
        </p:nvGraphicFramePr>
        <p:xfrm>
          <a:off x="4681518" y="11376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0x1228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5"/>
          <p:cNvSpPr txBox="1"/>
          <p:nvPr/>
        </p:nvSpPr>
        <p:spPr>
          <a:xfrm>
            <a:off x="4681518" y="2029907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6905" y="1605915"/>
            <a:ext cx="68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aInt</a:t>
            </a:r>
            <a:endParaRPr lang="en-US" altLang="zh-CN"/>
          </a:p>
        </p:txBody>
      </p:sp>
      <p:graphicFrame>
        <p:nvGraphicFramePr>
          <p:cNvPr id="12" name="表格 11"/>
          <p:cNvGraphicFramePr/>
          <p:nvPr/>
        </p:nvGraphicFramePr>
        <p:xfrm>
          <a:off x="5273675" y="4057650"/>
          <a:ext cx="282257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515"/>
                <a:gridCol w="564515"/>
                <a:gridCol w="564515"/>
                <a:gridCol w="564515"/>
                <a:gridCol w="564515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5562600" y="1907540"/>
            <a:ext cx="17145" cy="209740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436370" y="1700530"/>
            <a:ext cx="90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   n</a:t>
            </a:r>
            <a:endParaRPr lang="en-US" altLang="zh-CN"/>
          </a:p>
          <a:p>
            <a:r>
              <a:rPr lang="en-US" altLang="zh-CN"/>
              <a:t>int   x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2627630" y="1988820"/>
            <a:ext cx="2823210" cy="2170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528445" y="4880610"/>
            <a:ext cx="90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int[]  n</a:t>
            </a:r>
            <a:endParaRPr lang="en-US" altLang="zh-CN"/>
          </a:p>
          <a:p>
            <a:r>
              <a:rPr lang="en-US" altLang="zh-CN"/>
              <a:t>int   x</a:t>
            </a:r>
            <a:endParaRPr lang="en-US" altLang="zh-CN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3563620" y="4436745"/>
            <a:ext cx="1728470" cy="5765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075240" cy="6552728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changeIntArray</a:t>
            </a:r>
            <a:r>
              <a:rPr lang="en-US" altLang="zh-CN" dirty="0"/>
              <a:t>(aInt,10);</a:t>
            </a:r>
            <a:br>
              <a:rPr lang="en-US" altLang="zh-CN" dirty="0"/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传递数组变量的值，相当于对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aInt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[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重新赋值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/>
              <a:t>public static void </a:t>
            </a:r>
            <a:r>
              <a:rPr lang="en-US" altLang="zh-CN" dirty="0" err="1">
                <a:solidFill>
                  <a:srgbClr val="FF0000"/>
                </a:solidFill>
              </a:rPr>
              <a:t>changeIntArray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n,int</a:t>
            </a:r>
            <a:r>
              <a:rPr lang="en-US" altLang="zh-CN" dirty="0"/>
              <a:t> 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n.length</a:t>
            </a:r>
            <a:r>
              <a:rPr lang="en-US" altLang="zh-CN" dirty="0"/>
              <a:t>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n[</a:t>
            </a:r>
            <a:r>
              <a:rPr lang="en-US" altLang="zh-CN" dirty="0" err="1"/>
              <a:t>i</a:t>
            </a:r>
            <a:r>
              <a:rPr lang="en-US" altLang="zh-CN" dirty="0"/>
              <a:t>]*=x;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lvl="1"/>
            <a:r>
              <a:rPr lang="en-US" altLang="zh-CN" dirty="0"/>
              <a:t>Integer[] </a:t>
            </a:r>
            <a:r>
              <a:rPr lang="en-US" altLang="zh-CN" dirty="0" err="1"/>
              <a:t>aInteger</a:t>
            </a:r>
            <a:r>
              <a:rPr lang="en-US" altLang="zh-CN" dirty="0"/>
              <a:t> =new Integer[] {1,2,3,4,5};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aInteger.length</a:t>
            </a:r>
            <a:r>
              <a:rPr lang="en-US" altLang="zh-CN" dirty="0"/>
              <a:t>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changeInteger</a:t>
            </a:r>
            <a:r>
              <a:rPr lang="en-US" altLang="zh-CN" dirty="0"/>
              <a:t>(</a:t>
            </a:r>
            <a:r>
              <a:rPr lang="en-US" altLang="zh-CN" dirty="0" err="1"/>
              <a:t>aInteger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],100);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传递数组元素的值，该值是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Integer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引用变量。由于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Integer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对象是不可变的，方法体内的引用变量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n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指向了一个新的对象，实参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aInteger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[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的值不变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/>
              <a:t>  public static void </a:t>
            </a:r>
            <a:r>
              <a:rPr lang="en-US" altLang="zh-CN" dirty="0" err="1">
                <a:solidFill>
                  <a:srgbClr val="FF0000"/>
                </a:solidFill>
              </a:rPr>
              <a:t>changeInteger</a:t>
            </a:r>
            <a:r>
              <a:rPr lang="en-US" altLang="zh-CN" dirty="0"/>
              <a:t>(Integer </a:t>
            </a:r>
            <a:r>
              <a:rPr lang="en-US" altLang="zh-CN" dirty="0" err="1"/>
              <a:t>n,int</a:t>
            </a:r>
            <a:r>
              <a:rPr lang="en-US" altLang="zh-CN" dirty="0"/>
              <a:t> 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{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n*=x;	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865245" y="2710180"/>
            <a:ext cx="5080635" cy="33674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heap</a:t>
            </a:r>
            <a:endParaRPr lang="en-US" altLang="zh-CN"/>
          </a:p>
        </p:txBody>
      </p:sp>
      <p:graphicFrame>
        <p:nvGraphicFramePr>
          <p:cNvPr id="5" name="内容占位符 8"/>
          <p:cNvGraphicFramePr/>
          <p:nvPr/>
        </p:nvGraphicFramePr>
        <p:xfrm>
          <a:off x="1815128" y="186255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0xa001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3120" y="3792220"/>
            <a:ext cx="2230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changeInteger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9" name="内容占位符 8"/>
          <p:cNvGraphicFramePr/>
          <p:nvPr/>
        </p:nvGraphicFramePr>
        <p:xfrm>
          <a:off x="4681518" y="11376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0xca89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5"/>
          <p:cNvSpPr txBox="1"/>
          <p:nvPr/>
        </p:nvSpPr>
        <p:spPr>
          <a:xfrm>
            <a:off x="4681518" y="2029907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6905" y="160591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aInteger</a:t>
            </a:r>
            <a:endParaRPr lang="en-US" altLang="zh-CN"/>
          </a:p>
        </p:txBody>
      </p:sp>
      <p:graphicFrame>
        <p:nvGraphicFramePr>
          <p:cNvPr id="12" name="表格 11"/>
          <p:cNvGraphicFramePr/>
          <p:nvPr/>
        </p:nvGraphicFramePr>
        <p:xfrm>
          <a:off x="4033520" y="3789045"/>
          <a:ext cx="47625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0xa001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0xa009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0xa013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0xa015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H="1">
            <a:off x="4211955" y="1907540"/>
            <a:ext cx="1350645" cy="18091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8950" y="3002915"/>
            <a:ext cx="124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Integer   n</a:t>
            </a:r>
            <a:endParaRPr lang="en-US" altLang="zh-CN"/>
          </a:p>
          <a:p>
            <a:r>
              <a:rPr lang="en-US" altLang="zh-CN"/>
              <a:t>int   x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4572000" y="46532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369560" y="514731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6189345" y="488061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7092950" y="47802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7898765" y="46024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21" name="直接箭头连接符 20"/>
          <p:cNvCxnSpPr>
            <a:endCxn id="2" idx="0"/>
          </p:cNvCxnSpPr>
          <p:nvPr/>
        </p:nvCxnSpPr>
        <p:spPr>
          <a:xfrm>
            <a:off x="4547870" y="4167505"/>
            <a:ext cx="240665" cy="485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3" idx="0"/>
          </p:cNvCxnSpPr>
          <p:nvPr/>
        </p:nvCxnSpPr>
        <p:spPr>
          <a:xfrm>
            <a:off x="5321935" y="4150995"/>
            <a:ext cx="264160" cy="996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8" idx="0"/>
          </p:cNvCxnSpPr>
          <p:nvPr/>
        </p:nvCxnSpPr>
        <p:spPr>
          <a:xfrm>
            <a:off x="6282690" y="4150995"/>
            <a:ext cx="123190" cy="729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9" idx="0"/>
          </p:cNvCxnSpPr>
          <p:nvPr/>
        </p:nvCxnSpPr>
        <p:spPr>
          <a:xfrm>
            <a:off x="7261225" y="4150995"/>
            <a:ext cx="48260" cy="629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20" idx="0"/>
          </p:cNvCxnSpPr>
          <p:nvPr/>
        </p:nvCxnSpPr>
        <p:spPr>
          <a:xfrm flipH="1">
            <a:off x="8115300" y="4088765"/>
            <a:ext cx="66040" cy="51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700020" y="3356610"/>
            <a:ext cx="1800225" cy="1296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004435" y="3137535"/>
            <a:ext cx="55753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10</a:t>
            </a:r>
            <a:endParaRPr lang="en-US" altLang="zh-CN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3564255" y="3213100"/>
            <a:ext cx="1440180" cy="140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858010" y="3147060"/>
            <a:ext cx="838200" cy="2159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776220" y="3002915"/>
            <a:ext cx="927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0xe111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pPr lvl="1"/>
            <a:r>
              <a:rPr lang="en-US" altLang="zh-CN" dirty="0" err="1"/>
              <a:t>changeIntegerArray</a:t>
            </a:r>
            <a:r>
              <a:rPr lang="en-US" altLang="zh-CN" dirty="0"/>
              <a:t>(aInteger,100);</a:t>
            </a:r>
            <a:br>
              <a:rPr lang="en-US" altLang="zh-CN" dirty="0"/>
            </a:br>
            <a:r>
              <a:rPr lang="en-US" altLang="zh-CN" dirty="0"/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传递数组变量的值，方法中对数组元素重新赋值</a:t>
            </a:r>
            <a:br>
              <a:rPr lang="en-US" altLang="zh-CN" dirty="0"/>
            </a:br>
            <a:r>
              <a:rPr lang="en-US" altLang="zh-CN" dirty="0"/>
              <a:t>public static void </a:t>
            </a:r>
            <a:r>
              <a:rPr lang="en-US" altLang="zh-CN" dirty="0" err="1"/>
              <a:t>changeIntegerArray</a:t>
            </a:r>
            <a:r>
              <a:rPr lang="en-US" altLang="zh-CN" dirty="0"/>
              <a:t>(Integer[] </a:t>
            </a:r>
            <a:r>
              <a:rPr lang="en-US" altLang="zh-CN" dirty="0" err="1"/>
              <a:t>n,int</a:t>
            </a:r>
            <a:r>
              <a:rPr lang="en-US" altLang="zh-CN" dirty="0"/>
              <a:t> x)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n.length</a:t>
            </a:r>
            <a:r>
              <a:rPr lang="en-US" altLang="zh-CN" dirty="0"/>
              <a:t>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		n[</a:t>
            </a:r>
            <a:r>
              <a:rPr lang="en-US" altLang="zh-CN" dirty="0" err="1"/>
              <a:t>i</a:t>
            </a:r>
            <a:r>
              <a:rPr lang="en-US" altLang="zh-CN" dirty="0"/>
              <a:t>]*=x;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lvl="1"/>
            <a:r>
              <a:rPr lang="zh-CN" altLang="en-US" dirty="0"/>
              <a:t>这部分代码见</a:t>
            </a:r>
            <a:r>
              <a:rPr lang="en-US" altLang="zh-CN" dirty="0"/>
              <a:t>code6\</a:t>
            </a:r>
            <a:r>
              <a:rPr lang="en-US" altLang="zh-CN" dirty="0" err="1"/>
              <a:t>arrayList</a:t>
            </a:r>
            <a:r>
              <a:rPr lang="en-US" altLang="zh-CN" dirty="0"/>
              <a:t>\PrimitiveArrayList.java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865245" y="2710180"/>
            <a:ext cx="5080635" cy="33674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heap</a:t>
            </a:r>
            <a:endParaRPr lang="en-US" altLang="zh-CN"/>
          </a:p>
        </p:txBody>
      </p:sp>
      <p:graphicFrame>
        <p:nvGraphicFramePr>
          <p:cNvPr id="7" name="内容占位符 8"/>
          <p:cNvGraphicFramePr/>
          <p:nvPr/>
        </p:nvGraphicFramePr>
        <p:xfrm>
          <a:off x="2072303" y="2490565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r>
                        <a:rPr lang="en-US" altLang="zh-CN" sz="1800" dirty="0">
                          <a:sym typeface="+mn-ea"/>
                        </a:rPr>
                        <a:t>ca89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453390" y="4653280"/>
            <a:ext cx="291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ym typeface="+mn-ea"/>
              </a:rPr>
              <a:t>changeIntegerArray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9" name="内容占位符 8"/>
          <p:cNvGraphicFramePr/>
          <p:nvPr/>
        </p:nvGraphicFramePr>
        <p:xfrm>
          <a:off x="4681518" y="11376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0xca89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5"/>
          <p:cNvSpPr txBox="1"/>
          <p:nvPr/>
        </p:nvSpPr>
        <p:spPr>
          <a:xfrm>
            <a:off x="4681518" y="2029907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6905" y="160591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aInteger</a:t>
            </a:r>
            <a:endParaRPr lang="en-US" altLang="zh-CN"/>
          </a:p>
        </p:txBody>
      </p:sp>
      <p:graphicFrame>
        <p:nvGraphicFramePr>
          <p:cNvPr id="12" name="表格 11"/>
          <p:cNvGraphicFramePr/>
          <p:nvPr/>
        </p:nvGraphicFramePr>
        <p:xfrm>
          <a:off x="4033520" y="3789045"/>
          <a:ext cx="47625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0xa001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0xa009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0xa013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0xa015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H="1">
            <a:off x="4211955" y="1907540"/>
            <a:ext cx="1350645" cy="18091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09600" y="3646170"/>
            <a:ext cx="1287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Integer[]</a:t>
            </a:r>
            <a:r>
              <a:rPr lang="en-US" altLang="zh-CN"/>
              <a:t>  n</a:t>
            </a:r>
            <a:endParaRPr lang="en-US" altLang="zh-CN"/>
          </a:p>
          <a:p>
            <a:r>
              <a:rPr lang="en-US" altLang="zh-CN"/>
              <a:t>int   x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4572000" y="46532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369560" y="514731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6189345" y="488061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7092950" y="47802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7898765" y="4602480"/>
            <a:ext cx="43243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21" name="直接箭头连接符 20"/>
          <p:cNvCxnSpPr>
            <a:endCxn id="2" idx="0"/>
          </p:cNvCxnSpPr>
          <p:nvPr/>
        </p:nvCxnSpPr>
        <p:spPr>
          <a:xfrm>
            <a:off x="4547870" y="4167505"/>
            <a:ext cx="240665" cy="485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3" idx="0"/>
          </p:cNvCxnSpPr>
          <p:nvPr/>
        </p:nvCxnSpPr>
        <p:spPr>
          <a:xfrm>
            <a:off x="5321935" y="4150995"/>
            <a:ext cx="264160" cy="996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8" idx="0"/>
          </p:cNvCxnSpPr>
          <p:nvPr/>
        </p:nvCxnSpPr>
        <p:spPr>
          <a:xfrm>
            <a:off x="6282690" y="4150995"/>
            <a:ext cx="123190" cy="729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9" idx="0"/>
          </p:cNvCxnSpPr>
          <p:nvPr/>
        </p:nvCxnSpPr>
        <p:spPr>
          <a:xfrm>
            <a:off x="7261225" y="4150995"/>
            <a:ext cx="48260" cy="629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20" idx="0"/>
          </p:cNvCxnSpPr>
          <p:nvPr/>
        </p:nvCxnSpPr>
        <p:spPr>
          <a:xfrm flipH="1">
            <a:off x="8115300" y="4088765"/>
            <a:ext cx="66040" cy="51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915025" y="2933065"/>
            <a:ext cx="712470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100</a:t>
            </a:r>
            <a:endParaRPr lang="en-US" altLang="zh-CN"/>
          </a:p>
        </p:txBody>
      </p:sp>
      <p:cxnSp>
        <p:nvCxnSpPr>
          <p:cNvPr id="31" name="直接箭头连接符 30"/>
          <p:cNvCxnSpPr>
            <a:endCxn id="12" idx="1"/>
          </p:cNvCxnSpPr>
          <p:nvPr/>
        </p:nvCxnSpPr>
        <p:spPr>
          <a:xfrm>
            <a:off x="2999740" y="3850640"/>
            <a:ext cx="1033780" cy="12128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2" idx="1"/>
          </p:cNvCxnSpPr>
          <p:nvPr/>
        </p:nvCxnSpPr>
        <p:spPr>
          <a:xfrm>
            <a:off x="4033520" y="3971925"/>
            <a:ext cx="898525" cy="33020"/>
          </a:xfrm>
          <a:prstGeom prst="line">
            <a:avLst/>
          </a:prstGeom>
          <a:ln w="3492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303395" y="3482340"/>
            <a:ext cx="860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0xf011</a:t>
            </a:r>
            <a:endParaRPr lang="en-US" altLang="zh-CN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4968875" y="3213100"/>
            <a:ext cx="899160" cy="309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 </a:t>
            </a:r>
            <a:r>
              <a:rPr lang="zh-CN" altLang="en-US" dirty="0"/>
              <a:t>参数数量可变的方法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以下的两个语句调用了同一个方法：</a:t>
            </a:r>
            <a:endParaRPr lang="en-US" altLang="zh-CN" dirty="0"/>
          </a:p>
          <a:p>
            <a:pPr lvl="1"/>
            <a:r>
              <a:rPr lang="en-US" altLang="zh-CN" dirty="0" err="1"/>
              <a:t>System.out.printf</a:t>
            </a:r>
            <a:r>
              <a:rPr lang="en-US" altLang="zh-CN" dirty="0"/>
              <a:t>("%d", n);</a:t>
            </a:r>
            <a:br>
              <a:rPr lang="en-US" altLang="zh-CN" dirty="0"/>
            </a:br>
            <a:r>
              <a:rPr lang="en-US" altLang="zh-CN" dirty="0" err="1"/>
              <a:t>System.out.printf</a:t>
            </a:r>
            <a:r>
              <a:rPr lang="en-US" altLang="zh-CN" dirty="0"/>
              <a:t>("%d %s", n, "widgets");</a:t>
            </a:r>
            <a:endParaRPr lang="en-US" altLang="zh-CN" dirty="0"/>
          </a:p>
          <a:p>
            <a:pPr lvl="1"/>
            <a:r>
              <a:rPr lang="zh-CN" altLang="en-US" dirty="0"/>
              <a:t>方法是这样的：</a:t>
            </a:r>
            <a:br>
              <a:rPr lang="en-US" altLang="zh-CN" dirty="0"/>
            </a:br>
            <a:r>
              <a:rPr lang="en-US" altLang="zh-CN" dirty="0"/>
              <a:t>public </a:t>
            </a:r>
            <a:r>
              <a:rPr lang="en-US" altLang="zh-CN" dirty="0" err="1"/>
              <a:t>PrintStream</a:t>
            </a:r>
            <a:r>
              <a:rPr lang="en-US" altLang="zh-CN" dirty="0"/>
              <a:t> </a:t>
            </a:r>
            <a:r>
              <a:rPr lang="en-US" altLang="zh-CN" dirty="0" err="1"/>
              <a:t>printf</a:t>
            </a:r>
            <a:r>
              <a:rPr lang="en-US" altLang="zh-CN" dirty="0"/>
              <a:t>(String </a:t>
            </a:r>
            <a:r>
              <a:rPr lang="en-US" altLang="zh-CN" dirty="0" err="1"/>
              <a:t>fmt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Object ... </a:t>
            </a:r>
            <a:r>
              <a:rPr lang="en-US" altLang="zh-CN" dirty="0" err="1"/>
              <a:t>args</a:t>
            </a:r>
            <a:r>
              <a:rPr lang="en-US" altLang="zh-CN" dirty="0"/>
              <a:t>)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return format(</a:t>
            </a:r>
            <a:r>
              <a:rPr lang="en-US" altLang="zh-CN" dirty="0" err="1"/>
              <a:t>fmt</a:t>
            </a:r>
            <a:r>
              <a:rPr lang="en-US" altLang="zh-CN" dirty="0"/>
              <a:t>, </a:t>
            </a:r>
            <a:r>
              <a:rPr lang="en-US" altLang="zh-CN" dirty="0" err="1"/>
              <a:t>args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lvl="1"/>
            <a:r>
              <a:rPr lang="zh-CN" altLang="en-US" dirty="0"/>
              <a:t>省略号</a:t>
            </a:r>
            <a:r>
              <a:rPr lang="en-US" altLang="zh-CN" dirty="0"/>
              <a:t>...</a:t>
            </a:r>
            <a:r>
              <a:rPr lang="zh-CN" altLang="en-US" dirty="0"/>
              <a:t>是</a:t>
            </a:r>
            <a:r>
              <a:rPr lang="en-US" altLang="zh-CN" dirty="0"/>
              <a:t>Java</a:t>
            </a:r>
            <a:r>
              <a:rPr lang="zh-CN" altLang="en-US" dirty="0"/>
              <a:t>代码的一部分，表明这个方法第二个参数可以接受任意数量的对象。实际上，</a:t>
            </a:r>
            <a:r>
              <a:rPr lang="en-US" altLang="zh-CN" dirty="0" err="1"/>
              <a:t>printf</a:t>
            </a:r>
            <a:r>
              <a:rPr lang="zh-CN" altLang="en-US" dirty="0"/>
              <a:t>方法接收两个参数，一个是格式字符串，另一个是</a:t>
            </a:r>
            <a:r>
              <a:rPr lang="en-US" altLang="zh-CN" dirty="0"/>
              <a:t>Object[]</a:t>
            </a:r>
            <a:r>
              <a:rPr lang="zh-CN" altLang="en-US" dirty="0"/>
              <a:t>数组。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91264" cy="633670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当方法参数中有数组时，可以将其写成</a:t>
            </a:r>
            <a:r>
              <a:rPr lang="en-US" altLang="zh-CN" dirty="0"/>
              <a:t>…</a:t>
            </a:r>
            <a:r>
              <a:rPr lang="zh-CN" altLang="en-US" dirty="0"/>
              <a:t>形式，并把它作为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最后一个参数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修改前面的方法</a:t>
            </a:r>
            <a:endParaRPr lang="en-US" altLang="zh-CN" dirty="0"/>
          </a:p>
          <a:p>
            <a:pPr lvl="1"/>
            <a:r>
              <a:rPr lang="en-US" altLang="zh-CN" dirty="0"/>
              <a:t>public static void </a:t>
            </a:r>
            <a:r>
              <a:rPr lang="en-US" altLang="zh-CN" dirty="0" err="1"/>
              <a:t>changeIntegerArray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Integer[] </a:t>
            </a:r>
            <a:r>
              <a:rPr lang="en-US" altLang="zh-CN" dirty="0" err="1"/>
              <a:t>n,int</a:t>
            </a:r>
            <a:r>
              <a:rPr lang="en-US" altLang="zh-CN" dirty="0"/>
              <a:t> x)</a:t>
            </a:r>
            <a:endParaRPr lang="en-US" altLang="zh-CN" dirty="0"/>
          </a:p>
          <a:p>
            <a:pPr lvl="1"/>
            <a:r>
              <a:rPr lang="zh-CN" altLang="en-US" dirty="0"/>
              <a:t>可以改为</a:t>
            </a:r>
            <a:br>
              <a:rPr lang="en-US" altLang="zh-CN" dirty="0"/>
            </a:br>
            <a:r>
              <a:rPr lang="en-US" altLang="zh-CN" dirty="0"/>
              <a:t>public static void </a:t>
            </a:r>
            <a:r>
              <a:rPr lang="en-US" altLang="zh-CN" dirty="0" err="1"/>
              <a:t>changeIntegerArray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>
                <a:solidFill>
                  <a:srgbClr val="FF0000"/>
                </a:solidFill>
              </a:rPr>
              <a:t>Integer...</a:t>
            </a:r>
            <a:r>
              <a:rPr lang="en-US" altLang="zh-CN" dirty="0"/>
              <a:t> n)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{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n.length</a:t>
            </a:r>
            <a:r>
              <a:rPr lang="en-US" altLang="zh-CN" dirty="0"/>
              <a:t>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n[</a:t>
            </a:r>
            <a:r>
              <a:rPr lang="en-US" altLang="zh-CN" dirty="0" err="1"/>
              <a:t>i</a:t>
            </a:r>
            <a:r>
              <a:rPr lang="en-US" altLang="zh-CN" dirty="0"/>
              <a:t>]*=x;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相应的调用改为 </a:t>
            </a:r>
            <a:r>
              <a:rPr lang="en-US" altLang="zh-CN" dirty="0" err="1"/>
              <a:t>changeIntegerArray</a:t>
            </a:r>
            <a:r>
              <a:rPr lang="en-US" altLang="zh-CN" dirty="0"/>
              <a:t>(100,aInteger);</a:t>
            </a:r>
            <a:endParaRPr lang="en-US" altLang="zh-CN" dirty="0"/>
          </a:p>
          <a:p>
            <a:pPr lvl="1"/>
            <a:r>
              <a:rPr lang="zh-CN" altLang="en-US" dirty="0"/>
              <a:t>可以使用如下实参，但是</a:t>
            </a:r>
            <a:r>
              <a:rPr lang="zh-CN" altLang="en-US" dirty="0">
                <a:solidFill>
                  <a:srgbClr val="FF0000"/>
                </a:solidFill>
              </a:rPr>
              <a:t>不会</a:t>
            </a:r>
            <a:r>
              <a:rPr lang="zh-CN" altLang="en-US" dirty="0"/>
              <a:t>改变实参的值：</a:t>
            </a:r>
            <a:br>
              <a:rPr lang="en-US" altLang="zh-CN" dirty="0"/>
            </a:br>
            <a:r>
              <a:rPr lang="pt-BR" altLang="zh-CN" dirty="0"/>
              <a:t>	Integer ia1=10;</a:t>
            </a:r>
            <a:endParaRPr lang="pt-BR" altLang="zh-CN" dirty="0"/>
          </a:p>
          <a:p>
            <a:pPr marL="274320" lvl="1" indent="0">
              <a:buNone/>
            </a:pPr>
            <a:r>
              <a:rPr lang="pt-BR" altLang="zh-CN" dirty="0"/>
              <a:t>	Integer ia2=20;</a:t>
            </a:r>
            <a:endParaRPr lang="pt-BR" altLang="zh-CN" dirty="0"/>
          </a:p>
          <a:p>
            <a:pPr marL="274320" lvl="1" indent="0">
              <a:buNone/>
            </a:pPr>
            <a:r>
              <a:rPr lang="pt-BR" altLang="zh-CN" dirty="0"/>
              <a:t>	changeIntegerArray(100,</a:t>
            </a:r>
            <a:r>
              <a:rPr lang="pt-BR" altLang="zh-CN" dirty="0">
                <a:solidFill>
                  <a:srgbClr val="FF0000"/>
                </a:solidFill>
              </a:rPr>
              <a:t>ia1,ia2</a:t>
            </a:r>
            <a:r>
              <a:rPr lang="pt-BR" altLang="zh-CN" dirty="0"/>
              <a:t>);</a:t>
            </a:r>
            <a:endParaRPr lang="pt-BR" altLang="zh-CN" dirty="0"/>
          </a:p>
          <a:p>
            <a:pPr marL="274320" lvl="1" indent="0">
              <a:buNone/>
            </a:pPr>
            <a:r>
              <a:rPr lang="pt-BR" altLang="zh-CN" dirty="0"/>
              <a:t>	System.out.println(ia1+"\n"+ia2);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0975"/>
            <a:ext cx="8075295" cy="651954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000" dirty="0"/>
              <a:t>public class ObjectArgs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{	public static void main(String[] args)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{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Integer ia1=10;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Integer ia2=20;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changeIntegerArray(100,</a:t>
            </a:r>
            <a:r>
              <a:rPr lang="zh-CN" altLang="en-US" sz="2000" dirty="0">
                <a:solidFill>
                  <a:srgbClr val="FF0000"/>
                </a:solidFill>
              </a:rPr>
              <a:t>ia1,ia2</a:t>
            </a:r>
            <a:r>
              <a:rPr lang="zh-CN" altLang="en-US" sz="2000" dirty="0"/>
              <a:t>);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System.out.println(ia1+"\n"+ia2);  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</a:rPr>
              <a:t>//10   20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Integer[] integerArr = {10,20,30,40,50};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changeIntegerArray(100,</a:t>
            </a:r>
            <a:r>
              <a:rPr lang="zh-CN" altLang="en-US" sz="2000" dirty="0">
                <a:solidFill>
                  <a:srgbClr val="FF0000"/>
                </a:solidFill>
              </a:rPr>
              <a:t>integerArr</a:t>
            </a:r>
            <a:r>
              <a:rPr lang="zh-CN" altLang="en-US" sz="2000" dirty="0"/>
              <a:t>);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for(Integer i : integerArr)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	System.out.println(i);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}  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</a:rPr>
              <a:t>// 1000  2000  3000  4000  5000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public static void changeIntegerArray(int x,Integer...n)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{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for(int i=0;i&lt;n.length;++i)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		n[i]*=x;	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	}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865245" y="2710180"/>
            <a:ext cx="5080635" cy="33674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heap</a:t>
            </a:r>
            <a:endParaRPr lang="en-US" altLang="zh-CN" dirty="0"/>
          </a:p>
        </p:txBody>
      </p:sp>
      <p:graphicFrame>
        <p:nvGraphicFramePr>
          <p:cNvPr id="7" name="内容占位符 8"/>
          <p:cNvGraphicFramePr/>
          <p:nvPr/>
        </p:nvGraphicFramePr>
        <p:xfrm>
          <a:off x="2072303" y="2490565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0x2293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</a:t>
                      </a:r>
                      <a:r>
                        <a:rPr lang="en-US" altLang="zh-CN" sz="1800" dirty="0">
                          <a:sym typeface="+mn-ea"/>
                        </a:rPr>
                        <a:t>ca89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5"/>
          <p:cNvSpPr txBox="1"/>
          <p:nvPr/>
        </p:nvSpPr>
        <p:spPr>
          <a:xfrm>
            <a:off x="453390" y="4653280"/>
            <a:ext cx="2912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ym typeface="+mn-ea"/>
              </a:rPr>
              <a:t>changeIntegerArray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9" name="内容占位符 8"/>
          <p:cNvGraphicFramePr/>
          <p:nvPr/>
        </p:nvGraphicFramePr>
        <p:xfrm>
          <a:off x="4681518" y="11376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0x2293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0xca89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5"/>
          <p:cNvSpPr txBox="1"/>
          <p:nvPr/>
        </p:nvSpPr>
        <p:spPr>
          <a:xfrm>
            <a:off x="4681518" y="2029907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6905" y="160591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ia1</a:t>
            </a:r>
            <a:endParaRPr lang="en-US" altLang="zh-CN" dirty="0"/>
          </a:p>
        </p:txBody>
      </p:sp>
      <p:cxnSp>
        <p:nvCxnSpPr>
          <p:cNvPr id="13" name="直接箭头连接符 12"/>
          <p:cNvCxnSpPr>
            <a:endCxn id="20" idx="0"/>
          </p:cNvCxnSpPr>
          <p:nvPr/>
        </p:nvCxnSpPr>
        <p:spPr>
          <a:xfrm>
            <a:off x="5562601" y="1907540"/>
            <a:ext cx="285795" cy="1963383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14250" y="3357208"/>
            <a:ext cx="1287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Integer[]</a:t>
            </a:r>
            <a:r>
              <a:rPr lang="en-US" altLang="zh-CN" dirty="0"/>
              <a:t>  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  x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613590" y="5003128"/>
            <a:ext cx="789378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1000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5016276" y="3294646"/>
            <a:ext cx="498584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4629584" y="4426851"/>
            <a:ext cx="773384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2000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5564868" y="3870923"/>
            <a:ext cx="567056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en-US" altLang="zh-CN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2999740" y="3850640"/>
            <a:ext cx="2473530" cy="236183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716905" y="120967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ia2</a:t>
            </a:r>
            <a:endParaRPr lang="en-US" altLang="zh-CN" dirty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960261" y="1393825"/>
            <a:ext cx="285795" cy="1963383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3" idx="1"/>
          </p:cNvCxnSpPr>
          <p:nvPr/>
        </p:nvCxnSpPr>
        <p:spPr>
          <a:xfrm>
            <a:off x="2930833" y="3380465"/>
            <a:ext cx="2085443" cy="130081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2956005" y="3515895"/>
            <a:ext cx="1749758" cy="962396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endCxn id="2" idx="1"/>
          </p:cNvCxnSpPr>
          <p:nvPr/>
        </p:nvCxnSpPr>
        <p:spPr>
          <a:xfrm>
            <a:off x="2929438" y="3881616"/>
            <a:ext cx="1684152" cy="1337412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411760" y="3417665"/>
            <a:ext cx="432048" cy="278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2453684" y="3790407"/>
            <a:ext cx="432048" cy="278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如果把数组的调用改为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Integer[] </a:t>
            </a:r>
            <a:r>
              <a:rPr lang="en-US" altLang="zh-CN" dirty="0" err="1"/>
              <a:t>aInteger</a:t>
            </a:r>
            <a:r>
              <a:rPr lang="en-US" altLang="zh-CN" dirty="0"/>
              <a:t> = {10,20,30,40,50};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changeIntegerArray</a:t>
            </a:r>
            <a:r>
              <a:rPr lang="en-US" altLang="zh-CN" dirty="0"/>
              <a:t>(100,aInteger[0],</a:t>
            </a:r>
            <a:r>
              <a:rPr lang="en-US" altLang="zh-CN" dirty="0" err="1"/>
              <a:t>aInteger</a:t>
            </a:r>
            <a:r>
              <a:rPr lang="en-US" altLang="zh-CN" dirty="0"/>
              <a:t>[1],</a:t>
            </a:r>
            <a:r>
              <a:rPr lang="en-US" altLang="zh-CN" dirty="0" err="1"/>
              <a:t>aInteger</a:t>
            </a:r>
            <a:r>
              <a:rPr lang="en-US" altLang="zh-CN" dirty="0"/>
              <a:t>[2],</a:t>
            </a:r>
            <a:r>
              <a:rPr lang="en-US" altLang="zh-CN" dirty="0" err="1"/>
              <a:t>aInteger</a:t>
            </a:r>
            <a:r>
              <a:rPr lang="en-US" altLang="zh-CN" dirty="0"/>
              <a:t>[3],</a:t>
            </a:r>
            <a:r>
              <a:rPr lang="en-US" altLang="zh-CN" dirty="0" err="1"/>
              <a:t>aInteger</a:t>
            </a:r>
            <a:r>
              <a:rPr lang="en-US" altLang="zh-CN" dirty="0"/>
              <a:t>[4]);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value:aInteger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(value);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数组</a:t>
            </a:r>
            <a:r>
              <a:rPr lang="en-US" altLang="zh-CN" dirty="0" err="1"/>
              <a:t>integerArr</a:t>
            </a:r>
            <a:r>
              <a:rPr lang="zh-CN" altLang="en-US" dirty="0"/>
              <a:t>的值会不会改变呢？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865245" y="2710180"/>
            <a:ext cx="5080635" cy="336740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en-US" altLang="zh-CN"/>
              <a:t>heap</a:t>
            </a:r>
            <a:endParaRPr lang="en-US" altLang="zh-CN"/>
          </a:p>
        </p:txBody>
      </p:sp>
      <p:graphicFrame>
        <p:nvGraphicFramePr>
          <p:cNvPr id="5" name="内容占位符 8"/>
          <p:cNvGraphicFramePr/>
          <p:nvPr/>
        </p:nvGraphicFramePr>
        <p:xfrm>
          <a:off x="1815128" y="186255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0xa013</a:t>
                      </a:r>
                      <a:endParaRPr lang="en-US" altLang="zh-CN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0xa009</a:t>
                      </a:r>
                      <a:endParaRPr lang="en-US" altLang="zh-C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0xa005</a:t>
                      </a:r>
                      <a:endParaRPr lang="en-US" altLang="zh-C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0xa001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3120" y="3792220"/>
            <a:ext cx="2230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tx1"/>
                </a:solidFill>
                <a:sym typeface="+mn-ea"/>
              </a:rPr>
              <a:t>changeInteger</a:t>
            </a:r>
            <a:endParaRPr lang="en-US" altLang="zh-CN" sz="2400" dirty="0" err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9" name="内容占位符 8"/>
          <p:cNvGraphicFramePr/>
          <p:nvPr/>
        </p:nvGraphicFramePr>
        <p:xfrm>
          <a:off x="4681518" y="113760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0xca89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5"/>
          <p:cNvSpPr txBox="1"/>
          <p:nvPr/>
        </p:nvSpPr>
        <p:spPr>
          <a:xfrm>
            <a:off x="4681518" y="2029907"/>
            <a:ext cx="93610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main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716905" y="1605915"/>
            <a:ext cx="130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integerArr</a:t>
            </a:r>
            <a:endParaRPr lang="en-US" altLang="zh-CN" dirty="0"/>
          </a:p>
        </p:txBody>
      </p:sp>
      <p:graphicFrame>
        <p:nvGraphicFramePr>
          <p:cNvPr id="12" name="表格 11"/>
          <p:cNvGraphicFramePr/>
          <p:nvPr/>
        </p:nvGraphicFramePr>
        <p:xfrm>
          <a:off x="4033520" y="3789045"/>
          <a:ext cx="47625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0xa001</a:t>
                      </a:r>
                      <a:endParaRPr lang="en-US" altLang="zh-C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0xa005</a:t>
                      </a:r>
                      <a:endParaRPr lang="en-US" altLang="zh-C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0xa009</a:t>
                      </a:r>
                      <a:endParaRPr lang="en-US" altLang="zh-C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0xa013</a:t>
                      </a:r>
                      <a:endParaRPr lang="en-US" altLang="zh-CN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0xa015</a:t>
                      </a:r>
                      <a:endParaRPr lang="en-US" altLang="zh-CN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H="1">
            <a:off x="4211955" y="1907540"/>
            <a:ext cx="1350645" cy="18091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81966" y="2116591"/>
            <a:ext cx="1380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Integer[]   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  x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4572000" y="4653280"/>
            <a:ext cx="51752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5292080" y="5147310"/>
            <a:ext cx="50991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</a:t>
            </a:r>
            <a:endParaRPr lang="en-US" altLang="zh-CN" dirty="0"/>
          </a:p>
        </p:txBody>
      </p:sp>
      <p:sp>
        <p:nvSpPr>
          <p:cNvPr id="18" name="矩形 17"/>
          <p:cNvSpPr/>
          <p:nvPr/>
        </p:nvSpPr>
        <p:spPr>
          <a:xfrm>
            <a:off x="6189345" y="4880610"/>
            <a:ext cx="471706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30</a:t>
            </a:r>
            <a:endParaRPr lang="en-US" altLang="zh-CN" dirty="0"/>
          </a:p>
        </p:txBody>
      </p:sp>
      <p:sp>
        <p:nvSpPr>
          <p:cNvPr id="19" name="矩形 18"/>
          <p:cNvSpPr/>
          <p:nvPr/>
        </p:nvSpPr>
        <p:spPr>
          <a:xfrm>
            <a:off x="7092950" y="4780280"/>
            <a:ext cx="497473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40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7898765" y="4602480"/>
            <a:ext cx="493028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50</a:t>
            </a:r>
            <a:endParaRPr lang="en-US" altLang="zh-CN" dirty="0"/>
          </a:p>
        </p:txBody>
      </p:sp>
      <p:cxnSp>
        <p:nvCxnSpPr>
          <p:cNvPr id="21" name="直接箭头连接符 20"/>
          <p:cNvCxnSpPr>
            <a:endCxn id="2" idx="0"/>
          </p:cNvCxnSpPr>
          <p:nvPr/>
        </p:nvCxnSpPr>
        <p:spPr>
          <a:xfrm>
            <a:off x="4547870" y="4167505"/>
            <a:ext cx="282893" cy="485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3" idx="0"/>
          </p:cNvCxnSpPr>
          <p:nvPr/>
        </p:nvCxnSpPr>
        <p:spPr>
          <a:xfrm>
            <a:off x="5321935" y="4150995"/>
            <a:ext cx="225103" cy="996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8" idx="0"/>
          </p:cNvCxnSpPr>
          <p:nvPr/>
        </p:nvCxnSpPr>
        <p:spPr>
          <a:xfrm>
            <a:off x="6282690" y="4150995"/>
            <a:ext cx="142508" cy="7296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9" idx="0"/>
          </p:cNvCxnSpPr>
          <p:nvPr/>
        </p:nvCxnSpPr>
        <p:spPr>
          <a:xfrm>
            <a:off x="7261225" y="4150995"/>
            <a:ext cx="80462" cy="629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endCxn id="20" idx="0"/>
          </p:cNvCxnSpPr>
          <p:nvPr/>
        </p:nvCxnSpPr>
        <p:spPr>
          <a:xfrm flipH="1">
            <a:off x="8145279" y="4088765"/>
            <a:ext cx="36062" cy="513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700020" y="3356610"/>
            <a:ext cx="1800225" cy="1296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004434" y="3137535"/>
            <a:ext cx="90487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1000</a:t>
            </a:r>
            <a:endParaRPr lang="en-US" altLang="zh-CN" dirty="0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3564255" y="3213100"/>
            <a:ext cx="1440179" cy="1403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858010" y="3147060"/>
            <a:ext cx="838200" cy="2159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776220" y="3002915"/>
            <a:ext cx="927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ym typeface="+mn-ea"/>
              </a:rPr>
              <a:t>0xe111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 </a:t>
            </a:r>
            <a:r>
              <a:rPr lang="zh-CN" altLang="en-US"/>
              <a:t>枚举类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一类事物具有有限个实例时该如何表示呢？</a:t>
            </a:r>
            <a:endParaRPr lang="en-US" altLang="zh-CN" dirty="0"/>
          </a:p>
          <a:p>
            <a:pPr lvl="1"/>
            <a:r>
              <a:rPr lang="zh-CN" altLang="en-US" dirty="0"/>
              <a:t>定义一组</a:t>
            </a:r>
            <a:r>
              <a:rPr lang="en-US" altLang="zh-CN" dirty="0"/>
              <a:t>static</a:t>
            </a:r>
            <a:r>
              <a:rPr lang="zh-CN" altLang="en-US" dirty="0"/>
              <a:t>常量，如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SomeClass</a:t>
            </a:r>
            <a:r>
              <a:rPr lang="en-US" altLang="zh-CN" dirty="0"/>
              <a:t>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</a:t>
            </a:r>
            <a:r>
              <a:rPr lang="en-US" altLang="zh-CN" dirty="0" err="1"/>
              <a:t>int</a:t>
            </a:r>
            <a:r>
              <a:rPr lang="en-US" altLang="zh-CN" dirty="0"/>
              <a:t> SPRING=1;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</a:t>
            </a:r>
            <a:r>
              <a:rPr lang="en-US" altLang="zh-CN" dirty="0" err="1"/>
              <a:t>int</a:t>
            </a:r>
            <a:r>
              <a:rPr lang="en-US" altLang="zh-CN" dirty="0"/>
              <a:t> SUMMER=2;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</a:t>
            </a:r>
            <a:r>
              <a:rPr lang="en-US" altLang="zh-CN" dirty="0" err="1"/>
              <a:t>int</a:t>
            </a:r>
            <a:r>
              <a:rPr lang="en-US" altLang="zh-CN" dirty="0"/>
              <a:t> AUTUMN=3;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</a:t>
            </a:r>
            <a:r>
              <a:rPr lang="en-US" altLang="zh-CN" dirty="0" err="1"/>
              <a:t>int</a:t>
            </a:r>
            <a:r>
              <a:rPr lang="en-US" altLang="zh-CN" dirty="0"/>
              <a:t> WINTER=4;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类型不安全，这些量可以计算</a:t>
            </a:r>
            <a:endParaRPr lang="en-US" altLang="zh-CN" dirty="0"/>
          </a:p>
          <a:p>
            <a:pPr lvl="1"/>
            <a:r>
              <a:rPr lang="zh-CN" altLang="en-US" dirty="0"/>
              <a:t>意义不明确，输出</a:t>
            </a:r>
            <a:r>
              <a:rPr lang="en-US" altLang="zh-CN" dirty="0"/>
              <a:t>SPRING</a:t>
            </a:r>
            <a:r>
              <a:rPr lang="zh-CN" altLang="en-US" dirty="0"/>
              <a:t>会是一个整数</a:t>
            </a:r>
            <a:endParaRPr lang="zh-CN" altLang="en-US" dirty="0"/>
          </a:p>
          <a:p>
            <a:pPr lvl="1"/>
            <a:r>
              <a:rPr lang="zh-CN" altLang="en-US" dirty="0"/>
              <a:t>不能附加多余的信息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0"/>
            <a:ext cx="8712968" cy="6858000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zh-CN" altLang="en-US" dirty="0"/>
              <a:t>还可以用一个类的有限个实例来表示：</a:t>
            </a:r>
            <a:endParaRPr lang="en-US" altLang="zh-CN" dirty="0"/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public final class Season {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final 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int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index;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final String name;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private Season(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int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index,String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name) {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this.index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=index;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	this.name=name;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      }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static final Season 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SPRING=new Season(1,"</a:t>
            </a:r>
            <a:r>
              <a:rPr lang="zh-CN" altLang="en-US" b="1" i="1" dirty="0">
                <a:solidFill>
                  <a:schemeClr val="accent2">
                    <a:lumMod val="50000"/>
                  </a:schemeClr>
                </a:solidFill>
              </a:rPr>
              <a:t>春季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");</a:t>
            </a:r>
            <a:endParaRPr lang="en-US" altLang="zh-CN" b="1" i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static final Season 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SUMMER=new Season(2,"</a:t>
            </a:r>
            <a:r>
              <a:rPr lang="zh-CN" altLang="en-US" b="1" i="1" dirty="0">
                <a:solidFill>
                  <a:schemeClr val="accent2">
                    <a:lumMod val="50000"/>
                  </a:schemeClr>
                </a:solidFill>
              </a:rPr>
              <a:t>夏季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");</a:t>
            </a:r>
            <a:endParaRPr lang="en-US" altLang="zh-CN" b="1" i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static final Season 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AUTUMN=new Season(3,"</a:t>
            </a:r>
            <a:r>
              <a:rPr lang="zh-CN" altLang="en-US" b="1" i="1" dirty="0">
                <a:solidFill>
                  <a:schemeClr val="accent2">
                    <a:lumMod val="50000"/>
                  </a:schemeClr>
                </a:solidFill>
              </a:rPr>
              <a:t>秋季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");</a:t>
            </a:r>
            <a:endParaRPr lang="en-US" altLang="zh-CN" b="1" i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static final Season 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WINTER=new Season(4,"</a:t>
            </a:r>
            <a:r>
              <a:rPr lang="zh-CN" altLang="en-US" b="1" i="1" dirty="0">
                <a:solidFill>
                  <a:schemeClr val="accent2">
                    <a:lumMod val="50000"/>
                  </a:schemeClr>
                </a:solidFill>
              </a:rPr>
              <a:t>冬季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");</a:t>
            </a:r>
            <a:endParaRPr lang="en-US" altLang="zh-CN" b="1" i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}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class 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SeasonTest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{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      public static void main(String[] </a:t>
            </a:r>
            <a:r>
              <a:rPr lang="en-US" altLang="zh-CN" b="1" dirty="0" err="1">
                <a:solidFill>
                  <a:schemeClr val="accent2">
                    <a:lumMod val="50000"/>
                  </a:schemeClr>
                </a:solidFill>
              </a:rPr>
              <a:t>args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</a:rPr>
              <a:t>) {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      </a:t>
            </a:r>
            <a:r>
              <a:rPr lang="en-US" altLang="zh-CN" dirty="0" err="1">
                <a:solidFill>
                  <a:schemeClr val="accent2">
                    <a:lumMod val="50000"/>
                  </a:schemeClr>
                </a:solidFill>
              </a:rPr>
              <a:t>System.</a:t>
            </a:r>
            <a:r>
              <a:rPr lang="en-US" altLang="zh-CN" b="1" i="1" dirty="0" err="1">
                <a:solidFill>
                  <a:schemeClr val="accent2">
                    <a:lumMod val="50000"/>
                  </a:schemeClr>
                </a:solidFill>
              </a:rPr>
              <a:t>out.println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zh-CN" b="1" i="1" dirty="0" err="1">
                <a:solidFill>
                  <a:schemeClr val="accent2">
                    <a:lumMod val="50000"/>
                  </a:schemeClr>
                </a:solidFill>
              </a:rPr>
              <a:t>Season.SPRING.index</a:t>
            </a:r>
            <a:r>
              <a:rPr lang="en-US" altLang="zh-CN" b="1" i="1" dirty="0">
                <a:solidFill>
                  <a:schemeClr val="accent2">
                    <a:lumMod val="50000"/>
                  </a:schemeClr>
                </a:solidFill>
              </a:rPr>
              <a:t> +    			Season.SPRING.name);</a:t>
            </a:r>
            <a:endParaRPr lang="en-US" altLang="zh-CN" b="1" i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      }</a:t>
            </a: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}</a:t>
            </a:r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 Java 5</a:t>
            </a:r>
            <a:r>
              <a:rPr lang="zh-CN" altLang="en-US" dirty="0"/>
              <a:t>中的枚举类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枚举类型是新增的，它是一种特殊的数据类型，它既是一种类</a:t>
            </a:r>
            <a:r>
              <a:rPr lang="en-US" altLang="zh-CN" dirty="0"/>
              <a:t>(class)</a:t>
            </a:r>
            <a:r>
              <a:rPr lang="zh-CN" altLang="en-US" dirty="0"/>
              <a:t>类型却又比类类型多了些特殊的约束。</a:t>
            </a:r>
            <a:endParaRPr lang="en-US" altLang="zh-CN" dirty="0"/>
          </a:p>
          <a:p>
            <a:pPr lvl="1"/>
            <a:r>
              <a:rPr lang="zh-CN" altLang="en-US" dirty="0"/>
              <a:t>自定义的枚举类自动继承自</a:t>
            </a:r>
            <a:r>
              <a:rPr lang="en-US" altLang="zh-CN" dirty="0" err="1"/>
              <a:t>java.lang.Enum</a:t>
            </a:r>
            <a:r>
              <a:rPr lang="zh-CN" altLang="en-US" dirty="0"/>
              <a:t>类。枚举类编译后默认为</a:t>
            </a:r>
            <a:r>
              <a:rPr lang="en-US" altLang="zh-CN" dirty="0"/>
              <a:t>final class</a:t>
            </a:r>
            <a:r>
              <a:rPr lang="zh-CN" altLang="en-US" dirty="0"/>
              <a:t>，不允许继承。</a:t>
            </a:r>
            <a:endParaRPr lang="en-US" altLang="zh-CN" dirty="0"/>
          </a:p>
          <a:p>
            <a:pPr lvl="1"/>
            <a:r>
              <a:rPr lang="zh-CN" altLang="en-US" dirty="0"/>
              <a:t>定义格式：</a:t>
            </a:r>
            <a:br>
              <a:rPr lang="en-US" altLang="zh-CN" dirty="0"/>
            </a:br>
            <a:r>
              <a:rPr lang="en-US" altLang="zh-CN" dirty="0"/>
              <a:t>[public] </a:t>
            </a:r>
            <a:r>
              <a:rPr lang="en-US" altLang="zh-CN" dirty="0" err="1"/>
              <a:t>enum</a:t>
            </a:r>
            <a:r>
              <a:rPr lang="en-US" altLang="zh-CN" dirty="0"/>
              <a:t> </a:t>
            </a:r>
            <a:r>
              <a:rPr lang="en-US" altLang="zh-CN" i="1" dirty="0" err="1"/>
              <a:t>EnumName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实例列表；</a:t>
            </a:r>
            <a:br>
              <a:rPr lang="en-US" altLang="zh-CN" dirty="0"/>
            </a:br>
            <a:r>
              <a:rPr lang="en-US" altLang="zh-CN" dirty="0"/>
              <a:t>	[</a:t>
            </a:r>
            <a:r>
              <a:rPr lang="zh-CN" altLang="en-US" dirty="0"/>
              <a:t>域；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构造器；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zh-CN" altLang="en-US" dirty="0"/>
              <a:t>方法；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一个最简单的枚举类：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</a:t>
            </a:r>
            <a:r>
              <a:rPr lang="en-US" altLang="zh-CN" dirty="0" err="1"/>
              <a:t>enum</a:t>
            </a:r>
            <a:r>
              <a:rPr lang="en-US" altLang="zh-CN" dirty="0"/>
              <a:t> Signal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GREEN, YELLOW, RED;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枚举常量（枚举实例），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习惯大写，调用默认构造器生成，系统自动添加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public //static final 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枚举的第一行声明该枚举的所有实例。枚举类内有一个默认的</a:t>
            </a:r>
            <a:r>
              <a:rPr lang="en-US" altLang="zh-CN" dirty="0"/>
              <a:t>private</a:t>
            </a:r>
            <a:r>
              <a:rPr lang="zh-CN" altLang="en-US" dirty="0"/>
              <a:t>构造器，创建列出的实例。</a:t>
            </a:r>
            <a:endParaRPr lang="en-US" altLang="zh-CN" dirty="0"/>
          </a:p>
          <a:p>
            <a:pPr lvl="1"/>
            <a:r>
              <a:rPr lang="zh-CN" altLang="en-US" dirty="0"/>
              <a:t>枚举类里有如下常用方法：</a:t>
            </a:r>
            <a:br>
              <a:rPr lang="en-US" altLang="zh-CN" dirty="0"/>
            </a:br>
            <a:r>
              <a:rPr lang="en-US" altLang="zh-CN" dirty="0"/>
              <a:t>String </a:t>
            </a:r>
            <a:r>
              <a:rPr lang="en-US" altLang="zh-CN" dirty="0" err="1"/>
              <a:t>toString</a:t>
            </a:r>
            <a:r>
              <a:rPr lang="en-US" altLang="zh-CN" dirty="0"/>
              <a:t>()   </a:t>
            </a:r>
            <a:r>
              <a:rPr lang="zh-CN" altLang="en-US" dirty="0"/>
              <a:t>返回枚举常量名</a:t>
            </a:r>
            <a:br>
              <a:rPr lang="en-US" altLang="zh-CN" dirty="0"/>
            </a:br>
            <a:r>
              <a:rPr lang="en-US" altLang="zh-CN" dirty="0"/>
              <a:t>String name()     </a:t>
            </a:r>
            <a:r>
              <a:rPr lang="zh-CN" altLang="en-US" dirty="0"/>
              <a:t>返回枚举常量名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 ordinal()   </a:t>
            </a:r>
            <a:r>
              <a:rPr lang="zh-CN" altLang="en-US" dirty="0"/>
              <a:t>返回枚举常量声明的序号，从</a:t>
            </a:r>
            <a:r>
              <a:rPr lang="en-US" altLang="zh-CN" dirty="0"/>
              <a:t>0</a:t>
            </a:r>
            <a:r>
              <a:rPr lang="zh-CN" altLang="en-US" dirty="0"/>
              <a:t>开始计数</a:t>
            </a:r>
            <a:br>
              <a:rPr lang="en-US" altLang="zh-CN" dirty="0"/>
            </a:br>
            <a:r>
              <a:rPr lang="en-US" altLang="zh-CN" dirty="0"/>
              <a:t>static </a:t>
            </a:r>
            <a:r>
              <a:rPr lang="en-US" altLang="zh-CN" i="1" dirty="0" err="1"/>
              <a:t>EnumName</a:t>
            </a:r>
            <a:r>
              <a:rPr lang="en-US" altLang="zh-CN" dirty="0"/>
              <a:t>[] values()  </a:t>
            </a:r>
            <a:r>
              <a:rPr lang="zh-CN" altLang="en-US" dirty="0"/>
              <a:t>返回包含全部枚举常量的数组</a:t>
            </a:r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下面是枚举的常用方法调用：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Signal s1=</a:t>
            </a:r>
            <a:r>
              <a:rPr lang="en-US" altLang="zh-CN" dirty="0" err="1"/>
              <a:t>Signal.</a:t>
            </a:r>
            <a:r>
              <a:rPr lang="en-US" altLang="zh-CN" b="1" i="1" dirty="0" err="1"/>
              <a:t>YELLOW</a:t>
            </a:r>
            <a:r>
              <a:rPr lang="en-US" altLang="zh-CN" b="1" i="1" dirty="0"/>
              <a:t>;</a:t>
            </a:r>
            <a:endParaRPr lang="en-US" altLang="zh-CN" b="1" i="1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(s1.name());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//YELLOW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(s1.toString());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//YELLOW</a:t>
            </a:r>
            <a:endParaRPr lang="en-US" altLang="zh-CN" b="1" i="1" dirty="0"/>
          </a:p>
          <a:p>
            <a:pPr marL="274320" lvl="1" indent="0">
              <a:buNone/>
            </a:pP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(s1.ordinal());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//1</a:t>
            </a:r>
            <a:endParaRPr lang="en-US" altLang="zh-CN" b="1" i="1" dirty="0"/>
          </a:p>
          <a:p>
            <a:pPr marL="274320" lvl="1" indent="0">
              <a:buNone/>
            </a:pPr>
            <a:r>
              <a:rPr lang="en-US" altLang="zh-CN" dirty="0"/>
              <a:t>Signal s2=</a:t>
            </a:r>
            <a:r>
              <a:rPr lang="en-US" altLang="zh-CN" dirty="0" err="1"/>
              <a:t>Signal.YELLOW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(s1==s2);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//true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，枚举常量直接用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//==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比较相等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Signal[] light=</a:t>
            </a:r>
            <a:r>
              <a:rPr lang="en-US" altLang="zh-CN" dirty="0" err="1"/>
              <a:t>Signal.</a:t>
            </a:r>
            <a:r>
              <a:rPr lang="en-US" altLang="zh-CN" i="1" dirty="0" err="1"/>
              <a:t>values</a:t>
            </a:r>
            <a:r>
              <a:rPr lang="en-US" altLang="zh-CN" i="1" dirty="0"/>
              <a:t>();</a:t>
            </a:r>
            <a:endParaRPr lang="en-US" altLang="zh-CN" i="1" dirty="0"/>
          </a:p>
          <a:p>
            <a:pPr marL="274320" lvl="1" indent="0">
              <a:buNone/>
            </a:pPr>
            <a:r>
              <a:rPr lang="en-US" altLang="zh-CN" b="1" dirty="0"/>
              <a:t>for(Signal s:light)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(s);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//GREEN   YELLOW   RED</a:t>
            </a:r>
            <a:endParaRPr lang="en-US" altLang="zh-CN" b="1" i="1" dirty="0"/>
          </a:p>
          <a:p>
            <a:r>
              <a:rPr lang="en-US" altLang="zh-CN" dirty="0"/>
              <a:t>Java</a:t>
            </a:r>
            <a:r>
              <a:rPr lang="zh-CN" altLang="en-US" dirty="0"/>
              <a:t>支持在</a:t>
            </a:r>
            <a:r>
              <a:rPr lang="en-US" altLang="zh-CN" dirty="0"/>
              <a:t>switch</a:t>
            </a:r>
            <a:r>
              <a:rPr lang="zh-CN" altLang="en-US" dirty="0"/>
              <a:t>语句中使用枚举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32"/>
            <a:ext cx="8075240" cy="6696744"/>
          </a:xfrm>
        </p:spPr>
        <p:txBody>
          <a:bodyPr>
            <a:normAutofit fontScale="700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TrafficLight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private Signal color = </a:t>
            </a:r>
            <a:r>
              <a:rPr lang="en-US" altLang="zh-CN" dirty="0" err="1"/>
              <a:t>Signal.RED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change()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switch (</a:t>
            </a:r>
            <a:r>
              <a:rPr lang="en-US" altLang="zh-CN" dirty="0">
                <a:solidFill>
                  <a:srgbClr val="FF0000"/>
                </a:solidFill>
              </a:rPr>
              <a:t>color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case </a:t>
            </a:r>
            <a:r>
              <a:rPr lang="en-US" altLang="zh-CN" dirty="0">
                <a:solidFill>
                  <a:srgbClr val="FF0000"/>
                </a:solidFill>
              </a:rPr>
              <a:t>RED</a:t>
            </a:r>
            <a:r>
              <a:rPr lang="en-US" altLang="zh-CN" dirty="0"/>
              <a:t>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color = </a:t>
            </a:r>
            <a:r>
              <a:rPr lang="en-US" altLang="zh-CN" dirty="0" err="1"/>
              <a:t>Signal.GREEN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break;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case </a:t>
            </a:r>
            <a:r>
              <a:rPr lang="en-US" altLang="zh-CN" dirty="0">
                <a:solidFill>
                  <a:srgbClr val="FF0000"/>
                </a:solidFill>
              </a:rPr>
              <a:t>YELLOW</a:t>
            </a:r>
            <a:r>
              <a:rPr lang="en-US" altLang="zh-CN" dirty="0"/>
              <a:t>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color = </a:t>
            </a:r>
            <a:r>
              <a:rPr lang="en-US" altLang="zh-CN" dirty="0" err="1"/>
              <a:t>Signal.RED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break;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case </a:t>
            </a:r>
            <a:r>
              <a:rPr lang="en-US" altLang="zh-CN" dirty="0">
                <a:solidFill>
                  <a:srgbClr val="FF0000"/>
                </a:solidFill>
              </a:rPr>
              <a:t>GREEN</a:t>
            </a:r>
            <a:r>
              <a:rPr lang="en-US" altLang="zh-CN" dirty="0"/>
              <a:t>: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color = </a:t>
            </a:r>
            <a:r>
              <a:rPr lang="en-US" altLang="zh-CN" dirty="0" err="1"/>
              <a:t>Signal.YELLOW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break;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void </a:t>
            </a:r>
            <a:r>
              <a:rPr lang="en-US" altLang="zh-CN" dirty="0" err="1"/>
              <a:t>getLight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(color);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pPr marL="274320" lvl="1" indent="0">
              <a:buNone/>
            </a:pPr>
            <a:r>
              <a:rPr lang="en-US" altLang="zh-CN" dirty="0" err="1"/>
              <a:t>TrafficLight</a:t>
            </a:r>
            <a:r>
              <a:rPr lang="en-US" altLang="zh-CN" dirty="0"/>
              <a:t> </a:t>
            </a:r>
            <a:r>
              <a:rPr lang="en-US" altLang="zh-CN" dirty="0" err="1"/>
              <a:t>trafficLight</a:t>
            </a:r>
            <a:r>
              <a:rPr lang="en-US" altLang="zh-CN" dirty="0"/>
              <a:t>=new </a:t>
            </a:r>
            <a:r>
              <a:rPr lang="en-US" altLang="zh-CN" dirty="0" err="1"/>
              <a:t>TrafficLight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trafficLight.getLight</a:t>
            </a:r>
            <a:r>
              <a:rPr lang="en-US" altLang="zh-CN" dirty="0"/>
              <a:t>();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//RED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 err="1"/>
              <a:t>trafficLight.change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trafficLight.getLight</a:t>
            </a:r>
            <a:r>
              <a:rPr lang="en-US" altLang="zh-CN" dirty="0"/>
              <a:t>();   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//GREEN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zh-CN" altLang="en-US" dirty="0"/>
              <a:t>定义枚举时，也可以添加域，构造器和方法。</a:t>
            </a:r>
            <a:r>
              <a:rPr lang="en-US" altLang="zh-CN" dirty="0"/>
              <a:t>java</a:t>
            </a:r>
            <a:r>
              <a:rPr lang="zh-CN" altLang="en-US" dirty="0"/>
              <a:t>规定不能用</a:t>
            </a:r>
            <a:r>
              <a:rPr lang="en-US" altLang="zh-CN" dirty="0"/>
              <a:t>new</a:t>
            </a:r>
            <a:r>
              <a:rPr lang="zh-CN" altLang="en-US" dirty="0"/>
              <a:t>创建枚举常量，所以它的构造器必须定义为</a:t>
            </a:r>
            <a:r>
              <a:rPr lang="en-US" altLang="zh-CN" dirty="0"/>
              <a:t>private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看一个例子：</a:t>
            </a:r>
            <a:r>
              <a:rPr lang="en-US" altLang="zh-CN" dirty="0"/>
              <a:t>ClothesSize.java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363272" cy="57606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dirty="0"/>
              <a:t>public </a:t>
            </a:r>
            <a:r>
              <a:rPr lang="en-US" altLang="zh-CN" dirty="0" err="1"/>
              <a:t>enum</a:t>
            </a:r>
            <a:r>
              <a:rPr lang="en-US" altLang="zh-CN" dirty="0"/>
              <a:t> </a:t>
            </a:r>
            <a:r>
              <a:rPr lang="en-US" altLang="zh-CN" dirty="0" err="1"/>
              <a:t>ClothesSize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sz="2600" dirty="0"/>
              <a:t>SMALL ("</a:t>
            </a:r>
            <a:r>
              <a:rPr lang="zh-CN" altLang="en-US" sz="2600" dirty="0"/>
              <a:t>小号</a:t>
            </a:r>
            <a:r>
              <a:rPr lang="en-US" altLang="zh-CN" sz="2600" dirty="0"/>
              <a:t>",165),</a:t>
            </a:r>
            <a:br>
              <a:rPr lang="en-US" altLang="zh-CN" sz="2600" dirty="0"/>
            </a:br>
            <a:r>
              <a:rPr lang="en-US" altLang="zh-CN" sz="2600" dirty="0"/>
              <a:t>	MEDIUM ("</a:t>
            </a:r>
            <a:r>
              <a:rPr lang="zh-CN" altLang="en-US" sz="2600" dirty="0"/>
              <a:t>中号</a:t>
            </a:r>
            <a:r>
              <a:rPr lang="en-US" altLang="zh-CN" sz="2600" dirty="0"/>
              <a:t>",170),</a:t>
            </a:r>
            <a:br>
              <a:rPr lang="en-US" altLang="zh-CN" sz="2600" dirty="0"/>
            </a:br>
            <a:r>
              <a:rPr lang="en-US" altLang="zh-CN" sz="2600" dirty="0"/>
              <a:t>	LARGE ("</a:t>
            </a:r>
            <a:r>
              <a:rPr lang="zh-CN" altLang="en-US" sz="2600" dirty="0"/>
              <a:t>大号</a:t>
            </a:r>
            <a:r>
              <a:rPr lang="en-US" altLang="zh-CN" sz="2600" dirty="0"/>
              <a:t>",175),</a:t>
            </a:r>
            <a:br>
              <a:rPr lang="en-US" altLang="zh-CN" sz="2600" dirty="0"/>
            </a:br>
            <a:r>
              <a:rPr lang="en-US" altLang="zh-CN" sz="2600" dirty="0"/>
              <a:t>	X_LARGE ("</a:t>
            </a:r>
            <a:r>
              <a:rPr lang="zh-CN" altLang="en-US" sz="2600" dirty="0"/>
              <a:t>加大号</a:t>
            </a:r>
            <a:r>
              <a:rPr lang="en-US" altLang="zh-CN" sz="2600" dirty="0"/>
              <a:t>",180),</a:t>
            </a:r>
            <a:br>
              <a:rPr lang="en-US" altLang="zh-CN" sz="2600" dirty="0"/>
            </a:br>
            <a:r>
              <a:rPr lang="en-US" altLang="zh-CN" sz="2600" dirty="0"/>
              <a:t>	XX_LARGE ("</a:t>
            </a:r>
            <a:r>
              <a:rPr lang="zh-CN" altLang="en-US" sz="2600" dirty="0"/>
              <a:t>特大号</a:t>
            </a:r>
            <a:r>
              <a:rPr lang="en-US" altLang="zh-CN" sz="2600" dirty="0"/>
              <a:t>",185) ;</a:t>
            </a:r>
            <a:endParaRPr lang="en-US" altLang="zh-CN" sz="2600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chemeClr val="tx2"/>
                </a:solidFill>
              </a:rPr>
              <a:t>private String type;</a:t>
            </a:r>
            <a:endParaRPr lang="en-US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2"/>
                </a:solidFill>
              </a:rPr>
              <a:t>	private </a:t>
            </a:r>
            <a:r>
              <a:rPr lang="en-US" altLang="zh-CN" dirty="0" err="1">
                <a:solidFill>
                  <a:schemeClr val="tx2"/>
                </a:solidFill>
              </a:rPr>
              <a:t>int</a:t>
            </a:r>
            <a:r>
              <a:rPr lang="en-US" altLang="zh-CN" dirty="0">
                <a:solidFill>
                  <a:schemeClr val="tx2"/>
                </a:solidFill>
              </a:rPr>
              <a:t> size;</a:t>
            </a:r>
            <a:endParaRPr lang="en-US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private</a:t>
            </a:r>
            <a:r>
              <a:rPr lang="en-US" altLang="zh-CN" dirty="0"/>
              <a:t> </a:t>
            </a:r>
            <a:r>
              <a:rPr lang="en-US" altLang="zh-CN" dirty="0" err="1"/>
              <a:t>ClothesSize</a:t>
            </a:r>
            <a:r>
              <a:rPr lang="en-US" altLang="zh-CN" dirty="0"/>
              <a:t>(String </a:t>
            </a:r>
            <a:r>
              <a:rPr lang="en-US" altLang="zh-CN" dirty="0" err="1"/>
              <a:t>type,int</a:t>
            </a:r>
            <a:r>
              <a:rPr lang="en-US" altLang="zh-CN" dirty="0"/>
              <a:t> size)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this.type</a:t>
            </a:r>
            <a:r>
              <a:rPr lang="en-US" altLang="zh-CN" dirty="0"/>
              <a:t>=type;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this.size</a:t>
            </a:r>
            <a:r>
              <a:rPr lang="en-US" altLang="zh-CN" dirty="0"/>
              <a:t>=size;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altLang="zh-CN" dirty="0"/>
              <a:t>	public String </a:t>
            </a:r>
            <a:r>
              <a:rPr lang="en-US" altLang="zh-CN" dirty="0" err="1"/>
              <a:t>getType</a:t>
            </a:r>
            <a:r>
              <a:rPr lang="en-US" altLang="zh-CN" dirty="0"/>
              <a:t>()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return type;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public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getSize</a:t>
            </a:r>
            <a:r>
              <a:rPr lang="en-US" altLang="zh-CN" dirty="0"/>
              <a:t>()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return size;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@Override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继承自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Enum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的方法中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toString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可以覆盖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	public String </a:t>
            </a:r>
            <a:r>
              <a:rPr lang="en-US" altLang="zh-CN" dirty="0" err="1"/>
              <a:t>toString</a:t>
            </a:r>
            <a:r>
              <a:rPr lang="en-US" altLang="zh-CN" dirty="0"/>
              <a:t>()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return type +”,”+ size;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注意：继承自</a:t>
            </a:r>
            <a:r>
              <a:rPr lang="en-US" altLang="zh-CN" dirty="0" err="1"/>
              <a:t>Enum</a:t>
            </a:r>
            <a:r>
              <a:rPr lang="zh-CN" altLang="en-US" dirty="0"/>
              <a:t>类中的</a:t>
            </a:r>
            <a:r>
              <a:rPr lang="en-US" altLang="zh-CN" dirty="0" err="1"/>
              <a:t>toString</a:t>
            </a:r>
            <a:r>
              <a:rPr lang="zh-CN" altLang="en-US" dirty="0"/>
              <a:t>方法可以覆盖，其他方法都是</a:t>
            </a:r>
            <a:r>
              <a:rPr lang="en-US" altLang="zh-CN" dirty="0"/>
              <a:t>final</a:t>
            </a:r>
            <a:r>
              <a:rPr lang="zh-CN" altLang="en-US" dirty="0"/>
              <a:t>方法，不可覆盖。</a:t>
            </a:r>
            <a:endParaRPr lang="en-US" altLang="zh-CN" dirty="0"/>
          </a:p>
          <a:p>
            <a:r>
              <a:rPr lang="zh-CN" altLang="en-US" dirty="0"/>
              <a:t>下面是该枚举的一个调用：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ClothesSize</a:t>
            </a:r>
            <a:r>
              <a:rPr lang="en-US" altLang="zh-CN" dirty="0"/>
              <a:t> shirt = </a:t>
            </a:r>
            <a:r>
              <a:rPr lang="en-US" altLang="zh-CN" dirty="0" err="1"/>
              <a:t>ClothesSize.LARGE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(shirt.name());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shirt.toString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shirt.ordinal</a:t>
            </a:r>
            <a:r>
              <a:rPr lang="en-US" altLang="zh-CN" dirty="0"/>
              <a:t>());</a:t>
            </a:r>
            <a:endParaRPr lang="en-US" altLang="zh-CN" dirty="0"/>
          </a:p>
          <a:p>
            <a:pPr lvl="1"/>
            <a:r>
              <a:rPr lang="en-US" altLang="zh-CN" dirty="0" err="1"/>
              <a:t>Enum</a:t>
            </a:r>
            <a:r>
              <a:rPr lang="zh-CN" altLang="en-US" dirty="0"/>
              <a:t>中的类方法</a:t>
            </a:r>
            <a:r>
              <a:rPr lang="en-US" altLang="zh-CN" dirty="0" err="1"/>
              <a:t>valuleOf</a:t>
            </a:r>
            <a:r>
              <a:rPr lang="zh-CN" altLang="en-US" dirty="0"/>
              <a:t>是</a:t>
            </a:r>
            <a:r>
              <a:rPr lang="en-US" altLang="zh-CN" dirty="0" err="1"/>
              <a:t>toString</a:t>
            </a:r>
            <a:r>
              <a:rPr lang="zh-CN" altLang="en-US" dirty="0"/>
              <a:t>的逆方法，可以用来产生枚举常量。看下面的调用：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5904656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CN" dirty="0" err="1"/>
              <a:t>ClothesSize</a:t>
            </a:r>
            <a:r>
              <a:rPr lang="en-US" altLang="zh-CN" dirty="0"/>
              <a:t> suit;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Scanner in =new Scanner(System.in);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("Please input a size to your suit:(SMALL,MEDIUM,LARGE,X_LARGE or XX_LARGE)");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String input=</a:t>
            </a:r>
            <a:r>
              <a:rPr lang="en-US" altLang="zh-CN" dirty="0" err="1"/>
              <a:t>in.next</a:t>
            </a:r>
            <a:r>
              <a:rPr lang="en-US" altLang="zh-CN" dirty="0"/>
              <a:t>().</a:t>
            </a:r>
            <a:r>
              <a:rPr lang="en-US" altLang="zh-CN" dirty="0" err="1"/>
              <a:t>toUpperCase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suit=</a:t>
            </a:r>
            <a:r>
              <a:rPr lang="en-US" altLang="zh-CN" dirty="0" err="1">
                <a:solidFill>
                  <a:srgbClr val="FF0000"/>
                </a:solidFill>
              </a:rPr>
              <a:t>Enum.valueOf</a:t>
            </a:r>
            <a:r>
              <a:rPr lang="en-US" altLang="zh-CN" dirty="0"/>
              <a:t>(</a:t>
            </a:r>
            <a:r>
              <a:rPr lang="en-US" altLang="zh-CN" dirty="0" err="1"/>
              <a:t>ClothesSize.class</a:t>
            </a:r>
            <a:r>
              <a:rPr lang="en-US" altLang="zh-CN" dirty="0"/>
              <a:t>, input);</a:t>
            </a:r>
            <a:endParaRPr lang="en-US" altLang="zh-CN" dirty="0"/>
          </a:p>
          <a:p>
            <a:pPr lvl="1"/>
            <a:r>
              <a:rPr lang="zh-CN" altLang="en-US" dirty="0"/>
              <a:t>其中第一个参数是枚举类型的</a:t>
            </a:r>
            <a:r>
              <a:rPr lang="en-US" altLang="zh-CN" dirty="0"/>
              <a:t>Class</a:t>
            </a:r>
            <a:r>
              <a:rPr lang="zh-CN" altLang="en-US" dirty="0"/>
              <a:t>实例，第二个参数是枚举常量名。该方法返回了以第二个参数为名称的枚举常量。也可以使用下面的形式：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suit= </a:t>
            </a:r>
            <a:r>
              <a:rPr lang="en-US" altLang="zh-CN" dirty="0" err="1">
                <a:solidFill>
                  <a:srgbClr val="FF0000"/>
                </a:solidFill>
              </a:rPr>
              <a:t>ClothesSize.valueOf</a:t>
            </a:r>
            <a:r>
              <a:rPr lang="en-US" altLang="zh-CN" dirty="0"/>
              <a:t>( input);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作业：写一个表示星期的枚举，加入适当的域和方法，重写</a:t>
            </a:r>
            <a:r>
              <a:rPr lang="en-US" altLang="zh-CN" dirty="0" err="1">
                <a:solidFill>
                  <a:srgbClr val="FF0000"/>
                </a:solidFill>
              </a:rPr>
              <a:t>toString</a:t>
            </a:r>
            <a:r>
              <a:rPr lang="zh-CN" altLang="en-US" dirty="0">
                <a:solidFill>
                  <a:srgbClr val="FF0000"/>
                </a:solidFill>
              </a:rPr>
              <a:t>，并在</a:t>
            </a:r>
            <a:r>
              <a:rPr lang="en-US" altLang="zh-CN" dirty="0">
                <a:solidFill>
                  <a:srgbClr val="FF0000"/>
                </a:solidFill>
              </a:rPr>
              <a:t>switch</a:t>
            </a:r>
            <a:r>
              <a:rPr lang="zh-CN" altLang="en-US" dirty="0">
                <a:solidFill>
                  <a:srgbClr val="FF0000"/>
                </a:solidFill>
              </a:rPr>
              <a:t>中应用它。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9372</Words>
  <Application>WPS 演示</Application>
  <PresentationFormat>全屏显示(4:3)</PresentationFormat>
  <Paragraphs>591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5.3  泛型数组列表</vt:lpstr>
      <vt:lpstr>数组和ArrayList的比较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5.4  对象包装器与自动装箱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  参数数量可变的方法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5.6  枚举类</vt:lpstr>
      <vt:lpstr>PowerPoint 演示文稿</vt:lpstr>
      <vt:lpstr>5.6  Java 5中的枚举类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132</cp:revision>
  <dcterms:created xsi:type="dcterms:W3CDTF">2024-05-21T15:05:21Z</dcterms:created>
  <dcterms:modified xsi:type="dcterms:W3CDTF">2024-05-21T15:05:21Z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F42F122C0BE053C631B84C66F628C1A2_43</vt:lpwstr>
  </property>
</Properties>
</file>